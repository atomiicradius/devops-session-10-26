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8a254d5-0c57-a913-7e5d-421132ef8c8e}">
          <p14:sldIdLst>
            <p14:sldId id="256"/>
            <p14:sldId id="257"/>
            <p14:sldId id="258"/>
          </p14:sldIdLst>
        </p14:section>
        <p14:section name="Docker" id="{1f018873-36f8-e21c-f6fb-17220833f92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Kubernetes" id="{b24e7409-f649-65bf-44db-d27f5ee23f69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I/CD" id="{3e2f2b5d-dec2-d2b1-78ea-802ea952e5f7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Wrap-up" id="{63b9a17b-664e-2ba9-cc3c-1627fa104ab3}">
          <p14:sldIdLst>
            <p14:sldId id="296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Put the repo URL / QR on screen and get everyone creating a Codespace immediately so it builds while we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Plan-code-build-test-release-deploy-operate-monitor. Git covered plan/code. Today: build+test (Docker, CI), release+deploy (Kubernetes, CD). Point at the colour legend: every slide is colour-coded by topic.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short concept block, long lab, checkpoint. Students mirror your terminal. Thumbs up/down after each lab section. Second instructor floats.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Transition. Ask: who has had 'works on my machine' problems? Everyone in the Git lab had to npm install - that's the hook.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weather app from the Git lab: node version drift, missing .env, OS differences. Each card = a real failure students will have seen. Containers fix all three by shipping the environment with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each VM has a full guest OS (GBs, minutes to boot). Right: containers share the host kernel, isolated by Linux namespaces + cgroups; MBs, start in ms. A container is just a process with a restricted view of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Class/object analogy: Dockerfile is the recipe, image is the baked cake frozen (class), container is a running instance (object). Registry = GitHub for images. 'docker build' turns recipe into image; 'docker run' turns image into container; 'docker push/pull' moves images to/from a registry.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line by line. Emphasise: package.json copied BEFORE source so npm install layer is cached. CMD uses exec form (JSON array) so signals reach node. EXPOSE is documentation only; -p actually publishes.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instruction adds a read-only layer. Docker caches layers; a change invalidates that layer and everything after. That's why package.json goes before the source. A container adds a thin writable layer on top: that's why deleting a container loses its data (unless you use volumes).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Demystify: it's not magic. 1 look up image locally, 2 pull from registry if missing, 3 create a container = image layers + a new writable layer + its own network namespace, 4 wire the port mapping, 5 start the CMD as PID 1. When that process exits the container stops. Port mapping: -p HOST:CONTAINER, left side is what you type in the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states and the commands that move between them. Key: stop keeps the container (and its writable layer), rm deletes it. The image is untouched throughout. Students do exactly this in lab step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table quickly; they'll type each one in 5 minutes. Highlight -p host:container and that 'docker exec' drops you inside a running container.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(also in notes): 1 No: each container gets its own writable layer; the image is shared read-only. 2 No: the COPY . . layer changed but RUN npm install is above it and cached. 3 8080, the host side of -p.
Ask the room, wait, then reveal verbally. 2 minutes 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three out loud. Then straight into Lab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minutes. Lead from your own Codespace on the projector. Checkpoints: after build (thumbs up), after browser opens, after exec. Floater handles 'cannot connect to daemon' (wait 30s).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Handover to instructor B. Hook: 'you ran 2 containers by hand. Now imagine 200, across 30 servers, and one just died at 3am.'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card is a question docker alone doesn't answer. Kubernetes is 'the thing that answers them'. Keep it to 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 plane = the brain (API server is the only thing you talk to; etcd stores state; scheduler picks a node; controllers reconcile). Nodes = the muscle (kubelet runs pods via the container runtime, kube-proxy does networking). minikube puts all of this on ONE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Pod: smallest unit, usually 1 container, gets an IP, is mortal. Deployment: 'keep N pods of this template running', handles rollouts. Service: stable name + IP + load balancing in front of pods selected by label. Labels are the glue.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mental model. You never tell K8s 'start a container'. You declare 'replicas: 2'. Controllers loop forever: observe → compare → act. Delete a pod in lab 2 and watch this loop fix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Drill this: apiVersion, kind, metadata, spec. Spec is what you want; status is what K8s observed (never written by you). Once students see this shape they can read any K8s manifest.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YAML: selector must match template labels. imagePullPolicy IfNotPresent so minikube uses the locally loaded image instead of trying Docker Hub. readinessProbe: don't send traffic until /health says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Service selects pods by label, gives one stable virtual IP + DNS name (hello-devops). port = service port, targetPort = container port. NodePort also opens a port on the node. In Codespaces: port-forward for the browser (sticks to ONE pod), and a curl loop against minikube service --url to see load-balancing across pods.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kubectl set image (or edit YAML + apply) changes the desired image. Deployment creates a new ReplicaSet for v2 and shifts pods one at a time: start a v2, wait until Ready (readiness probe!), kill a v1. Old ReplicaSet is kept at 0 replicas, which is what rollout undo switches back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WILL hit these in lab 2 (challenge uses a bad tag). Teach the loop: get pods → describe pod → read Events → logs. Pending = no node can fit it or still scheduling. ContainerCreating = pulling image. ErrImagePull/ImagePullBackOff = wrong name/tag or not loaded. CrashLoopBackOff = app starts then dies, read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They'll type all of these. Highlight the trio for debugging: get, describe, logs. 'describe' Events section explains 90% of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nesting so port-forward and 'minikube image load' make sense: minikube's node is itself a docker container, with its own image store. Your Lab 1 image is in the outer docker; you must load it in. The browser reaches the Codespace via VS Code port forwarding.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(also in notes): 1 A new Pod appears: desired 2, actual 1, controller fixes it. 2 Through a Service: stable name + IP, routes by label. 3 Wrong image name/tag, or image not loaded into minikube (no registry).
Ask the room, wait, then reveal verbally. 2 minutes 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straight into Lab 2. Everyone should already have minikube running from the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min. Everyone should already have minikube running from the break. Lead from projector. Checkpoints after apply, after port-forward shows page, after delete-pod. Most common failure: ErrImagePull = forgot image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did build → test → run by hand twice today. Nobody does that 40 times a day. Automate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CI: every push is built and tested, so integration problems show up in minutes not months. Continuous Delivery: every green build is packaged and ready to deploy with a button. Continuous Deployment: no button, straight to prod. Pipeline stages map to what they did in labs 1-2.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Tool-agnostic vocabulary first, then the YAML. Trigger → pipeline (one run) → jobs (parallel, each on a fresh runner) → steps (sequential commands) → artefacts (image, test report). Same words in Actions, Jenkins, GitLab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Anatomy: on (trigger), jobs, runs-on (a fresh ubuntu VM GitHub provides), steps (uses = reusable action from marketplace, run = shell). Same steps as lab 1 typed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social contract of CI: the PR shows a red/green check from the pipeline; branch protection can make merging impossible while red. Lab 3 does exactly this flow with a deliberately broken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Jenkins = open-source automation server you run yourself (2011, from Hudson). Controller (web UI, schedules jobs) + agents (do the work). 1800+ plugins. Jobs: Freestyle (click in UI) or Pipeline (Jenkinsfile in repo, Groovy). Show the Jenkinsfile next to ci.yml: same stages.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job, different trade-offs. Today students do Actions (zero setup); Jenkins is demoed. Message: learn the concepts, the tool is a detail; you'll also meet GitLab CI, Azure DevOps, CircleCI.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(also in notes): 1 CI is right: it runs on a fresh machine with only what's in git. 2 Delivery: deployable, human clicks. Deployment: auto to prod. 3 In the repo (.github/workflows or Jenkinsfile): versioned, reviewed, same for everyone.
Ask the room, wait, then reveal verbally. 2 minutes 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Lab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min. Students: Actions on their fork. Push, watch green. Break /health, push, watch red on the PR. Then 3-min Jenkins demo from instructor laptop (already set up!).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it together. In real teams, step 4 is a registry (Docker Hub / GHCR) and step 5 is a real cluster (EKS/GKE/AKS), often driven by ArgoCD. Everything else is identical to what they did. Colours match the sections.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them at one thing each. Play with Kubernetes is free and needs nothing installed. Emphasise: put the repo on your GitHub with the green Actions badge; it's a portfolio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Q&amp;A. Keep the repo URL up. Ask them to star/fork it and finish the challenges at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BD5E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172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DevOps Workshop  ·  Docker · Kubernetes · CI/CD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B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172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DevOps Workshop  ·  Docker · Kubernetes · CI/CD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Ship It: Docker, Kubernetes &amp; CI/CD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</a:rPr>
              <a:t>A hands-on DevOps workshop · build it, containerise it, deploy it, automate it</a:t>
            </a:r>
            <a:endParaRPr lang="en-US" sz="2000" dirty="0"/>
          </a:p>
        </p:txBody>
      </p:sp>
      <p:pic>
        <p:nvPicPr>
          <p:cNvPr id="5" name="dock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640080"/>
            <a:ext cx="731520" cy="731520"/>
          </a:xfrm>
          <a:prstGeom prst="rect">
            <a:avLst/>
          </a:prstGeom>
        </p:spPr>
      </p:pic>
      <p:pic>
        <p:nvPicPr>
          <p:cNvPr id="6" name="k8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640080"/>
            <a:ext cx="731520" cy="731520"/>
          </a:xfrm>
          <a:prstGeom prst="rect">
            <a:avLst/>
          </a:prstGeom>
        </p:spPr>
      </p:pic>
      <p:pic>
        <p:nvPicPr>
          <p:cNvPr id="7" name="jenki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640080"/>
            <a:ext cx="731520" cy="731520"/>
          </a:xfrm>
          <a:prstGeom prst="rect">
            <a:avLst/>
          </a:prstGeom>
        </p:spPr>
      </p:pic>
      <p:sp>
        <p:nvSpPr>
          <p:cNvPr id="8" name="box Repo + labs:  github.com/PhalakshaCG/devops-session-10-26      →  Code ▸ Codespaces ▸ Create codespace"/>
          <p:cNvSpPr/>
          <p:nvPr/>
        </p:nvSpPr>
        <p:spPr>
          <a:xfrm>
            <a:off x="548640" y="39319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box text Repo + labs:  github.com/PhalakshaCG/devops-session-10-26      →  Code ▸ Codespaces ▸ Create codespace"/>
          <p:cNvSpPr txBox="1"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E8F0"/>
                </a:solidFill>
              </a:rPr>
              <a:t>Repo + labs:  github.com/PhalakshaCG/devops-session-10-26      →  Code ▸ Codespaces ▸ Create codespace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Today: the right half of the DevOps loop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INTRO</a:t>
            </a:r>
            <a:endParaRPr lang="en-US" sz="900" dirty="0"/>
          </a:p>
        </p:txBody>
      </p:sp>
      <p:sp>
        <p:nvSpPr>
          <p:cNvPr id="6" name="box Plan"/>
          <p:cNvSpPr/>
          <p:nvPr/>
        </p:nvSpPr>
        <p:spPr>
          <a:xfrm>
            <a:off x="457200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box text Plan"/>
          <p:cNvSpPr txBox="1"/>
          <p:nvPr/>
        </p:nvSpPr>
        <p:spPr>
          <a:xfrm>
            <a:off x="457200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Plan</a:t>
            </a:r>
            <a:endParaRPr lang="en-US" sz="1300" dirty="0"/>
          </a:p>
        </p:txBody>
      </p:sp>
      <p:sp>
        <p:nvSpPr>
          <p:cNvPr id="8" name="arrow"/>
          <p:cNvSpPr/>
          <p:nvPr/>
        </p:nvSpPr>
        <p:spPr>
          <a:xfrm>
            <a:off x="1399032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9" name="box Code"/>
          <p:cNvSpPr/>
          <p:nvPr/>
        </p:nvSpPr>
        <p:spPr>
          <a:xfrm>
            <a:off x="1490472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box text Code"/>
          <p:cNvSpPr txBox="1"/>
          <p:nvPr/>
        </p:nvSpPr>
        <p:spPr>
          <a:xfrm>
            <a:off x="1490472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Code</a:t>
            </a:r>
            <a:endParaRPr lang="en-US" sz="1300" dirty="0"/>
          </a:p>
        </p:txBody>
      </p:sp>
      <p:sp>
        <p:nvSpPr>
          <p:cNvPr id="11" name="arrow"/>
          <p:cNvSpPr/>
          <p:nvPr/>
        </p:nvSpPr>
        <p:spPr>
          <a:xfrm>
            <a:off x="2432304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2" name="box Build"/>
          <p:cNvSpPr/>
          <p:nvPr/>
        </p:nvSpPr>
        <p:spPr>
          <a:xfrm>
            <a:off x="2523744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box text Build"/>
          <p:cNvSpPr txBox="1"/>
          <p:nvPr/>
        </p:nvSpPr>
        <p:spPr>
          <a:xfrm>
            <a:off x="2523744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Build</a:t>
            </a:r>
            <a:endParaRPr lang="en-US" sz="1300" dirty="0"/>
          </a:p>
        </p:txBody>
      </p:sp>
      <p:sp>
        <p:nvSpPr>
          <p:cNvPr id="14" name="arrow"/>
          <p:cNvSpPr/>
          <p:nvPr/>
        </p:nvSpPr>
        <p:spPr>
          <a:xfrm>
            <a:off x="3465576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5" name="box Test"/>
          <p:cNvSpPr/>
          <p:nvPr/>
        </p:nvSpPr>
        <p:spPr>
          <a:xfrm>
            <a:off x="3557016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box text Test"/>
          <p:cNvSpPr txBox="1"/>
          <p:nvPr/>
        </p:nvSpPr>
        <p:spPr>
          <a:xfrm>
            <a:off x="3557016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Test</a:t>
            </a:r>
            <a:endParaRPr lang="en-US" sz="1300" dirty="0"/>
          </a:p>
        </p:txBody>
      </p:sp>
      <p:sp>
        <p:nvSpPr>
          <p:cNvPr id="17" name="arrow"/>
          <p:cNvSpPr/>
          <p:nvPr/>
        </p:nvSpPr>
        <p:spPr>
          <a:xfrm>
            <a:off x="4498848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8" name="box Release"/>
          <p:cNvSpPr/>
          <p:nvPr/>
        </p:nvSpPr>
        <p:spPr>
          <a:xfrm>
            <a:off x="4590288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box text Release"/>
          <p:cNvSpPr txBox="1"/>
          <p:nvPr/>
        </p:nvSpPr>
        <p:spPr>
          <a:xfrm>
            <a:off x="4590288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Release</a:t>
            </a:r>
            <a:endParaRPr lang="en-US" sz="1300" dirty="0"/>
          </a:p>
        </p:txBody>
      </p:sp>
      <p:sp>
        <p:nvSpPr>
          <p:cNvPr id="20" name="arrow"/>
          <p:cNvSpPr/>
          <p:nvPr/>
        </p:nvSpPr>
        <p:spPr>
          <a:xfrm>
            <a:off x="5532120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1" name="box Deploy"/>
          <p:cNvSpPr/>
          <p:nvPr/>
        </p:nvSpPr>
        <p:spPr>
          <a:xfrm>
            <a:off x="5623560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box text Deploy"/>
          <p:cNvSpPr txBox="1"/>
          <p:nvPr/>
        </p:nvSpPr>
        <p:spPr>
          <a:xfrm>
            <a:off x="5623560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Deploy</a:t>
            </a:r>
            <a:endParaRPr lang="en-US" sz="1300" dirty="0"/>
          </a:p>
        </p:txBody>
      </p:sp>
      <p:sp>
        <p:nvSpPr>
          <p:cNvPr id="23" name="arrow"/>
          <p:cNvSpPr/>
          <p:nvPr/>
        </p:nvSpPr>
        <p:spPr>
          <a:xfrm>
            <a:off x="6565392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4" name="box Operate"/>
          <p:cNvSpPr/>
          <p:nvPr/>
        </p:nvSpPr>
        <p:spPr>
          <a:xfrm>
            <a:off x="6656832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box text Operate"/>
          <p:cNvSpPr txBox="1"/>
          <p:nvPr/>
        </p:nvSpPr>
        <p:spPr>
          <a:xfrm>
            <a:off x="6656832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Operate</a:t>
            </a:r>
            <a:endParaRPr lang="en-US" sz="1300" dirty="0"/>
          </a:p>
        </p:txBody>
      </p:sp>
      <p:sp>
        <p:nvSpPr>
          <p:cNvPr id="26" name="arrow"/>
          <p:cNvSpPr/>
          <p:nvPr/>
        </p:nvSpPr>
        <p:spPr>
          <a:xfrm>
            <a:off x="7598664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7" name="box Monitor"/>
          <p:cNvSpPr/>
          <p:nvPr/>
        </p:nvSpPr>
        <p:spPr>
          <a:xfrm>
            <a:off x="7690104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box text Monitor"/>
          <p:cNvSpPr txBox="1"/>
          <p:nvPr/>
        </p:nvSpPr>
        <p:spPr>
          <a:xfrm>
            <a:off x="7690104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Monitor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1645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Git ✓ (done)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523744" y="1645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Today</a:t>
            </a:r>
            <a:endParaRPr lang="en-US" sz="1100" dirty="0"/>
          </a:p>
        </p:txBody>
      </p:sp>
      <p:sp>
        <p:nvSpPr>
          <p:cNvPr id="31" name="dot 0"/>
          <p:cNvSpPr/>
          <p:nvPr/>
        </p:nvSpPr>
        <p:spPr>
          <a:xfrm>
            <a:off x="502920" y="2093976"/>
            <a:ext cx="137160" cy="1371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201168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0:40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2011680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Docker: concepts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5852160" y="2011680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13 min</a:t>
            </a:r>
            <a:endParaRPr lang="en-US" sz="1300" dirty="0"/>
          </a:p>
        </p:txBody>
      </p:sp>
      <p:sp>
        <p:nvSpPr>
          <p:cNvPr id="35" name="dot 1"/>
          <p:cNvSpPr/>
          <p:nvPr/>
        </p:nvSpPr>
        <p:spPr>
          <a:xfrm>
            <a:off x="502920" y="2395728"/>
            <a:ext cx="137160" cy="137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" y="2313432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0:53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2313432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 1 · build &amp; run a container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852160" y="2313432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 min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2615184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1:23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1463040" y="2615184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Break (start minikube!)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5852160" y="2615184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 min</a:t>
            </a:r>
            <a:endParaRPr lang="en-US" sz="1300" dirty="0"/>
          </a:p>
        </p:txBody>
      </p:sp>
      <p:sp>
        <p:nvSpPr>
          <p:cNvPr id="42" name="dot 3"/>
          <p:cNvSpPr/>
          <p:nvPr/>
        </p:nvSpPr>
        <p:spPr>
          <a:xfrm>
            <a:off x="502920" y="2999232"/>
            <a:ext cx="137160" cy="1371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77240" y="2916936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1:30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463040" y="2916936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Kubernetes: concepts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852160" y="2916936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13 min</a:t>
            </a:r>
            <a:endParaRPr lang="en-US" sz="1300" dirty="0"/>
          </a:p>
        </p:txBody>
      </p:sp>
      <p:sp>
        <p:nvSpPr>
          <p:cNvPr id="46" name="dot 4"/>
          <p:cNvSpPr/>
          <p:nvPr/>
        </p:nvSpPr>
        <p:spPr>
          <a:xfrm>
            <a:off x="502920" y="3300984"/>
            <a:ext cx="137160" cy="137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77240" y="3218688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1:43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1463040" y="3218688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 2 · deploy, scale, roll out on minikube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5852160" y="3218688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 min</a:t>
            </a:r>
            <a:endParaRPr lang="en-US" sz="1300" dirty="0"/>
          </a:p>
        </p:txBody>
      </p:sp>
      <p:sp>
        <p:nvSpPr>
          <p:cNvPr id="50" name="dot 5"/>
          <p:cNvSpPr/>
          <p:nvPr/>
        </p:nvSpPr>
        <p:spPr>
          <a:xfrm>
            <a:off x="502920" y="3602736"/>
            <a:ext cx="137160" cy="1371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777240" y="35204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2:13</a:t>
            </a:r>
            <a:endParaRPr lang="en-US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1463040" y="3520440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CI/CD + Jenkins: concepts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852160" y="3520440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 min</a:t>
            </a:r>
            <a:endParaRPr lang="en-US" sz="1300" dirty="0"/>
          </a:p>
        </p:txBody>
      </p:sp>
      <p:sp>
        <p:nvSpPr>
          <p:cNvPr id="54" name="dot 6"/>
          <p:cNvSpPr/>
          <p:nvPr/>
        </p:nvSpPr>
        <p:spPr>
          <a:xfrm>
            <a:off x="502920" y="3904488"/>
            <a:ext cx="137160" cy="137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77240" y="3822192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2:22</a:t>
            </a:r>
            <a:endParaRPr lang="en-US" sz="1300" dirty="0"/>
          </a:p>
        </p:txBody>
      </p:sp>
      <p:sp>
        <p:nvSpPr>
          <p:cNvPr id="56" name="Text 53"/>
          <p:cNvSpPr txBox="1"/>
          <p:nvPr/>
        </p:nvSpPr>
        <p:spPr>
          <a:xfrm>
            <a:off x="1463040" y="3822192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 3 · a pipeline that runs on every push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5852160" y="3822192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12 min</a:t>
            </a:r>
            <a:endParaRPr lang="en-US" sz="1300" dirty="0"/>
          </a:p>
        </p:txBody>
      </p:sp>
      <p:sp>
        <p:nvSpPr>
          <p:cNvPr id="58" name="Text 55"/>
          <p:cNvSpPr txBox="1"/>
          <p:nvPr/>
        </p:nvSpPr>
        <p:spPr>
          <a:xfrm>
            <a:off x="777240" y="4123944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2:34</a:t>
            </a:r>
            <a:endParaRPr lang="en-US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1463040" y="4123944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Big picture + Q&amp;A</a:t>
            </a:r>
            <a:endParaRPr lang="en-US" sz="1300" dirty="0"/>
          </a:p>
        </p:txBody>
      </p:sp>
      <p:sp>
        <p:nvSpPr>
          <p:cNvPr id="60" name="Text 57"/>
          <p:cNvSpPr txBox="1"/>
          <p:nvPr/>
        </p:nvSpPr>
        <p:spPr>
          <a:xfrm>
            <a:off x="5852160" y="4123944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6 min</a:t>
            </a:r>
            <a:endParaRPr lang="en-US" sz="1300" dirty="0"/>
          </a:p>
        </p:txBody>
      </p:sp>
      <p:sp>
        <p:nvSpPr>
          <p:cNvPr id="61" name="legend"/>
          <p:cNvSpPr/>
          <p:nvPr/>
        </p:nvSpPr>
        <p:spPr>
          <a:xfrm>
            <a:off x="6766560" y="2011680"/>
            <a:ext cx="1920240" cy="23774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6903720" y="20848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Colour code</a:t>
            </a:r>
            <a:endParaRPr lang="en-US" sz="1200" dirty="0"/>
          </a:p>
        </p:txBody>
      </p:sp>
      <p:sp>
        <p:nvSpPr>
          <p:cNvPr id="63" name="legend dot Docker"/>
          <p:cNvSpPr/>
          <p:nvPr/>
        </p:nvSpPr>
        <p:spPr>
          <a:xfrm>
            <a:off x="6949440" y="2450592"/>
            <a:ext cx="182880" cy="1828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223760" y="24048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Docker</a:t>
            </a:r>
            <a:endParaRPr lang="en-US" sz="1200" dirty="0"/>
          </a:p>
        </p:txBody>
      </p:sp>
      <p:sp>
        <p:nvSpPr>
          <p:cNvPr id="65" name="legend dot Kubernetes"/>
          <p:cNvSpPr/>
          <p:nvPr/>
        </p:nvSpPr>
        <p:spPr>
          <a:xfrm>
            <a:off x="6949440" y="276148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7223760" y="27157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Kubernetes</a:t>
            </a:r>
            <a:endParaRPr lang="en-US" sz="1200" dirty="0"/>
          </a:p>
        </p:txBody>
      </p:sp>
      <p:sp>
        <p:nvSpPr>
          <p:cNvPr id="67" name="legend dot CI/CD"/>
          <p:cNvSpPr/>
          <p:nvPr/>
        </p:nvSpPr>
        <p:spPr>
          <a:xfrm>
            <a:off x="6949440" y="307238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223760" y="3026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CI/CD</a:t>
            </a:r>
            <a:endParaRPr lang="en-US" sz="1200" dirty="0"/>
          </a:p>
        </p:txBody>
      </p:sp>
      <p:sp>
        <p:nvSpPr>
          <p:cNvPr id="69" name="legend dot Hands-on lab"/>
          <p:cNvSpPr/>
          <p:nvPr/>
        </p:nvSpPr>
        <p:spPr>
          <a:xfrm>
            <a:off x="6949440" y="338328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223760" y="3337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Hands-on lab</a:t>
            </a:r>
            <a:endParaRPr lang="en-US" sz="1200" dirty="0"/>
          </a:p>
        </p:txBody>
      </p:sp>
      <p:sp>
        <p:nvSpPr>
          <p:cNvPr id="71" name="legend dot Good / done"/>
          <p:cNvSpPr/>
          <p:nvPr/>
        </p:nvSpPr>
        <p:spPr>
          <a:xfrm>
            <a:off x="6949440" y="3694176"/>
            <a:ext cx="182880" cy="1828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223760" y="3648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Good / done</a:t>
            </a:r>
            <a:endParaRPr lang="en-US" sz="1200" dirty="0"/>
          </a:p>
        </p:txBody>
      </p:sp>
      <p:sp>
        <p:nvSpPr>
          <p:cNvPr id="73" name="legend dot Problem"/>
          <p:cNvSpPr/>
          <p:nvPr/>
        </p:nvSpPr>
        <p:spPr>
          <a:xfrm>
            <a:off x="6949440" y="4005072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223760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How this session works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INTRO</a:t>
            </a:r>
            <a:endParaRPr lang="en-US" sz="900" dirty="0"/>
          </a:p>
        </p:txBody>
      </p:sp>
      <p:sp>
        <p:nvSpPr>
          <p:cNvPr id="6" name="1 · Watch card"/>
          <p:cNvSpPr/>
          <p:nvPr/>
        </p:nvSpPr>
        <p:spPr>
          <a:xfrm>
            <a:off x="457200" y="109728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1 · Watch circle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8" name="1 · Watch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 · Watch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8745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~10 minutes of concepts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Every slide has one idea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Colour tells you the topic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Ask anytime</a:t>
            </a:r>
            <a:endParaRPr lang="en-US" sz="1300" dirty="0"/>
          </a:p>
        </p:txBody>
      </p:sp>
      <p:sp>
        <p:nvSpPr>
          <p:cNvPr id="11" name="2 · Do card"/>
          <p:cNvSpPr/>
          <p:nvPr/>
        </p:nvSpPr>
        <p:spPr>
          <a:xfrm>
            <a:off x="3264408" y="109728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2" name="2 · Do circle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2 · Do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37160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41648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 · Do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447288" y="18745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~30 minutes in your Codespace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Open labs/0N-*.md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Mirror the instructor's terminal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Type it, don't paste it</a:t>
            </a:r>
            <a:endParaRPr lang="en-US" sz="1300" dirty="0"/>
          </a:p>
        </p:txBody>
      </p:sp>
      <p:sp>
        <p:nvSpPr>
          <p:cNvPr id="16" name="3 · Check card"/>
          <p:cNvSpPr/>
          <p:nvPr/>
        </p:nvSpPr>
        <p:spPr>
          <a:xfrm>
            <a:off x="6080760" y="109728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3 · Check circle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8" name="3 · Check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 · Check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263640" y="18745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lab has a 'Done when'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bash labs/check.sh tells you what's missing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Thumbs up = move 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Stuck = raise your hand 🙋</a:t>
            </a:r>
            <a:endParaRPr lang="en-US" sz="1300" dirty="0"/>
          </a:p>
        </p:txBody>
      </p:sp>
      <p:sp>
        <p:nvSpPr>
          <p:cNvPr id="21" name="box Nothing to install. Everything runs in GitHub Codespaces, in your browser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box text Nothing to install. Everything runs in GitHub Codespaces, in your browser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Nothing to install. Everything runs in GitHub Codespaces, in your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Part 1 · Docker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Package the app with its environment. Run it the same way everywhere.</a:t>
            </a:r>
            <a:endParaRPr lang="en-US" sz="1800" dirty="0"/>
          </a:p>
        </p:txBody>
      </p:sp>
      <p:pic>
        <p:nvPicPr>
          <p:cNvPr id="5" name="dock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463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"But it works on my machine"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Different versions card"/>
          <p:cNvSpPr/>
          <p:nvPr/>
        </p:nvSpPr>
        <p:spPr>
          <a:xfrm>
            <a:off x="457200" y="109728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7" name="Different versions circle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Different vers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Different versions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8745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Your laptop: Node 22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Friend's laptop: Node 16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Server: Node 18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Same code, three behaviours</a:t>
            </a:r>
            <a:endParaRPr lang="en-US" sz="1300" dirty="0"/>
          </a:p>
        </p:txBody>
      </p:sp>
      <p:sp>
        <p:nvSpPr>
          <p:cNvPr id="11" name="Missing pieces card"/>
          <p:cNvSpPr/>
          <p:nvPr/>
        </p:nvSpPr>
        <p:spPr>
          <a:xfrm>
            <a:off x="3264408" y="109728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" name="Missing pieces circle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3" name="Missing piece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37160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41648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Missing pieces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447288" y="18745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package you forgot to list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.env file that's not in git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system library only you installed</a:t>
            </a:r>
            <a:endParaRPr lang="en-US" sz="1300" dirty="0"/>
          </a:p>
        </p:txBody>
      </p:sp>
      <p:sp>
        <p:nvSpPr>
          <p:cNvPr id="16" name="Different OS card"/>
          <p:cNvSpPr/>
          <p:nvPr/>
        </p:nvSpPr>
        <p:spPr>
          <a:xfrm>
            <a:off x="6080760" y="109728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7" name="Different OS circle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Different O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Different OS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263640" y="18745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Windows paths vs Linux paths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Mac ARM chip vs Intel server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"Just install these 14 things first"</a:t>
            </a:r>
            <a:endParaRPr lang="en-US" sz="1300" dirty="0"/>
          </a:p>
        </p:txBody>
      </p:sp>
      <p:sp>
        <p:nvSpPr>
          <p:cNvPr id="21" name="box Fix: ship the environment with the code (an image) and run it identically everywhere (a container)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box text Fix: ship the environment with the code (an image) and run it identically everywhere (a container)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Fix: ship the environment with the code (an image) and run it identically everywhere (a container).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Virtual machines vs containers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Virtual machines</a:t>
            </a:r>
            <a:endParaRPr lang="en-US" sz="1600" dirty="0"/>
          </a:p>
        </p:txBody>
      </p:sp>
      <p:sp>
        <p:nvSpPr>
          <p:cNvPr id="7" name="box App A"/>
          <p:cNvSpPr/>
          <p:nvPr/>
        </p:nvSpPr>
        <p:spPr>
          <a:xfrm>
            <a:off x="548640" y="1463040"/>
            <a:ext cx="1737360" cy="411480"/>
          </a:xfrm>
          <a:prstGeom prst="roundRect">
            <a:avLst>
              <a:gd name="adj" fmla="val 17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box text App A"/>
          <p:cNvSpPr txBox="1"/>
          <p:nvPr/>
        </p:nvSpPr>
        <p:spPr>
          <a:xfrm>
            <a:off x="548640" y="146304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 A</a:t>
            </a:r>
            <a:endParaRPr lang="en-US" sz="1200" dirty="0"/>
          </a:p>
        </p:txBody>
      </p:sp>
      <p:sp>
        <p:nvSpPr>
          <p:cNvPr id="9" name="box Bins/Libs"/>
          <p:cNvSpPr/>
          <p:nvPr/>
        </p:nvSpPr>
        <p:spPr>
          <a:xfrm>
            <a:off x="548640" y="1920240"/>
            <a:ext cx="1737360" cy="411480"/>
          </a:xfrm>
          <a:prstGeom prst="roundRect">
            <a:avLst>
              <a:gd name="adj" fmla="val 17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ox text Bins/Libs"/>
          <p:cNvSpPr txBox="1"/>
          <p:nvPr/>
        </p:nvSpPr>
        <p:spPr>
          <a:xfrm>
            <a:off x="54864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Bins/Libs</a:t>
            </a:r>
            <a:endParaRPr lang="en-US" sz="1200" dirty="0"/>
          </a:p>
        </p:txBody>
      </p:sp>
      <p:sp>
        <p:nvSpPr>
          <p:cNvPr id="11" name="box Guest OS"/>
          <p:cNvSpPr/>
          <p:nvPr/>
        </p:nvSpPr>
        <p:spPr>
          <a:xfrm>
            <a:off x="548640" y="237744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box text Guest OS"/>
          <p:cNvSpPr txBox="1"/>
          <p:nvPr/>
        </p:nvSpPr>
        <p:spPr>
          <a:xfrm>
            <a:off x="54864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Guest OS</a:t>
            </a:r>
            <a:endParaRPr lang="en-US" sz="1200" dirty="0"/>
          </a:p>
        </p:txBody>
      </p:sp>
      <p:sp>
        <p:nvSpPr>
          <p:cNvPr id="13" name="box App B"/>
          <p:cNvSpPr/>
          <p:nvPr/>
        </p:nvSpPr>
        <p:spPr>
          <a:xfrm>
            <a:off x="2468880" y="1463040"/>
            <a:ext cx="1737360" cy="411480"/>
          </a:xfrm>
          <a:prstGeom prst="roundRect">
            <a:avLst>
              <a:gd name="adj" fmla="val 17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ox text App B"/>
          <p:cNvSpPr txBox="1"/>
          <p:nvPr/>
        </p:nvSpPr>
        <p:spPr>
          <a:xfrm>
            <a:off x="2468880" y="146304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 B</a:t>
            </a:r>
            <a:endParaRPr lang="en-US" sz="1200" dirty="0"/>
          </a:p>
        </p:txBody>
      </p:sp>
      <p:sp>
        <p:nvSpPr>
          <p:cNvPr id="15" name="box Bins/Libs"/>
          <p:cNvSpPr/>
          <p:nvPr/>
        </p:nvSpPr>
        <p:spPr>
          <a:xfrm>
            <a:off x="2468880" y="1920240"/>
            <a:ext cx="1737360" cy="411480"/>
          </a:xfrm>
          <a:prstGeom prst="roundRect">
            <a:avLst>
              <a:gd name="adj" fmla="val 17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box text Bins/Libs"/>
          <p:cNvSpPr txBox="1"/>
          <p:nvPr/>
        </p:nvSpPr>
        <p:spPr>
          <a:xfrm>
            <a:off x="246888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Bins/Libs</a:t>
            </a:r>
            <a:endParaRPr lang="en-US" sz="1200" dirty="0"/>
          </a:p>
        </p:txBody>
      </p:sp>
      <p:sp>
        <p:nvSpPr>
          <p:cNvPr id="17" name="box Guest OS"/>
          <p:cNvSpPr/>
          <p:nvPr/>
        </p:nvSpPr>
        <p:spPr>
          <a:xfrm>
            <a:off x="2468880" y="237744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box text Guest OS"/>
          <p:cNvSpPr txBox="1"/>
          <p:nvPr/>
        </p:nvSpPr>
        <p:spPr>
          <a:xfrm>
            <a:off x="246888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Guest OS</a:t>
            </a:r>
            <a:endParaRPr lang="en-US" sz="1200" dirty="0"/>
          </a:p>
        </p:txBody>
      </p:sp>
      <p:sp>
        <p:nvSpPr>
          <p:cNvPr id="19" name="box Hypervisor"/>
          <p:cNvSpPr/>
          <p:nvPr/>
        </p:nvSpPr>
        <p:spPr>
          <a:xfrm>
            <a:off x="548640" y="2880360"/>
            <a:ext cx="365760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box text Hypervisor"/>
          <p:cNvSpPr txBox="1"/>
          <p:nvPr/>
        </p:nvSpPr>
        <p:spPr>
          <a:xfrm>
            <a:off x="548640" y="2880360"/>
            <a:ext cx="365760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Hypervisor</a:t>
            </a:r>
            <a:endParaRPr lang="en-US" sz="1200" dirty="0"/>
          </a:p>
        </p:txBody>
      </p:sp>
      <p:sp>
        <p:nvSpPr>
          <p:cNvPr id="21" name="box Host OS  ·  Hardware"/>
          <p:cNvSpPr/>
          <p:nvPr/>
        </p:nvSpPr>
        <p:spPr>
          <a:xfrm>
            <a:off x="548640" y="3337560"/>
            <a:ext cx="3657600" cy="411480"/>
          </a:xfrm>
          <a:prstGeom prst="roundRect">
            <a:avLst>
              <a:gd name="adj" fmla="val 177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box text Host OS  ·  Hardware"/>
          <p:cNvSpPr txBox="1"/>
          <p:nvPr/>
        </p:nvSpPr>
        <p:spPr>
          <a:xfrm>
            <a:off x="54864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Host OS  ·  Hardware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3840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Each VM boots a full OS: GBs, minutes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Strong isolation, heavy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Containers</a:t>
            </a:r>
            <a:endParaRPr lang="en-US" sz="1600" dirty="0"/>
          </a:p>
        </p:txBody>
      </p:sp>
      <p:sp>
        <p:nvSpPr>
          <p:cNvPr id="25" name="box App A"/>
          <p:cNvSpPr/>
          <p:nvPr/>
        </p:nvSpPr>
        <p:spPr>
          <a:xfrm>
            <a:off x="4937760" y="1920240"/>
            <a:ext cx="1161288" cy="411480"/>
          </a:xfrm>
          <a:prstGeom prst="roundRect">
            <a:avLst>
              <a:gd name="adj" fmla="val 17778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6" name="box text App A"/>
          <p:cNvSpPr txBox="1"/>
          <p:nvPr/>
        </p:nvSpPr>
        <p:spPr>
          <a:xfrm>
            <a:off x="4937760" y="1920240"/>
            <a:ext cx="1161288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 A</a:t>
            </a:r>
            <a:endParaRPr lang="en-US" sz="1200" dirty="0"/>
          </a:p>
        </p:txBody>
      </p:sp>
      <p:sp>
        <p:nvSpPr>
          <p:cNvPr id="27" name="box Bins/Libs"/>
          <p:cNvSpPr/>
          <p:nvPr/>
        </p:nvSpPr>
        <p:spPr>
          <a:xfrm>
            <a:off x="4937760" y="2377440"/>
            <a:ext cx="1161288" cy="411480"/>
          </a:xfrm>
          <a:prstGeom prst="roundRect">
            <a:avLst>
              <a:gd name="adj" fmla="val 17778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8" name="box text Bins/Libs"/>
          <p:cNvSpPr txBox="1"/>
          <p:nvPr/>
        </p:nvSpPr>
        <p:spPr>
          <a:xfrm>
            <a:off x="4937760" y="2377440"/>
            <a:ext cx="1161288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Bins/Libs</a:t>
            </a:r>
            <a:endParaRPr lang="en-US" sz="1100" dirty="0"/>
          </a:p>
        </p:txBody>
      </p:sp>
      <p:sp>
        <p:nvSpPr>
          <p:cNvPr id="29" name="box App B"/>
          <p:cNvSpPr/>
          <p:nvPr/>
        </p:nvSpPr>
        <p:spPr>
          <a:xfrm>
            <a:off x="6190488" y="1920240"/>
            <a:ext cx="1161288" cy="411480"/>
          </a:xfrm>
          <a:prstGeom prst="roundRect">
            <a:avLst>
              <a:gd name="adj" fmla="val 17778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30" name="box text App B"/>
          <p:cNvSpPr txBox="1"/>
          <p:nvPr/>
        </p:nvSpPr>
        <p:spPr>
          <a:xfrm>
            <a:off x="6190488" y="1920240"/>
            <a:ext cx="1161288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 B</a:t>
            </a:r>
            <a:endParaRPr lang="en-US" sz="1200" dirty="0"/>
          </a:p>
        </p:txBody>
      </p:sp>
      <p:sp>
        <p:nvSpPr>
          <p:cNvPr id="31" name="box Bins/Libs"/>
          <p:cNvSpPr/>
          <p:nvPr/>
        </p:nvSpPr>
        <p:spPr>
          <a:xfrm>
            <a:off x="6190488" y="2377440"/>
            <a:ext cx="1161288" cy="411480"/>
          </a:xfrm>
          <a:prstGeom prst="roundRect">
            <a:avLst>
              <a:gd name="adj" fmla="val 17778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32" name="box text Bins/Libs"/>
          <p:cNvSpPr txBox="1"/>
          <p:nvPr/>
        </p:nvSpPr>
        <p:spPr>
          <a:xfrm>
            <a:off x="6190488" y="2377440"/>
            <a:ext cx="1161288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Bins/Libs</a:t>
            </a:r>
            <a:endParaRPr lang="en-US" sz="1100" dirty="0"/>
          </a:p>
        </p:txBody>
      </p:sp>
      <p:sp>
        <p:nvSpPr>
          <p:cNvPr id="33" name="box App C"/>
          <p:cNvSpPr/>
          <p:nvPr/>
        </p:nvSpPr>
        <p:spPr>
          <a:xfrm>
            <a:off x="7443216" y="1920240"/>
            <a:ext cx="1161288" cy="411480"/>
          </a:xfrm>
          <a:prstGeom prst="roundRect">
            <a:avLst>
              <a:gd name="adj" fmla="val 17778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34" name="box text App C"/>
          <p:cNvSpPr txBox="1"/>
          <p:nvPr/>
        </p:nvSpPr>
        <p:spPr>
          <a:xfrm>
            <a:off x="7443216" y="1920240"/>
            <a:ext cx="1161288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 C</a:t>
            </a:r>
            <a:endParaRPr lang="en-US" sz="1200" dirty="0"/>
          </a:p>
        </p:txBody>
      </p:sp>
      <p:sp>
        <p:nvSpPr>
          <p:cNvPr id="35" name="box Bins/Libs"/>
          <p:cNvSpPr/>
          <p:nvPr/>
        </p:nvSpPr>
        <p:spPr>
          <a:xfrm>
            <a:off x="7443216" y="2377440"/>
            <a:ext cx="1161288" cy="411480"/>
          </a:xfrm>
          <a:prstGeom prst="roundRect">
            <a:avLst>
              <a:gd name="adj" fmla="val 17778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36" name="box text Bins/Libs"/>
          <p:cNvSpPr txBox="1"/>
          <p:nvPr/>
        </p:nvSpPr>
        <p:spPr>
          <a:xfrm>
            <a:off x="7443216" y="2377440"/>
            <a:ext cx="1161288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Bins/Libs</a:t>
            </a:r>
            <a:endParaRPr lang="en-US" sz="1100" dirty="0"/>
          </a:p>
        </p:txBody>
      </p:sp>
      <p:sp>
        <p:nvSpPr>
          <p:cNvPr id="37" name="box Docker Engine"/>
          <p:cNvSpPr/>
          <p:nvPr/>
        </p:nvSpPr>
        <p:spPr>
          <a:xfrm>
            <a:off x="4937760" y="2880360"/>
            <a:ext cx="3657600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box text Docker Engine"/>
          <p:cNvSpPr txBox="1"/>
          <p:nvPr/>
        </p:nvSpPr>
        <p:spPr>
          <a:xfrm>
            <a:off x="4937760" y="2880360"/>
            <a:ext cx="365760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Docker Engine</a:t>
            </a:r>
            <a:endParaRPr lang="en-US" sz="1200" dirty="0"/>
          </a:p>
        </p:txBody>
      </p:sp>
      <p:sp>
        <p:nvSpPr>
          <p:cNvPr id="39" name="box Host OS (shared kernel)  ·  Hardware"/>
          <p:cNvSpPr/>
          <p:nvPr/>
        </p:nvSpPr>
        <p:spPr>
          <a:xfrm>
            <a:off x="4937760" y="3337560"/>
            <a:ext cx="3657600" cy="411480"/>
          </a:xfrm>
          <a:prstGeom prst="roundRect">
            <a:avLst>
              <a:gd name="adj" fmla="val 177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0" name="box text Host OS (shared kernel)  ·  Hardware"/>
          <p:cNvSpPr txBox="1"/>
          <p:nvPr/>
        </p:nvSpPr>
        <p:spPr>
          <a:xfrm>
            <a:off x="493776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Host OS (shared kernel)  ·  Hardware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4937760" y="3840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Share the host kernel: MBs, milliseconds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Isolated by Linux namespaces + cgroups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container = a normal process in a box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Four words, one flow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Dockerfile card"/>
          <p:cNvSpPr/>
          <p:nvPr/>
        </p:nvSpPr>
        <p:spPr>
          <a:xfrm>
            <a:off x="45720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7" name="Dockerfile circle"/>
          <p:cNvSpPr/>
          <p:nvPr/>
        </p:nvSpPr>
        <p:spPr>
          <a:xfrm>
            <a:off x="1143000" y="1325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Dockerfil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Dockerfile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237744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text recipe: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start from X, copy this, run that</a:t>
            </a:r>
            <a:endParaRPr lang="en-US" sz="1100" dirty="0"/>
          </a:p>
        </p:txBody>
      </p:sp>
      <p:sp>
        <p:nvSpPr>
          <p:cNvPr id="11" name="Image card"/>
          <p:cNvSpPr/>
          <p:nvPr/>
        </p:nvSpPr>
        <p:spPr>
          <a:xfrm>
            <a:off x="2587752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2" name="Image circle"/>
          <p:cNvSpPr/>
          <p:nvPr/>
        </p:nvSpPr>
        <p:spPr>
          <a:xfrm>
            <a:off x="3273552" y="1325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46304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587752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Image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2724912" y="237744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recipe baked. Read-only snapshot of a filesystem + a start command. Like a class</a:t>
            </a:r>
            <a:endParaRPr lang="en-US" sz="1100" dirty="0"/>
          </a:p>
        </p:txBody>
      </p:sp>
      <p:sp>
        <p:nvSpPr>
          <p:cNvPr id="16" name="Container card"/>
          <p:cNvSpPr/>
          <p:nvPr/>
        </p:nvSpPr>
        <p:spPr>
          <a:xfrm>
            <a:off x="4718304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7" name="Container circle"/>
          <p:cNvSpPr/>
          <p:nvPr/>
        </p:nvSpPr>
        <p:spPr>
          <a:xfrm>
            <a:off x="5404104" y="1325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Container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1264" y="146304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718304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Container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4855464" y="237744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running instance of an image. Like an object. Start many from one image</a:t>
            </a:r>
            <a:endParaRPr lang="en-US" sz="1100" dirty="0"/>
          </a:p>
        </p:txBody>
      </p:sp>
      <p:sp>
        <p:nvSpPr>
          <p:cNvPr id="21" name="Registry card"/>
          <p:cNvSpPr/>
          <p:nvPr/>
        </p:nvSpPr>
        <p:spPr>
          <a:xfrm>
            <a:off x="6848856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2" name="Registry circle"/>
          <p:cNvSpPr/>
          <p:nvPr/>
        </p:nvSpPr>
        <p:spPr>
          <a:xfrm>
            <a:off x="7534656" y="1325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Registry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1816" y="146304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48856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Registry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6986016" y="237744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Where images are stored and shared: Docker Hub, GHCR. 'git push' for images</a:t>
            </a:r>
            <a:endParaRPr lang="en-US" sz="1100" dirty="0"/>
          </a:p>
        </p:txBody>
      </p:sp>
      <p:sp>
        <p:nvSpPr>
          <p:cNvPr id="26" name="arrow"/>
          <p:cNvSpPr/>
          <p:nvPr/>
        </p:nvSpPr>
        <p:spPr>
          <a:xfrm>
            <a:off x="2377440" y="3703320"/>
            <a:ext cx="21031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173736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build</a:t>
            </a:r>
            <a:endParaRPr lang="en-US" sz="1000" dirty="0"/>
          </a:p>
        </p:txBody>
      </p:sp>
      <p:sp>
        <p:nvSpPr>
          <p:cNvPr id="28" name="arrow"/>
          <p:cNvSpPr/>
          <p:nvPr/>
        </p:nvSpPr>
        <p:spPr>
          <a:xfrm>
            <a:off x="4507992" y="3703320"/>
            <a:ext cx="21031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3867912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</a:t>
            </a:r>
            <a:endParaRPr lang="en-US" sz="1000" dirty="0"/>
          </a:p>
        </p:txBody>
      </p:sp>
      <p:sp>
        <p:nvSpPr>
          <p:cNvPr id="30" name="arrow"/>
          <p:cNvSpPr/>
          <p:nvPr/>
        </p:nvSpPr>
        <p:spPr>
          <a:xfrm>
            <a:off x="6638544" y="3703320"/>
            <a:ext cx="21031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1" name="Text 24"/>
          <p:cNvSpPr txBox="1"/>
          <p:nvPr/>
        </p:nvSpPr>
        <p:spPr>
          <a:xfrm>
            <a:off x="5998464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push / pull</a:t>
            </a:r>
            <a:endParaRPr lang="en-US" sz="1000" dirty="0"/>
          </a:p>
        </p:txBody>
      </p:sp>
      <p:sp>
        <p:nvSpPr>
          <p:cNvPr id="32" name="box build: Dockerfile → Image.    run: Image → Container.    push / pull: Image ⇄ Registry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box text build: Dockerfile → Image.    run: Image → Container.    push / pull: Image ⇄ Registry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build: Dockerfile → Image.    run: Image → Container.    push / pull: Image ⇄ Registry.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The Dockerfile we'll use (6 instructions)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code bg"/>
          <p:cNvSpPr/>
          <p:nvPr/>
        </p:nvSpPr>
        <p:spPr>
          <a:xfrm>
            <a:off x="457200" y="1097280"/>
            <a:ext cx="3931920" cy="3474720"/>
          </a:xfrm>
          <a:prstGeom prst="roundRect">
            <a:avLst>
              <a:gd name="adj" fmla="val 263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594360" y="118872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node:20-alpine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 /app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package.json ./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npm install --omit=dev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. 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 3000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["node", "index.js"]</a:t>
            </a:r>
            <a:endParaRPr lang="en-US" sz="1400" dirty="0"/>
          </a:p>
        </p:txBody>
      </p:sp>
      <p:sp>
        <p:nvSpPr>
          <p:cNvPr id="8" name="box FROM"/>
          <p:cNvSpPr/>
          <p:nvPr/>
        </p:nvSpPr>
        <p:spPr>
          <a:xfrm>
            <a:off x="4663440" y="1097280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box text FROM"/>
          <p:cNvSpPr txBox="1"/>
          <p:nvPr/>
        </p:nvSpPr>
        <p:spPr>
          <a:xfrm>
            <a:off x="4663440" y="1097280"/>
            <a:ext cx="11887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1097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Base image: a tiny Linux with Node 20 already installed</a:t>
            </a:r>
            <a:endParaRPr lang="en-US" sz="1200" dirty="0"/>
          </a:p>
        </p:txBody>
      </p:sp>
      <p:sp>
        <p:nvSpPr>
          <p:cNvPr id="11" name="box WORKDIR"/>
          <p:cNvSpPr/>
          <p:nvPr/>
        </p:nvSpPr>
        <p:spPr>
          <a:xfrm>
            <a:off x="4663440" y="1673352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ox text WORKDIR"/>
          <p:cNvSpPr txBox="1"/>
          <p:nvPr/>
        </p:nvSpPr>
        <p:spPr>
          <a:xfrm>
            <a:off x="4663440" y="1673352"/>
            <a:ext cx="11887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16733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cd into /app inside the image (creates it)</a:t>
            </a:r>
            <a:endParaRPr lang="en-US" sz="1200" dirty="0"/>
          </a:p>
        </p:txBody>
      </p:sp>
      <p:sp>
        <p:nvSpPr>
          <p:cNvPr id="14" name="box COPY + RUN"/>
          <p:cNvSpPr/>
          <p:nvPr/>
        </p:nvSpPr>
        <p:spPr>
          <a:xfrm>
            <a:off x="4663440" y="2249424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box text COPY + RUN"/>
          <p:cNvSpPr txBox="1"/>
          <p:nvPr/>
        </p:nvSpPr>
        <p:spPr>
          <a:xfrm>
            <a:off x="4663440" y="2249424"/>
            <a:ext cx="11887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+ RUN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2494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Copy only package.json, install deps. Cached unless package.json changes</a:t>
            </a:r>
            <a:endParaRPr lang="en-US" sz="1200" dirty="0"/>
          </a:p>
        </p:txBody>
      </p:sp>
      <p:sp>
        <p:nvSpPr>
          <p:cNvPr id="17" name="box COPY . ."/>
          <p:cNvSpPr/>
          <p:nvPr/>
        </p:nvSpPr>
        <p:spPr>
          <a:xfrm>
            <a:off x="4663440" y="2825496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box text COPY . ."/>
          <p:cNvSpPr txBox="1"/>
          <p:nvPr/>
        </p:nvSpPr>
        <p:spPr>
          <a:xfrm>
            <a:off x="4663440" y="2825496"/>
            <a:ext cx="11887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. 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282549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Now the source code. It changes often, so it comes last</a:t>
            </a:r>
            <a:endParaRPr lang="en-US" sz="1200" dirty="0"/>
          </a:p>
        </p:txBody>
      </p:sp>
      <p:sp>
        <p:nvSpPr>
          <p:cNvPr id="20" name="box EXPOSE"/>
          <p:cNvSpPr/>
          <p:nvPr/>
        </p:nvSpPr>
        <p:spPr>
          <a:xfrm>
            <a:off x="4663440" y="3401568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box text EXPOSE"/>
          <p:cNvSpPr txBox="1"/>
          <p:nvPr/>
        </p:nvSpPr>
        <p:spPr>
          <a:xfrm>
            <a:off x="4663440" y="3401568"/>
            <a:ext cx="11887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0" y="34015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Documentation only: 'this app listens on 3000'</a:t>
            </a:r>
            <a:endParaRPr lang="en-US" sz="1200" dirty="0"/>
          </a:p>
        </p:txBody>
      </p:sp>
      <p:sp>
        <p:nvSpPr>
          <p:cNvPr id="23" name="box CMD"/>
          <p:cNvSpPr/>
          <p:nvPr/>
        </p:nvSpPr>
        <p:spPr>
          <a:xfrm>
            <a:off x="4663440" y="3977640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box text CMD"/>
          <p:cNvSpPr txBox="1"/>
          <p:nvPr/>
        </p:nvSpPr>
        <p:spPr>
          <a:xfrm>
            <a:off x="4663440" y="3977640"/>
            <a:ext cx="11887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943600" y="3977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process to start. One container = one process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Images are layers, and layers are cached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box container writable layer (lost on docker rm)"/>
          <p:cNvSpPr/>
          <p:nvPr/>
        </p:nvSpPr>
        <p:spPr>
          <a:xfrm>
            <a:off x="548640" y="1051560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dash"/>
          </a:ln>
        </p:spPr>
      </p:sp>
      <p:sp>
        <p:nvSpPr>
          <p:cNvPr id="7" name="box text container writable layer (lost on docker rm)"/>
          <p:cNvSpPr txBox="1"/>
          <p:nvPr/>
        </p:nvSpPr>
        <p:spPr>
          <a:xfrm>
            <a:off x="548640" y="1051560"/>
            <a:ext cx="32918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container writable layer (lost on docker rm)</a:t>
            </a:r>
            <a:endParaRPr lang="en-US" sz="1000" dirty="0"/>
          </a:p>
        </p:txBody>
      </p:sp>
      <p:sp>
        <p:nvSpPr>
          <p:cNvPr id="8" name="box CMD [&quot;node&quot;,&quot;index.js&quot;]"/>
          <p:cNvSpPr/>
          <p:nvPr/>
        </p:nvSpPr>
        <p:spPr>
          <a:xfrm>
            <a:off x="548640" y="1527048"/>
            <a:ext cx="3291840" cy="420624"/>
          </a:xfrm>
          <a:prstGeom prst="roundRect">
            <a:avLst>
              <a:gd name="adj" fmla="val 173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box text CMD [&amp;quot;node&amp;quot;,&amp;quot;index.js&amp;quot;]"/>
          <p:cNvSpPr txBox="1"/>
          <p:nvPr/>
        </p:nvSpPr>
        <p:spPr>
          <a:xfrm>
            <a:off x="548640" y="1527048"/>
            <a:ext cx="329184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["node","index.js"]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3977640" y="1527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tiny</a:t>
            </a:r>
            <a:endParaRPr lang="en-US" sz="1100" dirty="0"/>
          </a:p>
        </p:txBody>
      </p:sp>
      <p:sp>
        <p:nvSpPr>
          <p:cNvPr id="11" name="box COPY . ."/>
          <p:cNvSpPr/>
          <p:nvPr/>
        </p:nvSpPr>
        <p:spPr>
          <a:xfrm>
            <a:off x="548640" y="2011680"/>
            <a:ext cx="3291840" cy="420624"/>
          </a:xfrm>
          <a:prstGeom prst="roundRect">
            <a:avLst>
              <a:gd name="adj" fmla="val 173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ox text COPY . ."/>
          <p:cNvSpPr txBox="1"/>
          <p:nvPr/>
        </p:nvSpPr>
        <p:spPr>
          <a:xfrm>
            <a:off x="548640" y="2011680"/>
            <a:ext cx="329184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. 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977640" y="20116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your code: changes every commit</a:t>
            </a:r>
            <a:endParaRPr lang="en-US" sz="1100" dirty="0"/>
          </a:p>
        </p:txBody>
      </p:sp>
      <p:sp>
        <p:nvSpPr>
          <p:cNvPr id="14" name="box RUN npm install"/>
          <p:cNvSpPr/>
          <p:nvPr/>
        </p:nvSpPr>
        <p:spPr>
          <a:xfrm>
            <a:off x="548640" y="2496312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7DD3FC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5" name="box text RUN npm install"/>
          <p:cNvSpPr txBox="1"/>
          <p:nvPr/>
        </p:nvSpPr>
        <p:spPr>
          <a:xfrm>
            <a:off x="548640" y="2496312"/>
            <a:ext cx="329184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npm install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977640" y="2496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node_modules: slow, so we want it cached</a:t>
            </a:r>
            <a:endParaRPr lang="en-US" sz="1100" dirty="0"/>
          </a:p>
        </p:txBody>
      </p:sp>
      <p:sp>
        <p:nvSpPr>
          <p:cNvPr id="17" name="box COPY package.json"/>
          <p:cNvSpPr/>
          <p:nvPr/>
        </p:nvSpPr>
        <p:spPr>
          <a:xfrm>
            <a:off x="548640" y="2980944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7DD3FC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box text COPY package.json"/>
          <p:cNvSpPr txBox="1"/>
          <p:nvPr/>
        </p:nvSpPr>
        <p:spPr>
          <a:xfrm>
            <a:off x="548640" y="2980944"/>
            <a:ext cx="329184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package.json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977640" y="298094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small</a:t>
            </a:r>
            <a:endParaRPr lang="en-US" sz="1100" dirty="0"/>
          </a:p>
        </p:txBody>
      </p:sp>
      <p:sp>
        <p:nvSpPr>
          <p:cNvPr id="20" name="box WORKDIR /app"/>
          <p:cNvSpPr/>
          <p:nvPr/>
        </p:nvSpPr>
        <p:spPr>
          <a:xfrm>
            <a:off x="548640" y="3465576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7DD3FC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1" name="box text WORKDIR /app"/>
          <p:cNvSpPr txBox="1"/>
          <p:nvPr/>
        </p:nvSpPr>
        <p:spPr>
          <a:xfrm>
            <a:off x="548640" y="3465576"/>
            <a:ext cx="329184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 /app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3977640" y="346557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tiny</a:t>
            </a:r>
            <a:endParaRPr lang="en-US" sz="1100" dirty="0"/>
          </a:p>
        </p:txBody>
      </p:sp>
      <p:sp>
        <p:nvSpPr>
          <p:cNvPr id="23" name="box FROM node:20-alpine"/>
          <p:cNvSpPr/>
          <p:nvPr/>
        </p:nvSpPr>
        <p:spPr>
          <a:xfrm>
            <a:off x="548640" y="3950208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7DD3FC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4" name="box text FROM node:20-alpine"/>
          <p:cNvSpPr txBox="1"/>
          <p:nvPr/>
        </p:nvSpPr>
        <p:spPr>
          <a:xfrm>
            <a:off x="548640" y="3950208"/>
            <a:ext cx="329184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node:20-alpine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3977640" y="39502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~50 MB, shared by every Node image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3977640" y="10515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↑ rebuilt when index.js changes</a:t>
            </a:r>
            <a:endParaRPr lang="en-US" sz="1000" dirty="0"/>
          </a:p>
        </p:txBody>
      </p:sp>
      <p:sp>
        <p:nvSpPr>
          <p:cNvPr id="27" name="Why it matters card"/>
          <p:cNvSpPr/>
          <p:nvPr/>
        </p:nvSpPr>
        <p:spPr>
          <a:xfrm>
            <a:off x="6035040" y="1051560"/>
            <a:ext cx="2651760" cy="33832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Why it matters circle"/>
          <p:cNvSpPr/>
          <p:nvPr/>
        </p:nvSpPr>
        <p:spPr>
          <a:xfrm>
            <a:off x="6217920" y="1234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Why it matter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25880"/>
            <a:ext cx="274320" cy="27432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812280" y="1234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Why it matters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6217920" y="182880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Change index.js → only the top 2 layers rebuild. Seconds, not minutes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Change package.json → npm install re-runs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Rule: things that change rarely go first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Containers are disposable; images are not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What actually happens on 'docker run'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code bg"/>
          <p:cNvSpPr/>
          <p:nvPr/>
        </p:nvSpPr>
        <p:spPr>
          <a:xfrm>
            <a:off x="457200" y="1051560"/>
            <a:ext cx="8229600" cy="4572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594360" y="1143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-p 3000:3000 --name web hello-devops:v1</a:t>
            </a:r>
            <a:endParaRPr lang="en-US" sz="1300" dirty="0"/>
          </a:p>
        </p:txBody>
      </p:sp>
      <p:sp>
        <p:nvSpPr>
          <p:cNvPr id="8" name="box 1 · Find the image locally, else pull from registry"/>
          <p:cNvSpPr/>
          <p:nvPr/>
        </p:nvSpPr>
        <p:spPr>
          <a:xfrm>
            <a:off x="457200" y="1691640"/>
            <a:ext cx="1484986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box text 1 · Find the image locally, else pull from registry"/>
          <p:cNvSpPr txBox="1"/>
          <p:nvPr/>
        </p:nvSpPr>
        <p:spPr>
          <a:xfrm>
            <a:off x="457200" y="1691640"/>
            <a:ext cx="1484986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 · Find the image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locally, else pull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from registry</a:t>
            </a:r>
            <a:endParaRPr lang="en-US" sz="1100" dirty="0"/>
          </a:p>
        </p:txBody>
      </p:sp>
      <p:sp>
        <p:nvSpPr>
          <p:cNvPr id="10" name="arrow"/>
          <p:cNvSpPr/>
          <p:nvPr/>
        </p:nvSpPr>
        <p:spPr>
          <a:xfrm>
            <a:off x="1942186" y="2217420"/>
            <a:ext cx="20116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box 2 · Create a container image layers + new writable layer"/>
          <p:cNvSpPr/>
          <p:nvPr/>
        </p:nvSpPr>
        <p:spPr>
          <a:xfrm>
            <a:off x="2143354" y="1691640"/>
            <a:ext cx="1484986" cy="1051560"/>
          </a:xfrm>
          <a:prstGeom prst="roundRect">
            <a:avLst>
              <a:gd name="adj" fmla="val 6957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2" name="box text 2 · Create a container image layers + new writable layer"/>
          <p:cNvSpPr txBox="1"/>
          <p:nvPr/>
        </p:nvSpPr>
        <p:spPr>
          <a:xfrm>
            <a:off x="2143354" y="1691640"/>
            <a:ext cx="1484986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 · Create a container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image layers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new writable layer</a:t>
            </a:r>
            <a:endParaRPr lang="en-US" sz="1100" dirty="0"/>
          </a:p>
        </p:txBody>
      </p:sp>
      <p:sp>
        <p:nvSpPr>
          <p:cNvPr id="13" name="arrow"/>
          <p:cNvSpPr/>
          <p:nvPr/>
        </p:nvSpPr>
        <p:spPr>
          <a:xfrm>
            <a:off x="3628339" y="2217420"/>
            <a:ext cx="20116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box 3 · Give it its own network, filesystem and process space"/>
          <p:cNvSpPr/>
          <p:nvPr/>
        </p:nvSpPr>
        <p:spPr>
          <a:xfrm>
            <a:off x="3829507" y="1691640"/>
            <a:ext cx="1484986" cy="1051560"/>
          </a:xfrm>
          <a:prstGeom prst="roundRect">
            <a:avLst>
              <a:gd name="adj" fmla="val 6957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5" name="box text 3 · Give it its own network, filesystem and process space"/>
          <p:cNvSpPr txBox="1"/>
          <p:nvPr/>
        </p:nvSpPr>
        <p:spPr>
          <a:xfrm>
            <a:off x="3829507" y="1691640"/>
            <a:ext cx="1484986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 · Give it its own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network, filesystem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and process space</a:t>
            </a:r>
            <a:endParaRPr lang="en-US" sz="1100" dirty="0"/>
          </a:p>
        </p:txBody>
      </p:sp>
      <p:sp>
        <p:nvSpPr>
          <p:cNvPr id="16" name="arrow"/>
          <p:cNvSpPr/>
          <p:nvPr/>
        </p:nvSpPr>
        <p:spPr>
          <a:xfrm>
            <a:off x="5314493" y="2217420"/>
            <a:ext cx="20116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box 4 · Map host port 3000 → container port 3000"/>
          <p:cNvSpPr/>
          <p:nvPr/>
        </p:nvSpPr>
        <p:spPr>
          <a:xfrm>
            <a:off x="5515661" y="1691640"/>
            <a:ext cx="1484986" cy="1051560"/>
          </a:xfrm>
          <a:prstGeom prst="roundRect">
            <a:avLst>
              <a:gd name="adj" fmla="val 6957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box text 4 · Map host port 3000 → container port 3000"/>
          <p:cNvSpPr txBox="1"/>
          <p:nvPr/>
        </p:nvSpPr>
        <p:spPr>
          <a:xfrm>
            <a:off x="5515661" y="1691640"/>
            <a:ext cx="1484986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4 · Map host 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3000 → container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port 3000</a:t>
            </a:r>
            <a:endParaRPr lang="en-US" sz="1100" dirty="0"/>
          </a:p>
        </p:txBody>
      </p:sp>
      <p:sp>
        <p:nvSpPr>
          <p:cNvPr id="19" name="arrow"/>
          <p:cNvSpPr/>
          <p:nvPr/>
        </p:nvSpPr>
        <p:spPr>
          <a:xfrm>
            <a:off x="7000646" y="2217420"/>
            <a:ext cx="20116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box 5 · Start CMD node index.js as process #1"/>
          <p:cNvSpPr/>
          <p:nvPr/>
        </p:nvSpPr>
        <p:spPr>
          <a:xfrm>
            <a:off x="7201814" y="1691640"/>
            <a:ext cx="1484986" cy="1051560"/>
          </a:xfrm>
          <a:prstGeom prst="roundRect">
            <a:avLst>
              <a:gd name="adj" fmla="val 6957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box text 5 · Start CMD node index.js as process #1"/>
          <p:cNvSpPr txBox="1"/>
          <p:nvPr/>
        </p:nvSpPr>
        <p:spPr>
          <a:xfrm>
            <a:off x="7201814" y="1691640"/>
            <a:ext cx="1484986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 · Start CMD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node index.js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as process #1</a:t>
            </a:r>
            <a:endParaRPr lang="en-US" sz="1100" dirty="0"/>
          </a:p>
        </p:txBody>
      </p:sp>
      <p:sp>
        <p:nvSpPr>
          <p:cNvPr id="22" name="box Your browser localhost:3000"/>
          <p:cNvSpPr/>
          <p:nvPr/>
        </p:nvSpPr>
        <p:spPr>
          <a:xfrm>
            <a:off x="457200" y="301752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3" name="box text Your browser localhost:3000"/>
          <p:cNvSpPr txBox="1"/>
          <p:nvPr/>
        </p:nvSpPr>
        <p:spPr>
          <a:xfrm>
            <a:off x="457200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Your browser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localhost:3000</a:t>
            </a:r>
            <a:endParaRPr lang="en-US" sz="1100" dirty="0"/>
          </a:p>
        </p:txBody>
      </p:sp>
      <p:sp>
        <p:nvSpPr>
          <p:cNvPr id="24" name="arrow"/>
          <p:cNvSpPr/>
          <p:nvPr/>
        </p:nvSpPr>
        <p:spPr>
          <a:xfrm>
            <a:off x="2194560" y="3383280"/>
            <a:ext cx="6400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5" name="box Host port 3000 (the -p left side)"/>
          <p:cNvSpPr/>
          <p:nvPr/>
        </p:nvSpPr>
        <p:spPr>
          <a:xfrm>
            <a:off x="2834640" y="30175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6" name="box text Host port 3000 (the -p left side)"/>
          <p:cNvSpPr txBox="1"/>
          <p:nvPr/>
        </p:nvSpPr>
        <p:spPr>
          <a:xfrm>
            <a:off x="2834640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Host port 3000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(the -p left side)</a:t>
            </a:r>
            <a:endParaRPr lang="en-US" sz="1100" dirty="0"/>
          </a:p>
        </p:txBody>
      </p:sp>
      <p:sp>
        <p:nvSpPr>
          <p:cNvPr id="27" name="arrow"/>
          <p:cNvSpPr/>
          <p:nvPr/>
        </p:nvSpPr>
        <p:spPr>
          <a:xfrm>
            <a:off x="4663440" y="3383280"/>
            <a:ext cx="6400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8" name="box Container port 3000  (the -p right side) node is listening here"/>
          <p:cNvSpPr/>
          <p:nvPr/>
        </p:nvSpPr>
        <p:spPr>
          <a:xfrm>
            <a:off x="5303520" y="3017520"/>
            <a:ext cx="338328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box text Container port 3000  (the -p right side) node is listening here"/>
          <p:cNvSpPr txBox="1"/>
          <p:nvPr/>
        </p:nvSpPr>
        <p:spPr>
          <a:xfrm>
            <a:off x="5303520" y="3017520"/>
            <a:ext cx="338328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Container port 3000  (the -p right side)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node is listening here</a:t>
            </a:r>
            <a:endParaRPr lang="en-US" sz="1100" dirty="0"/>
          </a:p>
        </p:txBody>
      </p:sp>
      <p:sp>
        <p:nvSpPr>
          <p:cNvPr id="30" name="box A container lives exactly as long as its main process. Process exits → container stops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box text A container lives exactly as long as its main process. Process exits → container stops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container lives exactly as long as its main process. Process exits → container stops.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Container lifecycle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box Image"/>
          <p:cNvSpPr/>
          <p:nvPr/>
        </p:nvSpPr>
        <p:spPr>
          <a:xfrm>
            <a:off x="457200" y="13716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7DD3FC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box text Image"/>
          <p:cNvSpPr txBox="1"/>
          <p:nvPr/>
        </p:nvSpPr>
        <p:spPr>
          <a:xfrm>
            <a:off x="45720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Image</a:t>
            </a:r>
            <a:endParaRPr lang="en-US" sz="1400" dirty="0"/>
          </a:p>
        </p:txBody>
      </p:sp>
      <p:sp>
        <p:nvSpPr>
          <p:cNvPr id="8" name="box Created"/>
          <p:cNvSpPr/>
          <p:nvPr/>
        </p:nvSpPr>
        <p:spPr>
          <a:xfrm>
            <a:off x="2148840" y="13716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9" name="box text Created"/>
          <p:cNvSpPr txBox="1"/>
          <p:nvPr/>
        </p:nvSpPr>
        <p:spPr>
          <a:xfrm>
            <a:off x="214884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Created</a:t>
            </a:r>
            <a:endParaRPr lang="en-US" sz="1400" dirty="0"/>
          </a:p>
        </p:txBody>
      </p:sp>
      <p:sp>
        <p:nvSpPr>
          <p:cNvPr id="10" name="box Running"/>
          <p:cNvSpPr/>
          <p:nvPr/>
        </p:nvSpPr>
        <p:spPr>
          <a:xfrm>
            <a:off x="3840480" y="137160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box text Running"/>
          <p:cNvSpPr txBox="1"/>
          <p:nvPr/>
        </p:nvSpPr>
        <p:spPr>
          <a:xfrm>
            <a:off x="384048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Running</a:t>
            </a:r>
            <a:endParaRPr lang="en-US" sz="1400" dirty="0"/>
          </a:p>
        </p:txBody>
      </p:sp>
      <p:sp>
        <p:nvSpPr>
          <p:cNvPr id="12" name="box Stopped"/>
          <p:cNvSpPr/>
          <p:nvPr/>
        </p:nvSpPr>
        <p:spPr>
          <a:xfrm>
            <a:off x="5532120" y="13716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3" name="box text Stopped"/>
          <p:cNvSpPr txBox="1"/>
          <p:nvPr/>
        </p:nvSpPr>
        <p:spPr>
          <a:xfrm>
            <a:off x="553212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Stopped</a:t>
            </a:r>
            <a:endParaRPr lang="en-US" sz="1400" dirty="0"/>
          </a:p>
        </p:txBody>
      </p:sp>
      <p:sp>
        <p:nvSpPr>
          <p:cNvPr id="14" name="box Removed"/>
          <p:cNvSpPr/>
          <p:nvPr/>
        </p:nvSpPr>
        <p:spPr>
          <a:xfrm>
            <a:off x="7223760" y="13716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5" name="box text Removed"/>
          <p:cNvSpPr txBox="1"/>
          <p:nvPr/>
        </p:nvSpPr>
        <p:spPr>
          <a:xfrm>
            <a:off x="722376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Removed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1920240" y="1737360"/>
            <a:ext cx="2286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1691640" y="2148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</a:t>
            </a:r>
            <a:endParaRPr lang="en-US" sz="900" dirty="0"/>
          </a:p>
        </p:txBody>
      </p:sp>
      <p:sp>
        <p:nvSpPr>
          <p:cNvPr id="18" name="arrow"/>
          <p:cNvSpPr/>
          <p:nvPr/>
        </p:nvSpPr>
        <p:spPr>
          <a:xfrm>
            <a:off x="3611880" y="1737360"/>
            <a:ext cx="2286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3383280" y="2148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(auto)</a:t>
            </a:r>
            <a:endParaRPr lang="en-US" sz="900" dirty="0"/>
          </a:p>
        </p:txBody>
      </p:sp>
      <p:sp>
        <p:nvSpPr>
          <p:cNvPr id="20" name="arrow"/>
          <p:cNvSpPr/>
          <p:nvPr/>
        </p:nvSpPr>
        <p:spPr>
          <a:xfrm>
            <a:off x="5303520" y="1737360"/>
            <a:ext cx="2286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5074920" y="2148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stop</a:t>
            </a:r>
            <a:endParaRPr lang="en-US" sz="900" dirty="0"/>
          </a:p>
        </p:txBody>
      </p:sp>
      <p:sp>
        <p:nvSpPr>
          <p:cNvPr id="22" name="arrow"/>
          <p:cNvSpPr/>
          <p:nvPr/>
        </p:nvSpPr>
        <p:spPr>
          <a:xfrm>
            <a:off x="6995160" y="1737360"/>
            <a:ext cx="2286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6766560" y="2148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rm</a:t>
            </a:r>
            <a:endParaRPr lang="en-US" sz="900" dirty="0"/>
          </a:p>
        </p:txBody>
      </p:sp>
      <p:sp>
        <p:nvSpPr>
          <p:cNvPr id="24" name="start tick"/>
          <p:cNvSpPr/>
          <p:nvPr/>
        </p:nvSpPr>
        <p:spPr>
          <a:xfrm>
            <a:off x="5852160" y="1143000"/>
            <a:ext cx="0" cy="228600"/>
          </a:xfrm>
          <a:prstGeom prst="line">
            <a:avLst/>
          </a:prstGeom>
          <a:noFill/>
          <a:ln w="19050">
            <a:solidFill>
              <a:srgbClr val="0284C7"/>
            </a:solidFill>
            <a:prstDash val="solid"/>
          </a:ln>
        </p:spPr>
      </p:sp>
      <p:sp>
        <p:nvSpPr>
          <p:cNvPr id="25" name="arrow"/>
          <p:cNvSpPr/>
          <p:nvPr/>
        </p:nvSpPr>
        <p:spPr>
          <a:xfrm flipH="1">
            <a:off x="4023360" y="1143000"/>
            <a:ext cx="18288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4206240" y="9144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start</a:t>
            </a:r>
            <a:endParaRPr lang="en-US" sz="900" dirty="0"/>
          </a:p>
        </p:txBody>
      </p:sp>
      <p:sp>
        <p:nvSpPr>
          <p:cNvPr id="27" name="While it's Running card"/>
          <p:cNvSpPr/>
          <p:nvPr/>
        </p:nvSpPr>
        <p:spPr>
          <a:xfrm>
            <a:off x="457200" y="2606040"/>
            <a:ext cx="40233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While it's Running circle"/>
          <p:cNvSpPr/>
          <p:nvPr/>
        </p:nvSpPr>
        <p:spPr>
          <a:xfrm>
            <a:off x="640080" y="2788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While it's Runnin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880360"/>
            <a:ext cx="274320" cy="27432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234440" y="2788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While it's Running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" y="3383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docker ps: list 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docker logs web: its stdout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docker exec -it web sh: a shell inside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docker stats: CPU / memory</a:t>
            </a:r>
            <a:endParaRPr lang="en-US" sz="1300" dirty="0"/>
          </a:p>
        </p:txBody>
      </p:sp>
      <p:sp>
        <p:nvSpPr>
          <p:cNvPr id="32" name="Stopped vs removed card"/>
          <p:cNvSpPr/>
          <p:nvPr/>
        </p:nvSpPr>
        <p:spPr>
          <a:xfrm>
            <a:off x="4663440" y="2606040"/>
            <a:ext cx="40233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topped vs removed circle"/>
          <p:cNvSpPr/>
          <p:nvPr/>
        </p:nvSpPr>
        <p:spPr>
          <a:xfrm>
            <a:off x="4846320" y="2788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4" name="Stopped vs remov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880360"/>
            <a:ext cx="274320" cy="2743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5440680" y="2788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Stopped vs removed</a:t>
            </a:r>
            <a:endParaRPr lang="en-US" sz="1600" dirty="0"/>
          </a:p>
        </p:txBody>
      </p:sp>
      <p:sp>
        <p:nvSpPr>
          <p:cNvPr id="36" name="Text 31"/>
          <p:cNvSpPr txBox="1"/>
          <p:nvPr/>
        </p:nvSpPr>
        <p:spPr>
          <a:xfrm>
            <a:off x="4846320" y="3383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stop: process killed, files kept, can start again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rm: container gone, writable layer gone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image is never affected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docker ps -a shows stopped ones too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Docker commands you'll use in the lab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graphicFrame>
        <p:nvGraphicFramePr>
          <p:cNvPr id="13" name="command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023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build -t hello-devops:v1 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Dockerfile → image.  -t name:tag,  '.' = folder to send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images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Images on this machine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run -d -p 3000:3000 --name web hello-devops:v1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Image → container.  -d background,  -p host:container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ps   /   docker ps -a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Running containers / including stopped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logs web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What the app printed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exec -it web sh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Open a shell inside the container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run -e APP_VERSION=v2 ...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Configure with env vars, don't rebuild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stop web &amp;&amp; docker rm web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Containers are disposable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Quick check · Docker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Say the answer out loud before the instructor does</a:t>
            </a:r>
            <a:endParaRPr lang="en-US" sz="1300" dirty="0"/>
          </a:p>
        </p:txBody>
      </p:sp>
      <p:sp>
        <p:nvSpPr>
          <p:cNvPr id="7" name="q circle 0"/>
          <p:cNvSpPr/>
          <p:nvPr/>
        </p:nvSpPr>
        <p:spPr>
          <a:xfrm>
            <a:off x="457200" y="15270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q box 0"/>
          <p:cNvSpPr/>
          <p:nvPr/>
        </p:nvSpPr>
        <p:spPr>
          <a:xfrm>
            <a:off x="1143000" y="141732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25880" y="14173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If I run the same image twice, do the two containers share files they write at runtime?</a:t>
            </a:r>
            <a:endParaRPr lang="en-US" sz="1500" dirty="0"/>
          </a:p>
        </p:txBody>
      </p:sp>
      <p:sp>
        <p:nvSpPr>
          <p:cNvPr id="11" name="q circle 1"/>
          <p:cNvSpPr/>
          <p:nvPr/>
        </p:nvSpPr>
        <p:spPr>
          <a:xfrm>
            <a:off x="457200" y="2395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3" name="q box 1"/>
          <p:cNvSpPr/>
          <p:nvPr/>
        </p:nvSpPr>
        <p:spPr>
          <a:xfrm>
            <a:off x="1143000" y="228600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25880" y="22860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 changed index.js and rebuilt. Does 'npm install' run again? Why not?</a:t>
            </a:r>
            <a:endParaRPr lang="en-US" sz="1500" dirty="0"/>
          </a:p>
        </p:txBody>
      </p:sp>
      <p:sp>
        <p:nvSpPr>
          <p:cNvPr id="15" name="q circle 2"/>
          <p:cNvSpPr/>
          <p:nvPr/>
        </p:nvSpPr>
        <p:spPr>
          <a:xfrm>
            <a:off x="457200" y="326440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264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7" name="q box 2"/>
          <p:cNvSpPr/>
          <p:nvPr/>
        </p:nvSpPr>
        <p:spPr>
          <a:xfrm>
            <a:off x="1143000" y="315468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25880" y="315468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 ran with -p 8080:3000. Which port do I type in the browser?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Docker · 3 things to remember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recap 0"/>
          <p:cNvSpPr/>
          <p:nvPr/>
        </p:nvSpPr>
        <p:spPr>
          <a:xfrm>
            <a:off x="457200" y="1097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7" name="recap circle 0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recap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1207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Image = frozen filesystem + start command. Container = that image, running.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1600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Build once, run many. Same image on your laptop, in CI and in production.</a:t>
            </a:r>
            <a:endParaRPr lang="en-US" sz="1200" dirty="0"/>
          </a:p>
        </p:txBody>
      </p:sp>
      <p:sp>
        <p:nvSpPr>
          <p:cNvPr id="11" name="recap 1"/>
          <p:cNvSpPr/>
          <p:nvPr/>
        </p:nvSpPr>
        <p:spPr>
          <a:xfrm>
            <a:off x="457200" y="2240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2" name="recap circle 1"/>
          <p:cNvSpPr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recap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0604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2350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 container is just a process in a box, not a small VM.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2743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It shares the host kernel, starts in milliseconds and dies when its main process exits.</a:t>
            </a:r>
            <a:endParaRPr lang="en-US" sz="1200" dirty="0"/>
          </a:p>
        </p:txBody>
      </p:sp>
      <p:sp>
        <p:nvSpPr>
          <p:cNvPr id="16" name="recap 2"/>
          <p:cNvSpPr/>
          <p:nvPr/>
        </p:nvSpPr>
        <p:spPr>
          <a:xfrm>
            <a:off x="457200" y="3383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7" name="recap circle 2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recap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4904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80160" y="3493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Order your Dockerfile so rarely-changing things come first.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280160" y="3886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Layers are cached top-down; dependencies before source code keeps rebuilds fast.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Lab 1 · Build and run a container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HANDS-ON</a:t>
            </a:r>
            <a:endParaRPr lang="en-US" sz="900" dirty="0"/>
          </a:p>
        </p:txBody>
      </p:sp>
      <p:sp>
        <p:nvSpPr>
          <p:cNvPr id="6" name="time badge"/>
          <p:cNvSpPr/>
          <p:nvPr/>
        </p:nvSpPr>
        <p:spPr>
          <a:xfrm>
            <a:off x="5760720" y="3840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7" name="time badge text"/>
          <p:cNvSpPr txBox="1"/>
          <p:nvPr/>
        </p:nvSpPr>
        <p:spPr>
          <a:xfrm>
            <a:off x="5760720" y="384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30 min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  labs/01-docker.md  in your Codespace and mirror the instructor</a:t>
            </a:r>
            <a:endParaRPr lang="en-US" sz="1500" dirty="0"/>
          </a:p>
        </p:txBody>
      </p:sp>
      <p:sp>
        <p:nvSpPr>
          <p:cNvPr id="9" name="box 1"/>
          <p:cNvSpPr/>
          <p:nvPr/>
        </p:nvSpPr>
        <p:spPr>
          <a:xfrm>
            <a:off x="457200" y="1463040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ox text 1"/>
          <p:cNvSpPr txBox="1"/>
          <p:nvPr/>
        </p:nvSpPr>
        <p:spPr>
          <a:xfrm>
            <a:off x="457200" y="1463040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463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Run the app with npm (the old way)</a:t>
            </a:r>
            <a:endParaRPr lang="en-US" sz="1400" dirty="0"/>
          </a:p>
        </p:txBody>
      </p:sp>
      <p:sp>
        <p:nvSpPr>
          <p:cNvPr id="12" name="box 2"/>
          <p:cNvSpPr/>
          <p:nvPr/>
        </p:nvSpPr>
        <p:spPr>
          <a:xfrm>
            <a:off x="457200" y="1892808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box text 2"/>
          <p:cNvSpPr txBox="1"/>
          <p:nvPr/>
        </p:nvSpPr>
        <p:spPr>
          <a:xfrm>
            <a:off x="457200" y="1892808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892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 the Dockerfile</a:t>
            </a:r>
            <a:endParaRPr lang="en-US" sz="1400" dirty="0"/>
          </a:p>
        </p:txBody>
      </p:sp>
      <p:sp>
        <p:nvSpPr>
          <p:cNvPr id="15" name="box 3"/>
          <p:cNvSpPr/>
          <p:nvPr/>
        </p:nvSpPr>
        <p:spPr>
          <a:xfrm>
            <a:off x="457200" y="2322576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box text 3"/>
          <p:cNvSpPr txBox="1"/>
          <p:nvPr/>
        </p:nvSpPr>
        <p:spPr>
          <a:xfrm>
            <a:off x="457200" y="2322576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23225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→ docker images</a:t>
            </a:r>
            <a:endParaRPr lang="en-US" sz="1400" dirty="0"/>
          </a:p>
        </p:txBody>
      </p:sp>
      <p:sp>
        <p:nvSpPr>
          <p:cNvPr id="18" name="box 4"/>
          <p:cNvSpPr/>
          <p:nvPr/>
        </p:nvSpPr>
        <p:spPr>
          <a:xfrm>
            <a:off x="457200" y="2752344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box text 4"/>
          <p:cNvSpPr txBox="1"/>
          <p:nvPr/>
        </p:nvSpPr>
        <p:spPr>
          <a:xfrm>
            <a:off x="457200" y="2752344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275234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3000:3000 → open in browser</a:t>
            </a:r>
            <a:endParaRPr lang="en-US" sz="1400" dirty="0"/>
          </a:p>
        </p:txBody>
      </p:sp>
      <p:sp>
        <p:nvSpPr>
          <p:cNvPr id="21" name="box 5"/>
          <p:cNvSpPr/>
          <p:nvPr/>
        </p:nvSpPr>
        <p:spPr>
          <a:xfrm>
            <a:off x="457200" y="3182112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box text 5"/>
          <p:cNvSpPr txBox="1"/>
          <p:nvPr/>
        </p:nvSpPr>
        <p:spPr>
          <a:xfrm>
            <a:off x="457200" y="3182112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" y="31821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 logs, docker exec: look inside</a:t>
            </a:r>
            <a:endParaRPr lang="en-US" sz="1400" dirty="0"/>
          </a:p>
        </p:txBody>
      </p:sp>
      <p:sp>
        <p:nvSpPr>
          <p:cNvPr id="24" name="box 6"/>
          <p:cNvSpPr/>
          <p:nvPr/>
        </p:nvSpPr>
        <p:spPr>
          <a:xfrm>
            <a:off x="457200" y="3611880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box text 6"/>
          <p:cNvSpPr txBox="1"/>
          <p:nvPr/>
        </p:nvSpPr>
        <p:spPr>
          <a:xfrm>
            <a:off x="457200" y="3611880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3611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image, APP_VERSION=v2 on port 3001</a:t>
            </a:r>
            <a:endParaRPr lang="en-US" sz="1400" dirty="0"/>
          </a:p>
        </p:txBody>
      </p:sp>
      <p:sp>
        <p:nvSpPr>
          <p:cNvPr id="27" name="box 7"/>
          <p:cNvSpPr/>
          <p:nvPr/>
        </p:nvSpPr>
        <p:spPr>
          <a:xfrm>
            <a:off x="457200" y="4041648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box text 7"/>
          <p:cNvSpPr txBox="1"/>
          <p:nvPr/>
        </p:nvSpPr>
        <p:spPr>
          <a:xfrm>
            <a:off x="457200" y="4041648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40416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Stop, rm, clean up</a:t>
            </a:r>
            <a:endParaRPr lang="en-US" sz="1400" dirty="0"/>
          </a:p>
        </p:txBody>
      </p:sp>
      <p:sp>
        <p:nvSpPr>
          <p:cNvPr id="30" name="Done when card"/>
          <p:cNvSpPr/>
          <p:nvPr/>
        </p:nvSpPr>
        <p:spPr>
          <a:xfrm>
            <a:off x="5486400" y="1463040"/>
            <a:ext cx="3200400" cy="1234440"/>
          </a:xfrm>
          <a:prstGeom prst="roundRect">
            <a:avLst>
              <a:gd name="adj" fmla="val 888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Done when circle"/>
          <p:cNvSpPr/>
          <p:nvPr/>
        </p:nvSpPr>
        <p:spPr>
          <a:xfrm>
            <a:off x="5669280" y="1645920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2" name="Done whe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274320" cy="27432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6263640" y="1645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Done when</a:t>
            </a:r>
            <a:endParaRPr lang="en-US" sz="1600" dirty="0"/>
          </a:p>
        </p:txBody>
      </p:sp>
      <p:sp>
        <p:nvSpPr>
          <p:cNvPr id="34" name="Text 30"/>
          <p:cNvSpPr txBox="1"/>
          <p:nvPr/>
        </p:nvSpPr>
        <p:spPr>
          <a:xfrm>
            <a:off x="566928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You opened the app in a browser from a container, and ran a second copy with a different version.</a:t>
            </a:r>
            <a:endParaRPr lang="en-US" sz="1200" dirty="0"/>
          </a:p>
        </p:txBody>
      </p:sp>
      <p:sp>
        <p:nvSpPr>
          <p:cNvPr id="35" name="Stuck? card"/>
          <p:cNvSpPr/>
          <p:nvPr/>
        </p:nvSpPr>
        <p:spPr>
          <a:xfrm>
            <a:off x="5486400" y="2834640"/>
            <a:ext cx="3200400" cy="1737360"/>
          </a:xfrm>
          <a:prstGeom prst="roundRect">
            <a:avLst>
              <a:gd name="adj" fmla="val 631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36" name="Stuck? circle"/>
          <p:cNvSpPr/>
          <p:nvPr/>
        </p:nvSpPr>
        <p:spPr>
          <a:xfrm>
            <a:off x="5669280" y="301752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7" name="Stuck?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08960"/>
            <a:ext cx="274320" cy="274320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6263640" y="30175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Stuck?</a:t>
            </a:r>
            <a:endParaRPr lang="en-US" sz="1600" dirty="0"/>
          </a:p>
        </p:txBody>
      </p:sp>
      <p:sp>
        <p:nvSpPr>
          <p:cNvPr id="39" name="Text 34"/>
          <p:cNvSpPr txBox="1"/>
          <p:nvPr/>
        </p:nvSpPr>
        <p:spPr>
          <a:xfrm>
            <a:off x="5669280" y="36118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bash labs/check.sh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Daemon error → wait 30 s, retry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port popup → PORTS tab 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Part 2 · Kubernetes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Running containers at scale, without babysitting them</a:t>
            </a:r>
            <a:endParaRPr lang="en-US" sz="1800" dirty="0"/>
          </a:p>
        </p:txBody>
      </p:sp>
      <p:pic>
        <p:nvPicPr>
          <p:cNvPr id="5" name="k8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463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Docker runs one container. Who runs 200?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It crashed at 3 am card"/>
          <p:cNvSpPr/>
          <p:nvPr/>
        </p:nvSpPr>
        <p:spPr>
          <a:xfrm>
            <a:off x="457200" y="1097280"/>
            <a:ext cx="4023360" cy="1325880"/>
          </a:xfrm>
          <a:prstGeom prst="roundRect">
            <a:avLst>
              <a:gd name="adj" fmla="val 827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7" name="It crashed at 3 am circle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It crashed at 3 a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2801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 crashed at 3 am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874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Who notices? Who restarts it?</a:t>
            </a:r>
            <a:endParaRPr lang="en-US" sz="1300" dirty="0"/>
          </a:p>
        </p:txBody>
      </p:sp>
      <p:sp>
        <p:nvSpPr>
          <p:cNvPr id="11" name="Traffic spiked card"/>
          <p:cNvSpPr/>
          <p:nvPr/>
        </p:nvSpPr>
        <p:spPr>
          <a:xfrm>
            <a:off x="4663440" y="1097280"/>
            <a:ext cx="4023360" cy="1325880"/>
          </a:xfrm>
          <a:prstGeom prst="roundRect">
            <a:avLst>
              <a:gd name="adj" fmla="val 827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" name="Traffic spiked circle"/>
          <p:cNvSpPr/>
          <p:nvPr/>
        </p:nvSpPr>
        <p:spPr>
          <a:xfrm>
            <a:off x="4846320" y="128016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3" name="Traffic spik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40680" y="12801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Traffic spiked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1874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Who starts 10 more copies, and spreads them over 5 servers?</a:t>
            </a:r>
            <a:endParaRPr lang="en-US" sz="1300" dirty="0"/>
          </a:p>
        </p:txBody>
      </p:sp>
      <p:sp>
        <p:nvSpPr>
          <p:cNvPr id="16" name="New version card"/>
          <p:cNvSpPr/>
          <p:nvPr/>
        </p:nvSpPr>
        <p:spPr>
          <a:xfrm>
            <a:off x="457200" y="2560320"/>
            <a:ext cx="4023360" cy="1325880"/>
          </a:xfrm>
          <a:prstGeom prst="roundRect">
            <a:avLst>
              <a:gd name="adj" fmla="val 827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7" name="New version circle"/>
          <p:cNvSpPr/>
          <p:nvPr/>
        </p:nvSpPr>
        <p:spPr>
          <a:xfrm>
            <a:off x="640080" y="274320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New versi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743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New version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do you update without downtime? Roll back if it's bad?</a:t>
            </a:r>
            <a:endParaRPr lang="en-US" sz="1300" dirty="0"/>
          </a:p>
        </p:txBody>
      </p:sp>
      <p:sp>
        <p:nvSpPr>
          <p:cNvPr id="21" name="Finding each other card"/>
          <p:cNvSpPr/>
          <p:nvPr/>
        </p:nvSpPr>
        <p:spPr>
          <a:xfrm>
            <a:off x="4663440" y="2560320"/>
            <a:ext cx="4023360" cy="1325880"/>
          </a:xfrm>
          <a:prstGeom prst="roundRect">
            <a:avLst>
              <a:gd name="adj" fmla="val 827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2" name="Finding each other circle"/>
          <p:cNvSpPr/>
          <p:nvPr/>
        </p:nvSpPr>
        <p:spPr>
          <a:xfrm>
            <a:off x="4846320" y="274320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3" name="Finding each othe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83464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40680" y="2743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Finding each other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484632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Container IPs change. How does the frontend find the backend?</a:t>
            </a:r>
            <a:endParaRPr lang="en-US" sz="1300" dirty="0"/>
          </a:p>
        </p:txBody>
      </p:sp>
      <p:sp>
        <p:nvSpPr>
          <p:cNvPr id="26" name="box Kubernetes (K8s) is an orchestrator: you describe what you want, it keeps reality matching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box text Kubernetes (K8s) is an orchestrator: you describe what you want, it keeps reality matching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Kubernetes (K8s) is an orchestrator: you describe what you want, it keeps reality matching.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Cluster architecture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Control plane (the brain)</a:t>
            </a:r>
            <a:endParaRPr lang="en-US" sz="1400" dirty="0"/>
          </a:p>
        </p:txBody>
      </p:sp>
      <p:sp>
        <p:nvSpPr>
          <p:cNvPr id="7" name="cp box"/>
          <p:cNvSpPr/>
          <p:nvPr/>
        </p:nvSpPr>
        <p:spPr>
          <a:xfrm>
            <a:off x="457200" y="137160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8" name="box kube-apiserver"/>
          <p:cNvSpPr/>
          <p:nvPr/>
        </p:nvSpPr>
        <p:spPr>
          <a:xfrm>
            <a:off x="594360" y="150876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box text kube-apiserver"/>
          <p:cNvSpPr txBox="1"/>
          <p:nvPr/>
        </p:nvSpPr>
        <p:spPr>
          <a:xfrm>
            <a:off x="594360" y="1508760"/>
            <a:ext cx="13716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kube-apiserver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057400" y="150876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front door: everything goes through it (kubectl talks here)</a:t>
            </a:r>
            <a:endParaRPr lang="en-US" sz="1100" dirty="0"/>
          </a:p>
        </p:txBody>
      </p:sp>
      <p:sp>
        <p:nvSpPr>
          <p:cNvPr id="11" name="box etcd"/>
          <p:cNvSpPr/>
          <p:nvPr/>
        </p:nvSpPr>
        <p:spPr>
          <a:xfrm>
            <a:off x="594360" y="2221992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box text etcd"/>
          <p:cNvSpPr txBox="1"/>
          <p:nvPr/>
        </p:nvSpPr>
        <p:spPr>
          <a:xfrm>
            <a:off x="594360" y="2221992"/>
            <a:ext cx="13716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etcd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57400" y="222199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key-value database: the cluster's memory</a:t>
            </a:r>
            <a:endParaRPr lang="en-US" sz="1100" dirty="0"/>
          </a:p>
        </p:txBody>
      </p:sp>
      <p:sp>
        <p:nvSpPr>
          <p:cNvPr id="14" name="box scheduler"/>
          <p:cNvSpPr/>
          <p:nvPr/>
        </p:nvSpPr>
        <p:spPr>
          <a:xfrm>
            <a:off x="594360" y="2935224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box text scheduler"/>
          <p:cNvSpPr txBox="1"/>
          <p:nvPr/>
        </p:nvSpPr>
        <p:spPr>
          <a:xfrm>
            <a:off x="594360" y="2935224"/>
            <a:ext cx="13716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scheduler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57400" y="2935224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picks which node a new Pod runs on</a:t>
            </a:r>
            <a:endParaRPr lang="en-US" sz="1100" dirty="0"/>
          </a:p>
        </p:txBody>
      </p:sp>
      <p:sp>
        <p:nvSpPr>
          <p:cNvPr id="17" name="box controller manager"/>
          <p:cNvSpPr/>
          <p:nvPr/>
        </p:nvSpPr>
        <p:spPr>
          <a:xfrm>
            <a:off x="594360" y="3648456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box text controller manager"/>
          <p:cNvSpPr txBox="1"/>
          <p:nvPr/>
        </p:nvSpPr>
        <p:spPr>
          <a:xfrm>
            <a:off x="594360" y="3648456"/>
            <a:ext cx="13716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controller manager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364845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reconciliation loops: desired vs actual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Worker nodes (the muscle)</a:t>
            </a:r>
            <a:endParaRPr lang="en-US" sz="1400" dirty="0"/>
          </a:p>
        </p:txBody>
      </p:sp>
      <p:sp>
        <p:nvSpPr>
          <p:cNvPr id="21" name="node box 0"/>
          <p:cNvSpPr/>
          <p:nvPr/>
        </p:nvSpPr>
        <p:spPr>
          <a:xfrm>
            <a:off x="4572000" y="1371600"/>
            <a:ext cx="2011680" cy="3017520"/>
          </a:xfrm>
          <a:prstGeom prst="roundRect">
            <a:avLst>
              <a:gd name="adj" fmla="val 454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node 1</a:t>
            </a:r>
            <a:endParaRPr lang="en-US" sz="1100" dirty="0"/>
          </a:p>
        </p:txBody>
      </p:sp>
      <p:sp>
        <p:nvSpPr>
          <p:cNvPr id="23" name="box kubelet"/>
          <p:cNvSpPr/>
          <p:nvPr/>
        </p:nvSpPr>
        <p:spPr>
          <a:xfrm>
            <a:off x="4709160" y="173736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4" name="box text kubelet"/>
          <p:cNvSpPr txBox="1"/>
          <p:nvPr/>
        </p:nvSpPr>
        <p:spPr>
          <a:xfrm>
            <a:off x="4709160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kubelet</a:t>
            </a:r>
            <a:endParaRPr lang="en-US" sz="1100" dirty="0"/>
          </a:p>
        </p:txBody>
      </p:sp>
      <p:sp>
        <p:nvSpPr>
          <p:cNvPr id="25" name="box kube-proxy"/>
          <p:cNvSpPr/>
          <p:nvPr/>
        </p:nvSpPr>
        <p:spPr>
          <a:xfrm>
            <a:off x="4709160" y="219456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6" name="box text kube-proxy"/>
          <p:cNvSpPr txBox="1"/>
          <p:nvPr/>
        </p:nvSpPr>
        <p:spPr>
          <a:xfrm>
            <a:off x="4709160" y="219456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kube-proxy</a:t>
            </a:r>
            <a:endParaRPr lang="en-US" sz="1100" dirty="0"/>
          </a:p>
        </p:txBody>
      </p:sp>
      <p:sp>
        <p:nvSpPr>
          <p:cNvPr id="27" name="box container runtime"/>
          <p:cNvSpPr/>
          <p:nvPr/>
        </p:nvSpPr>
        <p:spPr>
          <a:xfrm>
            <a:off x="4709160" y="265176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box text container runtime"/>
          <p:cNvSpPr txBox="1"/>
          <p:nvPr/>
        </p:nvSpPr>
        <p:spPr>
          <a:xfrm>
            <a:off x="4709160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container runtime</a:t>
            </a:r>
            <a:endParaRPr lang="en-US" sz="1100" dirty="0"/>
          </a:p>
        </p:txBody>
      </p:sp>
      <p:sp>
        <p:nvSpPr>
          <p:cNvPr id="29" name="box Pod"/>
          <p:cNvSpPr/>
          <p:nvPr/>
        </p:nvSpPr>
        <p:spPr>
          <a:xfrm>
            <a:off x="4709160" y="3154680"/>
            <a:ext cx="8229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0" name="box text Pod"/>
          <p:cNvSpPr txBox="1"/>
          <p:nvPr/>
        </p:nvSpPr>
        <p:spPr>
          <a:xfrm>
            <a:off x="4709160" y="3154680"/>
            <a:ext cx="8229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Pod</a:t>
            </a:r>
            <a:endParaRPr lang="en-US" sz="1100" dirty="0"/>
          </a:p>
        </p:txBody>
      </p:sp>
      <p:sp>
        <p:nvSpPr>
          <p:cNvPr id="31" name="box Pod"/>
          <p:cNvSpPr/>
          <p:nvPr/>
        </p:nvSpPr>
        <p:spPr>
          <a:xfrm>
            <a:off x="5623560" y="3154680"/>
            <a:ext cx="8229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2" name="box text Pod"/>
          <p:cNvSpPr txBox="1"/>
          <p:nvPr/>
        </p:nvSpPr>
        <p:spPr>
          <a:xfrm>
            <a:off x="5623560" y="3154680"/>
            <a:ext cx="8229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Pod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4709160" y="3749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…</a:t>
            </a:r>
            <a:endParaRPr lang="en-US" sz="1200" dirty="0"/>
          </a:p>
        </p:txBody>
      </p:sp>
      <p:sp>
        <p:nvSpPr>
          <p:cNvPr id="34" name="node box 1"/>
          <p:cNvSpPr/>
          <p:nvPr/>
        </p:nvSpPr>
        <p:spPr>
          <a:xfrm>
            <a:off x="6675120" y="1371600"/>
            <a:ext cx="2011680" cy="3017520"/>
          </a:xfrm>
          <a:prstGeom prst="roundRect">
            <a:avLst>
              <a:gd name="adj" fmla="val 454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76656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node 2</a:t>
            </a:r>
            <a:endParaRPr lang="en-US" sz="1100" dirty="0"/>
          </a:p>
        </p:txBody>
      </p:sp>
      <p:sp>
        <p:nvSpPr>
          <p:cNvPr id="36" name="box kubelet"/>
          <p:cNvSpPr/>
          <p:nvPr/>
        </p:nvSpPr>
        <p:spPr>
          <a:xfrm>
            <a:off x="6812280" y="173736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7" name="box text kubelet"/>
          <p:cNvSpPr txBox="1"/>
          <p:nvPr/>
        </p:nvSpPr>
        <p:spPr>
          <a:xfrm>
            <a:off x="6812280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kubelet</a:t>
            </a:r>
            <a:endParaRPr lang="en-US" sz="1100" dirty="0"/>
          </a:p>
        </p:txBody>
      </p:sp>
      <p:sp>
        <p:nvSpPr>
          <p:cNvPr id="38" name="box kube-proxy"/>
          <p:cNvSpPr/>
          <p:nvPr/>
        </p:nvSpPr>
        <p:spPr>
          <a:xfrm>
            <a:off x="6812280" y="219456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9" name="box text kube-proxy"/>
          <p:cNvSpPr txBox="1"/>
          <p:nvPr/>
        </p:nvSpPr>
        <p:spPr>
          <a:xfrm>
            <a:off x="6812280" y="219456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kube-proxy</a:t>
            </a:r>
            <a:endParaRPr lang="en-US" sz="1100" dirty="0"/>
          </a:p>
        </p:txBody>
      </p:sp>
      <p:sp>
        <p:nvSpPr>
          <p:cNvPr id="40" name="box container runtime"/>
          <p:cNvSpPr/>
          <p:nvPr/>
        </p:nvSpPr>
        <p:spPr>
          <a:xfrm>
            <a:off x="6812280" y="265176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41" name="box text container runtime"/>
          <p:cNvSpPr txBox="1"/>
          <p:nvPr/>
        </p:nvSpPr>
        <p:spPr>
          <a:xfrm>
            <a:off x="6812280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container runtime</a:t>
            </a:r>
            <a:endParaRPr lang="en-US" sz="1100" dirty="0"/>
          </a:p>
        </p:txBody>
      </p:sp>
      <p:sp>
        <p:nvSpPr>
          <p:cNvPr id="42" name="box Pod"/>
          <p:cNvSpPr/>
          <p:nvPr/>
        </p:nvSpPr>
        <p:spPr>
          <a:xfrm>
            <a:off x="6812280" y="3154680"/>
            <a:ext cx="8229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3" name="box text Pod"/>
          <p:cNvSpPr txBox="1"/>
          <p:nvPr/>
        </p:nvSpPr>
        <p:spPr>
          <a:xfrm>
            <a:off x="6812280" y="3154680"/>
            <a:ext cx="8229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Pod</a:t>
            </a:r>
            <a:endParaRPr lang="en-US" sz="1100" dirty="0"/>
          </a:p>
        </p:txBody>
      </p:sp>
      <p:sp>
        <p:nvSpPr>
          <p:cNvPr id="44" name="box Pod"/>
          <p:cNvSpPr/>
          <p:nvPr/>
        </p:nvSpPr>
        <p:spPr>
          <a:xfrm>
            <a:off x="7726680" y="3154680"/>
            <a:ext cx="8229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5" name="box text Pod"/>
          <p:cNvSpPr txBox="1"/>
          <p:nvPr/>
        </p:nvSpPr>
        <p:spPr>
          <a:xfrm>
            <a:off x="7726680" y="3154680"/>
            <a:ext cx="8229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Pod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6812280" y="3749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…</a:t>
            </a:r>
            <a:endParaRPr lang="en-US" sz="1200" dirty="0"/>
          </a:p>
        </p:txBody>
      </p:sp>
      <p:sp>
        <p:nvSpPr>
          <p:cNvPr id="47" name="arrow"/>
          <p:cNvSpPr/>
          <p:nvPr/>
        </p:nvSpPr>
        <p:spPr>
          <a:xfrm>
            <a:off x="4023360" y="2834640"/>
            <a:ext cx="54864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8" name="Text 4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minikube = all of this on one machine, for learning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Three objects cover 80% of what you'll do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Pod card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Pod circle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Po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8745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Smallest unit: 1 (or a few) containers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Gets its own IP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Mortal: dies, gets replaced, new IP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You rarely create Pods directly</a:t>
            </a:r>
            <a:endParaRPr lang="en-US" sz="1300" dirty="0"/>
          </a:p>
        </p:txBody>
      </p:sp>
      <p:sp>
        <p:nvSpPr>
          <p:cNvPr id="11" name="Deployment card"/>
          <p:cNvSpPr/>
          <p:nvPr/>
        </p:nvSpPr>
        <p:spPr>
          <a:xfrm>
            <a:off x="3264408" y="109728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Deployment circle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Deploymen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37160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41648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Deployment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447288" y="18745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"Keep 2 Pods of this template running"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Scales up / down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Rolling updates + rollbacks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Replaces dead Pods</a:t>
            </a:r>
            <a:endParaRPr lang="en-US" sz="1300" dirty="0"/>
          </a:p>
        </p:txBody>
      </p:sp>
      <p:sp>
        <p:nvSpPr>
          <p:cNvPr id="16" name="Service card"/>
          <p:cNvSpPr/>
          <p:nvPr/>
        </p:nvSpPr>
        <p:spPr>
          <a:xfrm>
            <a:off x="6080760" y="109728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ervice circle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Servic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Service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263640" y="18745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Stable name + IP for a set of Pods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Load-balances across them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Finds Pods by label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Types: ClusterIP, NodePort, LoadBalancer</a:t>
            </a:r>
            <a:endParaRPr lang="en-US" sz="1300" dirty="0"/>
          </a:p>
        </p:txBody>
      </p:sp>
      <p:sp>
        <p:nvSpPr>
          <p:cNvPr id="21" name="box The glue is labels: Deployment manages, and Service routes to, Pods labelled  app: hello-devops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box text The glue is labels: Deployment manages, and Service routes to, Pods labelled  app: hello-devops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The glue is labels: Deployment manages, and Service routes to, Pods labelled  app: hello-devops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The one idea behind everything: desired state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box You declare (YAML) replicas: 2"/>
          <p:cNvSpPr/>
          <p:nvPr/>
        </p:nvSpPr>
        <p:spPr>
          <a:xfrm>
            <a:off x="457200" y="1280160"/>
            <a:ext cx="2286000" cy="1097280"/>
          </a:xfrm>
          <a:prstGeom prst="roundRect">
            <a:avLst>
              <a:gd name="adj" fmla="val 6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box text You declare (YAML) replicas: 2"/>
          <p:cNvSpPr txBox="1"/>
          <p:nvPr/>
        </p:nvSpPr>
        <p:spPr>
          <a:xfrm>
            <a:off x="457200" y="1280160"/>
            <a:ext cx="228600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You declare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(YAML)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replicas: 2</a:t>
            </a:r>
            <a:endParaRPr lang="en-US" sz="1400" dirty="0"/>
          </a:p>
        </p:txBody>
      </p:sp>
      <p:sp>
        <p:nvSpPr>
          <p:cNvPr id="8" name="arrow"/>
          <p:cNvSpPr/>
          <p:nvPr/>
        </p:nvSpPr>
        <p:spPr>
          <a:xfrm>
            <a:off x="2743200" y="1828800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9" name="box Controller compares desired vs actual"/>
          <p:cNvSpPr/>
          <p:nvPr/>
        </p:nvSpPr>
        <p:spPr>
          <a:xfrm>
            <a:off x="3200400" y="1280160"/>
            <a:ext cx="2286000" cy="1097280"/>
          </a:xfrm>
          <a:prstGeom prst="roundRect">
            <a:avLst>
              <a:gd name="adj" fmla="val 6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ox text Controller compares desired vs actual"/>
          <p:cNvSpPr txBox="1"/>
          <p:nvPr/>
        </p:nvSpPr>
        <p:spPr>
          <a:xfrm>
            <a:off x="3200400" y="1280160"/>
            <a:ext cx="228600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Controller compares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desired vs actual</a:t>
            </a:r>
            <a:endParaRPr lang="en-US" sz="1400" dirty="0"/>
          </a:p>
        </p:txBody>
      </p:sp>
      <p:sp>
        <p:nvSpPr>
          <p:cNvPr id="11" name="arrow"/>
          <p:cNvSpPr/>
          <p:nvPr/>
        </p:nvSpPr>
        <p:spPr>
          <a:xfrm>
            <a:off x="5486400" y="1828800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2" name="box Acts start / stop / move Pods"/>
          <p:cNvSpPr/>
          <p:nvPr/>
        </p:nvSpPr>
        <p:spPr>
          <a:xfrm>
            <a:off x="5943600" y="128016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3" name="box text Acts start / stop / move Pods"/>
          <p:cNvSpPr txBox="1"/>
          <p:nvPr/>
        </p:nvSpPr>
        <p:spPr>
          <a:xfrm>
            <a:off x="5943600" y="1280160"/>
            <a:ext cx="274320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start / stop / move Pods</a:t>
            </a:r>
            <a:endParaRPr lang="en-US" sz="1400" dirty="0"/>
          </a:p>
        </p:txBody>
      </p:sp>
      <p:sp>
        <p:nvSpPr>
          <p:cNvPr id="14" name="arrow"/>
          <p:cNvSpPr/>
          <p:nvPr/>
        </p:nvSpPr>
        <p:spPr>
          <a:xfrm>
            <a:off x="7315200" y="2377440"/>
            <a:ext cx="0" cy="32004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loop line"/>
          <p:cNvSpPr/>
          <p:nvPr/>
        </p:nvSpPr>
        <p:spPr>
          <a:xfrm>
            <a:off x="4343400" y="2697480"/>
            <a:ext cx="2971800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dash"/>
          </a:ln>
        </p:spPr>
      </p:sp>
      <p:sp>
        <p:nvSpPr>
          <p:cNvPr id="16" name="arrow"/>
          <p:cNvSpPr/>
          <p:nvPr/>
        </p:nvSpPr>
        <p:spPr>
          <a:xfrm flipV="1">
            <a:off x="4343400" y="2377440"/>
            <a:ext cx="0" cy="32004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4343400" y="2743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…forever, every few seconds (the reconciliation loop)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3154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Imperative: "start container X on server 3" (you do the work, you handle failure)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Declarative: "I want 2 copies of X" (K8s does the work, forever)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Pod dies → actual = 1, desired = 2 → a new Pod appears. Nobody got paged.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Scaling = change one number. Updating = change one image tag.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Every YAML file has the same 4 parts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code bg"/>
          <p:cNvSpPr/>
          <p:nvPr/>
        </p:nvSpPr>
        <p:spPr>
          <a:xfrm>
            <a:off x="457200" y="1097280"/>
            <a:ext cx="5120640" cy="274320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594360" y="1188720"/>
            <a:ext cx="4846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apps/v1      # which API group / version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Deployment         # what type of object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                # name, labels, namespace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hello-devops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                    # DESIRED state: what you want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replicas: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status:                # ACTUAL state: written by K8s,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readyReplicas: 2     # never by you</a:t>
            </a:r>
            <a:endParaRPr lang="en-US" sz="1100" dirty="0"/>
          </a:p>
        </p:txBody>
      </p:sp>
      <p:sp>
        <p:nvSpPr>
          <p:cNvPr id="8" name="box apiVersion"/>
          <p:cNvSpPr/>
          <p:nvPr/>
        </p:nvSpPr>
        <p:spPr>
          <a:xfrm>
            <a:off x="5760720" y="1097280"/>
            <a:ext cx="109728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box text apiVersion"/>
          <p:cNvSpPr txBox="1"/>
          <p:nvPr/>
        </p:nvSpPr>
        <p:spPr>
          <a:xfrm>
            <a:off x="5760720" y="109728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Which API to use. apps/v1 for Deployments, v1 for Pods and Services</a:t>
            </a:r>
            <a:endParaRPr lang="en-US" sz="1100" dirty="0"/>
          </a:p>
        </p:txBody>
      </p:sp>
      <p:sp>
        <p:nvSpPr>
          <p:cNvPr id="11" name="box kind"/>
          <p:cNvSpPr/>
          <p:nvPr/>
        </p:nvSpPr>
        <p:spPr>
          <a:xfrm>
            <a:off x="5760720" y="1783080"/>
            <a:ext cx="109728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box text kind"/>
          <p:cNvSpPr txBox="1"/>
          <p:nvPr/>
        </p:nvSpPr>
        <p:spPr>
          <a:xfrm>
            <a:off x="5760720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object type: Pod, Deployment, Service, …</a:t>
            </a:r>
            <a:endParaRPr lang="en-US" sz="1100" dirty="0"/>
          </a:p>
        </p:txBody>
      </p:sp>
      <p:sp>
        <p:nvSpPr>
          <p:cNvPr id="14" name="box metadata"/>
          <p:cNvSpPr/>
          <p:nvPr/>
        </p:nvSpPr>
        <p:spPr>
          <a:xfrm>
            <a:off x="5760720" y="2468880"/>
            <a:ext cx="109728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box text metadata"/>
          <p:cNvSpPr txBox="1"/>
          <p:nvPr/>
        </p:nvSpPr>
        <p:spPr>
          <a:xfrm>
            <a:off x="576072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2468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Identity: name, labels (key: value tags used for selecting)</a:t>
            </a:r>
            <a:endParaRPr lang="en-US" sz="1100" dirty="0"/>
          </a:p>
        </p:txBody>
      </p:sp>
      <p:sp>
        <p:nvSpPr>
          <p:cNvPr id="17" name="box spec"/>
          <p:cNvSpPr/>
          <p:nvPr/>
        </p:nvSpPr>
        <p:spPr>
          <a:xfrm>
            <a:off x="5760720" y="3154680"/>
            <a:ext cx="109728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box text spec"/>
          <p:cNvSpPr txBox="1"/>
          <p:nvPr/>
        </p:nvSpPr>
        <p:spPr>
          <a:xfrm>
            <a:off x="5760720" y="315468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31546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Desired state. The part you write and care about</a:t>
            </a:r>
            <a:endParaRPr lang="en-US" sz="1100" dirty="0"/>
          </a:p>
        </p:txBody>
      </p:sp>
      <p:sp>
        <p:nvSpPr>
          <p:cNvPr id="20" name="box kubectl apply -f file.yaml  sends the spec to the API server. Controllers do the rest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box text kubectl apply -f file.yaml  sends the spec to the API server. Controllers do the rest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kubectl apply -f file.yaml  sends the spec to the API server. Controllers do the rest.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k8s/deployment.yaml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code bg"/>
          <p:cNvSpPr/>
          <p:nvPr/>
        </p:nvSpPr>
        <p:spPr>
          <a:xfrm>
            <a:off x="457200" y="1051560"/>
            <a:ext cx="4206240" cy="3566160"/>
          </a:xfrm>
          <a:prstGeom prst="roundRect">
            <a:avLst>
              <a:gd name="adj" fmla="val 25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594360" y="1143000"/>
            <a:ext cx="3931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apps/v1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Deployment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hello-devops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replicas: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matchLabels: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app: hello-devops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metadata: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labels: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app: hello-devops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containers: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 name: hello-devops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image: hello-devops:v1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imagePullPolicy: IfNotPresent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ports: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 containerPort: 3000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readinessProbe: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httpGet: { path: /health, port: 3000 }</a:t>
            </a:r>
            <a:endParaRPr lang="en-US" sz="1000" dirty="0"/>
          </a:p>
        </p:txBody>
      </p:sp>
      <p:sp>
        <p:nvSpPr>
          <p:cNvPr id="8" name="box replicas"/>
          <p:cNvSpPr/>
          <p:nvPr/>
        </p:nvSpPr>
        <p:spPr>
          <a:xfrm>
            <a:off x="4892040" y="1051560"/>
            <a:ext cx="1371600" cy="475488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box text replicas"/>
          <p:cNvSpPr txBox="1"/>
          <p:nvPr/>
        </p:nvSpPr>
        <p:spPr>
          <a:xfrm>
            <a:off x="4892040" y="1051560"/>
            <a:ext cx="13716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105156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Desired number of Pods</a:t>
            </a:r>
            <a:endParaRPr lang="en-US" sz="1100" dirty="0"/>
          </a:p>
        </p:txBody>
      </p:sp>
      <p:sp>
        <p:nvSpPr>
          <p:cNvPr id="11" name="box selector"/>
          <p:cNvSpPr/>
          <p:nvPr/>
        </p:nvSpPr>
        <p:spPr>
          <a:xfrm>
            <a:off x="4892040" y="1645920"/>
            <a:ext cx="1371600" cy="475488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box text selector"/>
          <p:cNvSpPr txBox="1"/>
          <p:nvPr/>
        </p:nvSpPr>
        <p:spPr>
          <a:xfrm>
            <a:off x="4892040" y="1645920"/>
            <a:ext cx="13716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selector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64592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Which Pods this Deployment owns (by label)</a:t>
            </a:r>
            <a:endParaRPr lang="en-US" sz="1100" dirty="0"/>
          </a:p>
        </p:txBody>
      </p:sp>
      <p:sp>
        <p:nvSpPr>
          <p:cNvPr id="14" name="box template"/>
          <p:cNvSpPr/>
          <p:nvPr/>
        </p:nvSpPr>
        <p:spPr>
          <a:xfrm>
            <a:off x="4892040" y="2240280"/>
            <a:ext cx="1371600" cy="475488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box text template"/>
          <p:cNvSpPr txBox="1"/>
          <p:nvPr/>
        </p:nvSpPr>
        <p:spPr>
          <a:xfrm>
            <a:off x="4892040" y="2240280"/>
            <a:ext cx="13716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355080" y="224028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Pod recipe: labels + containers</a:t>
            </a:r>
            <a:endParaRPr lang="en-US" sz="1100" dirty="0"/>
          </a:p>
        </p:txBody>
      </p:sp>
      <p:sp>
        <p:nvSpPr>
          <p:cNvPr id="17" name="box image"/>
          <p:cNvSpPr/>
          <p:nvPr/>
        </p:nvSpPr>
        <p:spPr>
          <a:xfrm>
            <a:off x="4892040" y="2834640"/>
            <a:ext cx="1371600" cy="475488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box text image"/>
          <p:cNvSpPr txBox="1"/>
          <p:nvPr/>
        </p:nvSpPr>
        <p:spPr>
          <a:xfrm>
            <a:off x="4892040" y="2834640"/>
            <a:ext cx="13716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8346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From Lab 1. IfNotPresent = use the one we loaded into minikube</a:t>
            </a:r>
            <a:endParaRPr lang="en-US" sz="1100" dirty="0"/>
          </a:p>
        </p:txBody>
      </p:sp>
      <p:sp>
        <p:nvSpPr>
          <p:cNvPr id="20" name="box containerPort"/>
          <p:cNvSpPr/>
          <p:nvPr/>
        </p:nvSpPr>
        <p:spPr>
          <a:xfrm>
            <a:off x="4892040" y="3429000"/>
            <a:ext cx="1371600" cy="475488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box text containerPort"/>
          <p:cNvSpPr txBox="1"/>
          <p:nvPr/>
        </p:nvSpPr>
        <p:spPr>
          <a:xfrm>
            <a:off x="4892040" y="3429000"/>
            <a:ext cx="13716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containerPort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42900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Where the app listens inside the Pod</a:t>
            </a:r>
            <a:endParaRPr lang="en-US" sz="1100" dirty="0"/>
          </a:p>
        </p:txBody>
      </p:sp>
      <p:sp>
        <p:nvSpPr>
          <p:cNvPr id="23" name="box readinessProbe"/>
          <p:cNvSpPr/>
          <p:nvPr/>
        </p:nvSpPr>
        <p:spPr>
          <a:xfrm>
            <a:off x="4892040" y="4023360"/>
            <a:ext cx="1371600" cy="475488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box text readinessProbe"/>
          <p:cNvSpPr txBox="1"/>
          <p:nvPr/>
        </p:nvSpPr>
        <p:spPr>
          <a:xfrm>
            <a:off x="4892040" y="4023360"/>
            <a:ext cx="13716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readinessProbe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355080" y="402336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No traffic until /health answers OK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k8s/service.yaml and how traffic flows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code bg"/>
          <p:cNvSpPr/>
          <p:nvPr/>
        </p:nvSpPr>
        <p:spPr>
          <a:xfrm>
            <a:off x="457200" y="1051560"/>
            <a:ext cx="3291840" cy="274320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594360" y="114300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v1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hello-devops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type: NodePort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hello-devops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port: 80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targetPort: 3000</a:t>
            </a:r>
            <a:endParaRPr lang="en-US" sz="1200" dirty="0"/>
          </a:p>
        </p:txBody>
      </p:sp>
      <p:sp>
        <p:nvSpPr>
          <p:cNvPr id="8" name="box Browser (port-forward 8080)"/>
          <p:cNvSpPr/>
          <p:nvPr/>
        </p:nvSpPr>
        <p:spPr>
          <a:xfrm>
            <a:off x="4114800" y="118872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9" name="box text Browser (port-forward 8080)"/>
          <p:cNvSpPr txBox="1"/>
          <p:nvPr/>
        </p:nvSpPr>
        <p:spPr>
          <a:xfrm>
            <a:off x="4114800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Browser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(port-forward 8080)</a:t>
            </a:r>
            <a:endParaRPr lang="en-US" sz="1100" dirty="0"/>
          </a:p>
        </p:txBody>
      </p:sp>
      <p:sp>
        <p:nvSpPr>
          <p:cNvPr id="10" name="arrow"/>
          <p:cNvSpPr/>
          <p:nvPr/>
        </p:nvSpPr>
        <p:spPr>
          <a:xfrm>
            <a:off x="5577840" y="1508760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1" name="box Service hello-devops :80  (stable IP + DNS name)"/>
          <p:cNvSpPr/>
          <p:nvPr/>
        </p:nvSpPr>
        <p:spPr>
          <a:xfrm>
            <a:off x="6035040" y="118872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box text Service hello-devops :80  (stable IP + DNS name)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Service hello-devops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:80  (stable IP + DNS name)</a:t>
            </a:r>
            <a:endParaRPr lang="en-US" sz="1100" dirty="0"/>
          </a:p>
        </p:txBody>
      </p:sp>
      <p:sp>
        <p:nvSpPr>
          <p:cNvPr id="13" name="arrow"/>
          <p:cNvSpPr/>
          <p:nvPr/>
        </p:nvSpPr>
        <p:spPr>
          <a:xfrm flipH="1">
            <a:off x="5852160" y="1828800"/>
            <a:ext cx="731520" cy="6400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arrow"/>
          <p:cNvSpPr/>
          <p:nvPr/>
        </p:nvSpPr>
        <p:spPr>
          <a:xfrm>
            <a:off x="7360920" y="1828800"/>
            <a:ext cx="0" cy="6400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arrow"/>
          <p:cNvSpPr/>
          <p:nvPr/>
        </p:nvSpPr>
        <p:spPr>
          <a:xfrm>
            <a:off x="8138160" y="1828800"/>
            <a:ext cx="548640" cy="6400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box Pod a1b2 :3000"/>
          <p:cNvSpPr/>
          <p:nvPr/>
        </p:nvSpPr>
        <p:spPr>
          <a:xfrm>
            <a:off x="5120640" y="246888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7" name="box text Pod a1b2 :3000"/>
          <p:cNvSpPr txBox="1"/>
          <p:nvPr/>
        </p:nvSpPr>
        <p:spPr>
          <a:xfrm>
            <a:off x="512064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Pod a1b2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:3000</a:t>
            </a:r>
            <a:endParaRPr lang="en-US" sz="1000" dirty="0"/>
          </a:p>
        </p:txBody>
      </p:sp>
      <p:sp>
        <p:nvSpPr>
          <p:cNvPr id="18" name="box Pod c3d4 :3000"/>
          <p:cNvSpPr/>
          <p:nvPr/>
        </p:nvSpPr>
        <p:spPr>
          <a:xfrm>
            <a:off x="6492240" y="246888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9" name="box text Pod c3d4 :3000"/>
          <p:cNvSpPr txBox="1"/>
          <p:nvPr/>
        </p:nvSpPr>
        <p:spPr>
          <a:xfrm>
            <a:off x="649224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Pod c3d4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:3000</a:t>
            </a:r>
            <a:endParaRPr lang="en-US" sz="1000" dirty="0"/>
          </a:p>
        </p:txBody>
      </p:sp>
      <p:sp>
        <p:nvSpPr>
          <p:cNvPr id="20" name="box Pod e5f6 :3000"/>
          <p:cNvSpPr/>
          <p:nvPr/>
        </p:nvSpPr>
        <p:spPr>
          <a:xfrm>
            <a:off x="7863840" y="246888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1" name="box text Pod e5f6 :3000"/>
          <p:cNvSpPr txBox="1"/>
          <p:nvPr/>
        </p:nvSpPr>
        <p:spPr>
          <a:xfrm>
            <a:off x="786384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Pod e5f6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:3000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120640" y="3063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all labelled  app: hello-devops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114800" y="34290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port: what the Service listens 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targetPort: what the container listens 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curl the Service in a loop → 'host' changes = load-balancing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Pods come and go; the Service name never changes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Rolling update, step by step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Before</a:t>
            </a:r>
            <a:endParaRPr lang="en-US" sz="1300" dirty="0"/>
          </a:p>
        </p:txBody>
      </p:sp>
      <p:sp>
        <p:nvSpPr>
          <p:cNvPr id="7" name="stage 0"/>
          <p:cNvSpPr/>
          <p:nvPr/>
        </p:nvSpPr>
        <p:spPr>
          <a:xfrm>
            <a:off x="457200" y="141732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box v1"/>
          <p:cNvSpPr/>
          <p:nvPr/>
        </p:nvSpPr>
        <p:spPr>
          <a:xfrm>
            <a:off x="594360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" name="box text v1"/>
          <p:cNvSpPr txBox="1"/>
          <p:nvPr/>
        </p:nvSpPr>
        <p:spPr>
          <a:xfrm>
            <a:off x="594360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v1</a:t>
            </a:r>
            <a:endParaRPr lang="en-US" sz="1100" dirty="0"/>
          </a:p>
        </p:txBody>
      </p:sp>
      <p:sp>
        <p:nvSpPr>
          <p:cNvPr id="10" name="box v1"/>
          <p:cNvSpPr/>
          <p:nvPr/>
        </p:nvSpPr>
        <p:spPr>
          <a:xfrm>
            <a:off x="1161288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1" name="box text v1"/>
          <p:cNvSpPr txBox="1"/>
          <p:nvPr/>
        </p:nvSpPr>
        <p:spPr>
          <a:xfrm>
            <a:off x="1161288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v1</a:t>
            </a:r>
            <a:endParaRPr lang="en-US" sz="1100" dirty="0"/>
          </a:p>
        </p:txBody>
      </p:sp>
      <p:sp>
        <p:nvSpPr>
          <p:cNvPr id="12" name="arrow"/>
          <p:cNvSpPr/>
          <p:nvPr/>
        </p:nvSpPr>
        <p:spPr>
          <a:xfrm>
            <a:off x="2377440" y="2103120"/>
            <a:ext cx="21031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2587752" y="1097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Step 1</a:t>
            </a:r>
            <a:endParaRPr lang="en-US" sz="1300" dirty="0"/>
          </a:p>
        </p:txBody>
      </p:sp>
      <p:sp>
        <p:nvSpPr>
          <p:cNvPr id="14" name="stage 1"/>
          <p:cNvSpPr/>
          <p:nvPr/>
        </p:nvSpPr>
        <p:spPr>
          <a:xfrm>
            <a:off x="2587752" y="141732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5" name="box v1"/>
          <p:cNvSpPr/>
          <p:nvPr/>
        </p:nvSpPr>
        <p:spPr>
          <a:xfrm>
            <a:off x="2724912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6" name="box text v1"/>
          <p:cNvSpPr txBox="1"/>
          <p:nvPr/>
        </p:nvSpPr>
        <p:spPr>
          <a:xfrm>
            <a:off x="2724912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v1</a:t>
            </a:r>
            <a:endParaRPr lang="en-US" sz="1100" dirty="0"/>
          </a:p>
        </p:txBody>
      </p:sp>
      <p:sp>
        <p:nvSpPr>
          <p:cNvPr id="17" name="box v1"/>
          <p:cNvSpPr/>
          <p:nvPr/>
        </p:nvSpPr>
        <p:spPr>
          <a:xfrm>
            <a:off x="3291840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box text v1"/>
          <p:cNvSpPr txBox="1"/>
          <p:nvPr/>
        </p:nvSpPr>
        <p:spPr>
          <a:xfrm>
            <a:off x="3291840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v1</a:t>
            </a:r>
            <a:endParaRPr lang="en-US" sz="1100" dirty="0"/>
          </a:p>
        </p:txBody>
      </p:sp>
      <p:sp>
        <p:nvSpPr>
          <p:cNvPr id="19" name="box v2"/>
          <p:cNvSpPr/>
          <p:nvPr/>
        </p:nvSpPr>
        <p:spPr>
          <a:xfrm>
            <a:off x="3858768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box text v2"/>
          <p:cNvSpPr txBox="1"/>
          <p:nvPr/>
        </p:nvSpPr>
        <p:spPr>
          <a:xfrm>
            <a:off x="3858768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21" name="arrow"/>
          <p:cNvSpPr/>
          <p:nvPr/>
        </p:nvSpPr>
        <p:spPr>
          <a:xfrm>
            <a:off x="4507992" y="2103120"/>
            <a:ext cx="21031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4718304" y="1097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Step 2</a:t>
            </a:r>
            <a:endParaRPr lang="en-US" sz="1300" dirty="0"/>
          </a:p>
        </p:txBody>
      </p:sp>
      <p:sp>
        <p:nvSpPr>
          <p:cNvPr id="23" name="stage 2"/>
          <p:cNvSpPr/>
          <p:nvPr/>
        </p:nvSpPr>
        <p:spPr>
          <a:xfrm>
            <a:off x="4718304" y="141732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box v1"/>
          <p:cNvSpPr/>
          <p:nvPr/>
        </p:nvSpPr>
        <p:spPr>
          <a:xfrm>
            <a:off x="4855464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5" name="box text v1"/>
          <p:cNvSpPr txBox="1"/>
          <p:nvPr/>
        </p:nvSpPr>
        <p:spPr>
          <a:xfrm>
            <a:off x="4855464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v1</a:t>
            </a:r>
            <a:endParaRPr lang="en-US" sz="1100" dirty="0"/>
          </a:p>
        </p:txBody>
      </p:sp>
      <p:sp>
        <p:nvSpPr>
          <p:cNvPr id="26" name="box v2"/>
          <p:cNvSpPr/>
          <p:nvPr/>
        </p:nvSpPr>
        <p:spPr>
          <a:xfrm>
            <a:off x="5422392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box text v2"/>
          <p:cNvSpPr txBox="1"/>
          <p:nvPr/>
        </p:nvSpPr>
        <p:spPr>
          <a:xfrm>
            <a:off x="5422392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28" name="box v2"/>
          <p:cNvSpPr/>
          <p:nvPr/>
        </p:nvSpPr>
        <p:spPr>
          <a:xfrm>
            <a:off x="5989320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9" name="box text v2"/>
          <p:cNvSpPr txBox="1"/>
          <p:nvPr/>
        </p:nvSpPr>
        <p:spPr>
          <a:xfrm>
            <a:off x="5989320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30" name="arrow"/>
          <p:cNvSpPr/>
          <p:nvPr/>
        </p:nvSpPr>
        <p:spPr>
          <a:xfrm>
            <a:off x="6638544" y="2103120"/>
            <a:ext cx="21031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6848856" y="1097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After</a:t>
            </a:r>
            <a:endParaRPr lang="en-US" sz="1300" dirty="0"/>
          </a:p>
        </p:txBody>
      </p:sp>
      <p:sp>
        <p:nvSpPr>
          <p:cNvPr id="32" name="stage 3"/>
          <p:cNvSpPr/>
          <p:nvPr/>
        </p:nvSpPr>
        <p:spPr>
          <a:xfrm>
            <a:off x="6848856" y="141732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3" name="box v2"/>
          <p:cNvSpPr/>
          <p:nvPr/>
        </p:nvSpPr>
        <p:spPr>
          <a:xfrm>
            <a:off x="6986016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4" name="box text v2"/>
          <p:cNvSpPr txBox="1"/>
          <p:nvPr/>
        </p:nvSpPr>
        <p:spPr>
          <a:xfrm>
            <a:off x="6986016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35" name="box v2"/>
          <p:cNvSpPr/>
          <p:nvPr/>
        </p:nvSpPr>
        <p:spPr>
          <a:xfrm>
            <a:off x="7552944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6" name="box text v2"/>
          <p:cNvSpPr txBox="1"/>
          <p:nvPr/>
        </p:nvSpPr>
        <p:spPr>
          <a:xfrm>
            <a:off x="7552944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3017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Start one new Pod → wait until its readiness probe passes → only then remove one old Pod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Service keeps routing to whichever Pods are Ready: users never see an error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old version is kept (at 0 copies) so  kubectl rollout undo  is instant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Bad image tag? New Pods never become Ready, old ones stay. The rollout just stalls, safely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Pod statuses you'll see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graphicFrame>
        <p:nvGraphicFramePr>
          <p:cNvPr id="26" name="statu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Meaning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you do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C3A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Pending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Scheduler hasn't placed it yet, or no node has room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wait / check resources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C3A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ContainerCreating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Pulling the image, setting up the container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wait a few seconds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Running  1/1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Healthy. READY column = containers ready / total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nothing: this is good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ErrImagePull / ImagePullBackOff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Image name or tag wrong, or not loaded into minikube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fix tag / minikube image load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CrashLoopBackOff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The app starts, crashes, K8s restarts it, repeat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kubectl logs &lt;pod&gt;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ox Debug loop:  kubectl get pods  →  kubectl describe pod &lt;name&gt;  (read Events)  →  kubectl logs &lt;name&gt;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box text Debug loop:  kubectl get pods  →  kubectl describe pod &amp;lt;name&amp;gt;  (read Events)  →  kubectl logs &amp;lt;name&amp;gt;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Debug loop:  kubectl get pods  →  kubectl describe pod &lt;name&gt;  (read Events)  →  kubectl logs &lt;name&gt;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kubectl commands you'll use in the lab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graphicFrame>
        <p:nvGraphicFramePr>
          <p:cNvPr id="27" name="kubect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apply -f k8s/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Create / update everything in the folder (declarative)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get pods -o wide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List Pods, which node, which IP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describe pod &lt;name&gt;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Details + Events: why is it not Running?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logs &lt;pod&gt;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Container stdout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port-forward svc/hello-devops 8080:80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Tunnel the Service to your browser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scale deploy hello-devops --replicas=4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Change desired state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set image deploy/hello-devops hello-devops=hello-devops:v2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Rolling update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rollout undo deploy/hello-devops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The oops button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delete -f k8s/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Clean up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Our setup: minikube inside GitHub Codespaces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codespace box"/>
          <p:cNvSpPr/>
          <p:nvPr/>
        </p:nvSpPr>
        <p:spPr>
          <a:xfrm>
            <a:off x="457200" y="1097280"/>
            <a:ext cx="8229600" cy="2834640"/>
          </a:xfrm>
          <a:prstGeom prst="roundRect">
            <a:avLst>
              <a:gd name="adj" fmla="val 32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1612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GitHub Codespace (a Linux VM in the cloud, 2 CPU / 8 GB)</a:t>
            </a:r>
            <a:endParaRPr lang="en-US" sz="1200" dirty="0"/>
          </a:p>
        </p:txBody>
      </p:sp>
      <p:sp>
        <p:nvSpPr>
          <p:cNvPr id="8" name="docker box"/>
          <p:cNvSpPr/>
          <p:nvPr/>
        </p:nvSpPr>
        <p:spPr>
          <a:xfrm>
            <a:off x="640080" y="1508760"/>
            <a:ext cx="7863840" cy="2286000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572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Docker Engine (docker-in-docker)</a:t>
            </a:r>
            <a:endParaRPr lang="en-US" sz="1200" dirty="0"/>
          </a:p>
        </p:txBody>
      </p:sp>
      <p:sp>
        <p:nvSpPr>
          <p:cNvPr id="10" name="box your image + containers from Lab 1 (hello-devops:v1)"/>
          <p:cNvSpPr/>
          <p:nvPr/>
        </p:nvSpPr>
        <p:spPr>
          <a:xfrm>
            <a:off x="822960" y="1920240"/>
            <a:ext cx="210312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box text your image + containers from Lab 1 (hello-devops:v1)"/>
          <p:cNvSpPr txBox="1"/>
          <p:nvPr/>
        </p:nvSpPr>
        <p:spPr>
          <a:xfrm>
            <a:off x="822960" y="1920240"/>
            <a:ext cx="210312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your image + containers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from Lab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(hello-devops:v1)</a:t>
            </a:r>
            <a:endParaRPr lang="en-US" sz="1100" dirty="0"/>
          </a:p>
        </p:txBody>
      </p:sp>
      <p:sp>
        <p:nvSpPr>
          <p:cNvPr id="12" name="minikube box"/>
          <p:cNvSpPr/>
          <p:nvPr/>
        </p:nvSpPr>
        <p:spPr>
          <a:xfrm>
            <a:off x="3291840" y="192024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2900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minikube node (one container, with its own image store)</a:t>
            </a:r>
            <a:endParaRPr lang="en-US" sz="1200" dirty="0"/>
          </a:p>
        </p:txBody>
      </p:sp>
      <p:sp>
        <p:nvSpPr>
          <p:cNvPr id="14" name="box control plane"/>
          <p:cNvSpPr/>
          <p:nvPr/>
        </p:nvSpPr>
        <p:spPr>
          <a:xfrm>
            <a:off x="3474720" y="2331720"/>
            <a:ext cx="21945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box text control plane"/>
          <p:cNvSpPr txBox="1"/>
          <p:nvPr/>
        </p:nvSpPr>
        <p:spPr>
          <a:xfrm>
            <a:off x="3474720" y="2331720"/>
            <a:ext cx="21945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control plane</a:t>
            </a:r>
            <a:endParaRPr lang="en-US" sz="1100" dirty="0"/>
          </a:p>
        </p:txBody>
      </p:sp>
      <p:sp>
        <p:nvSpPr>
          <p:cNvPr id="16" name="box Pod"/>
          <p:cNvSpPr/>
          <p:nvPr/>
        </p:nvSpPr>
        <p:spPr>
          <a:xfrm>
            <a:off x="5852160" y="2331720"/>
            <a:ext cx="109728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box text Pod"/>
          <p:cNvSpPr txBox="1"/>
          <p:nvPr/>
        </p:nvSpPr>
        <p:spPr>
          <a:xfrm>
            <a:off x="5852160" y="233172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Pod</a:t>
            </a:r>
            <a:endParaRPr lang="en-US" sz="1100" dirty="0"/>
          </a:p>
        </p:txBody>
      </p:sp>
      <p:sp>
        <p:nvSpPr>
          <p:cNvPr id="18" name="box Pod"/>
          <p:cNvSpPr/>
          <p:nvPr/>
        </p:nvSpPr>
        <p:spPr>
          <a:xfrm>
            <a:off x="7086600" y="2331720"/>
            <a:ext cx="109728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box text Pod"/>
          <p:cNvSpPr txBox="1"/>
          <p:nvPr/>
        </p:nvSpPr>
        <p:spPr>
          <a:xfrm>
            <a:off x="7086600" y="233172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Pod</a:t>
            </a:r>
            <a:endParaRPr lang="en-US" sz="1100" dirty="0"/>
          </a:p>
        </p:txBody>
      </p:sp>
      <p:sp>
        <p:nvSpPr>
          <p:cNvPr id="20" name="box minikube image load hello-devops:v1  copies the image in here"/>
          <p:cNvSpPr/>
          <p:nvPr/>
        </p:nvSpPr>
        <p:spPr>
          <a:xfrm>
            <a:off x="3474720" y="2971800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box text minikube image load hello-devops:v1  copies the image in here"/>
          <p:cNvSpPr txBox="1"/>
          <p:nvPr/>
        </p:nvSpPr>
        <p:spPr>
          <a:xfrm>
            <a:off x="3474720" y="2971800"/>
            <a:ext cx="47091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minikube image load hello-devops:v1  copies the image in here</a:t>
            </a:r>
            <a:endParaRPr lang="en-US" sz="1100" dirty="0"/>
          </a:p>
        </p:txBody>
      </p:sp>
      <p:sp>
        <p:nvSpPr>
          <p:cNvPr id="22" name="arrow"/>
          <p:cNvSpPr/>
          <p:nvPr/>
        </p:nvSpPr>
        <p:spPr>
          <a:xfrm>
            <a:off x="2926080" y="2331720"/>
            <a:ext cx="3657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3" name="box Browser  ⇄  VS Code port forwarding  ⇄  kubectl port-forward svc/hello-devops 8080:80  ⇄  Pods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box text Browser  ⇄  VS Code port forwarding  ⇄  kubectl port-forward svc/hello-devops 8080:80  ⇄  Pods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Browser  ⇄  VS Code port forwarding  ⇄  kubectl port-forward svc/hello-devops 8080:80  ⇄  Pods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Quick check · Kubernetes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Say the answer out loud before the instructor does</a:t>
            </a:r>
            <a:endParaRPr lang="en-US" sz="1300" dirty="0"/>
          </a:p>
        </p:txBody>
      </p:sp>
      <p:sp>
        <p:nvSpPr>
          <p:cNvPr id="7" name="q circle 0"/>
          <p:cNvSpPr/>
          <p:nvPr/>
        </p:nvSpPr>
        <p:spPr>
          <a:xfrm>
            <a:off x="457200" y="1527048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q box 0"/>
          <p:cNvSpPr/>
          <p:nvPr/>
        </p:nvSpPr>
        <p:spPr>
          <a:xfrm>
            <a:off x="1143000" y="141732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25880" y="14173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 run  kubectl delete pod &lt;name&gt;  on a Pod owned by a Deployment. What happens 2 seconds later?</a:t>
            </a:r>
            <a:endParaRPr lang="en-US" sz="1500" dirty="0"/>
          </a:p>
        </p:txBody>
      </p:sp>
      <p:sp>
        <p:nvSpPr>
          <p:cNvPr id="11" name="q circle 1"/>
          <p:cNvSpPr/>
          <p:nvPr/>
        </p:nvSpPr>
        <p:spPr>
          <a:xfrm>
            <a:off x="457200" y="2395728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3" name="q box 1"/>
          <p:cNvSpPr/>
          <p:nvPr/>
        </p:nvSpPr>
        <p:spPr>
          <a:xfrm>
            <a:off x="1143000" y="228600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25880" y="22860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Pods get new IPs when they restart. So how does a browser (or another service) reliably reach them?</a:t>
            </a:r>
            <a:endParaRPr lang="en-US" sz="1500" dirty="0"/>
          </a:p>
        </p:txBody>
      </p:sp>
      <p:sp>
        <p:nvSpPr>
          <p:cNvPr id="15" name="q circle 2"/>
          <p:cNvSpPr/>
          <p:nvPr/>
        </p:nvSpPr>
        <p:spPr>
          <a:xfrm>
            <a:off x="457200" y="3264408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264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7" name="q box 2"/>
          <p:cNvSpPr/>
          <p:nvPr/>
        </p:nvSpPr>
        <p:spPr>
          <a:xfrm>
            <a:off x="1143000" y="315468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25880" y="315468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new Pod shows  ImagePullBackOff.  Name two likely causes.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Kubernetes · 3 things to remember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recap 0"/>
          <p:cNvSpPr/>
          <p:nvPr/>
        </p:nvSpPr>
        <p:spPr>
          <a:xfrm>
            <a:off x="457200" y="1097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7" name="recap circle 0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recap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1207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You declare desired state; controllers make it real, forever.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1600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replicas: 2 means K8s will keep two running even if you delete one. Scaling and updating are one-line changes.</a:t>
            </a:r>
            <a:endParaRPr lang="en-US" sz="1200" dirty="0"/>
          </a:p>
        </p:txBody>
      </p:sp>
      <p:sp>
        <p:nvSpPr>
          <p:cNvPr id="11" name="recap 1"/>
          <p:cNvSpPr/>
          <p:nvPr/>
        </p:nvSpPr>
        <p:spPr>
          <a:xfrm>
            <a:off x="457200" y="2240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2" name="recap circle 1"/>
          <p:cNvSpPr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recap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0604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2350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Pod runs containers. Deployment keeps N Pods. Service gives them one address.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2743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Labels connect the three. Everything you touched today is one of these.</a:t>
            </a:r>
            <a:endParaRPr lang="en-US" sz="1200" dirty="0"/>
          </a:p>
        </p:txBody>
      </p:sp>
      <p:sp>
        <p:nvSpPr>
          <p:cNvPr id="16" name="recap 2"/>
          <p:cNvSpPr/>
          <p:nvPr/>
        </p:nvSpPr>
        <p:spPr>
          <a:xfrm>
            <a:off x="457200" y="3383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7" name="recap circle 2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recap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4904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80160" y="3493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When something's wrong: get, describe, logs.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280160" y="3886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describe shows Events (why it can't start), logs shows what the app said.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Lab 2 · Deploy, scale, break, roll out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HANDS-ON</a:t>
            </a:r>
            <a:endParaRPr lang="en-US" sz="900" dirty="0"/>
          </a:p>
        </p:txBody>
      </p:sp>
      <p:sp>
        <p:nvSpPr>
          <p:cNvPr id="6" name="time badge"/>
          <p:cNvSpPr/>
          <p:nvPr/>
        </p:nvSpPr>
        <p:spPr>
          <a:xfrm>
            <a:off x="5760720" y="3840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7" name="time badge text"/>
          <p:cNvSpPr txBox="1"/>
          <p:nvPr/>
        </p:nvSpPr>
        <p:spPr>
          <a:xfrm>
            <a:off x="5760720" y="384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30 min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  labs/02-kubernetes.md  in your Codespace and mirror the instructor</a:t>
            </a:r>
            <a:endParaRPr lang="en-US" sz="1500" dirty="0"/>
          </a:p>
        </p:txBody>
      </p:sp>
      <p:sp>
        <p:nvSpPr>
          <p:cNvPr id="9" name="box 1"/>
          <p:cNvSpPr/>
          <p:nvPr/>
        </p:nvSpPr>
        <p:spPr>
          <a:xfrm>
            <a:off x="457200" y="146304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ox text 1"/>
          <p:cNvSpPr txBox="1"/>
          <p:nvPr/>
        </p:nvSpPr>
        <p:spPr>
          <a:xfrm>
            <a:off x="457200" y="146304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46304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minikube status, kubectl get nodes</a:t>
            </a:r>
            <a:endParaRPr lang="en-US" sz="1400" dirty="0"/>
          </a:p>
        </p:txBody>
      </p:sp>
      <p:sp>
        <p:nvSpPr>
          <p:cNvPr id="12" name="box 2"/>
          <p:cNvSpPr/>
          <p:nvPr/>
        </p:nvSpPr>
        <p:spPr>
          <a:xfrm>
            <a:off x="457200" y="185166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box text 2"/>
          <p:cNvSpPr txBox="1"/>
          <p:nvPr/>
        </p:nvSpPr>
        <p:spPr>
          <a:xfrm>
            <a:off x="457200" y="185166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85166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minikube image load hello-devops:v1</a:t>
            </a:r>
            <a:endParaRPr lang="en-US" sz="1400" dirty="0"/>
          </a:p>
        </p:txBody>
      </p:sp>
      <p:sp>
        <p:nvSpPr>
          <p:cNvPr id="15" name="box 3"/>
          <p:cNvSpPr/>
          <p:nvPr/>
        </p:nvSpPr>
        <p:spPr>
          <a:xfrm>
            <a:off x="457200" y="224028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box text 3"/>
          <p:cNvSpPr txBox="1"/>
          <p:nvPr/>
        </p:nvSpPr>
        <p:spPr>
          <a:xfrm>
            <a:off x="457200" y="224028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224028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kubectl apply -f k8s/ → get pods</a:t>
            </a:r>
            <a:endParaRPr lang="en-US" sz="1400" dirty="0"/>
          </a:p>
        </p:txBody>
      </p:sp>
      <p:sp>
        <p:nvSpPr>
          <p:cNvPr id="18" name="box 4"/>
          <p:cNvSpPr/>
          <p:nvPr/>
        </p:nvSpPr>
        <p:spPr>
          <a:xfrm>
            <a:off x="457200" y="262890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box text 4"/>
          <p:cNvSpPr txBox="1"/>
          <p:nvPr/>
        </p:nvSpPr>
        <p:spPr>
          <a:xfrm>
            <a:off x="457200" y="262890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262890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port-forward → browser; curl loop → hosts rotate</a:t>
            </a:r>
            <a:endParaRPr lang="en-US" sz="1400" dirty="0"/>
          </a:p>
        </p:txBody>
      </p:sp>
      <p:sp>
        <p:nvSpPr>
          <p:cNvPr id="21" name="box 5"/>
          <p:cNvSpPr/>
          <p:nvPr/>
        </p:nvSpPr>
        <p:spPr>
          <a:xfrm>
            <a:off x="457200" y="301752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box text 5"/>
          <p:cNvSpPr txBox="1"/>
          <p:nvPr/>
        </p:nvSpPr>
        <p:spPr>
          <a:xfrm>
            <a:off x="457200" y="301752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" y="301752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scale to 4, back to 2</a:t>
            </a:r>
            <a:endParaRPr lang="en-US" sz="1400" dirty="0"/>
          </a:p>
        </p:txBody>
      </p:sp>
      <p:sp>
        <p:nvSpPr>
          <p:cNvPr id="24" name="box 6"/>
          <p:cNvSpPr/>
          <p:nvPr/>
        </p:nvSpPr>
        <p:spPr>
          <a:xfrm>
            <a:off x="457200" y="340614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box text 6"/>
          <p:cNvSpPr txBox="1"/>
          <p:nvPr/>
        </p:nvSpPr>
        <p:spPr>
          <a:xfrm>
            <a:off x="457200" y="340614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340614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delete a pod → watch it come back</a:t>
            </a:r>
            <a:endParaRPr lang="en-US" sz="1400" dirty="0"/>
          </a:p>
        </p:txBody>
      </p:sp>
      <p:sp>
        <p:nvSpPr>
          <p:cNvPr id="27" name="box 7"/>
          <p:cNvSpPr/>
          <p:nvPr/>
        </p:nvSpPr>
        <p:spPr>
          <a:xfrm>
            <a:off x="457200" y="379476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box text 7"/>
          <p:cNvSpPr txBox="1"/>
          <p:nvPr/>
        </p:nvSpPr>
        <p:spPr>
          <a:xfrm>
            <a:off x="457200" y="379476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379476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v2 rolling update, then rollout undo</a:t>
            </a:r>
            <a:endParaRPr lang="en-US" sz="1400" dirty="0"/>
          </a:p>
        </p:txBody>
      </p:sp>
      <p:sp>
        <p:nvSpPr>
          <p:cNvPr id="30" name="box 8"/>
          <p:cNvSpPr/>
          <p:nvPr/>
        </p:nvSpPr>
        <p:spPr>
          <a:xfrm>
            <a:off x="457200" y="418338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box text 8"/>
          <p:cNvSpPr txBox="1"/>
          <p:nvPr/>
        </p:nvSpPr>
        <p:spPr>
          <a:xfrm>
            <a:off x="457200" y="418338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960120" y="418338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describe + logs: how to debug</a:t>
            </a:r>
            <a:endParaRPr lang="en-US" sz="1400" dirty="0"/>
          </a:p>
        </p:txBody>
      </p:sp>
      <p:sp>
        <p:nvSpPr>
          <p:cNvPr id="33" name="Done when card"/>
          <p:cNvSpPr/>
          <p:nvPr/>
        </p:nvSpPr>
        <p:spPr>
          <a:xfrm>
            <a:off x="5486400" y="1463040"/>
            <a:ext cx="3200400" cy="1234440"/>
          </a:xfrm>
          <a:prstGeom prst="roundRect">
            <a:avLst>
              <a:gd name="adj" fmla="val 888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4" name="Done when circle"/>
          <p:cNvSpPr/>
          <p:nvPr/>
        </p:nvSpPr>
        <p:spPr>
          <a:xfrm>
            <a:off x="5669280" y="1645920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5" name="Done whe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274320" cy="27432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6263640" y="1645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Done when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566928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You scaled to 4, killed a Pod and saw it return, rolled out v2 and rolled back.</a:t>
            </a:r>
            <a:endParaRPr lang="en-US" sz="1200" dirty="0"/>
          </a:p>
        </p:txBody>
      </p:sp>
      <p:sp>
        <p:nvSpPr>
          <p:cNvPr id="38" name="Stuck? card"/>
          <p:cNvSpPr/>
          <p:nvPr/>
        </p:nvSpPr>
        <p:spPr>
          <a:xfrm>
            <a:off x="5486400" y="2834640"/>
            <a:ext cx="3200400" cy="1737360"/>
          </a:xfrm>
          <a:prstGeom prst="roundRect">
            <a:avLst>
              <a:gd name="adj" fmla="val 631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39" name="Stuck? circle"/>
          <p:cNvSpPr/>
          <p:nvPr/>
        </p:nvSpPr>
        <p:spPr>
          <a:xfrm>
            <a:off x="5669280" y="301752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0" name="Stuck?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08960"/>
            <a:ext cx="274320" cy="274320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263640" y="30175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Stuck?</a:t>
            </a:r>
            <a:endParaRPr lang="en-US" sz="1600" dirty="0"/>
          </a:p>
        </p:txBody>
      </p:sp>
      <p:sp>
        <p:nvSpPr>
          <p:cNvPr id="42" name="Text 37"/>
          <p:cNvSpPr txBox="1"/>
          <p:nvPr/>
        </p:nvSpPr>
        <p:spPr>
          <a:xfrm>
            <a:off x="5669280" y="36118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ErrImagePull → redo step 2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minikube stuck → minikube delete, then start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describe pod → read the Events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Part 3 · CI/CD and Jenkins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If you did it by hand twice today, a robot should do it from now on</a:t>
            </a:r>
            <a:endParaRPr lang="en-US" sz="1800" dirty="0"/>
          </a:p>
        </p:txBody>
      </p:sp>
      <p:pic>
        <p:nvPicPr>
          <p:cNvPr id="5" name="jenki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463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CI, CD and the other CD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box Push"/>
          <p:cNvSpPr/>
          <p:nvPr/>
        </p:nvSpPr>
        <p:spPr>
          <a:xfrm>
            <a:off x="457200" y="118872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box text Push"/>
          <p:cNvSpPr txBox="1"/>
          <p:nvPr/>
        </p:nvSpPr>
        <p:spPr>
          <a:xfrm>
            <a:off x="457200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Push</a:t>
            </a:r>
            <a:endParaRPr lang="en-US" sz="1200" dirty="0"/>
          </a:p>
        </p:txBody>
      </p:sp>
      <p:sp>
        <p:nvSpPr>
          <p:cNvPr id="8" name="arrow"/>
          <p:cNvSpPr/>
          <p:nvPr/>
        </p:nvSpPr>
        <p:spPr>
          <a:xfrm>
            <a:off x="1691640" y="1554480"/>
            <a:ext cx="15544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box Build"/>
          <p:cNvSpPr/>
          <p:nvPr/>
        </p:nvSpPr>
        <p:spPr>
          <a:xfrm>
            <a:off x="1847088" y="118872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box text Build"/>
          <p:cNvSpPr txBox="1"/>
          <p:nvPr/>
        </p:nvSpPr>
        <p:spPr>
          <a:xfrm>
            <a:off x="1847088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Build</a:t>
            </a:r>
            <a:endParaRPr lang="en-US" sz="1200" dirty="0"/>
          </a:p>
        </p:txBody>
      </p:sp>
      <p:sp>
        <p:nvSpPr>
          <p:cNvPr id="11" name="arrow"/>
          <p:cNvSpPr/>
          <p:nvPr/>
        </p:nvSpPr>
        <p:spPr>
          <a:xfrm>
            <a:off x="3081528" y="1554480"/>
            <a:ext cx="15544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box Test"/>
          <p:cNvSpPr/>
          <p:nvPr/>
        </p:nvSpPr>
        <p:spPr>
          <a:xfrm>
            <a:off x="3236976" y="118872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box text Test"/>
          <p:cNvSpPr txBox="1"/>
          <p:nvPr/>
        </p:nvSpPr>
        <p:spPr>
          <a:xfrm>
            <a:off x="3236976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Test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4471416" y="1554480"/>
            <a:ext cx="15544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box Package (image)"/>
          <p:cNvSpPr/>
          <p:nvPr/>
        </p:nvSpPr>
        <p:spPr>
          <a:xfrm>
            <a:off x="4626864" y="118872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box text Package (image)"/>
          <p:cNvSpPr txBox="1"/>
          <p:nvPr/>
        </p:nvSpPr>
        <p:spPr>
          <a:xfrm>
            <a:off x="4626864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Package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(image)</a:t>
            </a:r>
            <a:endParaRPr lang="en-US" sz="1200" dirty="0"/>
          </a:p>
        </p:txBody>
      </p:sp>
      <p:sp>
        <p:nvSpPr>
          <p:cNvPr id="17" name="arrow"/>
          <p:cNvSpPr/>
          <p:nvPr/>
        </p:nvSpPr>
        <p:spPr>
          <a:xfrm>
            <a:off x="5861304" y="1554480"/>
            <a:ext cx="15544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box Deploy staging"/>
          <p:cNvSpPr/>
          <p:nvPr/>
        </p:nvSpPr>
        <p:spPr>
          <a:xfrm>
            <a:off x="6016752" y="1188720"/>
            <a:ext cx="123444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9" name="box text Deploy staging"/>
          <p:cNvSpPr txBox="1"/>
          <p:nvPr/>
        </p:nvSpPr>
        <p:spPr>
          <a:xfrm>
            <a:off x="6016752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Deploy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staging</a:t>
            </a:r>
            <a:endParaRPr lang="en-US" sz="1200" dirty="0"/>
          </a:p>
        </p:txBody>
      </p:sp>
      <p:sp>
        <p:nvSpPr>
          <p:cNvPr id="20" name="arrow"/>
          <p:cNvSpPr/>
          <p:nvPr/>
        </p:nvSpPr>
        <p:spPr>
          <a:xfrm>
            <a:off x="7251192" y="1554480"/>
            <a:ext cx="15544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1" name="box Deploy prod"/>
          <p:cNvSpPr/>
          <p:nvPr/>
        </p:nvSpPr>
        <p:spPr>
          <a:xfrm>
            <a:off x="7406640" y="1188720"/>
            <a:ext cx="123444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2" name="box text Deploy prod"/>
          <p:cNvSpPr txBox="1"/>
          <p:nvPr/>
        </p:nvSpPr>
        <p:spPr>
          <a:xfrm>
            <a:off x="7406640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Deploy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prod</a:t>
            </a:r>
            <a:endParaRPr lang="en-US" sz="1200" dirty="0"/>
          </a:p>
        </p:txBody>
      </p:sp>
      <p:sp>
        <p:nvSpPr>
          <p:cNvPr id="23" name="span 0"/>
          <p:cNvSpPr/>
          <p:nvPr/>
        </p:nvSpPr>
        <p:spPr>
          <a:xfrm>
            <a:off x="1828800" y="2057400"/>
            <a:ext cx="3931920" cy="320040"/>
          </a:xfrm>
          <a:prstGeom prst="roundRect">
            <a:avLst>
              <a:gd name="adj" fmla="val 1428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920240" y="20574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Continuous Integration: build + test every push</a:t>
            </a:r>
            <a:endParaRPr lang="en-US" sz="1100" dirty="0"/>
          </a:p>
        </p:txBody>
      </p:sp>
      <p:sp>
        <p:nvSpPr>
          <p:cNvPr id="25" name="span 1"/>
          <p:cNvSpPr/>
          <p:nvPr/>
        </p:nvSpPr>
        <p:spPr>
          <a:xfrm>
            <a:off x="1828800" y="2423160"/>
            <a:ext cx="5349240" cy="320040"/>
          </a:xfrm>
          <a:prstGeom prst="roundRect">
            <a:avLst>
              <a:gd name="adj" fmla="val 1428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920240" y="24231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Continuous Delivery: every green build is deployable (prod needs a human click)</a:t>
            </a:r>
            <a:endParaRPr lang="en-US" sz="1100" dirty="0"/>
          </a:p>
        </p:txBody>
      </p:sp>
      <p:sp>
        <p:nvSpPr>
          <p:cNvPr id="27" name="span 2"/>
          <p:cNvSpPr/>
          <p:nvPr/>
        </p:nvSpPr>
        <p:spPr>
          <a:xfrm>
            <a:off x="1828800" y="2788920"/>
            <a:ext cx="6858000" cy="320040"/>
          </a:xfrm>
          <a:prstGeom prst="roundRect">
            <a:avLst>
              <a:gd name="adj" fmla="val 1428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920240" y="27889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Continuous Deployment: no click, green = live in production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3291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Trigger: a git push or a pull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Runs on a fresh machine every time: no "works on my machine"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Red = you find out in 2 minutes, not after merging to main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 1 + Lab 2 by hand = exactly what a pipeline automates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Anatomy of any pipeline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box Trigger push, PR, schedule"/>
          <p:cNvSpPr/>
          <p:nvPr/>
        </p:nvSpPr>
        <p:spPr>
          <a:xfrm>
            <a:off x="457200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box text Trigger push, PR, schedule"/>
          <p:cNvSpPr txBox="1"/>
          <p:nvPr/>
        </p:nvSpPr>
        <p:spPr>
          <a:xfrm>
            <a:off x="457200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Trigger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push, PR, schedule</a:t>
            </a:r>
            <a:endParaRPr lang="en-US" sz="1100" dirty="0"/>
          </a:p>
        </p:txBody>
      </p:sp>
      <p:sp>
        <p:nvSpPr>
          <p:cNvPr id="8" name="arrow"/>
          <p:cNvSpPr/>
          <p:nvPr/>
        </p:nvSpPr>
        <p:spPr>
          <a:xfrm>
            <a:off x="1942186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box Runner a fresh VM or container"/>
          <p:cNvSpPr/>
          <p:nvPr/>
        </p:nvSpPr>
        <p:spPr>
          <a:xfrm>
            <a:off x="2143354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box text Runner a fresh VM or container"/>
          <p:cNvSpPr txBox="1"/>
          <p:nvPr/>
        </p:nvSpPr>
        <p:spPr>
          <a:xfrm>
            <a:off x="2143354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Runner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 fresh VM or container</a:t>
            </a:r>
            <a:endParaRPr lang="en-US" sz="1100" dirty="0"/>
          </a:p>
        </p:txBody>
      </p:sp>
      <p:sp>
        <p:nvSpPr>
          <p:cNvPr id="11" name="arrow"/>
          <p:cNvSpPr/>
          <p:nvPr/>
        </p:nvSpPr>
        <p:spPr>
          <a:xfrm>
            <a:off x="3628339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box Job runs on one runner"/>
          <p:cNvSpPr/>
          <p:nvPr/>
        </p:nvSpPr>
        <p:spPr>
          <a:xfrm>
            <a:off x="3829507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box text Job runs on one runner"/>
          <p:cNvSpPr txBox="1"/>
          <p:nvPr/>
        </p:nvSpPr>
        <p:spPr>
          <a:xfrm>
            <a:off x="3829507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Job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runs on one runner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5314493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box Steps commands, in order"/>
          <p:cNvSpPr/>
          <p:nvPr/>
        </p:nvSpPr>
        <p:spPr>
          <a:xfrm>
            <a:off x="5515661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6" name="box text Steps commands, in order"/>
          <p:cNvSpPr txBox="1"/>
          <p:nvPr/>
        </p:nvSpPr>
        <p:spPr>
          <a:xfrm>
            <a:off x="5515661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Steps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commands, in order</a:t>
            </a:r>
            <a:endParaRPr lang="en-US" sz="1100" dirty="0"/>
          </a:p>
        </p:txBody>
      </p:sp>
      <p:sp>
        <p:nvSpPr>
          <p:cNvPr id="17" name="arrow"/>
          <p:cNvSpPr/>
          <p:nvPr/>
        </p:nvSpPr>
        <p:spPr>
          <a:xfrm>
            <a:off x="7000646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box Artefact image, report, binary"/>
          <p:cNvSpPr/>
          <p:nvPr/>
        </p:nvSpPr>
        <p:spPr>
          <a:xfrm>
            <a:off x="7201814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9" name="box text Artefact image, report, binary"/>
          <p:cNvSpPr txBox="1"/>
          <p:nvPr/>
        </p:nvSpPr>
        <p:spPr>
          <a:xfrm>
            <a:off x="7201814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Artefact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image, report, binary</a:t>
            </a:r>
            <a:endParaRPr lang="en-US" sz="1100" dirty="0"/>
          </a:p>
        </p:txBody>
      </p:sp>
      <p:sp>
        <p:nvSpPr>
          <p:cNvPr id="20" name="Rules of a good pipeline card"/>
          <p:cNvSpPr/>
          <p:nvPr/>
        </p:nvSpPr>
        <p:spPr>
          <a:xfrm>
            <a:off x="457200" y="2377440"/>
            <a:ext cx="40233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Rules of a good pipeline circle"/>
          <p:cNvSpPr/>
          <p:nvPr/>
        </p:nvSpPr>
        <p:spPr>
          <a:xfrm>
            <a:off x="640080" y="25603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2" name="Rules of a good pipeli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65176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234440" y="25603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Rules of a good pipeline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640080" y="31546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Fast: fail in minutes, not hours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Fresh: nothing left over from last run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Same every time: it's code, in git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 blocks the merge, green allows it</a:t>
            </a:r>
            <a:endParaRPr lang="en-US" sz="1300" dirty="0"/>
          </a:p>
        </p:txBody>
      </p:sp>
      <p:sp>
        <p:nvSpPr>
          <p:cNvPr id="25" name="Same words, every tool card"/>
          <p:cNvSpPr/>
          <p:nvPr/>
        </p:nvSpPr>
        <p:spPr>
          <a:xfrm>
            <a:off x="4663440" y="2377440"/>
            <a:ext cx="40233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Same words, every tool circle"/>
          <p:cNvSpPr/>
          <p:nvPr/>
        </p:nvSpPr>
        <p:spPr>
          <a:xfrm>
            <a:off x="4846320" y="25603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7" name="Same words, every tool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651760"/>
            <a:ext cx="274320" cy="27432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440680" y="25603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Same words, every tool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4846320" y="31546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GitHub Actions: workflow → job → step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Jenkins: pipeline → stage → step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GitLab CI: pipeline → stage → job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Learn the shape once; tools are syntax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.github/workflows/ci.yml, annotated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code bg"/>
          <p:cNvSpPr/>
          <p:nvPr/>
        </p:nvSpPr>
        <p:spPr>
          <a:xfrm>
            <a:off x="457200" y="1051560"/>
            <a:ext cx="4754880" cy="3566160"/>
          </a:xfrm>
          <a:prstGeom prst="roundRect">
            <a:avLst>
              <a:gd name="adj" fmla="val 25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594360" y="1143000"/>
            <a:ext cx="4480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CI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 [push, pull_request]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test-and-build: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actions/checkout@v4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actions/setup-node@v4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with: { node-version: 20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install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working-directory: app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working-directory: app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docker build -t hello-devops:$GITHUB_SHA 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working-directory: app</a:t>
            </a:r>
            <a:endParaRPr lang="en-US" sz="1000" dirty="0"/>
          </a:p>
        </p:txBody>
      </p:sp>
      <p:sp>
        <p:nvSpPr>
          <p:cNvPr id="8" name="box on"/>
          <p:cNvSpPr/>
          <p:nvPr/>
        </p:nvSpPr>
        <p:spPr>
          <a:xfrm>
            <a:off x="5440680" y="1051560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box text on"/>
          <p:cNvSpPr txBox="1"/>
          <p:nvPr/>
        </p:nvSpPr>
        <p:spPr>
          <a:xfrm>
            <a:off x="5440680" y="1051560"/>
            <a:ext cx="100584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1051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Trigger: any push, and every pull request</a:t>
            </a:r>
            <a:endParaRPr lang="en-US" sz="1100" dirty="0"/>
          </a:p>
        </p:txBody>
      </p:sp>
      <p:sp>
        <p:nvSpPr>
          <p:cNvPr id="11" name="box jobs"/>
          <p:cNvSpPr/>
          <p:nvPr/>
        </p:nvSpPr>
        <p:spPr>
          <a:xfrm>
            <a:off x="5440680" y="1764792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box text jobs"/>
          <p:cNvSpPr txBox="1"/>
          <p:nvPr/>
        </p:nvSpPr>
        <p:spPr>
          <a:xfrm>
            <a:off x="5440680" y="1764792"/>
            <a:ext cx="100584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17647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Units of work; each on its own fresh VM</a:t>
            </a:r>
            <a:endParaRPr lang="en-US" sz="1100" dirty="0"/>
          </a:p>
        </p:txBody>
      </p:sp>
      <p:sp>
        <p:nvSpPr>
          <p:cNvPr id="14" name="box runs-on"/>
          <p:cNvSpPr/>
          <p:nvPr/>
        </p:nvSpPr>
        <p:spPr>
          <a:xfrm>
            <a:off x="5440680" y="2478024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box text runs-on"/>
          <p:cNvSpPr txBox="1"/>
          <p:nvPr/>
        </p:nvSpPr>
        <p:spPr>
          <a:xfrm>
            <a:off x="5440680" y="2478024"/>
            <a:ext cx="100584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runs-on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2478024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GitHub lends you an Ubuntu VM for this job</a:t>
            </a:r>
            <a:endParaRPr lang="en-US" sz="1100" dirty="0"/>
          </a:p>
        </p:txBody>
      </p:sp>
      <p:sp>
        <p:nvSpPr>
          <p:cNvPr id="17" name="box uses"/>
          <p:cNvSpPr/>
          <p:nvPr/>
        </p:nvSpPr>
        <p:spPr>
          <a:xfrm>
            <a:off x="5440680" y="3191256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box text uses"/>
          <p:cNvSpPr txBox="1"/>
          <p:nvPr/>
        </p:nvSpPr>
        <p:spPr>
          <a:xfrm>
            <a:off x="5440680" y="3191256"/>
            <a:ext cx="100584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3191256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reusable action from the marketplace</a:t>
            </a:r>
            <a:endParaRPr lang="en-US" sz="1100" dirty="0"/>
          </a:p>
        </p:txBody>
      </p:sp>
      <p:sp>
        <p:nvSpPr>
          <p:cNvPr id="20" name="box run"/>
          <p:cNvSpPr/>
          <p:nvPr/>
        </p:nvSpPr>
        <p:spPr>
          <a:xfrm>
            <a:off x="5440680" y="3904488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box text run"/>
          <p:cNvSpPr txBox="1"/>
          <p:nvPr/>
        </p:nvSpPr>
        <p:spPr>
          <a:xfrm>
            <a:off x="5440680" y="3904488"/>
            <a:ext cx="100584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390448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shell command: exactly what you typed in Lab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Why it matters: the pull request gate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box You push a branch"/>
          <p:cNvSpPr/>
          <p:nvPr/>
        </p:nvSpPr>
        <p:spPr>
          <a:xfrm>
            <a:off x="457200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box text You push a branch"/>
          <p:cNvSpPr txBox="1"/>
          <p:nvPr/>
        </p:nvSpPr>
        <p:spPr>
          <a:xfrm>
            <a:off x="457200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You push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 branch</a:t>
            </a:r>
            <a:endParaRPr lang="en-US" sz="1100" dirty="0"/>
          </a:p>
        </p:txBody>
      </p:sp>
      <p:sp>
        <p:nvSpPr>
          <p:cNvPr id="8" name="arrow"/>
          <p:cNvSpPr/>
          <p:nvPr/>
        </p:nvSpPr>
        <p:spPr>
          <a:xfrm>
            <a:off x="1942186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box Pipeline runs automatically"/>
          <p:cNvSpPr/>
          <p:nvPr/>
        </p:nvSpPr>
        <p:spPr>
          <a:xfrm>
            <a:off x="2143354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box text Pipeline runs automatically"/>
          <p:cNvSpPr txBox="1"/>
          <p:nvPr/>
        </p:nvSpPr>
        <p:spPr>
          <a:xfrm>
            <a:off x="2143354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Pipeline runs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automatically</a:t>
            </a:r>
            <a:endParaRPr lang="en-US" sz="1100" dirty="0"/>
          </a:p>
        </p:txBody>
      </p:sp>
      <p:sp>
        <p:nvSpPr>
          <p:cNvPr id="11" name="arrow"/>
          <p:cNvSpPr/>
          <p:nvPr/>
        </p:nvSpPr>
        <p:spPr>
          <a:xfrm>
            <a:off x="3628339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box Result shows on the PR"/>
          <p:cNvSpPr/>
          <p:nvPr/>
        </p:nvSpPr>
        <p:spPr>
          <a:xfrm>
            <a:off x="3829507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box text Result shows on the PR"/>
          <p:cNvSpPr txBox="1"/>
          <p:nvPr/>
        </p:nvSpPr>
        <p:spPr>
          <a:xfrm>
            <a:off x="3829507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Result shows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on the PR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5314493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box Red: fix and push again"/>
          <p:cNvSpPr/>
          <p:nvPr/>
        </p:nvSpPr>
        <p:spPr>
          <a:xfrm>
            <a:off x="5515661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6" name="box text Red: fix and push again"/>
          <p:cNvSpPr txBox="1"/>
          <p:nvPr/>
        </p:nvSpPr>
        <p:spPr>
          <a:xfrm>
            <a:off x="5515661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Red: fix 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push again</a:t>
            </a:r>
            <a:endParaRPr lang="en-US" sz="1100" dirty="0"/>
          </a:p>
        </p:txBody>
      </p:sp>
      <p:sp>
        <p:nvSpPr>
          <p:cNvPr id="17" name="arrow"/>
          <p:cNvSpPr/>
          <p:nvPr/>
        </p:nvSpPr>
        <p:spPr>
          <a:xfrm>
            <a:off x="7000646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box Green: reviewer merges to main"/>
          <p:cNvSpPr/>
          <p:nvPr/>
        </p:nvSpPr>
        <p:spPr>
          <a:xfrm>
            <a:off x="7201814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9" name="box text Green: reviewer merges to main"/>
          <p:cNvSpPr txBox="1"/>
          <p:nvPr/>
        </p:nvSpPr>
        <p:spPr>
          <a:xfrm>
            <a:off x="7201814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Green: reviewer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merges to main</a:t>
            </a:r>
            <a:endParaRPr lang="en-US" sz="1100" dirty="0"/>
          </a:p>
        </p:txBody>
      </p:sp>
      <p:sp>
        <p:nvSpPr>
          <p:cNvPr id="20" name="box ❌  Run tests failed  ·  AssertionError: expected 'ok' Merging is blocked"/>
          <p:cNvSpPr/>
          <p:nvPr/>
        </p:nvSpPr>
        <p:spPr>
          <a:xfrm>
            <a:off x="457200" y="24688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1" name="box text ❌  Run tests failed  ·  AssertionError: expected &amp;apos;ok&amp;apos; Merging is blocked"/>
          <p:cNvSpPr txBox="1"/>
          <p:nvPr/>
        </p:nvSpPr>
        <p:spPr>
          <a:xfrm>
            <a:off x="457200" y="2468880"/>
            <a:ext cx="402336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❌  Run tests failed  ·  AssertionError: expected 'ok'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Merging is blocked</a:t>
            </a:r>
            <a:endParaRPr lang="en-US" sz="1200" dirty="0"/>
          </a:p>
        </p:txBody>
      </p:sp>
      <p:sp>
        <p:nvSpPr>
          <p:cNvPr id="22" name="box ✅  All checks have passed  ·  test-and-build 58s Merge pull request"/>
          <p:cNvSpPr/>
          <p:nvPr/>
        </p:nvSpPr>
        <p:spPr>
          <a:xfrm>
            <a:off x="4663440" y="24688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3" name="box text ✅  All checks have passed  ·  test-and-build 58s Merge pull request"/>
          <p:cNvSpPr txBox="1"/>
          <p:nvPr/>
        </p:nvSpPr>
        <p:spPr>
          <a:xfrm>
            <a:off x="4663440" y="2468880"/>
            <a:ext cx="402336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✅  All checks have passed  ·  test-and-build 58s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Merge pull request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3566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Nobody has to remember to run the tests: the robot always does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stays green, so main is always deployable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Reviewers review code, not whether it compiles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Jenkins: the self-hosted original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box Git repo (webhook or polling)"/>
          <p:cNvSpPr/>
          <p:nvPr/>
        </p:nvSpPr>
        <p:spPr>
          <a:xfrm>
            <a:off x="457200" y="109728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box text Git repo (webhook or polling)"/>
          <p:cNvSpPr txBox="1"/>
          <p:nvPr/>
        </p:nvSpPr>
        <p:spPr>
          <a:xfrm>
            <a:off x="457200" y="109728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Git repo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(webhook or polling)</a:t>
            </a:r>
            <a:endParaRPr lang="en-US" sz="1100" dirty="0"/>
          </a:p>
        </p:txBody>
      </p:sp>
      <p:sp>
        <p:nvSpPr>
          <p:cNvPr id="8" name="arrow"/>
          <p:cNvSpPr/>
          <p:nvPr/>
        </p:nvSpPr>
        <p:spPr>
          <a:xfrm>
            <a:off x="2468880" y="1554480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box Jenkins controller web UI · job scheduler · plugins"/>
          <p:cNvSpPr/>
          <p:nvPr/>
        </p:nvSpPr>
        <p:spPr>
          <a:xfrm>
            <a:off x="2926080" y="10972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box text Jenkins controller web UI · job scheduler · plugins"/>
          <p:cNvSpPr txBox="1"/>
          <p:nvPr/>
        </p:nvSpPr>
        <p:spPr>
          <a:xfrm>
            <a:off x="2926080" y="109728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Jenkins controller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web UI · job scheduler · plugins</a:t>
            </a:r>
            <a:endParaRPr lang="en-US" sz="1100" dirty="0"/>
          </a:p>
        </p:txBody>
      </p:sp>
      <p:sp>
        <p:nvSpPr>
          <p:cNvPr id="11" name="arrow"/>
          <p:cNvSpPr/>
          <p:nvPr/>
        </p:nvSpPr>
        <p:spPr>
          <a:xfrm flipV="1">
            <a:off x="5303520" y="1188720"/>
            <a:ext cx="548640" cy="18288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arrow"/>
          <p:cNvSpPr/>
          <p:nvPr/>
        </p:nvSpPr>
        <p:spPr>
          <a:xfrm>
            <a:off x="5303520" y="1737360"/>
            <a:ext cx="548640" cy="18288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3" name="box agent 1"/>
          <p:cNvSpPr/>
          <p:nvPr/>
        </p:nvSpPr>
        <p:spPr>
          <a:xfrm>
            <a:off x="5852160" y="96012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4" name="box text agent 1"/>
          <p:cNvSpPr txBox="1"/>
          <p:nvPr/>
        </p:nvSpPr>
        <p:spPr>
          <a:xfrm>
            <a:off x="5852160" y="960120"/>
            <a:ext cx="13716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agent 1</a:t>
            </a:r>
            <a:endParaRPr lang="en-US" sz="1100" dirty="0"/>
          </a:p>
        </p:txBody>
      </p:sp>
      <p:sp>
        <p:nvSpPr>
          <p:cNvPr id="15" name="box agent 2"/>
          <p:cNvSpPr/>
          <p:nvPr/>
        </p:nvSpPr>
        <p:spPr>
          <a:xfrm>
            <a:off x="5852160" y="173736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6" name="box text agent 2"/>
          <p:cNvSpPr txBox="1"/>
          <p:nvPr/>
        </p:nvSpPr>
        <p:spPr>
          <a:xfrm>
            <a:off x="5852160" y="1737360"/>
            <a:ext cx="13716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agent 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0" y="10972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agents run the stages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(build, test, docker)</a:t>
            </a:r>
            <a:endParaRPr lang="en-US" sz="1000" dirty="0"/>
          </a:p>
        </p:txBody>
      </p:sp>
      <p:sp>
        <p:nvSpPr>
          <p:cNvPr id="18" name="code bg"/>
          <p:cNvSpPr/>
          <p:nvPr/>
        </p:nvSpPr>
        <p:spPr>
          <a:xfrm>
            <a:off x="457200" y="2240280"/>
            <a:ext cx="4937760" cy="2377440"/>
          </a:xfrm>
          <a:prstGeom prst="roundRect">
            <a:avLst>
              <a:gd name="adj" fmla="val 384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code"/>
          <p:cNvSpPr txBox="1"/>
          <p:nvPr/>
        </p:nvSpPr>
        <p:spPr>
          <a:xfrm>
            <a:off x="594360" y="2331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any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 { nodejs "node20"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stages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stage("Checkout") { steps { checkout scm }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stage("Install")  { steps { dir("app") { sh "npm install" } }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stage("Test")     { steps { dir("app") { sh "npm test" } }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stage("Build image")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steps { dir("app")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sh "docker build -t hello-devops:${BUILD_NUMBER} ."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20" name="Why it still matters card"/>
          <p:cNvSpPr/>
          <p:nvPr/>
        </p:nvSpPr>
        <p:spPr>
          <a:xfrm>
            <a:off x="5577840" y="2240280"/>
            <a:ext cx="31089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Why it still matters circle"/>
          <p:cNvSpPr/>
          <p:nvPr/>
        </p:nvSpPr>
        <p:spPr>
          <a:xfrm>
            <a:off x="5760720" y="2423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2" name="Why it still matter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251460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355080" y="24231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Why it still matters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5760720" y="30175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You own it: on-prem, air-gapped, any cloud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1800+ plugins, any tool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Most large companies run 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Jenkinsfile lives in git, like ci.yml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GitHub Actions vs Jenkins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graphicFrame>
        <p:nvGraphicFramePr>
          <p:cNvPr id="38" name="compar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GitHub Actions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Jenkins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Who hosts it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GitHub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You (server / VM / container)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Config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YAML in .github/workflows/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Jenkinsfile (Groovy) or clicks in the UI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Setup time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Zero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Install, plugins, agents, upgrades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Runners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GitHub's VMs (or self-hosted)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Your agents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Best for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Projects already on GitHub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On-prem, custom infra, legacy, regulated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Cost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Free minutes, then pay per minute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Free software, you pay for machines + people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ox Same concepts everywhere: trigger → jobs → steps → artefact. Also: GitLab CI, Azure DevOps, CircleCI, ArgoCD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box text Same concepts everywhere: trigger → jobs → steps → artefact. Also: GitLab CI, Azure DevOps, CircleCI, ArgoCD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Same concepts everywhere: trigger → jobs → steps → artefact. Also: GitLab CI, Azure DevOps, CircleCI, ArgoCD.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Quick check · CI/CD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Say the answer out loud before the instructor does</a:t>
            </a:r>
            <a:endParaRPr lang="en-US" sz="1300" dirty="0"/>
          </a:p>
        </p:txBody>
      </p:sp>
      <p:sp>
        <p:nvSpPr>
          <p:cNvPr id="7" name="q circle 0"/>
          <p:cNvSpPr/>
          <p:nvPr/>
        </p:nvSpPr>
        <p:spPr>
          <a:xfrm>
            <a:off x="457200" y="15270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q box 0"/>
          <p:cNvSpPr/>
          <p:nvPr/>
        </p:nvSpPr>
        <p:spPr>
          <a:xfrm>
            <a:off x="1143000" y="141732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25880" y="14173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teammate says "the tests pass on my laptop" but CI is red. Who is right, and why does that matter?</a:t>
            </a:r>
            <a:endParaRPr lang="en-US" sz="1500" dirty="0"/>
          </a:p>
        </p:txBody>
      </p:sp>
      <p:sp>
        <p:nvSpPr>
          <p:cNvPr id="11" name="q circle 1"/>
          <p:cNvSpPr/>
          <p:nvPr/>
        </p:nvSpPr>
        <p:spPr>
          <a:xfrm>
            <a:off x="457200" y="239572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3" name="q box 1"/>
          <p:cNvSpPr/>
          <p:nvPr/>
        </p:nvSpPr>
        <p:spPr>
          <a:xfrm>
            <a:off x="1143000" y="228600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25880" y="22860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What's the difference between Continuous Delivery and Continuous Deployment?</a:t>
            </a:r>
            <a:endParaRPr lang="en-US" sz="1500" dirty="0"/>
          </a:p>
        </p:txBody>
      </p:sp>
      <p:sp>
        <p:nvSpPr>
          <p:cNvPr id="15" name="q circle 2"/>
          <p:cNvSpPr/>
          <p:nvPr/>
        </p:nvSpPr>
        <p:spPr>
          <a:xfrm>
            <a:off x="457200" y="326440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264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7" name="q box 2"/>
          <p:cNvSpPr/>
          <p:nvPr/>
        </p:nvSpPr>
        <p:spPr>
          <a:xfrm>
            <a:off x="1143000" y="315468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25880" y="315468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Where does the pipeline definition live, and why there?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CI/CD · 3 things to remember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recap 0"/>
          <p:cNvSpPr/>
          <p:nvPr/>
        </p:nvSpPr>
        <p:spPr>
          <a:xfrm>
            <a:off x="457200" y="1097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7" name="recap circle 0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recap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1207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Every push is built and tested on a fresh machine, automatically.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1600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That's Continuous Integration. Problems surface in minutes, and 'works on my machine' stops being an excuse.</a:t>
            </a:r>
            <a:endParaRPr lang="en-US" sz="1200" dirty="0"/>
          </a:p>
        </p:txBody>
      </p:sp>
      <p:sp>
        <p:nvSpPr>
          <p:cNvPr id="11" name="recap 1"/>
          <p:cNvSpPr/>
          <p:nvPr/>
        </p:nvSpPr>
        <p:spPr>
          <a:xfrm>
            <a:off x="457200" y="2240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2" name="recap circle 1"/>
          <p:cNvSpPr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recap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0604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2350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pipeline is code in the repo: trigger → jobs → steps.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2743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ci.yml and Jenkinsfile describe the same stages you ran by hand in Lab 1.</a:t>
            </a:r>
            <a:endParaRPr lang="en-US" sz="1200" dirty="0"/>
          </a:p>
        </p:txBody>
      </p:sp>
      <p:sp>
        <p:nvSpPr>
          <p:cNvPr id="16" name="recap 2"/>
          <p:cNvSpPr/>
          <p:nvPr/>
        </p:nvSpPr>
        <p:spPr>
          <a:xfrm>
            <a:off x="457200" y="3383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7" name="recap circle 2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recap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4904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80160" y="3493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Red blocks the merge, green makes main deployable.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280160" y="3886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Continuous Delivery keeps a releasable build ready; Continuous Deployment ships it with no click.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Lab 3 · A pipeline on every push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HANDS-ON</a:t>
            </a:r>
            <a:endParaRPr lang="en-US" sz="900" dirty="0"/>
          </a:p>
        </p:txBody>
      </p:sp>
      <p:sp>
        <p:nvSpPr>
          <p:cNvPr id="6" name="time badge"/>
          <p:cNvSpPr/>
          <p:nvPr/>
        </p:nvSpPr>
        <p:spPr>
          <a:xfrm>
            <a:off x="5760720" y="3840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7" name="time badge text"/>
          <p:cNvSpPr txBox="1"/>
          <p:nvPr/>
        </p:nvSpPr>
        <p:spPr>
          <a:xfrm>
            <a:off x="5760720" y="384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12 min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  labs/03-cicd.md  in your Codespace and mirror the instructor</a:t>
            </a:r>
            <a:endParaRPr lang="en-US" sz="1500" dirty="0"/>
          </a:p>
        </p:txBody>
      </p:sp>
      <p:sp>
        <p:nvSpPr>
          <p:cNvPr id="9" name="box 1"/>
          <p:cNvSpPr/>
          <p:nvPr/>
        </p:nvSpPr>
        <p:spPr>
          <a:xfrm>
            <a:off x="457200" y="1463040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ox text 1"/>
          <p:cNvSpPr txBox="1"/>
          <p:nvPr/>
        </p:nvSpPr>
        <p:spPr>
          <a:xfrm>
            <a:off x="457200" y="1463040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463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 .github/workflows/ci.yml</a:t>
            </a:r>
            <a:endParaRPr lang="en-US" sz="1400" dirty="0"/>
          </a:p>
        </p:txBody>
      </p:sp>
      <p:sp>
        <p:nvSpPr>
          <p:cNvPr id="12" name="box 2"/>
          <p:cNvSpPr/>
          <p:nvPr/>
        </p:nvSpPr>
        <p:spPr>
          <a:xfrm>
            <a:off x="457200" y="1892808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box text 2"/>
          <p:cNvSpPr txBox="1"/>
          <p:nvPr/>
        </p:nvSpPr>
        <p:spPr>
          <a:xfrm>
            <a:off x="457200" y="1892808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892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Branch, commit anything, push to your fork</a:t>
            </a:r>
            <a:endParaRPr lang="en-US" sz="1400" dirty="0"/>
          </a:p>
        </p:txBody>
      </p:sp>
      <p:sp>
        <p:nvSpPr>
          <p:cNvPr id="15" name="box 3"/>
          <p:cNvSpPr/>
          <p:nvPr/>
        </p:nvSpPr>
        <p:spPr>
          <a:xfrm>
            <a:off x="457200" y="2322576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box text 3"/>
          <p:cNvSpPr txBox="1"/>
          <p:nvPr/>
        </p:nvSpPr>
        <p:spPr>
          <a:xfrm>
            <a:off x="457200" y="2322576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23225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Actions tab → watch it go green</a:t>
            </a:r>
            <a:endParaRPr lang="en-US" sz="1400" dirty="0"/>
          </a:p>
        </p:txBody>
      </p:sp>
      <p:sp>
        <p:nvSpPr>
          <p:cNvPr id="18" name="box 4"/>
          <p:cNvSpPr/>
          <p:nvPr/>
        </p:nvSpPr>
        <p:spPr>
          <a:xfrm>
            <a:off x="457200" y="2752344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box text 4"/>
          <p:cNvSpPr txBox="1"/>
          <p:nvPr/>
        </p:nvSpPr>
        <p:spPr>
          <a:xfrm>
            <a:off x="457200" y="2752344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275234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Break /health on purpose, push → red</a:t>
            </a:r>
            <a:endParaRPr lang="en-US" sz="1400" dirty="0"/>
          </a:p>
        </p:txBody>
      </p:sp>
      <p:sp>
        <p:nvSpPr>
          <p:cNvPr id="21" name="box 5"/>
          <p:cNvSpPr/>
          <p:nvPr/>
        </p:nvSpPr>
        <p:spPr>
          <a:xfrm>
            <a:off x="457200" y="3182112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box text 5"/>
          <p:cNvSpPr txBox="1"/>
          <p:nvPr/>
        </p:nvSpPr>
        <p:spPr>
          <a:xfrm>
            <a:off x="457200" y="3182112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" y="31821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a PR → see the red check block it</a:t>
            </a:r>
            <a:endParaRPr lang="en-US" sz="1400" dirty="0"/>
          </a:p>
        </p:txBody>
      </p:sp>
      <p:sp>
        <p:nvSpPr>
          <p:cNvPr id="24" name="box 6"/>
          <p:cNvSpPr/>
          <p:nvPr/>
        </p:nvSpPr>
        <p:spPr>
          <a:xfrm>
            <a:off x="457200" y="3611880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box text 6"/>
          <p:cNvSpPr txBox="1"/>
          <p:nvPr/>
        </p:nvSpPr>
        <p:spPr>
          <a:xfrm>
            <a:off x="457200" y="3611880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3611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Fix, push → green</a:t>
            </a:r>
            <a:endParaRPr lang="en-US" sz="1400" dirty="0"/>
          </a:p>
        </p:txBody>
      </p:sp>
      <p:sp>
        <p:nvSpPr>
          <p:cNvPr id="27" name="box 7"/>
          <p:cNvSpPr/>
          <p:nvPr/>
        </p:nvSpPr>
        <p:spPr>
          <a:xfrm>
            <a:off x="457200" y="4041648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box text 7"/>
          <p:cNvSpPr txBox="1"/>
          <p:nvPr/>
        </p:nvSpPr>
        <p:spPr>
          <a:xfrm>
            <a:off x="457200" y="4041648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40416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Instructor: the same stages in Jenkins</a:t>
            </a:r>
            <a:endParaRPr lang="en-US" sz="1400" dirty="0"/>
          </a:p>
        </p:txBody>
      </p:sp>
      <p:sp>
        <p:nvSpPr>
          <p:cNvPr id="30" name="Done when card"/>
          <p:cNvSpPr/>
          <p:nvPr/>
        </p:nvSpPr>
        <p:spPr>
          <a:xfrm>
            <a:off x="5486400" y="1463040"/>
            <a:ext cx="3200400" cy="1234440"/>
          </a:xfrm>
          <a:prstGeom prst="roundRect">
            <a:avLst>
              <a:gd name="adj" fmla="val 888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Done when circle"/>
          <p:cNvSpPr/>
          <p:nvPr/>
        </p:nvSpPr>
        <p:spPr>
          <a:xfrm>
            <a:off x="5669280" y="1645920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2" name="Done whe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274320" cy="27432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6263640" y="1645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Done when</a:t>
            </a:r>
            <a:endParaRPr lang="en-US" sz="1600" dirty="0"/>
          </a:p>
        </p:txBody>
      </p:sp>
      <p:sp>
        <p:nvSpPr>
          <p:cNvPr id="34" name="Text 30"/>
          <p:cNvSpPr txBox="1"/>
          <p:nvPr/>
        </p:nvSpPr>
        <p:spPr>
          <a:xfrm>
            <a:off x="566928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Your fork's Actions tab shows one green run and one red run.</a:t>
            </a:r>
            <a:endParaRPr lang="en-US" sz="1200" dirty="0"/>
          </a:p>
        </p:txBody>
      </p:sp>
      <p:sp>
        <p:nvSpPr>
          <p:cNvPr id="35" name="Stuck? card"/>
          <p:cNvSpPr/>
          <p:nvPr/>
        </p:nvSpPr>
        <p:spPr>
          <a:xfrm>
            <a:off x="5486400" y="2834640"/>
            <a:ext cx="3200400" cy="1737360"/>
          </a:xfrm>
          <a:prstGeom prst="roundRect">
            <a:avLst>
              <a:gd name="adj" fmla="val 631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36" name="Stuck? circle"/>
          <p:cNvSpPr/>
          <p:nvPr/>
        </p:nvSpPr>
        <p:spPr>
          <a:xfrm>
            <a:off x="5669280" y="301752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7" name="Stuck?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08960"/>
            <a:ext cx="274320" cy="274320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6263640" y="30175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Stuck?</a:t>
            </a:r>
            <a:endParaRPr lang="en-US" sz="1600" dirty="0"/>
          </a:p>
        </p:txBody>
      </p:sp>
      <p:sp>
        <p:nvSpPr>
          <p:cNvPr id="39" name="Text 34"/>
          <p:cNvSpPr txBox="1"/>
          <p:nvPr/>
        </p:nvSpPr>
        <p:spPr>
          <a:xfrm>
            <a:off x="5669280" y="36118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Actions tab empty → enable workflows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Pushed to main? It triggers too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Unexpected red? Read the failed step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The big picture: today, end to end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WRAP-UP</a:t>
            </a:r>
            <a:endParaRPr lang="en-US" sz="900" dirty="0"/>
          </a:p>
        </p:txBody>
      </p:sp>
      <p:sp>
        <p:nvSpPr>
          <p:cNvPr id="6" name="flow circle 0"/>
          <p:cNvSpPr/>
          <p:nvPr/>
        </p:nvSpPr>
        <p:spPr>
          <a:xfrm>
            <a:off x="731520" y="11887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7" name="flow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34874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19659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git push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>
            <a:off x="1463040" y="1527048"/>
            <a:ext cx="33832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0" name="flow circle 1"/>
          <p:cNvSpPr/>
          <p:nvPr/>
        </p:nvSpPr>
        <p:spPr>
          <a:xfrm>
            <a:off x="2121408" y="11887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flow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428" y="134874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847088" y="19659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CI runs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tests</a:t>
            </a:r>
            <a:endParaRPr lang="en-US" sz="1200" dirty="0"/>
          </a:p>
        </p:txBody>
      </p:sp>
      <p:sp>
        <p:nvSpPr>
          <p:cNvPr id="13" name="arrow"/>
          <p:cNvSpPr/>
          <p:nvPr/>
        </p:nvSpPr>
        <p:spPr>
          <a:xfrm>
            <a:off x="2852928" y="1527048"/>
            <a:ext cx="33832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4" name="flow circle 2"/>
          <p:cNvSpPr/>
          <p:nvPr/>
        </p:nvSpPr>
        <p:spPr>
          <a:xfrm>
            <a:off x="3511296" y="11887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flow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13487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3236976" y="19659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docker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build</a:t>
            </a:r>
            <a:endParaRPr lang="en-US" sz="1200" dirty="0"/>
          </a:p>
        </p:txBody>
      </p:sp>
      <p:sp>
        <p:nvSpPr>
          <p:cNvPr id="17" name="arrow"/>
          <p:cNvSpPr/>
          <p:nvPr/>
        </p:nvSpPr>
        <p:spPr>
          <a:xfrm>
            <a:off x="4242816" y="1527048"/>
            <a:ext cx="33832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8" name="flow circle 3"/>
          <p:cNvSpPr/>
          <p:nvPr/>
        </p:nvSpPr>
        <p:spPr>
          <a:xfrm>
            <a:off x="4901184" y="11887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flow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204" y="1348740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4626864" y="19659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image 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registry</a:t>
            </a:r>
            <a:endParaRPr lang="en-US" sz="1200" dirty="0"/>
          </a:p>
        </p:txBody>
      </p:sp>
      <p:sp>
        <p:nvSpPr>
          <p:cNvPr id="21" name="arrow"/>
          <p:cNvSpPr/>
          <p:nvPr/>
        </p:nvSpPr>
        <p:spPr>
          <a:xfrm>
            <a:off x="5632704" y="1527048"/>
            <a:ext cx="33832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2" name="flow circle 4"/>
          <p:cNvSpPr/>
          <p:nvPr/>
        </p:nvSpPr>
        <p:spPr>
          <a:xfrm>
            <a:off x="6291072" y="1188720"/>
            <a:ext cx="685800" cy="6858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flow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1092" y="1348740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016752" y="19659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kubectl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apply</a:t>
            </a:r>
            <a:endParaRPr lang="en-US" sz="1200" dirty="0"/>
          </a:p>
        </p:txBody>
      </p:sp>
      <p:sp>
        <p:nvSpPr>
          <p:cNvPr id="25" name="arrow"/>
          <p:cNvSpPr/>
          <p:nvPr/>
        </p:nvSpPr>
        <p:spPr>
          <a:xfrm>
            <a:off x="7022592" y="1527048"/>
            <a:ext cx="33832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6" name="flow circle 5"/>
          <p:cNvSpPr/>
          <p:nvPr/>
        </p:nvSpPr>
        <p:spPr>
          <a:xfrm>
            <a:off x="7680960" y="118872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7" name="flow icon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348740"/>
            <a:ext cx="365760" cy="3657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406640" y="19659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Pods serve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users</a:t>
            </a:r>
            <a:endParaRPr lang="en-US" sz="1200" dirty="0"/>
          </a:p>
        </p:txBody>
      </p:sp>
      <p:sp>
        <p:nvSpPr>
          <p:cNvPr id="29" name="box Lab 1"/>
          <p:cNvSpPr/>
          <p:nvPr/>
        </p:nvSpPr>
        <p:spPr>
          <a:xfrm>
            <a:off x="457200" y="2743200"/>
            <a:ext cx="82296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box text Lab 1"/>
          <p:cNvSpPr txBox="1"/>
          <p:nvPr/>
        </p:nvSpPr>
        <p:spPr>
          <a:xfrm>
            <a:off x="457200" y="2743200"/>
            <a:ext cx="822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Lab 1</a:t>
            </a:r>
            <a:endParaRPr lang="en-US" sz="1200" dirty="0"/>
          </a:p>
        </p:txBody>
      </p:sp>
      <p:sp>
        <p:nvSpPr>
          <p:cNvPr id="31" name="Text 22"/>
          <p:cNvSpPr txBox="1"/>
          <p:nvPr/>
        </p:nvSpPr>
        <p:spPr>
          <a:xfrm>
            <a:off x="1371600" y="27432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You did step 3 by hand: built the image and ran it</a:t>
            </a:r>
            <a:endParaRPr lang="en-US" sz="1300" dirty="0"/>
          </a:p>
        </p:txBody>
      </p:sp>
      <p:sp>
        <p:nvSpPr>
          <p:cNvPr id="32" name="box Lab 3"/>
          <p:cNvSpPr/>
          <p:nvPr/>
        </p:nvSpPr>
        <p:spPr>
          <a:xfrm>
            <a:off x="4663440" y="2743200"/>
            <a:ext cx="822960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box text Lab 3"/>
          <p:cNvSpPr txBox="1"/>
          <p:nvPr/>
        </p:nvSpPr>
        <p:spPr>
          <a:xfrm>
            <a:off x="4663440" y="2743200"/>
            <a:ext cx="822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Lab 3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5577840" y="27432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pipeline did steps 2–3 for you, on every push</a:t>
            </a:r>
            <a:endParaRPr lang="en-US" sz="1300" dirty="0"/>
          </a:p>
        </p:txBody>
      </p:sp>
      <p:sp>
        <p:nvSpPr>
          <p:cNvPr id="35" name="box Lab 2"/>
          <p:cNvSpPr/>
          <p:nvPr/>
        </p:nvSpPr>
        <p:spPr>
          <a:xfrm>
            <a:off x="457200" y="3611880"/>
            <a:ext cx="822960" cy="685800"/>
          </a:xfrm>
          <a:prstGeom prst="roundRect">
            <a:avLst>
              <a:gd name="adj" fmla="val 10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6" name="box text Lab 2"/>
          <p:cNvSpPr txBox="1"/>
          <p:nvPr/>
        </p:nvSpPr>
        <p:spPr>
          <a:xfrm>
            <a:off x="457200" y="3611880"/>
            <a:ext cx="822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Lab 2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1371600" y="36118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You did steps 5–6 on minikube: scale, heal, roll out, roll back</a:t>
            </a:r>
            <a:endParaRPr lang="en-US" sz="1300" dirty="0"/>
          </a:p>
        </p:txBody>
      </p:sp>
      <p:sp>
        <p:nvSpPr>
          <p:cNvPr id="38" name="box Next"/>
          <p:cNvSpPr/>
          <p:nvPr/>
        </p:nvSpPr>
        <p:spPr>
          <a:xfrm>
            <a:off x="4663440" y="3611880"/>
            <a:ext cx="82296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box text Next"/>
          <p:cNvSpPr txBox="1"/>
          <p:nvPr/>
        </p:nvSpPr>
        <p:spPr>
          <a:xfrm>
            <a:off x="4663440" y="3611880"/>
            <a:ext cx="822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Next</a:t>
            </a:r>
            <a:endParaRPr lang="en-US" sz="1200" dirty="0"/>
          </a:p>
        </p:txBody>
      </p:sp>
      <p:sp>
        <p:nvSpPr>
          <p:cNvPr id="40" name="Text 31"/>
          <p:cNvSpPr txBox="1"/>
          <p:nvPr/>
        </p:nvSpPr>
        <p:spPr>
          <a:xfrm>
            <a:off x="5577840" y="36118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registry + a real cluster (EKS / GKE / AKS) + ArgoCD = production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Where to go from here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WRAP-UP</a:t>
            </a:r>
            <a:endParaRPr lang="en-US" sz="900" dirty="0"/>
          </a:p>
        </p:txBody>
      </p:sp>
      <p:sp>
        <p:nvSpPr>
          <p:cNvPr id="6" name="Docker card"/>
          <p:cNvSpPr/>
          <p:nvPr/>
        </p:nvSpPr>
        <p:spPr>
          <a:xfrm>
            <a:off x="457200" y="10972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7" name="Docker circle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Dock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Docker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87452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Docker Compose: multi-container apps (app + DB)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Volumes: data that survives rm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Multi-stage builds: tiny images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docs.docker.com/get-started</a:t>
            </a:r>
            <a:endParaRPr lang="en-US" sz="1300" dirty="0"/>
          </a:p>
        </p:txBody>
      </p:sp>
      <p:sp>
        <p:nvSpPr>
          <p:cNvPr id="11" name="Kubernetes card"/>
          <p:cNvSpPr/>
          <p:nvPr/>
        </p:nvSpPr>
        <p:spPr>
          <a:xfrm>
            <a:off x="3264408" y="10972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2" name="Kubernetes circle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Kubernete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37160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41648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Kubernetes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447288" y="187452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ConfigMaps + Secrets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Ingress: real URLs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Helm: package K8s apps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kubernetes.io/docs/tutorials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Play with K8s: labs.play-with-k8s.com</a:t>
            </a:r>
            <a:endParaRPr lang="en-US" sz="1300" dirty="0"/>
          </a:p>
        </p:txBody>
      </p:sp>
      <p:sp>
        <p:nvSpPr>
          <p:cNvPr id="16" name="CI/CD + beyond card"/>
          <p:cNvSpPr/>
          <p:nvPr/>
        </p:nvSpPr>
        <p:spPr>
          <a:xfrm>
            <a:off x="6080760" y="10972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7" name="CI/CD + beyond circle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CI/CD + beyond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CI/CD + beyond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263640" y="187452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Push images to GHCR from Actions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ArgoCD: GitOps deploys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Terraform: infra as code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Prometheus + Grafana: monitoring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roadmap.sh/devops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Thanks. Questions?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</a:rPr>
              <a:t>Fork the repo, keep the Codespace, finish the challenges at home.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</a:rPr>
              <a:t>Show the green Actions badge on your GitHub profile.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vOps Workshop">
  <a:themeElements>
    <a:clrScheme name="DevOps Workshop">
      <a:dk1>
        <a:srgbClr val="0F172A"/>
      </a:dk1>
      <a:lt1>
        <a:srgbClr val="FFFFFF"/>
      </a:lt1>
      <a:dk2>
        <a:srgbClr val="475569"/>
      </a:dk2>
      <a:lt2>
        <a:srgbClr val="F1F5F9"/>
      </a:lt2>
      <a:accent1>
        <a:srgbClr val="0284C7"/>
      </a:accent1>
      <a:accent2>
        <a:srgbClr val="0D9488"/>
      </a:accent2>
      <a:accent3>
        <a:srgbClr val="D97706"/>
      </a:accent3>
      <a:accent4>
        <a:srgbClr val="7C3AED"/>
      </a:accent4>
      <a:accent5>
        <a:srgbClr val="DC2626"/>
      </a:accent5>
      <a:accent6>
        <a:srgbClr val="16A34A"/>
      </a:accent6>
      <a:hlink>
        <a:srgbClr val="0284C7"/>
      </a:hlink>
      <a:folHlink>
        <a:srgbClr val="7C3AED"/>
      </a:folHlink>
    </a:clrScheme>
    <a:fontScheme name="DevOps Workshop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Ship It: Docker, Kubernetes and CI/CD</dc:title>
  <dc:subject>PptxGenJS Presentation</dc:subject>
  <dc:creator>DevOps Workshop</dc:creator>
  <cp:lastModifiedBy>DevOps Workshop</cp:lastModifiedBy>
  <cp:revision>1</cp:revision>
  <dcterms:created xsi:type="dcterms:W3CDTF">2026-10-28T14:04:11Z</dcterms:created>
  <dcterms:modified xsi:type="dcterms:W3CDTF">2026-10-28T14:04:11Z</dcterms:modified>
</cp:coreProperties>
</file>