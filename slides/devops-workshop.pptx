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99" r:id="rId7"/>
    <p:sldId id="300" r:id="rId8"/>
    <p:sldId id="301" r:id="rId9"/>
    <p:sldId id="302" r:id="rId10"/>
    <p:sldId id="261" r:id="rId11"/>
    <p:sldId id="262" r:id="rId12"/>
    <p:sldId id="303" r:id="rId13"/>
    <p:sldId id="304" r:id="rId14"/>
    <p:sldId id="305" r:id="rId15"/>
    <p:sldId id="306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48198A7-584F-E61E-93A7-9988453EC526}">
          <p14:sldIdLst>
            <p14:sldId id="256"/>
            <p14:sldId id="257"/>
            <p14:sldId id="258"/>
          </p14:sldIdLst>
        </p14:section>
        <p14:section name="Docker" id="{A899B303-AAE2-A697-9366-9CAEB392A9D4}">
          <p14:sldIdLst>
            <p14:sldId id="259"/>
            <p14:sldId id="260"/>
            <p14:sldId id="299"/>
            <p14:sldId id="300"/>
            <p14:sldId id="301"/>
            <p14:sldId id="302"/>
            <p14:sldId id="261"/>
            <p14:sldId id="262"/>
            <p14:sldId id="303"/>
            <p14:sldId id="304"/>
            <p14:sldId id="305"/>
            <p14:sldId id="306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Kubernetes" id="{A5B32987-9FFC-5B07-B005-241255F4CE86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CI/CD" id="{1AA92228-2230-803E-5F5B-61D32E53FD3A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Wrap-up" id="{0316050F-C803-6D76-4F24-C677437AFEFF}">
          <p14:sldIdLst>
            <p14:sldId id="296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28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76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1330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Put the repo URL / QR on screen and get everyone creating a Codespace immediately so it builds while we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Plan-code-build-test-release-deploy-operate-monitor. Git covered plan/code. Today: build+test (Docker, CI), release+deploy (Kubernetes, CD). Point at the colour legend: every slide is colour-coded by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short concept block, long lab, checkpoint. Students mirror your terminal. Thumbs up/down after each lab section. Second instructor floats.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Transition. Ask: who has had 'works on my machine' problems? Everyone in the Git lab had to npm install - that's the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weather app from the Git lab: node version drift, missing .env, OS differences. Each card = a real failure students will have seen. Containers fix all three by shipping the environment with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10:56. Container = layers of images; a running image. Show Docker Hub. Show 'docker run postgres:9.6' pulling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Bottom: a small Linux base (Alpine, Debian slim). Middle: runtime + libraries. Top: the application. Each layer is read-only and shared between images that use it. Pulling 'postgres:9.6' then 'postgres:10' downloads only the layers that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= the package (static, on disk or in a registry). Container = the image started: a process, with its own filesystem (image layers + writable layer), its own network, its own hostname. 'docker run image' creates a container. One image, many containers.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19:40. OS = kernel + applications layer. Docker virtualises the applications layer, a VM virtualises the kernel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each VM has a full guest OS (GBs, minutes to boot). Right: containers share the host kernel, isolated by Linux namespaces + cgroups; MBs, start in ms. A container is just a process with a restricted view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Class/object analogy: Dockerfile is the recipe, image is the baked cake frozen (class), container is a running instance (object). Registry = GitHub for images. 'docker build' turns recipe into image; 'docker run' turns image into container; 'docker push/pull' moves images to/from a registry.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42:02. Demo with redis: pull, run, ps, stop, start, run -d, -p port binding, naming. Explain the difference between image commands and container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families. Image family manages the local cache (what you downloaded/built). Container family manages running instances. 'docker run' bridges them: it pulls if needed, then creates and starts a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 from the course: docker run redis (blocks the terminal) → Ctrl+C → docker run -d redis → docker ps shows a random name → docker run -d --name my-redis redis → stop/start by name → need port? docker run -d -p 6000:6379 redis → two redis on different host 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container has its own network namespace, so both redis listen on 'their' 6379. Only when you publish to the host do ports have to be unique: 6000 and 6001. Without -p the container is reachable only from other containers.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line by line. Emphasise: package.json copied BEFORE source so npm install layer is cached. CMD uses exec form (JSON array) so signals reach node. EXPOSE is documentation only; -p actually publishes.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instruction adds a read-only layer. Docker caches layers; a change invalidates that layer and everything after. That's why package.json goes before the source. A container adds a thin writable layer on top: that's why deleting a container loses its data (unless you use volumes).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Demystify: it's not magic. 1 look up image locally, 2 pull from registry if missing, 3 create a container = image layers + a new writable layer + its own network namespace, 4 wire the port mapping, 5 start the CMD as PID 1. When that process exits the container stops. Port mapping: -p HOST:CONTAINER, left side is what you type in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states and the commands that move between them. Key: stop keeps the container (and its writable layer), rm deletes it. The image is untouched throughout. Students do exactly this in lab step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table quickly; they'll type each one in 5 minutes. Highlight -p host:container and that 'docker exec' drops you inside a running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(also in notes): 1 No: each container gets its own writable layer; the image is shared read-only. 2 No: the COPY . . layer changed but RUN npm install is above it and cached. 3 8080, the host side of -p.
Ask the room, wait, then reveal verbally. 2 minutes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these three out loud. Then straight into Lab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minutes. Lead from your own Codespace on the projector. Checkpoints: after build (thumbs up), after browser opens, after exec. Floater handles 'cannot connect to daemon' (wait 30s).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Handover to instructor B. Hook: 'you ran 2 containers by hand. Now imagine 200, across 30 servers, and one just died at 3am.'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is a question docker alone doesn't answer. Kubernetes is 'the thing that answers them'. Keep it to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plane = the brain (API server is the only thing you talk to; etcd stores state; scheduler picks a node; controllers reconcile). Nodes = the muscle (kubelet runs pods via the container runtime, kube-proxy does networking). minikube puts all of this on ONE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Pod: smallest unit, usually 1 container, gets an IP, is mortal. Deployment: 'keep N pods of this template running', handles rollouts. Service: stable name + IP + load balancing in front of pods selected by label. Labels are the glue.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mental model. You never tell K8s 'start a container'. You declare 'replicas: 2'. Controllers loop forever: observe → compare → act. Delete a pod in lab 2 and watch this loop fix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Drill this: apiVersion, kind, metadata, spec. Spec is what you want; status is what K8s observed (never written by you). Once students see this shape they can read any K8s manifest.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YAML: selector must match template labels. imagePullPolicy IfNotPresent so minikube uses the locally loaded image instead of trying Docker Hub. readinessProbe: don't send traffic until /health says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 selects pods by label, gives one stable virtual IP + DNS name (hello-devops). port = service port, targetPort = container port. NodePort also opens a port on the node. In Codespaces: port-forward for the browser (sticks to ONE pod), and a curl loop against minikube service --url to see load-balancing across pods.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kubectl set image (or edit YAML + apply) changes the desired image. Deployment creates a new ReplicaSet for v2 and shifts pods one at a time: start a v2, wait until Ready (readiness probe!), kill a v1. Old ReplicaSet is kept at 0 replicas, which is what rollout undo switches back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WILL hit these in lab 2 (challenge uses a bad tag). Teach the loop: get pods → describe pod → read Events → logs. Pending = no node can fit it or still scheduling. ContainerCreating = pulling image. ErrImagePull/ImagePullBackOff = wrong name/tag or not loaded. CrashLoopBackOff = app starts then dies, read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They'll type all of these. Highlight the trio for debugging: get, describe, logs. 'describe' Events section explains 90% of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nesting so port-forward and 'minikube image load' make sense: minikube's node is itself a docker container, with its own image store. Your Lab 1 image is in the outer docker; you must load it in. The browser reaches the Codespace via VS Code port forwarding.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(also in notes): 1 A new Pod appears: desired 2, actual 1, controller fixes it. 2 Through a Service: stable name + IP, routes by label. 3 Wrong image name/tag, or image not loaded into minikube (no registry).
Ask the room, wait, then reveal verbally. 2 minutes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straight into Lab 2. Everyone should already have minikube running from the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min. Everyone should already have minikube running from the break. Lead from projector. Checkpoints after apply, after port-forward shows page, after delete-pod. Most common failure: ErrImagePull = forgot image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did build → test → run by hand twice today. Nobody does that 40 times a day. Automate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CI: every push is built and tested, so integration problems show up in minutes not months. Continuous Delivery: every green build is packaged and ready to deploy with a button. Continuous Deployment: no button, straight to prod. Pipeline stages map to what they did in labs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Tool-agnostic vocabulary first, then the YAML. Trigger → pipeline (one run) → jobs (parallel, each on a fresh runner) → steps (sequential commands) → artefacts (image, test report). Same words in Actions, Jenkins, GitLab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Anatomy: on (trigger), jobs, runs-on (a fresh ubuntu VM GitHub provides), steps (uses = reusable action from marketplace, run = shell). Same steps as lab 1 typed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social contract of CI: the PR shows a red/green check from the pipeline; branch protection can make merging impossible while red. Lab 3 does exactly this flow with a deliberately broken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Jenkins = open-source automation server you run yourself (2011, from Hudson). Controller (web UI, schedules jobs) + agents (do the work). 1800+ plugins. Jobs: Freestyle (click in UI) or Pipeline (Jenkinsfile in repo, Groovy). Show the Jenkinsfile next to ci.yml: same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job, different trade-offs. Today students do Actions (zero setup); Jenkins is demoed. Message: learn the concepts, the tool is a detail; you'll also meet GitLab CI, Azure DevOps, CircleCI.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(also in notes): 1 CI is right: it runs on a fresh machine with only what's in git. 2 Delivery: deployable, human clicks. Deployment: auto to prod. 3 In the repo (.github/workflows or Jenkinsfile): versioned, reviewed, same for everyone.
Ask the room, wait, then reveal verbally. 2 minutes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Lab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min. Students: Actions on their fork. Push, watch green. Break /health, push, watch red on the PR. Then 3-min Jenkins demo from instructor laptop (already set up!).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together. In real teams, step 4 is a registry (Docker Hub / GHCR) and step 5 is a real cluster (EKS/GKE/AKS), often driven by ArgoCD. Everything else is identical to what they did. Colours match the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them at one thing each. Play with Kubernetes is free and needs nothing installed. Emphasise: put the repo on your GitHub with the green Actions badge; it's a portfolio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Q&amp;A. Keep the repo URL up. Ask them to star/fork it and finish the challenges at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517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CBD5E1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CBD5E1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F172A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DevOps Workshop  ·  Docker · Kubernetes · CI/CD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B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F172A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DevOps Workshop  ·  Docker · Kubernetes · CI/CD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Ship It: Docker, Kubernetes &amp; CI/CD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51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</a:rPr>
              <a:t>A hands-on DevOps workshop · build it, containerise it, deploy it, automate it</a:t>
            </a:r>
            <a:endParaRPr lang="en-US" sz="2000" dirty="0"/>
          </a:p>
        </p:txBody>
      </p:sp>
      <p:pic>
        <p:nvPicPr>
          <p:cNvPr id="5" name="docker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640080"/>
            <a:ext cx="731520" cy="731520"/>
          </a:xfrm>
          <a:prstGeom prst="rect">
            <a:avLst/>
          </a:prstGeom>
        </p:spPr>
      </p:pic>
      <p:pic>
        <p:nvPicPr>
          <p:cNvPr id="6" name="k8s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640080"/>
            <a:ext cx="731520" cy="731520"/>
          </a:xfrm>
          <a:prstGeom prst="rect">
            <a:avLst/>
          </a:prstGeom>
        </p:spPr>
      </p:pic>
      <p:pic>
        <p:nvPicPr>
          <p:cNvPr id="7" name="jenkins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640080"/>
            <a:ext cx="731520" cy="731520"/>
          </a:xfrm>
          <a:prstGeom prst="rect">
            <a:avLst/>
          </a:prstGeom>
        </p:spPr>
      </p:pic>
      <p:sp>
        <p:nvSpPr>
          <p:cNvPr id="8" name="box Repo + labs:  github.com/&lt;your-user&gt;/devops-workshop      →  Code ▸ Codespaces ▸ Create codespace"/>
          <p:cNvSpPr/>
          <p:nvPr/>
        </p:nvSpPr>
        <p:spPr>
          <a:xfrm>
            <a:off x="548640" y="39319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text Repo + labs:  github.com/&amp;lt;your-user&amp;gt;/devops-workshop      →  Code ▸ Codespaces ▸ Create codespace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</a:rPr>
              <a:t>Repo + labs:  github.com/&lt;your-user&gt;/devops-workshop      →  Code ▸ Codespaces ▸ Create codespace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Today: the right half of the DevOps loop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INTRO</a:t>
            </a:r>
            <a:endParaRPr lang="en-US" sz="900" dirty="0"/>
          </a:p>
        </p:txBody>
      </p:sp>
      <p:sp>
        <p:nvSpPr>
          <p:cNvPr id="6" name="box Plan"/>
          <p:cNvSpPr/>
          <p:nvPr/>
        </p:nvSpPr>
        <p:spPr>
          <a:xfrm>
            <a:off x="457200" y="1097280"/>
            <a:ext cx="941832" cy="502920"/>
          </a:xfrm>
          <a:prstGeom prst="roundRect">
            <a:avLst>
              <a:gd name="adj" fmla="val 14545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box text Plan"/>
          <p:cNvSpPr txBox="1"/>
          <p:nvPr/>
        </p:nvSpPr>
        <p:spPr>
          <a:xfrm>
            <a:off x="457200" y="1097280"/>
            <a:ext cx="94183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Plan</a:t>
            </a:r>
            <a:endParaRPr lang="en-US" sz="1300" dirty="0"/>
          </a:p>
        </p:txBody>
      </p:sp>
      <p:sp>
        <p:nvSpPr>
          <p:cNvPr id="8" name="arrow"/>
          <p:cNvSpPr/>
          <p:nvPr/>
        </p:nvSpPr>
        <p:spPr>
          <a:xfrm>
            <a:off x="1399032" y="1344168"/>
            <a:ext cx="914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Code"/>
          <p:cNvSpPr/>
          <p:nvPr/>
        </p:nvSpPr>
        <p:spPr>
          <a:xfrm>
            <a:off x="1490472" y="1097280"/>
            <a:ext cx="941832" cy="502920"/>
          </a:xfrm>
          <a:prstGeom prst="roundRect">
            <a:avLst>
              <a:gd name="adj" fmla="val 14545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ox text Code"/>
          <p:cNvSpPr txBox="1"/>
          <p:nvPr/>
        </p:nvSpPr>
        <p:spPr>
          <a:xfrm>
            <a:off x="1490472" y="1097280"/>
            <a:ext cx="94183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Code</a:t>
            </a:r>
            <a:endParaRPr lang="en-US" sz="1300" dirty="0"/>
          </a:p>
        </p:txBody>
      </p:sp>
      <p:sp>
        <p:nvSpPr>
          <p:cNvPr id="11" name="arrow"/>
          <p:cNvSpPr/>
          <p:nvPr/>
        </p:nvSpPr>
        <p:spPr>
          <a:xfrm>
            <a:off x="2432304" y="1344168"/>
            <a:ext cx="914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 Build"/>
          <p:cNvSpPr/>
          <p:nvPr/>
        </p:nvSpPr>
        <p:spPr>
          <a:xfrm>
            <a:off x="2523744" y="1097280"/>
            <a:ext cx="941832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ox text Build"/>
          <p:cNvSpPr txBox="1"/>
          <p:nvPr/>
        </p:nvSpPr>
        <p:spPr>
          <a:xfrm>
            <a:off x="2523744" y="1097280"/>
            <a:ext cx="94183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Build</a:t>
            </a:r>
            <a:endParaRPr lang="en-US" sz="1300" dirty="0"/>
          </a:p>
        </p:txBody>
      </p:sp>
      <p:sp>
        <p:nvSpPr>
          <p:cNvPr id="14" name="arrow"/>
          <p:cNvSpPr/>
          <p:nvPr/>
        </p:nvSpPr>
        <p:spPr>
          <a:xfrm>
            <a:off x="3465576" y="1344168"/>
            <a:ext cx="914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x Test"/>
          <p:cNvSpPr/>
          <p:nvPr/>
        </p:nvSpPr>
        <p:spPr>
          <a:xfrm>
            <a:off x="3557016" y="1097280"/>
            <a:ext cx="941832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ox text Test"/>
          <p:cNvSpPr txBox="1"/>
          <p:nvPr/>
        </p:nvSpPr>
        <p:spPr>
          <a:xfrm>
            <a:off x="3557016" y="1097280"/>
            <a:ext cx="94183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Test</a:t>
            </a:r>
            <a:endParaRPr lang="en-US" sz="1300" dirty="0"/>
          </a:p>
        </p:txBody>
      </p:sp>
      <p:sp>
        <p:nvSpPr>
          <p:cNvPr id="17" name="arrow"/>
          <p:cNvSpPr/>
          <p:nvPr/>
        </p:nvSpPr>
        <p:spPr>
          <a:xfrm>
            <a:off x="4498848" y="1344168"/>
            <a:ext cx="914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box Release"/>
          <p:cNvSpPr/>
          <p:nvPr/>
        </p:nvSpPr>
        <p:spPr>
          <a:xfrm>
            <a:off x="4590288" y="1097280"/>
            <a:ext cx="941832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ox text Release"/>
          <p:cNvSpPr txBox="1"/>
          <p:nvPr/>
        </p:nvSpPr>
        <p:spPr>
          <a:xfrm>
            <a:off x="4590288" y="1097280"/>
            <a:ext cx="94183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Release</a:t>
            </a:r>
            <a:endParaRPr lang="en-US" sz="1300" dirty="0"/>
          </a:p>
        </p:txBody>
      </p:sp>
      <p:sp>
        <p:nvSpPr>
          <p:cNvPr id="20" name="arrow"/>
          <p:cNvSpPr/>
          <p:nvPr/>
        </p:nvSpPr>
        <p:spPr>
          <a:xfrm>
            <a:off x="5532120" y="1344168"/>
            <a:ext cx="914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box Deploy"/>
          <p:cNvSpPr/>
          <p:nvPr/>
        </p:nvSpPr>
        <p:spPr>
          <a:xfrm>
            <a:off x="5623560" y="1097280"/>
            <a:ext cx="941832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ox text Deploy"/>
          <p:cNvSpPr txBox="1"/>
          <p:nvPr/>
        </p:nvSpPr>
        <p:spPr>
          <a:xfrm>
            <a:off x="5623560" y="1097280"/>
            <a:ext cx="94183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Deploy</a:t>
            </a:r>
            <a:endParaRPr lang="en-US" sz="1300" dirty="0"/>
          </a:p>
        </p:txBody>
      </p:sp>
      <p:sp>
        <p:nvSpPr>
          <p:cNvPr id="23" name="arrow"/>
          <p:cNvSpPr/>
          <p:nvPr/>
        </p:nvSpPr>
        <p:spPr>
          <a:xfrm>
            <a:off x="6565392" y="1344168"/>
            <a:ext cx="914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box Operate"/>
          <p:cNvSpPr/>
          <p:nvPr/>
        </p:nvSpPr>
        <p:spPr>
          <a:xfrm>
            <a:off x="6656832" y="1097280"/>
            <a:ext cx="941832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box text Operate"/>
          <p:cNvSpPr txBox="1"/>
          <p:nvPr/>
        </p:nvSpPr>
        <p:spPr>
          <a:xfrm>
            <a:off x="6656832" y="1097280"/>
            <a:ext cx="94183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Operate</a:t>
            </a:r>
            <a:endParaRPr lang="en-US" sz="1300" dirty="0"/>
          </a:p>
        </p:txBody>
      </p:sp>
      <p:sp>
        <p:nvSpPr>
          <p:cNvPr id="26" name="arrow"/>
          <p:cNvSpPr/>
          <p:nvPr/>
        </p:nvSpPr>
        <p:spPr>
          <a:xfrm>
            <a:off x="7598664" y="1344168"/>
            <a:ext cx="914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box Monitor"/>
          <p:cNvSpPr/>
          <p:nvPr/>
        </p:nvSpPr>
        <p:spPr>
          <a:xfrm>
            <a:off x="7690104" y="1097280"/>
            <a:ext cx="941832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box text Monitor"/>
          <p:cNvSpPr txBox="1"/>
          <p:nvPr/>
        </p:nvSpPr>
        <p:spPr>
          <a:xfrm>
            <a:off x="7690104" y="1097280"/>
            <a:ext cx="94183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Monitor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Git ✓ (done)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2523744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Today</a:t>
            </a:r>
            <a:endParaRPr lang="en-US" sz="1100" dirty="0"/>
          </a:p>
        </p:txBody>
      </p:sp>
      <p:sp>
        <p:nvSpPr>
          <p:cNvPr id="31" name="dot 0"/>
          <p:cNvSpPr/>
          <p:nvPr/>
        </p:nvSpPr>
        <p:spPr>
          <a:xfrm>
            <a:off x="502920" y="2093976"/>
            <a:ext cx="137160" cy="137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777240" y="201168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0:40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201168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Docker: concepts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5852160" y="2011680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13 min</a:t>
            </a:r>
            <a:endParaRPr lang="en-US" sz="1300" dirty="0"/>
          </a:p>
        </p:txBody>
      </p:sp>
      <p:sp>
        <p:nvSpPr>
          <p:cNvPr id="35" name="dot 1"/>
          <p:cNvSpPr/>
          <p:nvPr/>
        </p:nvSpPr>
        <p:spPr>
          <a:xfrm>
            <a:off x="502920" y="2395728"/>
            <a:ext cx="137160" cy="137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 txBox="1"/>
          <p:nvPr/>
        </p:nvSpPr>
        <p:spPr>
          <a:xfrm>
            <a:off x="777240" y="2313432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0:53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2313432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Lab 1 · build &amp; run a container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852160" y="231343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30 min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777240" y="2615184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1:23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1463040" y="2615184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Break (start minikube!)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5852160" y="261518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7 min</a:t>
            </a:r>
            <a:endParaRPr lang="en-US" sz="1300" dirty="0"/>
          </a:p>
        </p:txBody>
      </p:sp>
      <p:sp>
        <p:nvSpPr>
          <p:cNvPr id="42" name="dot 3"/>
          <p:cNvSpPr/>
          <p:nvPr/>
        </p:nvSpPr>
        <p:spPr>
          <a:xfrm>
            <a:off x="502920" y="2999232"/>
            <a:ext cx="137160" cy="1371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777240" y="2916936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1:30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1463040" y="2916936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Kubernetes: concepts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5852160" y="2916936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13 min</a:t>
            </a:r>
            <a:endParaRPr lang="en-US" sz="1300" dirty="0"/>
          </a:p>
        </p:txBody>
      </p:sp>
      <p:sp>
        <p:nvSpPr>
          <p:cNvPr id="46" name="dot 4"/>
          <p:cNvSpPr/>
          <p:nvPr/>
        </p:nvSpPr>
        <p:spPr>
          <a:xfrm>
            <a:off x="502920" y="3300984"/>
            <a:ext cx="137160" cy="137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 txBox="1"/>
          <p:nvPr/>
        </p:nvSpPr>
        <p:spPr>
          <a:xfrm>
            <a:off x="777240" y="321868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1:43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1463040" y="321868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Lab 2 · deploy, scale, roll out on minikube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5852160" y="3218688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30 min</a:t>
            </a:r>
            <a:endParaRPr lang="en-US" sz="1300" dirty="0"/>
          </a:p>
        </p:txBody>
      </p:sp>
      <p:sp>
        <p:nvSpPr>
          <p:cNvPr id="50" name="dot 5"/>
          <p:cNvSpPr/>
          <p:nvPr/>
        </p:nvSpPr>
        <p:spPr>
          <a:xfrm>
            <a:off x="502920" y="3602736"/>
            <a:ext cx="137160" cy="1371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 txBox="1"/>
          <p:nvPr/>
        </p:nvSpPr>
        <p:spPr>
          <a:xfrm>
            <a:off x="777240" y="352044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2:13</a:t>
            </a:r>
            <a:endParaRPr lang="en-US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1463040" y="352044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CI/CD + Jenkins: concepts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5852160" y="3520440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9 min</a:t>
            </a:r>
            <a:endParaRPr lang="en-US" sz="1300" dirty="0"/>
          </a:p>
        </p:txBody>
      </p:sp>
      <p:sp>
        <p:nvSpPr>
          <p:cNvPr id="54" name="dot 6"/>
          <p:cNvSpPr/>
          <p:nvPr/>
        </p:nvSpPr>
        <p:spPr>
          <a:xfrm>
            <a:off x="502920" y="3904488"/>
            <a:ext cx="137160" cy="1371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 txBox="1"/>
          <p:nvPr/>
        </p:nvSpPr>
        <p:spPr>
          <a:xfrm>
            <a:off x="777240" y="3822192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2:22</a:t>
            </a:r>
            <a:endParaRPr lang="en-US" sz="1300" dirty="0"/>
          </a:p>
        </p:txBody>
      </p:sp>
      <p:sp>
        <p:nvSpPr>
          <p:cNvPr id="56" name="Text 53"/>
          <p:cNvSpPr txBox="1"/>
          <p:nvPr/>
        </p:nvSpPr>
        <p:spPr>
          <a:xfrm>
            <a:off x="1463040" y="3822192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Lab 3 · a pipeline that runs on every push</a:t>
            </a:r>
            <a:endParaRPr lang="en-US" sz="1300" dirty="0"/>
          </a:p>
        </p:txBody>
      </p:sp>
      <p:sp>
        <p:nvSpPr>
          <p:cNvPr id="57" name="Text 54"/>
          <p:cNvSpPr txBox="1"/>
          <p:nvPr/>
        </p:nvSpPr>
        <p:spPr>
          <a:xfrm>
            <a:off x="5852160" y="3822192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12 min</a:t>
            </a:r>
            <a:endParaRPr lang="en-US" sz="1300" dirty="0"/>
          </a:p>
        </p:txBody>
      </p:sp>
      <p:sp>
        <p:nvSpPr>
          <p:cNvPr id="58" name="Text 55"/>
          <p:cNvSpPr txBox="1"/>
          <p:nvPr/>
        </p:nvSpPr>
        <p:spPr>
          <a:xfrm>
            <a:off x="777240" y="4123944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2:34</a:t>
            </a:r>
            <a:endParaRPr lang="en-US" sz="1300" dirty="0"/>
          </a:p>
        </p:txBody>
      </p:sp>
      <p:sp>
        <p:nvSpPr>
          <p:cNvPr id="59" name="Text 56"/>
          <p:cNvSpPr txBox="1"/>
          <p:nvPr/>
        </p:nvSpPr>
        <p:spPr>
          <a:xfrm>
            <a:off x="1463040" y="4123944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Big picture + Q&amp;A</a:t>
            </a:r>
            <a:endParaRPr lang="en-US" sz="1300" dirty="0"/>
          </a:p>
        </p:txBody>
      </p:sp>
      <p:sp>
        <p:nvSpPr>
          <p:cNvPr id="60" name="Text 57"/>
          <p:cNvSpPr txBox="1"/>
          <p:nvPr/>
        </p:nvSpPr>
        <p:spPr>
          <a:xfrm>
            <a:off x="5852160" y="4123944"/>
            <a:ext cx="731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6 min</a:t>
            </a:r>
            <a:endParaRPr lang="en-US" sz="1300" dirty="0"/>
          </a:p>
        </p:txBody>
      </p:sp>
      <p:sp>
        <p:nvSpPr>
          <p:cNvPr id="61" name="legend"/>
          <p:cNvSpPr/>
          <p:nvPr/>
        </p:nvSpPr>
        <p:spPr>
          <a:xfrm>
            <a:off x="6766560" y="2011680"/>
            <a:ext cx="1920240" cy="23774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 txBox="1"/>
          <p:nvPr/>
        </p:nvSpPr>
        <p:spPr>
          <a:xfrm>
            <a:off x="6903720" y="2084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Colour code</a:t>
            </a:r>
            <a:endParaRPr lang="en-US" sz="1200" dirty="0"/>
          </a:p>
        </p:txBody>
      </p:sp>
      <p:sp>
        <p:nvSpPr>
          <p:cNvPr id="63" name="legend dot Docker"/>
          <p:cNvSpPr/>
          <p:nvPr/>
        </p:nvSpPr>
        <p:spPr>
          <a:xfrm>
            <a:off x="6949440" y="2450592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 txBox="1"/>
          <p:nvPr/>
        </p:nvSpPr>
        <p:spPr>
          <a:xfrm>
            <a:off x="7223760" y="2404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Docker</a:t>
            </a:r>
            <a:endParaRPr lang="en-US" sz="1200" dirty="0"/>
          </a:p>
        </p:txBody>
      </p:sp>
      <p:sp>
        <p:nvSpPr>
          <p:cNvPr id="65" name="legend dot Kubernetes"/>
          <p:cNvSpPr/>
          <p:nvPr/>
        </p:nvSpPr>
        <p:spPr>
          <a:xfrm>
            <a:off x="6949440" y="2761488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 txBox="1"/>
          <p:nvPr/>
        </p:nvSpPr>
        <p:spPr>
          <a:xfrm>
            <a:off x="7223760" y="2715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Kubernetes</a:t>
            </a:r>
            <a:endParaRPr lang="en-US" sz="1200" dirty="0"/>
          </a:p>
        </p:txBody>
      </p:sp>
      <p:sp>
        <p:nvSpPr>
          <p:cNvPr id="67" name="legend dot CI/CD"/>
          <p:cNvSpPr/>
          <p:nvPr/>
        </p:nvSpPr>
        <p:spPr>
          <a:xfrm>
            <a:off x="6949440" y="3072384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 txBox="1"/>
          <p:nvPr/>
        </p:nvSpPr>
        <p:spPr>
          <a:xfrm>
            <a:off x="7223760" y="3026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CI/CD</a:t>
            </a:r>
            <a:endParaRPr lang="en-US" sz="1200" dirty="0"/>
          </a:p>
        </p:txBody>
      </p:sp>
      <p:sp>
        <p:nvSpPr>
          <p:cNvPr id="69" name="legend dot Hands-on lab"/>
          <p:cNvSpPr/>
          <p:nvPr/>
        </p:nvSpPr>
        <p:spPr>
          <a:xfrm>
            <a:off x="6949440" y="3383280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 txBox="1"/>
          <p:nvPr/>
        </p:nvSpPr>
        <p:spPr>
          <a:xfrm>
            <a:off x="722376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Hands-on lab</a:t>
            </a:r>
            <a:endParaRPr lang="en-US" sz="1200" dirty="0"/>
          </a:p>
        </p:txBody>
      </p:sp>
      <p:sp>
        <p:nvSpPr>
          <p:cNvPr id="71" name="legend dot Good / done"/>
          <p:cNvSpPr/>
          <p:nvPr/>
        </p:nvSpPr>
        <p:spPr>
          <a:xfrm>
            <a:off x="6949440" y="3694176"/>
            <a:ext cx="182880" cy="1828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 txBox="1"/>
          <p:nvPr/>
        </p:nvSpPr>
        <p:spPr>
          <a:xfrm>
            <a:off x="7223760" y="3648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Good / done</a:t>
            </a:r>
            <a:endParaRPr lang="en-US" sz="1200" dirty="0"/>
          </a:p>
        </p:txBody>
      </p:sp>
      <p:sp>
        <p:nvSpPr>
          <p:cNvPr id="73" name="legend dot Problem"/>
          <p:cNvSpPr/>
          <p:nvPr/>
        </p:nvSpPr>
        <p:spPr>
          <a:xfrm>
            <a:off x="6949440" y="4005072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 txBox="1"/>
          <p:nvPr/>
        </p:nvSpPr>
        <p:spPr>
          <a:xfrm>
            <a:off x="7223760" y="3959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Problem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How this session works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INTRO</a:t>
            </a:r>
            <a:endParaRPr lang="en-US" sz="900" dirty="0"/>
          </a:p>
        </p:txBody>
      </p:sp>
      <p:sp>
        <p:nvSpPr>
          <p:cNvPr id="6" name="1 · Watch card"/>
          <p:cNvSpPr/>
          <p:nvPr/>
        </p:nvSpPr>
        <p:spPr>
          <a:xfrm>
            <a:off x="457200" y="10972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1 · Watch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1 · Watch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1 · Watch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~10 minutes of concepts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slide has one idea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Colour tells you the topic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Ask anytime</a:t>
            </a:r>
            <a:endParaRPr lang="en-US" sz="1300" dirty="0"/>
          </a:p>
        </p:txBody>
      </p:sp>
      <p:sp>
        <p:nvSpPr>
          <p:cNvPr id="11" name="2 · Do card"/>
          <p:cNvSpPr/>
          <p:nvPr/>
        </p:nvSpPr>
        <p:spPr>
          <a:xfrm>
            <a:off x="3264408" y="10972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2 · Do circle"/>
          <p:cNvSpPr/>
          <p:nvPr/>
        </p:nvSpPr>
        <p:spPr>
          <a:xfrm>
            <a:off x="3447288" y="1280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2 · Do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41648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2 · Do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447288" y="18745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~30 minutes in your Codespace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Open labs/0N-*.md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Mirror the instructor's terminal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Type it, don't paste it</a:t>
            </a:r>
            <a:endParaRPr lang="en-US" sz="1300" dirty="0"/>
          </a:p>
        </p:txBody>
      </p:sp>
      <p:sp>
        <p:nvSpPr>
          <p:cNvPr id="16" name="3 · Check card"/>
          <p:cNvSpPr/>
          <p:nvPr/>
        </p:nvSpPr>
        <p:spPr>
          <a:xfrm>
            <a:off x="6080760" y="10972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3 · Check circle"/>
          <p:cNvSpPr/>
          <p:nvPr/>
        </p:nvSpPr>
        <p:spPr>
          <a:xfrm>
            <a:off x="6263640" y="128016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3 · Check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3716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5800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3 · Check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263640" y="18745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Each lab has a 'Done when'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bash labs/check.sh tells you what's missing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Thumbs up = move 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Stuck = raise your hand 🙋</a:t>
            </a:r>
            <a:endParaRPr lang="en-US" sz="1300" dirty="0"/>
          </a:p>
        </p:txBody>
      </p:sp>
      <p:sp>
        <p:nvSpPr>
          <p:cNvPr id="21" name="box Nothing to install. Everything runs in GitHub Codespaces, in your browser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ox text Nothing to install. Everything runs in GitHub Codespaces, in your browser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Nothing to install. Everything runs in GitHub Codespaces, in your browser.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Part 1 · Docker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</a:rPr>
              <a:t>Package the app with its environment. Run it the same way everywhere.</a:t>
            </a:r>
            <a:endParaRPr lang="en-US" sz="1800" dirty="0"/>
          </a:p>
        </p:txBody>
      </p:sp>
      <p:pic>
        <p:nvPicPr>
          <p:cNvPr id="5" name="docker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630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"But it works on my machine"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DOCKER</a:t>
            </a:r>
            <a:endParaRPr lang="en-US" sz="900" dirty="0"/>
          </a:p>
        </p:txBody>
      </p:sp>
      <p:sp>
        <p:nvSpPr>
          <p:cNvPr id="6" name="Different versions card"/>
          <p:cNvSpPr/>
          <p:nvPr/>
        </p:nvSpPr>
        <p:spPr>
          <a:xfrm>
            <a:off x="457200" y="10972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Different versions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Different version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Different versions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Your laptop: Node 22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Friend's laptop: Node 16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Server: Node 18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Same code, three behaviours</a:t>
            </a:r>
            <a:endParaRPr lang="en-US" sz="1300" dirty="0"/>
          </a:p>
        </p:txBody>
      </p:sp>
      <p:sp>
        <p:nvSpPr>
          <p:cNvPr id="11" name="Missing pieces card"/>
          <p:cNvSpPr/>
          <p:nvPr/>
        </p:nvSpPr>
        <p:spPr>
          <a:xfrm>
            <a:off x="3264408" y="10972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Missing pieces circle"/>
          <p:cNvSpPr/>
          <p:nvPr/>
        </p:nvSpPr>
        <p:spPr>
          <a:xfrm>
            <a:off x="3447288" y="12801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Missing pieces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41648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Missing pieces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447288" y="18745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package you forgot to list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.env file that's not in git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system library only you installed</a:t>
            </a:r>
            <a:endParaRPr lang="en-US" sz="1300" dirty="0"/>
          </a:p>
        </p:txBody>
      </p:sp>
      <p:sp>
        <p:nvSpPr>
          <p:cNvPr id="16" name="Different OS card"/>
          <p:cNvSpPr/>
          <p:nvPr/>
        </p:nvSpPr>
        <p:spPr>
          <a:xfrm>
            <a:off x="6080760" y="10972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Different OS circle"/>
          <p:cNvSpPr/>
          <p:nvPr/>
        </p:nvSpPr>
        <p:spPr>
          <a:xfrm>
            <a:off x="6263640" y="12801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Different OS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3716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5800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Different OS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263640" y="187452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Windows paths vs Linux paths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Mac ARM chip vs Intel server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"Just install these 14 things first"</a:t>
            </a:r>
            <a:endParaRPr lang="en-US" sz="1300" dirty="0"/>
          </a:p>
        </p:txBody>
      </p:sp>
      <p:sp>
        <p:nvSpPr>
          <p:cNvPr id="21" name="box Fix: ship the environment with the code (an image) and run it identically everywhere (a container)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ox text Fix: ship the environment with the code (an image) and run it identically everywhere (a container)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Fix: ship the environment with the code (an image) and run it identically everywhere (a container).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C5D9F5-15E4-E360-B6A8-AD193E2EC02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" descr="Medium">
            <a:extLst>
              <a:ext uri="{FF2B5EF4-FFF2-40B4-BE49-F238E27FC236}">
                <a16:creationId xmlns:a16="http://schemas.microsoft.com/office/drawing/2014/main" id="{B1B2A52D-01CC-237E-7555-82D06B404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843" y="0"/>
            <a:ext cx="380523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 What is a container?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</a:rPr>
              <a:t>A running package of an application: image layers + a process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Images are stacks of layers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DOCKER</a:t>
            </a:r>
            <a:endParaRPr lang="en-US" sz="900" dirty="0"/>
          </a:p>
        </p:txBody>
      </p:sp>
      <p:sp>
        <p:nvSpPr>
          <p:cNvPr id="6" name="box Application layer: your app + config"/>
          <p:cNvSpPr/>
          <p:nvPr/>
        </p:nvSpPr>
        <p:spPr>
          <a:xfrm>
            <a:off x="548640" y="1188720"/>
            <a:ext cx="420624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box text Application layer: your app + config"/>
          <p:cNvSpPr txBox="1"/>
          <p:nvPr/>
        </p:nvSpPr>
        <p:spPr>
          <a:xfrm>
            <a:off x="548640" y="1188720"/>
            <a:ext cx="42062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Application layer: your app + config</a:t>
            </a:r>
            <a:endParaRPr lang="en-US" sz="1300" dirty="0"/>
          </a:p>
        </p:txBody>
      </p:sp>
      <p:sp>
        <p:nvSpPr>
          <p:cNvPr id="8" name="box Runtime: Node 20 / Python / JDK"/>
          <p:cNvSpPr/>
          <p:nvPr/>
        </p:nvSpPr>
        <p:spPr>
          <a:xfrm>
            <a:off x="548640" y="187452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text Runtime: Node 20 / Python / JDK"/>
          <p:cNvSpPr txBox="1"/>
          <p:nvPr/>
        </p:nvSpPr>
        <p:spPr>
          <a:xfrm>
            <a:off x="548640" y="1874520"/>
            <a:ext cx="42062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Runtime: Node 20 / Python / JDK</a:t>
            </a:r>
            <a:endParaRPr lang="en-US" sz="1300" dirty="0"/>
          </a:p>
        </p:txBody>
      </p:sp>
      <p:sp>
        <p:nvSpPr>
          <p:cNvPr id="10" name="box Libraries: OpenSSL, libc, tools"/>
          <p:cNvSpPr/>
          <p:nvPr/>
        </p:nvSpPr>
        <p:spPr>
          <a:xfrm>
            <a:off x="548640" y="256032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box text Libraries: OpenSSL, libc, tools"/>
          <p:cNvSpPr txBox="1"/>
          <p:nvPr/>
        </p:nvSpPr>
        <p:spPr>
          <a:xfrm>
            <a:off x="548640" y="2560320"/>
            <a:ext cx="42062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Libraries: OpenSSL, libc, tools</a:t>
            </a:r>
            <a:endParaRPr lang="en-US" sz="1300" dirty="0"/>
          </a:p>
        </p:txBody>
      </p:sp>
      <p:sp>
        <p:nvSpPr>
          <p:cNvPr id="12" name="box Base OS layer: Alpine or Debian (no kernel)"/>
          <p:cNvSpPr/>
          <p:nvPr/>
        </p:nvSpPr>
        <p:spPr>
          <a:xfrm>
            <a:off x="548640" y="324612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ox text Base OS layer: Alpine or Debian (no kernel)"/>
          <p:cNvSpPr txBox="1"/>
          <p:nvPr/>
        </p:nvSpPr>
        <p:spPr>
          <a:xfrm>
            <a:off x="548640" y="3246120"/>
            <a:ext cx="42062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Base OS layer: Alpine or Debian (no kernel)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977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tx2"/>
                </a:solidFill>
              </a:rPr>
              <a:t>↑ most specific, changes most</a:t>
            </a:r>
            <a:endParaRPr lang="en-US" sz="1000" dirty="0"/>
          </a:p>
        </p:txBody>
      </p:sp>
      <p:sp>
        <p:nvSpPr>
          <p:cNvPr id="15" name="Why layers card"/>
          <p:cNvSpPr/>
          <p:nvPr/>
        </p:nvSpPr>
        <p:spPr>
          <a:xfrm>
            <a:off x="5120640" y="1188720"/>
            <a:ext cx="35661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Why layers circle"/>
          <p:cNvSpPr/>
          <p:nvPr/>
        </p:nvSpPr>
        <p:spPr>
          <a:xfrm>
            <a:off x="530352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Why layer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46304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897880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layers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5303520" y="19659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Small base images: Alpine is ~5 MB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Shared: 10 Node images store the base once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Fast pulls: only missing layers download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Immutable: a layer never changes after build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container adds one thin writable layer on top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Image vs container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DOCKER</a:t>
            </a:r>
            <a:endParaRPr lang="en-US" sz="900" dirty="0"/>
          </a:p>
        </p:txBody>
      </p:sp>
      <p:sp>
        <p:nvSpPr>
          <p:cNvPr id="6" name="Image card"/>
          <p:cNvSpPr/>
          <p:nvPr/>
        </p:nvSpPr>
        <p:spPr>
          <a:xfrm>
            <a:off x="457200" y="1097280"/>
            <a:ext cx="4023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Image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Image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file artefact: layers + metadata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 running. Can't 'crash'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Lives in a registry or local cache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Versioned by tag: postgres:16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Like a class, or an installer</a:t>
            </a:r>
            <a:endParaRPr lang="en-US" sz="1300" dirty="0"/>
          </a:p>
        </p:txBody>
      </p:sp>
      <p:sp>
        <p:nvSpPr>
          <p:cNvPr id="11" name="Container card"/>
          <p:cNvSpPr/>
          <p:nvPr/>
        </p:nvSpPr>
        <p:spPr>
          <a:xfrm>
            <a:off x="4663440" y="1097280"/>
            <a:ext cx="402336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ontainer circle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Container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Container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846320" y="187452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image, started: a process with isolation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Own filesystem view, network, hostname, port space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Has a state: created, running, exited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Many containers from one image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Like an object, or an installed+running app</a:t>
            </a:r>
            <a:endParaRPr lang="en-US" sz="1300" dirty="0"/>
          </a:p>
        </p:txBody>
      </p:sp>
      <p:sp>
        <p:nvSpPr>
          <p:cNvPr id="16" name="box docker pull  fetches an image.   docker run  turns an image into a container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ox text docker pull  fetches an image.   docker run  turns an image into a container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docker pull  fetches an image.   docker run  turns an image into a container.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Docker vs virtual machine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</a:rPr>
              <a:t>Which part of the operating system gets virtualised?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Virtual machines vs containers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DOCKER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Virtual machines</a:t>
            </a:r>
            <a:endParaRPr lang="en-US" sz="1600" dirty="0"/>
          </a:p>
        </p:txBody>
      </p:sp>
      <p:sp>
        <p:nvSpPr>
          <p:cNvPr id="7" name="box App A"/>
          <p:cNvSpPr/>
          <p:nvPr/>
        </p:nvSpPr>
        <p:spPr>
          <a:xfrm>
            <a:off x="548640" y="1463040"/>
            <a:ext cx="173736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ox text App A"/>
          <p:cNvSpPr txBox="1"/>
          <p:nvPr/>
        </p:nvSpPr>
        <p:spPr>
          <a:xfrm>
            <a:off x="54864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App A</a:t>
            </a:r>
            <a:endParaRPr lang="en-US" sz="1200" dirty="0"/>
          </a:p>
        </p:txBody>
      </p:sp>
      <p:sp>
        <p:nvSpPr>
          <p:cNvPr id="9" name="box Bins/Libs"/>
          <p:cNvSpPr/>
          <p:nvPr/>
        </p:nvSpPr>
        <p:spPr>
          <a:xfrm>
            <a:off x="548640" y="1920240"/>
            <a:ext cx="173736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ox text Bins/Libs"/>
          <p:cNvSpPr txBox="1"/>
          <p:nvPr/>
        </p:nvSpPr>
        <p:spPr>
          <a:xfrm>
            <a:off x="54864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Bins/Libs</a:t>
            </a:r>
            <a:endParaRPr lang="en-US" sz="1200" dirty="0"/>
          </a:p>
        </p:txBody>
      </p:sp>
      <p:sp>
        <p:nvSpPr>
          <p:cNvPr id="11" name="box Guest OS"/>
          <p:cNvSpPr/>
          <p:nvPr/>
        </p:nvSpPr>
        <p:spPr>
          <a:xfrm>
            <a:off x="548640" y="237744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 text Guest OS"/>
          <p:cNvSpPr txBox="1"/>
          <p:nvPr/>
        </p:nvSpPr>
        <p:spPr>
          <a:xfrm>
            <a:off x="548640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Guest OS (kernel)</a:t>
            </a:r>
            <a:endParaRPr lang="en-US" sz="1200" dirty="0"/>
          </a:p>
        </p:txBody>
      </p:sp>
      <p:sp>
        <p:nvSpPr>
          <p:cNvPr id="13" name="box App B"/>
          <p:cNvSpPr/>
          <p:nvPr/>
        </p:nvSpPr>
        <p:spPr>
          <a:xfrm>
            <a:off x="2468880" y="1463040"/>
            <a:ext cx="173736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box text App B"/>
          <p:cNvSpPr txBox="1"/>
          <p:nvPr/>
        </p:nvSpPr>
        <p:spPr>
          <a:xfrm>
            <a:off x="2468880" y="1463040"/>
            <a:ext cx="1737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App B</a:t>
            </a:r>
            <a:endParaRPr lang="en-US" sz="1200" dirty="0"/>
          </a:p>
        </p:txBody>
      </p:sp>
      <p:sp>
        <p:nvSpPr>
          <p:cNvPr id="15" name="box Bins/Libs"/>
          <p:cNvSpPr/>
          <p:nvPr/>
        </p:nvSpPr>
        <p:spPr>
          <a:xfrm>
            <a:off x="2468880" y="1920240"/>
            <a:ext cx="173736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ox text Bins/Libs"/>
          <p:cNvSpPr txBox="1"/>
          <p:nvPr/>
        </p:nvSpPr>
        <p:spPr>
          <a:xfrm>
            <a:off x="246888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Bins/Libs</a:t>
            </a:r>
            <a:endParaRPr lang="en-US" sz="1200" dirty="0"/>
          </a:p>
        </p:txBody>
      </p:sp>
      <p:sp>
        <p:nvSpPr>
          <p:cNvPr id="17" name="box Guest OS"/>
          <p:cNvSpPr/>
          <p:nvPr/>
        </p:nvSpPr>
        <p:spPr>
          <a:xfrm>
            <a:off x="2468880" y="237744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ox text Guest OS"/>
          <p:cNvSpPr txBox="1"/>
          <p:nvPr/>
        </p:nvSpPr>
        <p:spPr>
          <a:xfrm>
            <a:off x="2468880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Guest OS (kernel)</a:t>
            </a:r>
            <a:endParaRPr lang="en-US" sz="1200" dirty="0"/>
          </a:p>
        </p:txBody>
      </p:sp>
      <p:sp>
        <p:nvSpPr>
          <p:cNvPr id="19" name="box Hypervisor"/>
          <p:cNvSpPr/>
          <p:nvPr/>
        </p:nvSpPr>
        <p:spPr>
          <a:xfrm>
            <a:off x="548640" y="2880360"/>
            <a:ext cx="365760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ox text Hypervisor"/>
          <p:cNvSpPr txBox="1"/>
          <p:nvPr/>
        </p:nvSpPr>
        <p:spPr>
          <a:xfrm>
            <a:off x="54864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Hypervisor</a:t>
            </a:r>
            <a:endParaRPr lang="en-US" sz="1200" dirty="0"/>
          </a:p>
        </p:txBody>
      </p:sp>
      <p:sp>
        <p:nvSpPr>
          <p:cNvPr id="21" name="box Host OS  ·  Hardware"/>
          <p:cNvSpPr/>
          <p:nvPr/>
        </p:nvSpPr>
        <p:spPr>
          <a:xfrm>
            <a:off x="548640" y="3337560"/>
            <a:ext cx="3657600" cy="411480"/>
          </a:xfrm>
          <a:prstGeom prst="roundRect">
            <a:avLst>
              <a:gd name="adj" fmla="val 177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ox text Host OS  ·  Hardware"/>
          <p:cNvSpPr txBox="1"/>
          <p:nvPr/>
        </p:nvSpPr>
        <p:spPr>
          <a:xfrm>
            <a:off x="54864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Host OS  ·  Hardware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3840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Each VM boots a full OS: GBs, minutes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Strong isolation, heavy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Containers</a:t>
            </a:r>
            <a:endParaRPr lang="en-US" sz="1600" dirty="0"/>
          </a:p>
        </p:txBody>
      </p:sp>
      <p:sp>
        <p:nvSpPr>
          <p:cNvPr id="25" name="box App A"/>
          <p:cNvSpPr/>
          <p:nvPr/>
        </p:nvSpPr>
        <p:spPr>
          <a:xfrm>
            <a:off x="4937760" y="1920240"/>
            <a:ext cx="1161288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box text App A"/>
          <p:cNvSpPr txBox="1"/>
          <p:nvPr/>
        </p:nvSpPr>
        <p:spPr>
          <a:xfrm>
            <a:off x="4937760" y="1920240"/>
            <a:ext cx="11612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App A</a:t>
            </a:r>
            <a:endParaRPr lang="en-US" sz="1200" dirty="0"/>
          </a:p>
        </p:txBody>
      </p:sp>
      <p:sp>
        <p:nvSpPr>
          <p:cNvPr id="27" name="box Bins/Libs"/>
          <p:cNvSpPr/>
          <p:nvPr/>
        </p:nvSpPr>
        <p:spPr>
          <a:xfrm>
            <a:off x="4937760" y="2377440"/>
            <a:ext cx="1161288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box text Bins/Libs"/>
          <p:cNvSpPr txBox="1"/>
          <p:nvPr/>
        </p:nvSpPr>
        <p:spPr>
          <a:xfrm>
            <a:off x="4937760" y="2377440"/>
            <a:ext cx="11612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Bins/Libs</a:t>
            </a:r>
            <a:endParaRPr lang="en-US" sz="1100" dirty="0"/>
          </a:p>
        </p:txBody>
      </p:sp>
      <p:sp>
        <p:nvSpPr>
          <p:cNvPr id="29" name="box App B"/>
          <p:cNvSpPr/>
          <p:nvPr/>
        </p:nvSpPr>
        <p:spPr>
          <a:xfrm>
            <a:off x="6190488" y="1920240"/>
            <a:ext cx="1161288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box text App B"/>
          <p:cNvSpPr txBox="1"/>
          <p:nvPr/>
        </p:nvSpPr>
        <p:spPr>
          <a:xfrm>
            <a:off x="6190488" y="1920240"/>
            <a:ext cx="11612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App B</a:t>
            </a:r>
            <a:endParaRPr lang="en-US" sz="1200" dirty="0"/>
          </a:p>
        </p:txBody>
      </p:sp>
      <p:sp>
        <p:nvSpPr>
          <p:cNvPr id="31" name="box Bins/Libs"/>
          <p:cNvSpPr/>
          <p:nvPr/>
        </p:nvSpPr>
        <p:spPr>
          <a:xfrm>
            <a:off x="6190488" y="2377440"/>
            <a:ext cx="1161288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box text Bins/Libs"/>
          <p:cNvSpPr txBox="1"/>
          <p:nvPr/>
        </p:nvSpPr>
        <p:spPr>
          <a:xfrm>
            <a:off x="6190488" y="2377440"/>
            <a:ext cx="11612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Bins/Libs</a:t>
            </a:r>
            <a:endParaRPr lang="en-US" sz="1100" dirty="0"/>
          </a:p>
        </p:txBody>
      </p:sp>
      <p:sp>
        <p:nvSpPr>
          <p:cNvPr id="33" name="box App C"/>
          <p:cNvSpPr/>
          <p:nvPr/>
        </p:nvSpPr>
        <p:spPr>
          <a:xfrm>
            <a:off x="7443216" y="1920240"/>
            <a:ext cx="1161288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box text App C"/>
          <p:cNvSpPr txBox="1"/>
          <p:nvPr/>
        </p:nvSpPr>
        <p:spPr>
          <a:xfrm>
            <a:off x="7443216" y="1920240"/>
            <a:ext cx="11612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App C</a:t>
            </a:r>
            <a:endParaRPr lang="en-US" sz="1200" dirty="0"/>
          </a:p>
        </p:txBody>
      </p:sp>
      <p:sp>
        <p:nvSpPr>
          <p:cNvPr id="35" name="box Bins/Libs"/>
          <p:cNvSpPr/>
          <p:nvPr/>
        </p:nvSpPr>
        <p:spPr>
          <a:xfrm>
            <a:off x="7443216" y="2377440"/>
            <a:ext cx="1161288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ox text Bins/Libs"/>
          <p:cNvSpPr txBox="1"/>
          <p:nvPr/>
        </p:nvSpPr>
        <p:spPr>
          <a:xfrm>
            <a:off x="7443216" y="2377440"/>
            <a:ext cx="1161288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Bins/Libs</a:t>
            </a:r>
            <a:endParaRPr lang="en-US" sz="1100" dirty="0"/>
          </a:p>
        </p:txBody>
      </p:sp>
      <p:sp>
        <p:nvSpPr>
          <p:cNvPr id="37" name="box Docker Engine"/>
          <p:cNvSpPr/>
          <p:nvPr/>
        </p:nvSpPr>
        <p:spPr>
          <a:xfrm>
            <a:off x="4937760" y="2880360"/>
            <a:ext cx="365760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box text Docker Engine"/>
          <p:cNvSpPr txBox="1"/>
          <p:nvPr/>
        </p:nvSpPr>
        <p:spPr>
          <a:xfrm>
            <a:off x="4937760" y="2880360"/>
            <a:ext cx="36576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Docker Engine</a:t>
            </a:r>
            <a:endParaRPr lang="en-US" sz="1200" dirty="0"/>
          </a:p>
        </p:txBody>
      </p:sp>
      <p:sp>
        <p:nvSpPr>
          <p:cNvPr id="39" name="box Host OS (shared kernel)  ·  Hardware"/>
          <p:cNvSpPr/>
          <p:nvPr/>
        </p:nvSpPr>
        <p:spPr>
          <a:xfrm>
            <a:off x="4937760" y="3337560"/>
            <a:ext cx="3657600" cy="411480"/>
          </a:xfrm>
          <a:prstGeom prst="roundRect">
            <a:avLst>
              <a:gd name="adj" fmla="val 177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box text Host OS (shared kernel)  ·  Hardware"/>
          <p:cNvSpPr txBox="1"/>
          <p:nvPr/>
        </p:nvSpPr>
        <p:spPr>
          <a:xfrm>
            <a:off x="493776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Host OS (shared kernel)  ·  Hardware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4937760" y="3840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Share the host kernel: MBs, milliseconds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Isolated by Linux namespaces + cgroups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container = a normal process in a box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Four words, one flow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DOCKER</a:t>
            </a:r>
            <a:endParaRPr lang="en-US" sz="900" dirty="0"/>
          </a:p>
        </p:txBody>
      </p:sp>
      <p:sp>
        <p:nvSpPr>
          <p:cNvPr id="6" name="Dockerfile card"/>
          <p:cNvSpPr/>
          <p:nvPr/>
        </p:nvSpPr>
        <p:spPr>
          <a:xfrm>
            <a:off x="457200" y="118872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Dockerfile circle"/>
          <p:cNvSpPr/>
          <p:nvPr/>
        </p:nvSpPr>
        <p:spPr>
          <a:xfrm>
            <a:off x="1143000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Dockerfile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4630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Dockerfile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237744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 text recipe: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start from X, copy this, run that</a:t>
            </a:r>
            <a:endParaRPr lang="en-US" sz="1100" dirty="0"/>
          </a:p>
        </p:txBody>
      </p:sp>
      <p:sp>
        <p:nvSpPr>
          <p:cNvPr id="11" name="Image card"/>
          <p:cNvSpPr/>
          <p:nvPr/>
        </p:nvSpPr>
        <p:spPr>
          <a:xfrm>
            <a:off x="2587752" y="118872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Image circle"/>
          <p:cNvSpPr/>
          <p:nvPr/>
        </p:nvSpPr>
        <p:spPr>
          <a:xfrm>
            <a:off x="3273552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4630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587752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Image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2724912" y="237744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The recipe baked. Read-only snapshot of a filesystem + a start command. Like a class</a:t>
            </a:r>
            <a:endParaRPr lang="en-US" sz="1100" dirty="0"/>
          </a:p>
        </p:txBody>
      </p:sp>
      <p:sp>
        <p:nvSpPr>
          <p:cNvPr id="16" name="Container card"/>
          <p:cNvSpPr/>
          <p:nvPr/>
        </p:nvSpPr>
        <p:spPr>
          <a:xfrm>
            <a:off x="4718304" y="118872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ontainer circle"/>
          <p:cNvSpPr/>
          <p:nvPr/>
        </p:nvSpPr>
        <p:spPr>
          <a:xfrm>
            <a:off x="5404104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Container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264" y="14630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718304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Container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4855464" y="237744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 running instance of an image. Like an object. Start many from one image</a:t>
            </a:r>
            <a:endParaRPr lang="en-US" sz="1100" dirty="0"/>
          </a:p>
        </p:txBody>
      </p:sp>
      <p:sp>
        <p:nvSpPr>
          <p:cNvPr id="21" name="Registry card"/>
          <p:cNvSpPr/>
          <p:nvPr/>
        </p:nvSpPr>
        <p:spPr>
          <a:xfrm>
            <a:off x="6848856" y="118872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gistry circle"/>
          <p:cNvSpPr/>
          <p:nvPr/>
        </p:nvSpPr>
        <p:spPr>
          <a:xfrm>
            <a:off x="7534656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Registry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1816" y="146304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848856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Registry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6986016" y="237744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Where images are stored and shared: Docker Hub, GHCR. 'git push' for images</a:t>
            </a:r>
            <a:endParaRPr lang="en-US" sz="1100" dirty="0"/>
          </a:p>
        </p:txBody>
      </p:sp>
      <p:sp>
        <p:nvSpPr>
          <p:cNvPr id="26" name="arrow"/>
          <p:cNvSpPr/>
          <p:nvPr/>
        </p:nvSpPr>
        <p:spPr>
          <a:xfrm>
            <a:off x="2377440" y="3703320"/>
            <a:ext cx="21031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 txBox="1"/>
          <p:nvPr/>
        </p:nvSpPr>
        <p:spPr>
          <a:xfrm>
            <a:off x="173736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</a:t>
            </a:r>
            <a:endParaRPr lang="en-US" sz="1000" dirty="0"/>
          </a:p>
        </p:txBody>
      </p:sp>
      <p:sp>
        <p:nvSpPr>
          <p:cNvPr id="28" name="arrow"/>
          <p:cNvSpPr/>
          <p:nvPr/>
        </p:nvSpPr>
        <p:spPr>
          <a:xfrm>
            <a:off x="4507992" y="3703320"/>
            <a:ext cx="21031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 txBox="1"/>
          <p:nvPr/>
        </p:nvSpPr>
        <p:spPr>
          <a:xfrm>
            <a:off x="3867912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</a:t>
            </a:r>
            <a:endParaRPr lang="en-US" sz="1000" dirty="0"/>
          </a:p>
        </p:txBody>
      </p:sp>
      <p:sp>
        <p:nvSpPr>
          <p:cNvPr id="30" name="arrow"/>
          <p:cNvSpPr/>
          <p:nvPr/>
        </p:nvSpPr>
        <p:spPr>
          <a:xfrm>
            <a:off x="6638544" y="3703320"/>
            <a:ext cx="21031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 txBox="1"/>
          <p:nvPr/>
        </p:nvSpPr>
        <p:spPr>
          <a:xfrm>
            <a:off x="5998464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/ pull</a:t>
            </a:r>
            <a:endParaRPr lang="en-US" sz="1000" dirty="0"/>
          </a:p>
        </p:txBody>
      </p:sp>
      <p:sp>
        <p:nvSpPr>
          <p:cNvPr id="32" name="box build: Dockerfile → Image.    run: Image → Container.    push / pull: Image ⇄ Registry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box text build: Dockerfile → Image.    run: Image → Container.    push / pull: Image ⇄ Registry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build: Dockerfile → Image.    run: Image → Container.    push / pull: Image ⇄ Registry.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Main Docker commands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</a:rPr>
              <a:t>pull · run · ps · stop · start · -d · -p · --name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Image commands vs container commands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DOCKER</a:t>
            </a:r>
            <a:endParaRPr lang="en-US" sz="900" dirty="0"/>
          </a:p>
        </p:txBody>
      </p:sp>
      <p:sp>
        <p:nvSpPr>
          <p:cNvPr id="6" name="Images card"/>
          <p:cNvSpPr/>
          <p:nvPr/>
        </p:nvSpPr>
        <p:spPr>
          <a:xfrm>
            <a:off x="457200" y="1097280"/>
            <a:ext cx="40233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Images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Images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 pull redis:7     fetch from registry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 images           list local images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 rmi redis:7      delete an image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 build -t …       make one (section 9)</a:t>
            </a:r>
            <a:endParaRPr lang="en-US" sz="1300" dirty="0"/>
          </a:p>
        </p:txBody>
      </p:sp>
      <p:sp>
        <p:nvSpPr>
          <p:cNvPr id="11" name="Containers card"/>
          <p:cNvSpPr/>
          <p:nvPr/>
        </p:nvSpPr>
        <p:spPr>
          <a:xfrm>
            <a:off x="4663440" y="1097280"/>
            <a:ext cx="402336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ontainers circle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Containers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Containers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846320" y="18745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 run redis:7      create + start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 ps  /  ps -a     running / all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 stop &lt;id|name&gt;   graceful stop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 start &lt;id|name&gt;  restart a stopped 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 rm &lt;id|name&gt;     delete a stopped one</a:t>
            </a:r>
            <a:endParaRPr lang="en-US" sz="1300" dirty="0"/>
          </a:p>
        </p:txBody>
      </p:sp>
      <p:sp>
        <p:nvSpPr>
          <p:cNvPr id="16" name="box docker run = (pull if missing) + create + start. Every run makes a NEW container; docker start re-uses an old one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ox text docker run = (pull if missing) + create + start. Every run makes a NEW container; docker start re-uses an old one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docker run = (pull if missing) + create + start. Every run makes a NEW container; docker start re-uses an old 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The flags you use every day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DOCKER</a:t>
            </a:r>
            <a:endParaRPr lang="en-US" sz="900" dirty="0"/>
          </a:p>
        </p:txBody>
      </p:sp>
      <p:graphicFrame>
        <p:nvGraphicFramePr>
          <p:cNvPr id="20" name="flag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965710"/>
              </p:ext>
            </p:extLst>
          </p:nvPr>
        </p:nvGraphicFramePr>
        <p:xfrm>
          <a:off x="457200" y="1097280"/>
          <a:ext cx="8229600" cy="307238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Detached: run in the background, return the container ID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-p 6000:6379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Publish: host port 6000 → container port 6379. Left = you, right = app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--name my-redis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Human name instead of a random one. Must be unique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-e KEY=value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Set an environment variable inside the container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-it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Interactive terminal, e.g.  docker run -it ubuntu bash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--rm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Delete the container automatically when it exits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-v host:container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Mount a volume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--network 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Attach to a Docker network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Port binding: why two redis containers don't clash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DOCKER</a:t>
            </a:r>
            <a:endParaRPr lang="en-US" sz="900" dirty="0"/>
          </a:p>
        </p:txBody>
      </p:sp>
      <p:sp>
        <p:nvSpPr>
          <p:cNvPr id="6" name="box Your laptop localhost"/>
          <p:cNvSpPr/>
          <p:nvPr/>
        </p:nvSpPr>
        <p:spPr>
          <a:xfrm>
            <a:off x="457200" y="128016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box text Your laptop localhost"/>
          <p:cNvSpPr txBox="1"/>
          <p:nvPr/>
        </p:nvSpPr>
        <p:spPr>
          <a:xfrm>
            <a:off x="457200" y="1280160"/>
            <a:ext cx="17373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Your laptop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localhost</a:t>
            </a:r>
            <a:endParaRPr lang="en-US" sz="1200" dirty="0"/>
          </a:p>
        </p:txBody>
      </p:sp>
      <p:sp>
        <p:nvSpPr>
          <p:cNvPr id="8" name="box host :6000"/>
          <p:cNvSpPr/>
          <p:nvPr/>
        </p:nvSpPr>
        <p:spPr>
          <a:xfrm>
            <a:off x="2834640" y="109728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text host :6000"/>
          <p:cNvSpPr txBox="1"/>
          <p:nvPr/>
        </p:nvSpPr>
        <p:spPr>
          <a:xfrm>
            <a:off x="2834640" y="1097280"/>
            <a:ext cx="14630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host :6000</a:t>
            </a:r>
            <a:endParaRPr lang="en-US" sz="1100" dirty="0"/>
          </a:p>
        </p:txBody>
      </p:sp>
      <p:sp>
        <p:nvSpPr>
          <p:cNvPr id="10" name="box host :6001"/>
          <p:cNvSpPr/>
          <p:nvPr/>
        </p:nvSpPr>
        <p:spPr>
          <a:xfrm>
            <a:off x="2834640" y="18288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box text host :6001"/>
          <p:cNvSpPr txBox="1"/>
          <p:nvPr/>
        </p:nvSpPr>
        <p:spPr>
          <a:xfrm>
            <a:off x="2834640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host :6001</a:t>
            </a:r>
            <a:endParaRPr lang="en-US" sz="1100" dirty="0"/>
          </a:p>
        </p:txBody>
      </p:sp>
      <p:sp>
        <p:nvSpPr>
          <p:cNvPr id="12" name="arrow"/>
          <p:cNvSpPr/>
          <p:nvPr/>
        </p:nvSpPr>
        <p:spPr>
          <a:xfrm flipV="1">
            <a:off x="2194560" y="1371600"/>
            <a:ext cx="640080" cy="914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arrow"/>
          <p:cNvSpPr/>
          <p:nvPr/>
        </p:nvSpPr>
        <p:spPr>
          <a:xfrm>
            <a:off x="2194560" y="2011680"/>
            <a:ext cx="640080" cy="914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box container redis-1 · listening on :6379"/>
          <p:cNvSpPr/>
          <p:nvPr/>
        </p:nvSpPr>
        <p:spPr>
          <a:xfrm>
            <a:off x="4937760" y="1097280"/>
            <a:ext cx="37490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x text container redis-1 · listening on :6379"/>
          <p:cNvSpPr txBox="1"/>
          <p:nvPr/>
        </p:nvSpPr>
        <p:spPr>
          <a:xfrm>
            <a:off x="4937760" y="1097280"/>
            <a:ext cx="37490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container redis-1 · listening on :6379</a:t>
            </a:r>
            <a:endParaRPr lang="en-US" sz="1100" dirty="0"/>
          </a:p>
        </p:txBody>
      </p:sp>
      <p:sp>
        <p:nvSpPr>
          <p:cNvPr id="16" name="box container redis-2 · listening on :6379"/>
          <p:cNvSpPr/>
          <p:nvPr/>
        </p:nvSpPr>
        <p:spPr>
          <a:xfrm>
            <a:off x="4937760" y="1828800"/>
            <a:ext cx="37490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ox text container redis-2 · listening on :6379"/>
          <p:cNvSpPr txBox="1"/>
          <p:nvPr/>
        </p:nvSpPr>
        <p:spPr>
          <a:xfrm>
            <a:off x="4937760" y="1828800"/>
            <a:ext cx="37490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container redis-2 · listening on :6379</a:t>
            </a:r>
            <a:endParaRPr lang="en-US" sz="1100" dirty="0"/>
          </a:p>
        </p:txBody>
      </p:sp>
      <p:sp>
        <p:nvSpPr>
          <p:cNvPr id="18" name="arrow"/>
          <p:cNvSpPr/>
          <p:nvPr/>
        </p:nvSpPr>
        <p:spPr>
          <a:xfrm>
            <a:off x="4297680" y="1371600"/>
            <a:ext cx="6400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arrow"/>
          <p:cNvSpPr/>
          <p:nvPr/>
        </p:nvSpPr>
        <p:spPr>
          <a:xfrm>
            <a:off x="4297680" y="2103120"/>
            <a:ext cx="6400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code bg"/>
          <p:cNvSpPr/>
          <p:nvPr/>
        </p:nvSpPr>
        <p:spPr>
          <a:xfrm>
            <a:off x="457200" y="269748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ode"/>
          <p:cNvSpPr txBox="1"/>
          <p:nvPr/>
        </p:nvSpPr>
        <p:spPr>
          <a:xfrm>
            <a:off x="594360" y="278892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redis-1 -p 6000:6379 redis:7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redis-2 -p 6001:6379 redis:7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       # PORTS column: 0.0.0.0:6000-&gt;6379/tcp  and  0.0.0.0:6001-&gt;6379/tcp</a:t>
            </a:r>
            <a:endParaRPr lang="en-US" sz="1100" dirty="0"/>
          </a:p>
        </p:txBody>
      </p:sp>
      <p:sp>
        <p:nvSpPr>
          <p:cNvPr id="22" name="box -p HOST:CONTAINER.  Host ports must be unique; container ports don't care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ox text -p HOST:CONTAINER.  Host ports must be unique; container ports don&amp;apos;t care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-p HOST:CONTAINER.  Host ports must be unique; container ports don't care.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The Dockerfile we'll use (6 instructions)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DOCKER</a:t>
            </a:r>
            <a:endParaRPr lang="en-US" sz="900" dirty="0"/>
          </a:p>
        </p:txBody>
      </p:sp>
      <p:sp>
        <p:nvSpPr>
          <p:cNvPr id="6" name="code bg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de"/>
          <p:cNvSpPr txBox="1"/>
          <p:nvPr/>
        </p:nvSpPr>
        <p:spPr>
          <a:xfrm>
            <a:off x="594360" y="11887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node:20-alpine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package.json ./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install --omit=dev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3000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["node", "index.js"]</a:t>
            </a:r>
            <a:endParaRPr lang="en-US" sz="1400" dirty="0"/>
          </a:p>
        </p:txBody>
      </p:sp>
      <p:sp>
        <p:nvSpPr>
          <p:cNvPr id="8" name="box FROM"/>
          <p:cNvSpPr/>
          <p:nvPr/>
        </p:nvSpPr>
        <p:spPr>
          <a:xfrm>
            <a:off x="4663440" y="1097280"/>
            <a:ext cx="11887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text FROM"/>
          <p:cNvSpPr txBox="1"/>
          <p:nvPr/>
        </p:nvSpPr>
        <p:spPr>
          <a:xfrm>
            <a:off x="4663440" y="1097280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Base image: a tiny Linux with Node 20 already installed</a:t>
            </a:r>
            <a:endParaRPr lang="en-US" sz="1200" dirty="0"/>
          </a:p>
        </p:txBody>
      </p:sp>
      <p:sp>
        <p:nvSpPr>
          <p:cNvPr id="11" name="box WORKDIR"/>
          <p:cNvSpPr/>
          <p:nvPr/>
        </p:nvSpPr>
        <p:spPr>
          <a:xfrm>
            <a:off x="4663440" y="1673352"/>
            <a:ext cx="11887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 text WORKDIR"/>
          <p:cNvSpPr txBox="1"/>
          <p:nvPr/>
        </p:nvSpPr>
        <p:spPr>
          <a:xfrm>
            <a:off x="4663440" y="1673352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1673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cd into /app inside the image (creates it)</a:t>
            </a:r>
            <a:endParaRPr lang="en-US" sz="1200" dirty="0"/>
          </a:p>
        </p:txBody>
      </p:sp>
      <p:sp>
        <p:nvSpPr>
          <p:cNvPr id="14" name="box COPY + RUN"/>
          <p:cNvSpPr/>
          <p:nvPr/>
        </p:nvSpPr>
        <p:spPr>
          <a:xfrm>
            <a:off x="4663440" y="2249424"/>
            <a:ext cx="11887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x text COPY + RUN"/>
          <p:cNvSpPr txBox="1"/>
          <p:nvPr/>
        </p:nvSpPr>
        <p:spPr>
          <a:xfrm>
            <a:off x="4663440" y="2249424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+ RUN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22494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Copy only package.json, install deps. Cached unless package.json changes</a:t>
            </a:r>
            <a:endParaRPr lang="en-US" sz="1200" dirty="0"/>
          </a:p>
        </p:txBody>
      </p:sp>
      <p:sp>
        <p:nvSpPr>
          <p:cNvPr id="17" name="box COPY . ."/>
          <p:cNvSpPr/>
          <p:nvPr/>
        </p:nvSpPr>
        <p:spPr>
          <a:xfrm>
            <a:off x="4663440" y="2825496"/>
            <a:ext cx="11887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ox text COPY . ."/>
          <p:cNvSpPr txBox="1"/>
          <p:nvPr/>
        </p:nvSpPr>
        <p:spPr>
          <a:xfrm>
            <a:off x="4663440" y="2825496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0" y="28254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Now the source code. It changes often, so it comes last</a:t>
            </a:r>
            <a:endParaRPr lang="en-US" sz="1200" dirty="0"/>
          </a:p>
        </p:txBody>
      </p:sp>
      <p:sp>
        <p:nvSpPr>
          <p:cNvPr id="20" name="box EXPOSE"/>
          <p:cNvSpPr/>
          <p:nvPr/>
        </p:nvSpPr>
        <p:spPr>
          <a:xfrm>
            <a:off x="4663440" y="3401568"/>
            <a:ext cx="11887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ox text EXPOSE"/>
          <p:cNvSpPr txBox="1"/>
          <p:nvPr/>
        </p:nvSpPr>
        <p:spPr>
          <a:xfrm>
            <a:off x="4663440" y="3401568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0" y="34015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Documentation only: 'this app listens on 3000'</a:t>
            </a:r>
            <a:endParaRPr lang="en-US" sz="1200" dirty="0"/>
          </a:p>
        </p:txBody>
      </p:sp>
      <p:sp>
        <p:nvSpPr>
          <p:cNvPr id="23" name="box CMD"/>
          <p:cNvSpPr/>
          <p:nvPr/>
        </p:nvSpPr>
        <p:spPr>
          <a:xfrm>
            <a:off x="4663440" y="3977640"/>
            <a:ext cx="11887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ox text CMD"/>
          <p:cNvSpPr txBox="1"/>
          <p:nvPr/>
        </p:nvSpPr>
        <p:spPr>
          <a:xfrm>
            <a:off x="466344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94360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The process to start. One container = one process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Images are layers, and layers are cached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DOCKER</a:t>
            </a:r>
            <a:endParaRPr lang="en-US" sz="900" dirty="0"/>
          </a:p>
        </p:txBody>
      </p:sp>
      <p:sp>
        <p:nvSpPr>
          <p:cNvPr id="6" name="box container writable layer (lost on docker rm)"/>
          <p:cNvSpPr/>
          <p:nvPr/>
        </p:nvSpPr>
        <p:spPr>
          <a:xfrm>
            <a:off x="548640" y="105156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box text container writable layer (lost on docker rm)"/>
          <p:cNvSpPr txBox="1"/>
          <p:nvPr/>
        </p:nvSpPr>
        <p:spPr>
          <a:xfrm>
            <a:off x="548640" y="1051560"/>
            <a:ext cx="32918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container writable layer (lost on docker rm)</a:t>
            </a:r>
            <a:endParaRPr lang="en-US" sz="1000" dirty="0"/>
          </a:p>
        </p:txBody>
      </p:sp>
      <p:sp>
        <p:nvSpPr>
          <p:cNvPr id="8" name="box CMD [&quot;node&quot;,&quot;index.js&quot;]"/>
          <p:cNvSpPr/>
          <p:nvPr/>
        </p:nvSpPr>
        <p:spPr>
          <a:xfrm>
            <a:off x="548640" y="1527048"/>
            <a:ext cx="3291840" cy="420624"/>
          </a:xfrm>
          <a:prstGeom prst="roundRect">
            <a:avLst>
              <a:gd name="adj" fmla="val 173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text CMD [&amp;quot;node&amp;quot;,&amp;quot;index.js&amp;quot;]"/>
          <p:cNvSpPr txBox="1"/>
          <p:nvPr/>
        </p:nvSpPr>
        <p:spPr>
          <a:xfrm>
            <a:off x="548640" y="1527048"/>
            <a:ext cx="329184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["node","index.js"]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1527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tiny</a:t>
            </a:r>
            <a:endParaRPr lang="en-US" sz="1100" dirty="0"/>
          </a:p>
        </p:txBody>
      </p:sp>
      <p:sp>
        <p:nvSpPr>
          <p:cNvPr id="11" name="box COPY . ."/>
          <p:cNvSpPr/>
          <p:nvPr/>
        </p:nvSpPr>
        <p:spPr>
          <a:xfrm>
            <a:off x="548640" y="2011680"/>
            <a:ext cx="3291840" cy="420624"/>
          </a:xfrm>
          <a:prstGeom prst="roundRect">
            <a:avLst>
              <a:gd name="adj" fmla="val 173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 text COPY . ."/>
          <p:cNvSpPr txBox="1"/>
          <p:nvPr/>
        </p:nvSpPr>
        <p:spPr>
          <a:xfrm>
            <a:off x="548640" y="2011680"/>
            <a:ext cx="329184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977640" y="20116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your code: changes every commit</a:t>
            </a:r>
            <a:endParaRPr lang="en-US" sz="1100" dirty="0"/>
          </a:p>
        </p:txBody>
      </p:sp>
      <p:sp>
        <p:nvSpPr>
          <p:cNvPr id="14" name="box RUN npm install"/>
          <p:cNvSpPr/>
          <p:nvPr/>
        </p:nvSpPr>
        <p:spPr>
          <a:xfrm>
            <a:off x="548640" y="2496312"/>
            <a:ext cx="3291840" cy="420624"/>
          </a:xfrm>
          <a:prstGeom prst="roundRect">
            <a:avLst>
              <a:gd name="adj" fmla="val 17391"/>
            </a:avLst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x text RUN npm install"/>
          <p:cNvSpPr txBox="1"/>
          <p:nvPr/>
        </p:nvSpPr>
        <p:spPr>
          <a:xfrm>
            <a:off x="548640" y="2496312"/>
            <a:ext cx="329184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install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977640" y="24963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node_modules: slow, so we want it cached</a:t>
            </a:r>
            <a:endParaRPr lang="en-US" sz="1100" dirty="0"/>
          </a:p>
        </p:txBody>
      </p:sp>
      <p:sp>
        <p:nvSpPr>
          <p:cNvPr id="17" name="box COPY package.json"/>
          <p:cNvSpPr/>
          <p:nvPr/>
        </p:nvSpPr>
        <p:spPr>
          <a:xfrm>
            <a:off x="548640" y="2980944"/>
            <a:ext cx="3291840" cy="420624"/>
          </a:xfrm>
          <a:prstGeom prst="roundRect">
            <a:avLst>
              <a:gd name="adj" fmla="val 17391"/>
            </a:avLst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ox text COPY package.json"/>
          <p:cNvSpPr txBox="1"/>
          <p:nvPr/>
        </p:nvSpPr>
        <p:spPr>
          <a:xfrm>
            <a:off x="548640" y="2980944"/>
            <a:ext cx="329184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package.json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977640" y="29809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small</a:t>
            </a:r>
            <a:endParaRPr lang="en-US" sz="1100" dirty="0"/>
          </a:p>
        </p:txBody>
      </p:sp>
      <p:sp>
        <p:nvSpPr>
          <p:cNvPr id="20" name="box WORKDIR /app"/>
          <p:cNvSpPr/>
          <p:nvPr/>
        </p:nvSpPr>
        <p:spPr>
          <a:xfrm>
            <a:off x="548640" y="3465576"/>
            <a:ext cx="3291840" cy="420624"/>
          </a:xfrm>
          <a:prstGeom prst="roundRect">
            <a:avLst>
              <a:gd name="adj" fmla="val 17391"/>
            </a:avLst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ox text WORKDIR /app"/>
          <p:cNvSpPr txBox="1"/>
          <p:nvPr/>
        </p:nvSpPr>
        <p:spPr>
          <a:xfrm>
            <a:off x="548640" y="3465576"/>
            <a:ext cx="329184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977640" y="34655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tiny</a:t>
            </a:r>
            <a:endParaRPr lang="en-US" sz="1100" dirty="0"/>
          </a:p>
        </p:txBody>
      </p:sp>
      <p:sp>
        <p:nvSpPr>
          <p:cNvPr id="23" name="box FROM node:20-alpine"/>
          <p:cNvSpPr/>
          <p:nvPr/>
        </p:nvSpPr>
        <p:spPr>
          <a:xfrm>
            <a:off x="548640" y="3950208"/>
            <a:ext cx="3291840" cy="420624"/>
          </a:xfrm>
          <a:prstGeom prst="roundRect">
            <a:avLst>
              <a:gd name="adj" fmla="val 17391"/>
            </a:avLst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ox text FROM node:20-alpine"/>
          <p:cNvSpPr txBox="1"/>
          <p:nvPr/>
        </p:nvSpPr>
        <p:spPr>
          <a:xfrm>
            <a:off x="548640" y="3950208"/>
            <a:ext cx="329184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node:20-alpine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3977640" y="39502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~50 MB, shared by every Node image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3977640" y="1051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↑ rebuilt when index.js changes</a:t>
            </a:r>
            <a:endParaRPr lang="en-US" sz="1000" dirty="0"/>
          </a:p>
        </p:txBody>
      </p:sp>
      <p:sp>
        <p:nvSpPr>
          <p:cNvPr id="27" name="Why it matters card"/>
          <p:cNvSpPr/>
          <p:nvPr/>
        </p:nvSpPr>
        <p:spPr>
          <a:xfrm>
            <a:off x="6035040" y="1051560"/>
            <a:ext cx="2651760" cy="33832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Why it matters circle"/>
          <p:cNvSpPr/>
          <p:nvPr/>
        </p:nvSpPr>
        <p:spPr>
          <a:xfrm>
            <a:off x="6217920" y="1234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Why it matter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2588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812280" y="12344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it matters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6217920" y="182880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Change index.js → only the top 2 layers rebuild. Seconds, not minutes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Change package.json → npm install re-runs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Rule: things that change rarely go first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Containers are disposable; images are not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What actually happens on 'docker run'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DOCKER</a:t>
            </a:r>
            <a:endParaRPr lang="en-US" sz="900" dirty="0"/>
          </a:p>
        </p:txBody>
      </p:sp>
      <p:sp>
        <p:nvSpPr>
          <p:cNvPr id="6" name="code bg"/>
          <p:cNvSpPr/>
          <p:nvPr/>
        </p:nvSpPr>
        <p:spPr>
          <a:xfrm>
            <a:off x="457200" y="105156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de"/>
          <p:cNvSpPr txBox="1"/>
          <p:nvPr/>
        </p:nvSpPr>
        <p:spPr>
          <a:xfrm>
            <a:off x="594360" y="1143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3000:3000 --name web hello-devops:v1</a:t>
            </a:r>
            <a:endParaRPr lang="en-US" sz="1300" dirty="0"/>
          </a:p>
        </p:txBody>
      </p:sp>
      <p:sp>
        <p:nvSpPr>
          <p:cNvPr id="8" name="box 1 · Find the image locally, else pull from registry"/>
          <p:cNvSpPr/>
          <p:nvPr/>
        </p:nvSpPr>
        <p:spPr>
          <a:xfrm>
            <a:off x="457200" y="1691640"/>
            <a:ext cx="1484986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text 1 · Find the image locally, else pull from registry"/>
          <p:cNvSpPr txBox="1"/>
          <p:nvPr/>
        </p:nvSpPr>
        <p:spPr>
          <a:xfrm>
            <a:off x="457200" y="1691640"/>
            <a:ext cx="148498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 · Find the image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locally, else pull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from registry</a:t>
            </a:r>
            <a:endParaRPr lang="en-US" sz="1100" dirty="0"/>
          </a:p>
        </p:txBody>
      </p:sp>
      <p:sp>
        <p:nvSpPr>
          <p:cNvPr id="10" name="arrow"/>
          <p:cNvSpPr/>
          <p:nvPr/>
        </p:nvSpPr>
        <p:spPr>
          <a:xfrm>
            <a:off x="1942186" y="221742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box 2 · Create a container image layers + new writable layer"/>
          <p:cNvSpPr/>
          <p:nvPr/>
        </p:nvSpPr>
        <p:spPr>
          <a:xfrm>
            <a:off x="2143354" y="1691640"/>
            <a:ext cx="1484986" cy="1051560"/>
          </a:xfrm>
          <a:prstGeom prst="roundRect">
            <a:avLst>
              <a:gd name="adj" fmla="val 695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 text 2 · Create a container image layers + new writable layer"/>
          <p:cNvSpPr txBox="1"/>
          <p:nvPr/>
        </p:nvSpPr>
        <p:spPr>
          <a:xfrm>
            <a:off x="2143354" y="1691640"/>
            <a:ext cx="148498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2 · Create a container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image layers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new writable layer</a:t>
            </a:r>
            <a:endParaRPr lang="en-US" sz="1100" dirty="0"/>
          </a:p>
        </p:txBody>
      </p:sp>
      <p:sp>
        <p:nvSpPr>
          <p:cNvPr id="13" name="arrow"/>
          <p:cNvSpPr/>
          <p:nvPr/>
        </p:nvSpPr>
        <p:spPr>
          <a:xfrm>
            <a:off x="3628339" y="221742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box 3 · Give it its own network, filesystem and process space"/>
          <p:cNvSpPr/>
          <p:nvPr/>
        </p:nvSpPr>
        <p:spPr>
          <a:xfrm>
            <a:off x="3829507" y="1691640"/>
            <a:ext cx="1484986" cy="1051560"/>
          </a:xfrm>
          <a:prstGeom prst="roundRect">
            <a:avLst>
              <a:gd name="adj" fmla="val 695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x text 3 · Give it its own network, filesystem and process space"/>
          <p:cNvSpPr txBox="1"/>
          <p:nvPr/>
        </p:nvSpPr>
        <p:spPr>
          <a:xfrm>
            <a:off x="3829507" y="1691640"/>
            <a:ext cx="148498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3 · Give it its own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network, filesystem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and process space</a:t>
            </a:r>
            <a:endParaRPr lang="en-US" sz="1100" dirty="0"/>
          </a:p>
        </p:txBody>
      </p:sp>
      <p:sp>
        <p:nvSpPr>
          <p:cNvPr id="16" name="arrow"/>
          <p:cNvSpPr/>
          <p:nvPr/>
        </p:nvSpPr>
        <p:spPr>
          <a:xfrm>
            <a:off x="5314493" y="221742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box 4 · Map host port 3000 → container port 3000"/>
          <p:cNvSpPr/>
          <p:nvPr/>
        </p:nvSpPr>
        <p:spPr>
          <a:xfrm>
            <a:off x="5515661" y="1691640"/>
            <a:ext cx="1484986" cy="1051560"/>
          </a:xfrm>
          <a:prstGeom prst="roundRect">
            <a:avLst>
              <a:gd name="adj" fmla="val 695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ox text 4 · Map host port 3000 → container port 3000"/>
          <p:cNvSpPr txBox="1"/>
          <p:nvPr/>
        </p:nvSpPr>
        <p:spPr>
          <a:xfrm>
            <a:off x="5515661" y="1691640"/>
            <a:ext cx="148498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4 · Map host 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3000 → container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port 3000</a:t>
            </a:r>
            <a:endParaRPr lang="en-US" sz="1100" dirty="0"/>
          </a:p>
        </p:txBody>
      </p:sp>
      <p:sp>
        <p:nvSpPr>
          <p:cNvPr id="19" name="arrow"/>
          <p:cNvSpPr/>
          <p:nvPr/>
        </p:nvSpPr>
        <p:spPr>
          <a:xfrm>
            <a:off x="7000646" y="2217420"/>
            <a:ext cx="20116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box 5 · Start CMD node index.js as process #1"/>
          <p:cNvSpPr/>
          <p:nvPr/>
        </p:nvSpPr>
        <p:spPr>
          <a:xfrm>
            <a:off x="7201814" y="1691640"/>
            <a:ext cx="1484986" cy="1051560"/>
          </a:xfrm>
          <a:prstGeom prst="roundRect">
            <a:avLst>
              <a:gd name="adj" fmla="val 695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ox text 5 · Start CMD node index.js as process #1"/>
          <p:cNvSpPr txBox="1"/>
          <p:nvPr/>
        </p:nvSpPr>
        <p:spPr>
          <a:xfrm>
            <a:off x="7201814" y="1691640"/>
            <a:ext cx="1484986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5 · Start CMD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node index.js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as process #1</a:t>
            </a:r>
            <a:endParaRPr lang="en-US" sz="1100" dirty="0"/>
          </a:p>
        </p:txBody>
      </p:sp>
      <p:sp>
        <p:nvSpPr>
          <p:cNvPr id="22" name="box Your browser localhost:3000"/>
          <p:cNvSpPr/>
          <p:nvPr/>
        </p:nvSpPr>
        <p:spPr>
          <a:xfrm>
            <a:off x="457200" y="30175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ox text Your browser localhost:3000"/>
          <p:cNvSpPr txBox="1"/>
          <p:nvPr/>
        </p:nvSpPr>
        <p:spPr>
          <a:xfrm>
            <a:off x="457200" y="3017520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Your browser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localhost:3000</a:t>
            </a:r>
            <a:endParaRPr lang="en-US" sz="1100" dirty="0"/>
          </a:p>
        </p:txBody>
      </p:sp>
      <p:sp>
        <p:nvSpPr>
          <p:cNvPr id="24" name="arrow"/>
          <p:cNvSpPr/>
          <p:nvPr/>
        </p:nvSpPr>
        <p:spPr>
          <a:xfrm>
            <a:off x="2194560" y="3383280"/>
            <a:ext cx="6400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box Host port 3000 (the -p left side)"/>
          <p:cNvSpPr/>
          <p:nvPr/>
        </p:nvSpPr>
        <p:spPr>
          <a:xfrm>
            <a:off x="2834640" y="30175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box text Host port 3000 (the -p left side)"/>
          <p:cNvSpPr txBox="1"/>
          <p:nvPr/>
        </p:nvSpPr>
        <p:spPr>
          <a:xfrm>
            <a:off x="2834640" y="3017520"/>
            <a:ext cx="18288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Host port 3000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(the -p left side)</a:t>
            </a:r>
            <a:endParaRPr lang="en-US" sz="1100" dirty="0"/>
          </a:p>
        </p:txBody>
      </p:sp>
      <p:sp>
        <p:nvSpPr>
          <p:cNvPr id="27" name="arrow"/>
          <p:cNvSpPr/>
          <p:nvPr/>
        </p:nvSpPr>
        <p:spPr>
          <a:xfrm>
            <a:off x="4663440" y="3383280"/>
            <a:ext cx="6400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box Container port 3000  (the -p right side) node is listening here"/>
          <p:cNvSpPr/>
          <p:nvPr/>
        </p:nvSpPr>
        <p:spPr>
          <a:xfrm>
            <a:off x="5303520" y="3017520"/>
            <a:ext cx="338328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box text Container port 3000  (the -p right side) node is listening here"/>
          <p:cNvSpPr txBox="1"/>
          <p:nvPr/>
        </p:nvSpPr>
        <p:spPr>
          <a:xfrm>
            <a:off x="5303520" y="3017520"/>
            <a:ext cx="33832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Container port 3000  (the -p right side)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node is listening here</a:t>
            </a:r>
            <a:endParaRPr lang="en-US" sz="1100" dirty="0"/>
          </a:p>
        </p:txBody>
      </p:sp>
      <p:sp>
        <p:nvSpPr>
          <p:cNvPr id="30" name="box A container lives exactly as long as its main process. Process exits → container stops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box text A container lives exactly as long as its main process. Process exits → container stops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 container lives exactly as long as its main process. Process exits → container stops.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Container lifecycle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DOCKER</a:t>
            </a:r>
            <a:endParaRPr lang="en-US" sz="900" dirty="0"/>
          </a:p>
        </p:txBody>
      </p:sp>
      <p:sp>
        <p:nvSpPr>
          <p:cNvPr id="6" name="box Image"/>
          <p:cNvSpPr/>
          <p:nvPr/>
        </p:nvSpPr>
        <p:spPr>
          <a:xfrm>
            <a:off x="457200" y="137160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box text Image"/>
          <p:cNvSpPr txBox="1"/>
          <p:nvPr/>
        </p:nvSpPr>
        <p:spPr>
          <a:xfrm>
            <a:off x="45720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Image</a:t>
            </a:r>
            <a:endParaRPr lang="en-US" sz="1400" dirty="0"/>
          </a:p>
        </p:txBody>
      </p:sp>
      <p:sp>
        <p:nvSpPr>
          <p:cNvPr id="8" name="box Created"/>
          <p:cNvSpPr/>
          <p:nvPr/>
        </p:nvSpPr>
        <p:spPr>
          <a:xfrm>
            <a:off x="2148840" y="137160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text Created"/>
          <p:cNvSpPr txBox="1"/>
          <p:nvPr/>
        </p:nvSpPr>
        <p:spPr>
          <a:xfrm>
            <a:off x="214884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Created</a:t>
            </a:r>
            <a:endParaRPr lang="en-US" sz="1400" dirty="0"/>
          </a:p>
        </p:txBody>
      </p:sp>
      <p:sp>
        <p:nvSpPr>
          <p:cNvPr id="10" name="box Running"/>
          <p:cNvSpPr/>
          <p:nvPr/>
        </p:nvSpPr>
        <p:spPr>
          <a:xfrm>
            <a:off x="3840480" y="137160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box text Running"/>
          <p:cNvSpPr txBox="1"/>
          <p:nvPr/>
        </p:nvSpPr>
        <p:spPr>
          <a:xfrm>
            <a:off x="384048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Running</a:t>
            </a:r>
            <a:endParaRPr lang="en-US" sz="1400" dirty="0"/>
          </a:p>
        </p:txBody>
      </p:sp>
      <p:sp>
        <p:nvSpPr>
          <p:cNvPr id="12" name="box Stopped"/>
          <p:cNvSpPr/>
          <p:nvPr/>
        </p:nvSpPr>
        <p:spPr>
          <a:xfrm>
            <a:off x="5532120" y="137160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ox text Stopped"/>
          <p:cNvSpPr txBox="1"/>
          <p:nvPr/>
        </p:nvSpPr>
        <p:spPr>
          <a:xfrm>
            <a:off x="553212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Stopped</a:t>
            </a:r>
            <a:endParaRPr lang="en-US" sz="1400" dirty="0"/>
          </a:p>
        </p:txBody>
      </p:sp>
      <p:sp>
        <p:nvSpPr>
          <p:cNvPr id="14" name="box Removed"/>
          <p:cNvSpPr/>
          <p:nvPr/>
        </p:nvSpPr>
        <p:spPr>
          <a:xfrm>
            <a:off x="7223760" y="137160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x text Removed"/>
          <p:cNvSpPr txBox="1"/>
          <p:nvPr/>
        </p:nvSpPr>
        <p:spPr>
          <a:xfrm>
            <a:off x="722376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Removed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1920240" y="173736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1691640" y="21488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</a:t>
            </a:r>
            <a:endParaRPr lang="en-US" sz="900" dirty="0"/>
          </a:p>
        </p:txBody>
      </p:sp>
      <p:sp>
        <p:nvSpPr>
          <p:cNvPr id="18" name="arrow"/>
          <p:cNvSpPr/>
          <p:nvPr/>
        </p:nvSpPr>
        <p:spPr>
          <a:xfrm>
            <a:off x="3611880" y="173736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3383280" y="21488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(auto)</a:t>
            </a:r>
            <a:endParaRPr lang="en-US" sz="900" dirty="0"/>
          </a:p>
        </p:txBody>
      </p:sp>
      <p:sp>
        <p:nvSpPr>
          <p:cNvPr id="20" name="arrow"/>
          <p:cNvSpPr/>
          <p:nvPr/>
        </p:nvSpPr>
        <p:spPr>
          <a:xfrm>
            <a:off x="5303520" y="173736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5074920" y="21488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</a:t>
            </a:r>
            <a:endParaRPr lang="en-US" sz="900" dirty="0"/>
          </a:p>
        </p:txBody>
      </p:sp>
      <p:sp>
        <p:nvSpPr>
          <p:cNvPr id="22" name="arrow"/>
          <p:cNvSpPr/>
          <p:nvPr/>
        </p:nvSpPr>
        <p:spPr>
          <a:xfrm>
            <a:off x="6995160" y="1737360"/>
            <a:ext cx="2286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766560" y="21488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</a:t>
            </a:r>
            <a:endParaRPr lang="en-US" sz="900" dirty="0"/>
          </a:p>
        </p:txBody>
      </p:sp>
      <p:sp>
        <p:nvSpPr>
          <p:cNvPr id="24" name="start tick"/>
          <p:cNvSpPr/>
          <p:nvPr/>
        </p:nvSpPr>
        <p:spPr>
          <a:xfrm>
            <a:off x="5852160" y="1143000"/>
            <a:ext cx="0" cy="228600"/>
          </a:xfrm>
          <a:prstGeom prst="line">
            <a:avLst/>
          </a:prstGeom>
          <a:noFill/>
          <a:ln w="1905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rrow"/>
          <p:cNvSpPr/>
          <p:nvPr/>
        </p:nvSpPr>
        <p:spPr>
          <a:xfrm flipH="1">
            <a:off x="4023360" y="1143000"/>
            <a:ext cx="18288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4206240" y="914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start</a:t>
            </a:r>
            <a:endParaRPr lang="en-US" sz="900" dirty="0"/>
          </a:p>
        </p:txBody>
      </p:sp>
      <p:sp>
        <p:nvSpPr>
          <p:cNvPr id="27" name="While it's Running card"/>
          <p:cNvSpPr/>
          <p:nvPr/>
        </p:nvSpPr>
        <p:spPr>
          <a:xfrm>
            <a:off x="457200" y="2606040"/>
            <a:ext cx="40233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While it's Running circle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While it's Running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8036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23444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While it's Running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640080" y="33832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 ps: list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 logs web: its stdout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 exec -it web sh: a shell inside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 stats: CPU / memory</a:t>
            </a:r>
            <a:endParaRPr lang="en-US" sz="1300" dirty="0"/>
          </a:p>
        </p:txBody>
      </p:sp>
      <p:sp>
        <p:nvSpPr>
          <p:cNvPr id="32" name="Stopped vs removed card"/>
          <p:cNvSpPr/>
          <p:nvPr/>
        </p:nvSpPr>
        <p:spPr>
          <a:xfrm>
            <a:off x="4663440" y="2606040"/>
            <a:ext cx="40233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topped vs removed circle"/>
          <p:cNvSpPr/>
          <p:nvPr/>
        </p:nvSpPr>
        <p:spPr>
          <a:xfrm>
            <a:off x="4846320" y="2788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Stopped vs removed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880360"/>
            <a:ext cx="274320" cy="27432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544068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Stopped vs removed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4846320" y="33832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stop: process killed, files kept, can start again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rm: container gone, writable layer gone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image is never affected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 ps -a shows stopped ones too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Docker commands you'll use in the lab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DOCKER</a:t>
            </a:r>
            <a:endParaRPr lang="en-US" sz="900" dirty="0"/>
          </a:p>
        </p:txBody>
      </p:sp>
      <p:graphicFrame>
        <p:nvGraphicFramePr>
          <p:cNvPr id="13" name="command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133344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build -t hello-devops:v1 .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Dockerfile → image.  -t name:tag,  '.' = folder to send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images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Images on this machine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run -d -p 3000:3000 --name web hello-devops:v1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Image → container.  -d background,  -p host:container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ps   /   docker ps -a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Running containers / including stopped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logs web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What the app printed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exec -it web sh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Open a shell inside the container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run -e APP_VERSION=v2 ...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Configure with env vars, don't rebuild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docker stop web &amp;&amp; docker rm web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</a:rPr>
                        <a:t>Containers are disposable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Quick check · Docker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DOCKER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Say the answer out loud before the instructor does</a:t>
            </a:r>
            <a:endParaRPr lang="en-US" sz="1300" dirty="0"/>
          </a:p>
        </p:txBody>
      </p:sp>
      <p:sp>
        <p:nvSpPr>
          <p:cNvPr id="7" name="q circle 0"/>
          <p:cNvSpPr/>
          <p:nvPr/>
        </p:nvSpPr>
        <p:spPr>
          <a:xfrm>
            <a:off x="457200" y="15270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Q1</a:t>
            </a:r>
            <a:endParaRPr lang="en-US" sz="1300" dirty="0"/>
          </a:p>
        </p:txBody>
      </p:sp>
      <p:sp>
        <p:nvSpPr>
          <p:cNvPr id="9" name="q box 0"/>
          <p:cNvSpPr/>
          <p:nvPr/>
        </p:nvSpPr>
        <p:spPr>
          <a:xfrm>
            <a:off x="1143000" y="1417320"/>
            <a:ext cx="7543800" cy="731520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325880" y="1417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If I run the same image twice, do the two containers share files they write at runtime?</a:t>
            </a:r>
            <a:endParaRPr lang="en-US" sz="1500" dirty="0"/>
          </a:p>
        </p:txBody>
      </p:sp>
      <p:sp>
        <p:nvSpPr>
          <p:cNvPr id="11" name="q circle 1"/>
          <p:cNvSpPr/>
          <p:nvPr/>
        </p:nvSpPr>
        <p:spPr>
          <a:xfrm>
            <a:off x="457200" y="23957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5720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Q2</a:t>
            </a:r>
            <a:endParaRPr lang="en-US" sz="1300" dirty="0"/>
          </a:p>
        </p:txBody>
      </p:sp>
      <p:sp>
        <p:nvSpPr>
          <p:cNvPr id="13" name="q box 1"/>
          <p:cNvSpPr/>
          <p:nvPr/>
        </p:nvSpPr>
        <p:spPr>
          <a:xfrm>
            <a:off x="1143000" y="2286000"/>
            <a:ext cx="7543800" cy="731520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32588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 changed index.js and rebuilt. Does 'npm install' run again? Why not?</a:t>
            </a:r>
            <a:endParaRPr lang="en-US" sz="1500" dirty="0"/>
          </a:p>
        </p:txBody>
      </p:sp>
      <p:sp>
        <p:nvSpPr>
          <p:cNvPr id="15" name="q circle 2"/>
          <p:cNvSpPr/>
          <p:nvPr/>
        </p:nvSpPr>
        <p:spPr>
          <a:xfrm>
            <a:off x="457200" y="32644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5720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Q3</a:t>
            </a:r>
            <a:endParaRPr lang="en-US" sz="1300" dirty="0"/>
          </a:p>
        </p:txBody>
      </p:sp>
      <p:sp>
        <p:nvSpPr>
          <p:cNvPr id="17" name="q box 2"/>
          <p:cNvSpPr/>
          <p:nvPr/>
        </p:nvSpPr>
        <p:spPr>
          <a:xfrm>
            <a:off x="1143000" y="3154680"/>
            <a:ext cx="7543800" cy="731520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1325880" y="315468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 ran with -p 8080:3000. Which port do I type in the browser?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Docker · 3 things to remember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DOCKER</a:t>
            </a:r>
            <a:endParaRPr lang="en-US" sz="900" dirty="0"/>
          </a:p>
        </p:txBody>
      </p:sp>
      <p:sp>
        <p:nvSpPr>
          <p:cNvPr id="6" name="recap 0"/>
          <p:cNvSpPr/>
          <p:nvPr/>
        </p:nvSpPr>
        <p:spPr>
          <a:xfrm>
            <a:off x="457200" y="109728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ap circle 0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recap icon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12070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Image = frozen filesystem + start command. Container = that image, running.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1600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Build once, run many. Same image on your laptop, in CI and in production.</a:t>
            </a:r>
            <a:endParaRPr lang="en-US" sz="1200" dirty="0"/>
          </a:p>
        </p:txBody>
      </p:sp>
      <p:sp>
        <p:nvSpPr>
          <p:cNvPr id="11" name="recap 1"/>
          <p:cNvSpPr/>
          <p:nvPr/>
        </p:nvSpPr>
        <p:spPr>
          <a:xfrm>
            <a:off x="457200" y="224028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ap circle 1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recap icon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060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23500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container is just a process in a box, not a small VM.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2743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It shares the host kernel, starts in milliseconds and dies when its main process exits.</a:t>
            </a:r>
            <a:endParaRPr lang="en-US" sz="1200" dirty="0"/>
          </a:p>
        </p:txBody>
      </p:sp>
      <p:sp>
        <p:nvSpPr>
          <p:cNvPr id="16" name="recap 2"/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ap circle 2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recap icon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490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80160" y="34930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Order your Dockerfile so rarely-changing things come first.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280160" y="3886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Layers are cached top-down; dependencies before source code keeps rebuilds fast.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Lab 1 · Build and run a container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HANDS-ON</a:t>
            </a:r>
            <a:endParaRPr lang="en-US" sz="900" dirty="0"/>
          </a:p>
        </p:txBody>
      </p:sp>
      <p:sp>
        <p:nvSpPr>
          <p:cNvPr id="6" name="time badge"/>
          <p:cNvSpPr/>
          <p:nvPr/>
        </p:nvSpPr>
        <p:spPr>
          <a:xfrm>
            <a:off x="5760720" y="38404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ime badge text"/>
          <p:cNvSpPr txBox="1"/>
          <p:nvPr/>
        </p:nvSpPr>
        <p:spPr>
          <a:xfrm>
            <a:off x="5760720" y="3840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30 min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Open  labs/01-docker.md  in your Codespace and mirror the instructor</a:t>
            </a:r>
            <a:endParaRPr lang="en-US" sz="1500" dirty="0"/>
          </a:p>
        </p:txBody>
      </p:sp>
      <p:sp>
        <p:nvSpPr>
          <p:cNvPr id="9" name="box 1"/>
          <p:cNvSpPr/>
          <p:nvPr/>
        </p:nvSpPr>
        <p:spPr>
          <a:xfrm>
            <a:off x="457200" y="1463040"/>
            <a:ext cx="36576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ox text 1"/>
          <p:cNvSpPr txBox="1"/>
          <p:nvPr/>
        </p:nvSpPr>
        <p:spPr>
          <a:xfrm>
            <a:off x="457200" y="1463040"/>
            <a:ext cx="3657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14630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Run the app with npm (the old way)</a:t>
            </a:r>
            <a:endParaRPr lang="en-US" sz="1400" dirty="0"/>
          </a:p>
        </p:txBody>
      </p:sp>
      <p:sp>
        <p:nvSpPr>
          <p:cNvPr id="12" name="box 2"/>
          <p:cNvSpPr/>
          <p:nvPr/>
        </p:nvSpPr>
        <p:spPr>
          <a:xfrm>
            <a:off x="457200" y="1892808"/>
            <a:ext cx="36576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ox text 2"/>
          <p:cNvSpPr txBox="1"/>
          <p:nvPr/>
        </p:nvSpPr>
        <p:spPr>
          <a:xfrm>
            <a:off x="457200" y="1892808"/>
            <a:ext cx="3657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1892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Dockerfile</a:t>
            </a:r>
            <a:endParaRPr lang="en-US" sz="1400" dirty="0"/>
          </a:p>
        </p:txBody>
      </p:sp>
      <p:sp>
        <p:nvSpPr>
          <p:cNvPr id="15" name="box 3"/>
          <p:cNvSpPr/>
          <p:nvPr/>
        </p:nvSpPr>
        <p:spPr>
          <a:xfrm>
            <a:off x="457200" y="2322576"/>
            <a:ext cx="36576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ox text 3"/>
          <p:cNvSpPr txBox="1"/>
          <p:nvPr/>
        </p:nvSpPr>
        <p:spPr>
          <a:xfrm>
            <a:off x="457200" y="2322576"/>
            <a:ext cx="3657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23225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docker build → docker images</a:t>
            </a:r>
            <a:endParaRPr lang="en-US" sz="1400" dirty="0"/>
          </a:p>
        </p:txBody>
      </p:sp>
      <p:sp>
        <p:nvSpPr>
          <p:cNvPr id="18" name="box 4"/>
          <p:cNvSpPr/>
          <p:nvPr/>
        </p:nvSpPr>
        <p:spPr>
          <a:xfrm>
            <a:off x="457200" y="2752344"/>
            <a:ext cx="36576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ox text 4"/>
          <p:cNvSpPr txBox="1"/>
          <p:nvPr/>
        </p:nvSpPr>
        <p:spPr>
          <a:xfrm>
            <a:off x="457200" y="2752344"/>
            <a:ext cx="3657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" y="27523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docker run -d -p 3000:3000 → open in browser</a:t>
            </a:r>
            <a:endParaRPr lang="en-US" sz="1400" dirty="0"/>
          </a:p>
        </p:txBody>
      </p:sp>
      <p:sp>
        <p:nvSpPr>
          <p:cNvPr id="21" name="box 5"/>
          <p:cNvSpPr/>
          <p:nvPr/>
        </p:nvSpPr>
        <p:spPr>
          <a:xfrm>
            <a:off x="457200" y="3182112"/>
            <a:ext cx="36576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ox text 5"/>
          <p:cNvSpPr txBox="1"/>
          <p:nvPr/>
        </p:nvSpPr>
        <p:spPr>
          <a:xfrm>
            <a:off x="457200" y="3182112"/>
            <a:ext cx="3657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60120" y="31821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docker logs, docker exec: look inside</a:t>
            </a:r>
            <a:endParaRPr lang="en-US" sz="1400" dirty="0"/>
          </a:p>
        </p:txBody>
      </p:sp>
      <p:sp>
        <p:nvSpPr>
          <p:cNvPr id="24" name="box 6"/>
          <p:cNvSpPr/>
          <p:nvPr/>
        </p:nvSpPr>
        <p:spPr>
          <a:xfrm>
            <a:off x="457200" y="3611880"/>
            <a:ext cx="36576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box text 6"/>
          <p:cNvSpPr txBox="1"/>
          <p:nvPr/>
        </p:nvSpPr>
        <p:spPr>
          <a:xfrm>
            <a:off x="457200" y="3611880"/>
            <a:ext cx="3657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60120" y="36118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Same image, APP_VERSION=v2 on port 3001</a:t>
            </a:r>
            <a:endParaRPr lang="en-US" sz="1400" dirty="0"/>
          </a:p>
        </p:txBody>
      </p:sp>
      <p:sp>
        <p:nvSpPr>
          <p:cNvPr id="27" name="box 7"/>
          <p:cNvSpPr/>
          <p:nvPr/>
        </p:nvSpPr>
        <p:spPr>
          <a:xfrm>
            <a:off x="457200" y="4041648"/>
            <a:ext cx="36576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box text 7"/>
          <p:cNvSpPr txBox="1"/>
          <p:nvPr/>
        </p:nvSpPr>
        <p:spPr>
          <a:xfrm>
            <a:off x="457200" y="4041648"/>
            <a:ext cx="3657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60120" y="40416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Stop, rm, clean up</a:t>
            </a:r>
            <a:endParaRPr lang="en-US" sz="1400" dirty="0"/>
          </a:p>
        </p:txBody>
      </p:sp>
      <p:sp>
        <p:nvSpPr>
          <p:cNvPr id="30" name="Done when card"/>
          <p:cNvSpPr/>
          <p:nvPr/>
        </p:nvSpPr>
        <p:spPr>
          <a:xfrm>
            <a:off x="5486400" y="1463040"/>
            <a:ext cx="3200400" cy="1234440"/>
          </a:xfrm>
          <a:prstGeom prst="roundRect">
            <a:avLst>
              <a:gd name="adj" fmla="val 888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Done when circle"/>
          <p:cNvSpPr/>
          <p:nvPr/>
        </p:nvSpPr>
        <p:spPr>
          <a:xfrm>
            <a:off x="5669280" y="164592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Done when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737360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6263640" y="1645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Done when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5669280" y="2240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You opened the app in a browser from a container, and ran a second copy with a different version.</a:t>
            </a:r>
            <a:endParaRPr lang="en-US" sz="1200" dirty="0"/>
          </a:p>
        </p:txBody>
      </p:sp>
      <p:sp>
        <p:nvSpPr>
          <p:cNvPr id="35" name="Stuck? card"/>
          <p:cNvSpPr/>
          <p:nvPr/>
        </p:nvSpPr>
        <p:spPr>
          <a:xfrm>
            <a:off x="5486400" y="283464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tuck? circle"/>
          <p:cNvSpPr/>
          <p:nvPr/>
        </p:nvSpPr>
        <p:spPr>
          <a:xfrm>
            <a:off x="5669280" y="301752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Stuck?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108960"/>
            <a:ext cx="274320" cy="274320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6263640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Stuck?</a:t>
            </a:r>
            <a:endParaRPr lang="en-US" sz="1600" dirty="0"/>
          </a:p>
        </p:txBody>
      </p:sp>
      <p:sp>
        <p:nvSpPr>
          <p:cNvPr id="39" name="Text 34"/>
          <p:cNvSpPr txBox="1"/>
          <p:nvPr/>
        </p:nvSpPr>
        <p:spPr>
          <a:xfrm>
            <a:off x="5669280" y="36118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bash labs/check.sh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Daemon error → wait 30 s, retry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 port popup → PORTS tab 🙋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Part 2 · Kubernetes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</a:rPr>
              <a:t>Running containers at scale, without babysitting them</a:t>
            </a:r>
            <a:endParaRPr lang="en-US" sz="1800" dirty="0"/>
          </a:p>
        </p:txBody>
      </p:sp>
      <p:pic>
        <p:nvPicPr>
          <p:cNvPr id="5" name="k8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630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Docker runs one container. Who runs 200?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It crashed at 3 am card"/>
          <p:cNvSpPr/>
          <p:nvPr/>
        </p:nvSpPr>
        <p:spPr>
          <a:xfrm>
            <a:off x="457200" y="109728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It crashed at 3 am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t crashed at 3 am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 crashed at 3 am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Who notices? Who restarts it?</a:t>
            </a:r>
            <a:endParaRPr lang="en-US" sz="1300" dirty="0"/>
          </a:p>
        </p:txBody>
      </p:sp>
      <p:sp>
        <p:nvSpPr>
          <p:cNvPr id="11" name="Traffic spiked card"/>
          <p:cNvSpPr/>
          <p:nvPr/>
        </p:nvSpPr>
        <p:spPr>
          <a:xfrm>
            <a:off x="4663440" y="109728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raffic spiked circle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Traffic spiked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Traffic spiked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84632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Who starts 10 more copies, and spreads them over 5 servers?</a:t>
            </a:r>
            <a:endParaRPr lang="en-US" sz="1300" dirty="0"/>
          </a:p>
        </p:txBody>
      </p:sp>
      <p:sp>
        <p:nvSpPr>
          <p:cNvPr id="16" name="New version card"/>
          <p:cNvSpPr/>
          <p:nvPr/>
        </p:nvSpPr>
        <p:spPr>
          <a:xfrm>
            <a:off x="457200" y="256032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New version circle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New version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346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2743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New version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How do you update without downtime? Roll back if it's bad?</a:t>
            </a:r>
            <a:endParaRPr lang="en-US" sz="1300" dirty="0"/>
          </a:p>
        </p:txBody>
      </p:sp>
      <p:sp>
        <p:nvSpPr>
          <p:cNvPr id="21" name="Finding each other card"/>
          <p:cNvSpPr/>
          <p:nvPr/>
        </p:nvSpPr>
        <p:spPr>
          <a:xfrm>
            <a:off x="4663440" y="256032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Finding each other circle"/>
          <p:cNvSpPr/>
          <p:nvPr/>
        </p:nvSpPr>
        <p:spPr>
          <a:xfrm>
            <a:off x="4846320" y="274320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Finding each other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83464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440680" y="2743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Finding each other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484632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Container IPs change. How does the frontend find the backend?</a:t>
            </a:r>
            <a:endParaRPr lang="en-US" sz="1300" dirty="0"/>
          </a:p>
        </p:txBody>
      </p:sp>
      <p:sp>
        <p:nvSpPr>
          <p:cNvPr id="26" name="box Kubernetes (K8s) is an orchestrator: you describe what you want, it keeps reality matching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box text Kubernetes (K8s) is an orchestrator: you describe what you want, it keeps reality matching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Kubernetes (K8s) is an orchestrator: you describe what you want, it keeps reality matching.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Cluster architecture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Control plane (the brain)</a:t>
            </a:r>
            <a:endParaRPr lang="en-US" sz="1400" dirty="0"/>
          </a:p>
        </p:txBody>
      </p:sp>
      <p:sp>
        <p:nvSpPr>
          <p:cNvPr id="7" name="cp box"/>
          <p:cNvSpPr/>
          <p:nvPr/>
        </p:nvSpPr>
        <p:spPr>
          <a:xfrm>
            <a:off x="457200" y="137160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ox kube-apiserver"/>
          <p:cNvSpPr/>
          <p:nvPr/>
        </p:nvSpPr>
        <p:spPr>
          <a:xfrm>
            <a:off x="594360" y="150876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text kube-apiserver"/>
          <p:cNvSpPr txBox="1"/>
          <p:nvPr/>
        </p:nvSpPr>
        <p:spPr>
          <a:xfrm>
            <a:off x="59436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kube-apiserver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057400" y="15087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front door: everything goes through it (kubectl talks here)</a:t>
            </a:r>
            <a:endParaRPr lang="en-US" sz="1100" dirty="0"/>
          </a:p>
        </p:txBody>
      </p:sp>
      <p:sp>
        <p:nvSpPr>
          <p:cNvPr id="11" name="box etcd"/>
          <p:cNvSpPr/>
          <p:nvPr/>
        </p:nvSpPr>
        <p:spPr>
          <a:xfrm>
            <a:off x="594360" y="2221992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 text etcd"/>
          <p:cNvSpPr txBox="1"/>
          <p:nvPr/>
        </p:nvSpPr>
        <p:spPr>
          <a:xfrm>
            <a:off x="594360" y="2221992"/>
            <a:ext cx="13716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etcd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057400" y="222199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key-value database: the cluster's memory</a:t>
            </a:r>
            <a:endParaRPr lang="en-US" sz="1100" dirty="0"/>
          </a:p>
        </p:txBody>
      </p:sp>
      <p:sp>
        <p:nvSpPr>
          <p:cNvPr id="14" name="box scheduler"/>
          <p:cNvSpPr/>
          <p:nvPr/>
        </p:nvSpPr>
        <p:spPr>
          <a:xfrm>
            <a:off x="594360" y="2935224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x text scheduler"/>
          <p:cNvSpPr txBox="1"/>
          <p:nvPr/>
        </p:nvSpPr>
        <p:spPr>
          <a:xfrm>
            <a:off x="594360" y="2935224"/>
            <a:ext cx="13716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scheduler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057400" y="293522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picks which node a new Pod runs on</a:t>
            </a:r>
            <a:endParaRPr lang="en-US" sz="1100" dirty="0"/>
          </a:p>
        </p:txBody>
      </p:sp>
      <p:sp>
        <p:nvSpPr>
          <p:cNvPr id="17" name="box controller manager"/>
          <p:cNvSpPr/>
          <p:nvPr/>
        </p:nvSpPr>
        <p:spPr>
          <a:xfrm>
            <a:off x="594360" y="3648456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ox text controller manager"/>
          <p:cNvSpPr txBox="1"/>
          <p:nvPr/>
        </p:nvSpPr>
        <p:spPr>
          <a:xfrm>
            <a:off x="594360" y="3648456"/>
            <a:ext cx="13716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controller manager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2057400" y="364845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reconciliation loops: desired vs actual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Worker nodes (the muscle)</a:t>
            </a:r>
            <a:endParaRPr lang="en-US" sz="1400" dirty="0"/>
          </a:p>
        </p:txBody>
      </p:sp>
      <p:sp>
        <p:nvSpPr>
          <p:cNvPr id="21" name="node box 0"/>
          <p:cNvSpPr/>
          <p:nvPr/>
        </p:nvSpPr>
        <p:spPr>
          <a:xfrm>
            <a:off x="4572000" y="1371600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66344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node 1</a:t>
            </a:r>
            <a:endParaRPr lang="en-US" sz="1100" dirty="0"/>
          </a:p>
        </p:txBody>
      </p:sp>
      <p:sp>
        <p:nvSpPr>
          <p:cNvPr id="23" name="box kubelet"/>
          <p:cNvSpPr/>
          <p:nvPr/>
        </p:nvSpPr>
        <p:spPr>
          <a:xfrm>
            <a:off x="4709160" y="173736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ox text kubelet"/>
          <p:cNvSpPr txBox="1"/>
          <p:nvPr/>
        </p:nvSpPr>
        <p:spPr>
          <a:xfrm>
            <a:off x="470916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kubelet</a:t>
            </a:r>
            <a:endParaRPr lang="en-US" sz="1100" dirty="0"/>
          </a:p>
        </p:txBody>
      </p:sp>
      <p:sp>
        <p:nvSpPr>
          <p:cNvPr id="25" name="box kube-proxy"/>
          <p:cNvSpPr/>
          <p:nvPr/>
        </p:nvSpPr>
        <p:spPr>
          <a:xfrm>
            <a:off x="4709160" y="219456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box text kube-proxy"/>
          <p:cNvSpPr txBox="1"/>
          <p:nvPr/>
        </p:nvSpPr>
        <p:spPr>
          <a:xfrm>
            <a:off x="470916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kube-proxy</a:t>
            </a:r>
            <a:endParaRPr lang="en-US" sz="1100" dirty="0"/>
          </a:p>
        </p:txBody>
      </p:sp>
      <p:sp>
        <p:nvSpPr>
          <p:cNvPr id="27" name="box container runtime"/>
          <p:cNvSpPr/>
          <p:nvPr/>
        </p:nvSpPr>
        <p:spPr>
          <a:xfrm>
            <a:off x="4709160" y="265176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box text container runtime"/>
          <p:cNvSpPr txBox="1"/>
          <p:nvPr/>
        </p:nvSpPr>
        <p:spPr>
          <a:xfrm>
            <a:off x="470916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container runtime</a:t>
            </a:r>
            <a:endParaRPr lang="en-US" sz="1100" dirty="0"/>
          </a:p>
        </p:txBody>
      </p:sp>
      <p:sp>
        <p:nvSpPr>
          <p:cNvPr id="29" name="box Pod"/>
          <p:cNvSpPr/>
          <p:nvPr/>
        </p:nvSpPr>
        <p:spPr>
          <a:xfrm>
            <a:off x="4709160" y="3154680"/>
            <a:ext cx="82296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box text Pod"/>
          <p:cNvSpPr txBox="1"/>
          <p:nvPr/>
        </p:nvSpPr>
        <p:spPr>
          <a:xfrm>
            <a:off x="4709160" y="3154680"/>
            <a:ext cx="8229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Pod</a:t>
            </a:r>
            <a:endParaRPr lang="en-US" sz="1100" dirty="0"/>
          </a:p>
        </p:txBody>
      </p:sp>
      <p:sp>
        <p:nvSpPr>
          <p:cNvPr id="31" name="box Pod"/>
          <p:cNvSpPr/>
          <p:nvPr/>
        </p:nvSpPr>
        <p:spPr>
          <a:xfrm>
            <a:off x="5623560" y="3154680"/>
            <a:ext cx="82296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box text Pod"/>
          <p:cNvSpPr txBox="1"/>
          <p:nvPr/>
        </p:nvSpPr>
        <p:spPr>
          <a:xfrm>
            <a:off x="5623560" y="3154680"/>
            <a:ext cx="8229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Pod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70916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…</a:t>
            </a:r>
            <a:endParaRPr lang="en-US" sz="1200" dirty="0"/>
          </a:p>
        </p:txBody>
      </p:sp>
      <p:sp>
        <p:nvSpPr>
          <p:cNvPr id="34" name="node box 1"/>
          <p:cNvSpPr/>
          <p:nvPr/>
        </p:nvSpPr>
        <p:spPr>
          <a:xfrm>
            <a:off x="6675120" y="1371600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67665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node 2</a:t>
            </a:r>
            <a:endParaRPr lang="en-US" sz="1100" dirty="0"/>
          </a:p>
        </p:txBody>
      </p:sp>
      <p:sp>
        <p:nvSpPr>
          <p:cNvPr id="36" name="box kubelet"/>
          <p:cNvSpPr/>
          <p:nvPr/>
        </p:nvSpPr>
        <p:spPr>
          <a:xfrm>
            <a:off x="6812280" y="173736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box text kubelet"/>
          <p:cNvSpPr txBox="1"/>
          <p:nvPr/>
        </p:nvSpPr>
        <p:spPr>
          <a:xfrm>
            <a:off x="681228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kubelet</a:t>
            </a:r>
            <a:endParaRPr lang="en-US" sz="1100" dirty="0"/>
          </a:p>
        </p:txBody>
      </p:sp>
      <p:sp>
        <p:nvSpPr>
          <p:cNvPr id="38" name="box kube-proxy"/>
          <p:cNvSpPr/>
          <p:nvPr/>
        </p:nvSpPr>
        <p:spPr>
          <a:xfrm>
            <a:off x="6812280" y="219456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box text kube-proxy"/>
          <p:cNvSpPr txBox="1"/>
          <p:nvPr/>
        </p:nvSpPr>
        <p:spPr>
          <a:xfrm>
            <a:off x="681228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kube-proxy</a:t>
            </a:r>
            <a:endParaRPr lang="en-US" sz="1100" dirty="0"/>
          </a:p>
        </p:txBody>
      </p:sp>
      <p:sp>
        <p:nvSpPr>
          <p:cNvPr id="40" name="box container runtime"/>
          <p:cNvSpPr/>
          <p:nvPr/>
        </p:nvSpPr>
        <p:spPr>
          <a:xfrm>
            <a:off x="6812280" y="265176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box text container runtime"/>
          <p:cNvSpPr txBox="1"/>
          <p:nvPr/>
        </p:nvSpPr>
        <p:spPr>
          <a:xfrm>
            <a:off x="681228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container runtime</a:t>
            </a:r>
            <a:endParaRPr lang="en-US" sz="1100" dirty="0"/>
          </a:p>
        </p:txBody>
      </p:sp>
      <p:sp>
        <p:nvSpPr>
          <p:cNvPr id="42" name="box Pod"/>
          <p:cNvSpPr/>
          <p:nvPr/>
        </p:nvSpPr>
        <p:spPr>
          <a:xfrm>
            <a:off x="6812280" y="3154680"/>
            <a:ext cx="82296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box text Pod"/>
          <p:cNvSpPr txBox="1"/>
          <p:nvPr/>
        </p:nvSpPr>
        <p:spPr>
          <a:xfrm>
            <a:off x="6812280" y="3154680"/>
            <a:ext cx="8229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Pod</a:t>
            </a:r>
            <a:endParaRPr lang="en-US" sz="1100" dirty="0"/>
          </a:p>
        </p:txBody>
      </p:sp>
      <p:sp>
        <p:nvSpPr>
          <p:cNvPr id="44" name="box Pod"/>
          <p:cNvSpPr/>
          <p:nvPr/>
        </p:nvSpPr>
        <p:spPr>
          <a:xfrm>
            <a:off x="7726680" y="3154680"/>
            <a:ext cx="82296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box text Pod"/>
          <p:cNvSpPr txBox="1"/>
          <p:nvPr/>
        </p:nvSpPr>
        <p:spPr>
          <a:xfrm>
            <a:off x="7726680" y="3154680"/>
            <a:ext cx="8229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Pod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681228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…</a:t>
            </a:r>
            <a:endParaRPr lang="en-US" sz="1200" dirty="0"/>
          </a:p>
        </p:txBody>
      </p:sp>
      <p:sp>
        <p:nvSpPr>
          <p:cNvPr id="47" name="arrow"/>
          <p:cNvSpPr/>
          <p:nvPr/>
        </p:nvSpPr>
        <p:spPr>
          <a:xfrm>
            <a:off x="4023360" y="2834640"/>
            <a:ext cx="54864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minikube = all of this on one machine, for learning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Three objects cover 80% of what you'll do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Pod card"/>
          <p:cNvSpPr/>
          <p:nvPr/>
        </p:nvSpPr>
        <p:spPr>
          <a:xfrm>
            <a:off x="457200" y="109728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od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od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Pod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Smallest unit: 1 (or a few) containers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Gets its own IP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Mortal: dies, gets replaced, new IP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You rarely create Pods directly</a:t>
            </a:r>
            <a:endParaRPr lang="en-US" sz="1300" dirty="0"/>
          </a:p>
        </p:txBody>
      </p:sp>
      <p:sp>
        <p:nvSpPr>
          <p:cNvPr id="11" name="Deployment card"/>
          <p:cNvSpPr/>
          <p:nvPr/>
        </p:nvSpPr>
        <p:spPr>
          <a:xfrm>
            <a:off x="3264408" y="109728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eployment circle"/>
          <p:cNvSpPr/>
          <p:nvPr/>
        </p:nvSpPr>
        <p:spPr>
          <a:xfrm>
            <a:off x="3447288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Deployment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41648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Deployment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447288" y="18745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"Keep 2 Pods of this template running"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Scales up / down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Rolling updates + rollbacks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Replaces dead Pods</a:t>
            </a:r>
            <a:endParaRPr lang="en-US" sz="1300" dirty="0"/>
          </a:p>
        </p:txBody>
      </p:sp>
      <p:sp>
        <p:nvSpPr>
          <p:cNvPr id="16" name="Service card"/>
          <p:cNvSpPr/>
          <p:nvPr/>
        </p:nvSpPr>
        <p:spPr>
          <a:xfrm>
            <a:off x="6080760" y="1097280"/>
            <a:ext cx="2606040" cy="27432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ervice circle"/>
          <p:cNvSpPr/>
          <p:nvPr/>
        </p:nvSpPr>
        <p:spPr>
          <a:xfrm>
            <a:off x="6263640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Service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3716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5800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Service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263640" y="18745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Stable name + IP for a set of Pods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Load-balances across them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Finds Pods by label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Types: ClusterIP, NodePort, LoadBalancer</a:t>
            </a:r>
            <a:endParaRPr lang="en-US" sz="1300" dirty="0"/>
          </a:p>
        </p:txBody>
      </p:sp>
      <p:sp>
        <p:nvSpPr>
          <p:cNvPr id="21" name="box The glue is labels: Deployment manages, and Service routes to, Pods labelled  app: hello-devops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ox text The glue is labels: Deployment manages, and Service routes to, Pods labelled  app: hello-devops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The glue is labels: Deployment manages, and Service routes to, Pods labelled  app: hello-devops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The one idea behind everything: desired state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box You declare (YAML) replicas: 2"/>
          <p:cNvSpPr/>
          <p:nvPr/>
        </p:nvSpPr>
        <p:spPr>
          <a:xfrm>
            <a:off x="457200" y="1280160"/>
            <a:ext cx="228600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box text You declare (YAML) replicas: 2"/>
          <p:cNvSpPr txBox="1"/>
          <p:nvPr/>
        </p:nvSpPr>
        <p:spPr>
          <a:xfrm>
            <a:off x="457200" y="1280160"/>
            <a:ext cx="22860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You declare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(YAML)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replicas: 2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2743200" y="182880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Controller compares desired vs actual"/>
          <p:cNvSpPr/>
          <p:nvPr/>
        </p:nvSpPr>
        <p:spPr>
          <a:xfrm>
            <a:off x="3200400" y="1280160"/>
            <a:ext cx="2286000" cy="109728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ox text Controller compares desired vs actual"/>
          <p:cNvSpPr txBox="1"/>
          <p:nvPr/>
        </p:nvSpPr>
        <p:spPr>
          <a:xfrm>
            <a:off x="3200400" y="1280160"/>
            <a:ext cx="22860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Controller compares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desired vs actual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5486400" y="182880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 Acts start / stop / move Pods"/>
          <p:cNvSpPr/>
          <p:nvPr/>
        </p:nvSpPr>
        <p:spPr>
          <a:xfrm>
            <a:off x="5943600" y="12801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ox text Acts start / stop / move Pods"/>
          <p:cNvSpPr txBox="1"/>
          <p:nvPr/>
        </p:nvSpPr>
        <p:spPr>
          <a:xfrm>
            <a:off x="5943600" y="1280160"/>
            <a:ext cx="27432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Acts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start / stop / move Pods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7315200" y="2377440"/>
            <a:ext cx="0" cy="3200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loop line"/>
          <p:cNvSpPr/>
          <p:nvPr/>
        </p:nvSpPr>
        <p:spPr>
          <a:xfrm>
            <a:off x="4343400" y="2697480"/>
            <a:ext cx="29718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arrow"/>
          <p:cNvSpPr/>
          <p:nvPr/>
        </p:nvSpPr>
        <p:spPr>
          <a:xfrm flipV="1">
            <a:off x="4343400" y="2377440"/>
            <a:ext cx="0" cy="3200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434340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tx2"/>
                </a:solidFill>
              </a:rPr>
              <a:t>…forever, every few seconds (the reconciliation loop)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154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Imperative: "start container X on server 3" (you do the work, you handle failure)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Declarative: "I want 2 copies of X" (K8s does the work, forever)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Pod dies → actual = 1, desired = 2 → a new Pod appears. Nobody got paged.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Scaling = change one number. Updating = change one image tag.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Every YAML file has the same 4 parts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ode bg"/>
          <p:cNvSpPr/>
          <p:nvPr/>
        </p:nvSpPr>
        <p:spPr>
          <a:xfrm>
            <a:off x="457200" y="1097280"/>
            <a:ext cx="5120640" cy="274320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de"/>
          <p:cNvSpPr txBox="1"/>
          <p:nvPr/>
        </p:nvSpPr>
        <p:spPr>
          <a:xfrm>
            <a:off x="594360" y="118872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apps/v1      # which API group / version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Deployment         # what type of object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                # name, labels, namespace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hello-devops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                    # DESIRED state: what you want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status:                # ACTUAL state: written by K8s,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readyReplicas: 2     # never by you</a:t>
            </a:r>
            <a:endParaRPr lang="en-US" sz="1100" dirty="0"/>
          </a:p>
        </p:txBody>
      </p:sp>
      <p:sp>
        <p:nvSpPr>
          <p:cNvPr id="8" name="box apiVersion"/>
          <p:cNvSpPr/>
          <p:nvPr/>
        </p:nvSpPr>
        <p:spPr>
          <a:xfrm>
            <a:off x="5760720" y="1097280"/>
            <a:ext cx="109728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text apiVersion"/>
          <p:cNvSpPr txBox="1"/>
          <p:nvPr/>
        </p:nvSpPr>
        <p:spPr>
          <a:xfrm>
            <a:off x="5760720" y="1097280"/>
            <a:ext cx="1097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1097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Which API to use. apps/v1 for Deployments, v1 for Pods and Services</a:t>
            </a:r>
            <a:endParaRPr lang="en-US" sz="1100" dirty="0"/>
          </a:p>
        </p:txBody>
      </p:sp>
      <p:sp>
        <p:nvSpPr>
          <p:cNvPr id="11" name="box kind"/>
          <p:cNvSpPr/>
          <p:nvPr/>
        </p:nvSpPr>
        <p:spPr>
          <a:xfrm>
            <a:off x="5760720" y="1783080"/>
            <a:ext cx="109728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 text kind"/>
          <p:cNvSpPr txBox="1"/>
          <p:nvPr/>
        </p:nvSpPr>
        <p:spPr>
          <a:xfrm>
            <a:off x="5760720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1783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The object type: Pod, Deployment, Service, …</a:t>
            </a:r>
            <a:endParaRPr lang="en-US" sz="1100" dirty="0"/>
          </a:p>
        </p:txBody>
      </p:sp>
      <p:sp>
        <p:nvSpPr>
          <p:cNvPr id="14" name="box metadata"/>
          <p:cNvSpPr/>
          <p:nvPr/>
        </p:nvSpPr>
        <p:spPr>
          <a:xfrm>
            <a:off x="5760720" y="2468880"/>
            <a:ext cx="109728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x text metadata"/>
          <p:cNvSpPr txBox="1"/>
          <p:nvPr/>
        </p:nvSpPr>
        <p:spPr>
          <a:xfrm>
            <a:off x="5760720" y="2468880"/>
            <a:ext cx="1097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2468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Identity: name, labels (key: value tags used for selecting)</a:t>
            </a:r>
            <a:endParaRPr lang="en-US" sz="1100" dirty="0"/>
          </a:p>
        </p:txBody>
      </p:sp>
      <p:sp>
        <p:nvSpPr>
          <p:cNvPr id="17" name="box spec"/>
          <p:cNvSpPr/>
          <p:nvPr/>
        </p:nvSpPr>
        <p:spPr>
          <a:xfrm>
            <a:off x="5760720" y="3154680"/>
            <a:ext cx="109728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ox text spec"/>
          <p:cNvSpPr txBox="1"/>
          <p:nvPr/>
        </p:nvSpPr>
        <p:spPr>
          <a:xfrm>
            <a:off x="5760720" y="3154680"/>
            <a:ext cx="1097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Desired state. The part you write and care about</a:t>
            </a:r>
            <a:endParaRPr lang="en-US" sz="1100" dirty="0"/>
          </a:p>
        </p:txBody>
      </p:sp>
      <p:sp>
        <p:nvSpPr>
          <p:cNvPr id="20" name="box kubectl apply -f file.yaml  sends the spec to the API server. Controllers do the rest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ox text kubectl apply -f file.yaml  sends the spec to the API server. Controllers do the rest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kubectl apply -f file.yaml  sends the spec to the API server. Controllers do the rest.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k8s/deployment.yaml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ode bg"/>
          <p:cNvSpPr/>
          <p:nvPr/>
        </p:nvSpPr>
        <p:spPr>
          <a:xfrm>
            <a:off x="457200" y="1051560"/>
            <a:ext cx="4206240" cy="3566160"/>
          </a:xfrm>
          <a:prstGeom prst="roundRect">
            <a:avLst>
              <a:gd name="adj" fmla="val 25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de"/>
          <p:cNvSpPr txBox="1"/>
          <p:nvPr/>
        </p:nvSpPr>
        <p:spPr>
          <a:xfrm>
            <a:off x="594360" y="114300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apps/v1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Deployment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hello-devops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matchLabels: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app: hello-devops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labels: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app: hello-devops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containers: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name: hello-devops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image: hello-devops:v1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imagePullPolicy: IfNotPresent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ports: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 containerPort: 3000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readinessProbe: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httpGet: { path: /health, port: 3000 }</a:t>
            </a:r>
            <a:endParaRPr lang="en-US" sz="1000" dirty="0"/>
          </a:p>
        </p:txBody>
      </p:sp>
      <p:sp>
        <p:nvSpPr>
          <p:cNvPr id="8" name="box replicas"/>
          <p:cNvSpPr/>
          <p:nvPr/>
        </p:nvSpPr>
        <p:spPr>
          <a:xfrm>
            <a:off x="4892040" y="1051560"/>
            <a:ext cx="137160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text replicas"/>
          <p:cNvSpPr txBox="1"/>
          <p:nvPr/>
        </p:nvSpPr>
        <p:spPr>
          <a:xfrm>
            <a:off x="4892040" y="1051560"/>
            <a:ext cx="13716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105156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Desired number of Pods</a:t>
            </a:r>
            <a:endParaRPr lang="en-US" sz="1100" dirty="0"/>
          </a:p>
        </p:txBody>
      </p:sp>
      <p:sp>
        <p:nvSpPr>
          <p:cNvPr id="11" name="box selector"/>
          <p:cNvSpPr/>
          <p:nvPr/>
        </p:nvSpPr>
        <p:spPr>
          <a:xfrm>
            <a:off x="4892040" y="1645920"/>
            <a:ext cx="137160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 text selector"/>
          <p:cNvSpPr txBox="1"/>
          <p:nvPr/>
        </p:nvSpPr>
        <p:spPr>
          <a:xfrm>
            <a:off x="4892040" y="1645920"/>
            <a:ext cx="13716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164592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Which Pods this Deployment owns (by label)</a:t>
            </a:r>
            <a:endParaRPr lang="en-US" sz="1100" dirty="0"/>
          </a:p>
        </p:txBody>
      </p:sp>
      <p:sp>
        <p:nvSpPr>
          <p:cNvPr id="14" name="box template"/>
          <p:cNvSpPr/>
          <p:nvPr/>
        </p:nvSpPr>
        <p:spPr>
          <a:xfrm>
            <a:off x="4892040" y="2240280"/>
            <a:ext cx="137160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x text template"/>
          <p:cNvSpPr txBox="1"/>
          <p:nvPr/>
        </p:nvSpPr>
        <p:spPr>
          <a:xfrm>
            <a:off x="4892040" y="2240280"/>
            <a:ext cx="13716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355080" y="224028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The Pod recipe: labels + containers</a:t>
            </a:r>
            <a:endParaRPr lang="en-US" sz="1100" dirty="0"/>
          </a:p>
        </p:txBody>
      </p:sp>
      <p:sp>
        <p:nvSpPr>
          <p:cNvPr id="17" name="box image"/>
          <p:cNvSpPr/>
          <p:nvPr/>
        </p:nvSpPr>
        <p:spPr>
          <a:xfrm>
            <a:off x="4892040" y="2834640"/>
            <a:ext cx="137160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ox text image"/>
          <p:cNvSpPr txBox="1"/>
          <p:nvPr/>
        </p:nvSpPr>
        <p:spPr>
          <a:xfrm>
            <a:off x="4892040" y="2834640"/>
            <a:ext cx="13716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28346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From Lab 1. IfNotPresent = use the one we loaded into minikube</a:t>
            </a:r>
            <a:endParaRPr lang="en-US" sz="1100" dirty="0"/>
          </a:p>
        </p:txBody>
      </p:sp>
      <p:sp>
        <p:nvSpPr>
          <p:cNvPr id="20" name="box containerPort"/>
          <p:cNvSpPr/>
          <p:nvPr/>
        </p:nvSpPr>
        <p:spPr>
          <a:xfrm>
            <a:off x="4892040" y="3429000"/>
            <a:ext cx="137160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ox text containerPort"/>
          <p:cNvSpPr txBox="1"/>
          <p:nvPr/>
        </p:nvSpPr>
        <p:spPr>
          <a:xfrm>
            <a:off x="4892040" y="3429000"/>
            <a:ext cx="13716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containerPort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34290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Where the app listens inside the Pod</a:t>
            </a:r>
            <a:endParaRPr lang="en-US" sz="1100" dirty="0"/>
          </a:p>
        </p:txBody>
      </p:sp>
      <p:sp>
        <p:nvSpPr>
          <p:cNvPr id="23" name="box readinessProbe"/>
          <p:cNvSpPr/>
          <p:nvPr/>
        </p:nvSpPr>
        <p:spPr>
          <a:xfrm>
            <a:off x="4892040" y="4023360"/>
            <a:ext cx="137160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ox text readinessProbe"/>
          <p:cNvSpPr txBox="1"/>
          <p:nvPr/>
        </p:nvSpPr>
        <p:spPr>
          <a:xfrm>
            <a:off x="4892040" y="4023360"/>
            <a:ext cx="13716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readinessProbe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355080" y="402336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No traffic until /health answers OK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k8s/service.yaml and how traffic flows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ode bg"/>
          <p:cNvSpPr/>
          <p:nvPr/>
        </p:nvSpPr>
        <p:spPr>
          <a:xfrm>
            <a:off x="457200" y="1051560"/>
            <a:ext cx="3291840" cy="274320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de"/>
          <p:cNvSpPr txBox="1"/>
          <p:nvPr/>
        </p:nvSpPr>
        <p:spPr>
          <a:xfrm>
            <a:off x="594360" y="114300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v1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Service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hello-devops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NodePort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app: hello-devops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port: 80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targetPort: 3000</a:t>
            </a:r>
            <a:endParaRPr lang="en-US" sz="1200" dirty="0"/>
          </a:p>
        </p:txBody>
      </p:sp>
      <p:sp>
        <p:nvSpPr>
          <p:cNvPr id="8" name="box Browser (port-forward 8080)"/>
          <p:cNvSpPr/>
          <p:nvPr/>
        </p:nvSpPr>
        <p:spPr>
          <a:xfrm>
            <a:off x="4114800" y="11887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text Browser (port-forward 8080)"/>
          <p:cNvSpPr txBox="1"/>
          <p:nvPr/>
        </p:nvSpPr>
        <p:spPr>
          <a:xfrm>
            <a:off x="4114800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Browser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(port-forward 8080)</a:t>
            </a:r>
            <a:endParaRPr lang="en-US" sz="1100" dirty="0"/>
          </a:p>
        </p:txBody>
      </p:sp>
      <p:sp>
        <p:nvSpPr>
          <p:cNvPr id="10" name="arrow"/>
          <p:cNvSpPr/>
          <p:nvPr/>
        </p:nvSpPr>
        <p:spPr>
          <a:xfrm>
            <a:off x="5577840" y="1508760"/>
            <a:ext cx="4572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box Service hello-devops :80  (stable IP + DNS name)"/>
          <p:cNvSpPr/>
          <p:nvPr/>
        </p:nvSpPr>
        <p:spPr>
          <a:xfrm>
            <a:off x="6035040" y="1188720"/>
            <a:ext cx="265176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 text Service hello-devops :80  (stable IP + DNS name)"/>
          <p:cNvSpPr txBox="1"/>
          <p:nvPr/>
        </p:nvSpPr>
        <p:spPr>
          <a:xfrm>
            <a:off x="603504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Service hello-devops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:80  (stable IP + DNS name)</a:t>
            </a:r>
            <a:endParaRPr lang="en-US" sz="1100" dirty="0"/>
          </a:p>
        </p:txBody>
      </p:sp>
      <p:sp>
        <p:nvSpPr>
          <p:cNvPr id="13" name="arrow"/>
          <p:cNvSpPr/>
          <p:nvPr/>
        </p:nvSpPr>
        <p:spPr>
          <a:xfrm flipH="1">
            <a:off x="5852160" y="1828800"/>
            <a:ext cx="731520" cy="6400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arrow"/>
          <p:cNvSpPr/>
          <p:nvPr/>
        </p:nvSpPr>
        <p:spPr>
          <a:xfrm>
            <a:off x="7360920" y="1828800"/>
            <a:ext cx="0" cy="6400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arrow"/>
          <p:cNvSpPr/>
          <p:nvPr/>
        </p:nvSpPr>
        <p:spPr>
          <a:xfrm>
            <a:off x="8138160" y="1828800"/>
            <a:ext cx="548640" cy="6400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box Pod a1b2 :3000"/>
          <p:cNvSpPr/>
          <p:nvPr/>
        </p:nvSpPr>
        <p:spPr>
          <a:xfrm>
            <a:off x="5120640" y="246888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ox text Pod a1b2 :3000"/>
          <p:cNvSpPr txBox="1"/>
          <p:nvPr/>
        </p:nvSpPr>
        <p:spPr>
          <a:xfrm>
            <a:off x="512064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Pod a1b2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:3000</a:t>
            </a:r>
            <a:endParaRPr lang="en-US" sz="1000" dirty="0"/>
          </a:p>
        </p:txBody>
      </p:sp>
      <p:sp>
        <p:nvSpPr>
          <p:cNvPr id="18" name="box Pod c3d4 :3000"/>
          <p:cNvSpPr/>
          <p:nvPr/>
        </p:nvSpPr>
        <p:spPr>
          <a:xfrm>
            <a:off x="6492240" y="246888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ox text Pod c3d4 :3000"/>
          <p:cNvSpPr txBox="1"/>
          <p:nvPr/>
        </p:nvSpPr>
        <p:spPr>
          <a:xfrm>
            <a:off x="649224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Pod c3d4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:3000</a:t>
            </a:r>
            <a:endParaRPr lang="en-US" sz="1000" dirty="0"/>
          </a:p>
        </p:txBody>
      </p:sp>
      <p:sp>
        <p:nvSpPr>
          <p:cNvPr id="20" name="box Pod e5f6 :3000"/>
          <p:cNvSpPr/>
          <p:nvPr/>
        </p:nvSpPr>
        <p:spPr>
          <a:xfrm>
            <a:off x="7863840" y="246888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ox text Pod e5f6 :3000"/>
          <p:cNvSpPr txBox="1"/>
          <p:nvPr/>
        </p:nvSpPr>
        <p:spPr>
          <a:xfrm>
            <a:off x="786384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Pod e5f6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:3000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12064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tx2"/>
                </a:solidFill>
              </a:rPr>
              <a:t>all labelled  app: hello-devops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114800" y="3429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port: what the Service listens 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targetPort: what the container listens 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curl the Service in a loop → 'host' changes = load-balancing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Pods come and go; the Service name never changes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Rolling update, step by step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97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Before</a:t>
            </a:r>
            <a:endParaRPr lang="en-US" sz="1300" dirty="0"/>
          </a:p>
        </p:txBody>
      </p:sp>
      <p:sp>
        <p:nvSpPr>
          <p:cNvPr id="7" name="stage 0"/>
          <p:cNvSpPr/>
          <p:nvPr/>
        </p:nvSpPr>
        <p:spPr>
          <a:xfrm>
            <a:off x="457200" y="14173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ox v1"/>
          <p:cNvSpPr/>
          <p:nvPr/>
        </p:nvSpPr>
        <p:spPr>
          <a:xfrm>
            <a:off x="594360" y="1828800"/>
            <a:ext cx="502920" cy="548640"/>
          </a:xfrm>
          <a:prstGeom prst="roundRect">
            <a:avLst>
              <a:gd name="adj" fmla="val 14545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text v1"/>
          <p:cNvSpPr txBox="1"/>
          <p:nvPr/>
        </p:nvSpPr>
        <p:spPr>
          <a:xfrm>
            <a:off x="594360" y="1828800"/>
            <a:ext cx="5029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v1</a:t>
            </a:r>
            <a:endParaRPr lang="en-US" sz="1100" dirty="0"/>
          </a:p>
        </p:txBody>
      </p:sp>
      <p:sp>
        <p:nvSpPr>
          <p:cNvPr id="10" name="box v1"/>
          <p:cNvSpPr/>
          <p:nvPr/>
        </p:nvSpPr>
        <p:spPr>
          <a:xfrm>
            <a:off x="1161288" y="1828800"/>
            <a:ext cx="502920" cy="548640"/>
          </a:xfrm>
          <a:prstGeom prst="roundRect">
            <a:avLst>
              <a:gd name="adj" fmla="val 14545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box text v1"/>
          <p:cNvSpPr txBox="1"/>
          <p:nvPr/>
        </p:nvSpPr>
        <p:spPr>
          <a:xfrm>
            <a:off x="1161288" y="1828800"/>
            <a:ext cx="5029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v1</a:t>
            </a:r>
            <a:endParaRPr lang="en-US" sz="1100" dirty="0"/>
          </a:p>
        </p:txBody>
      </p:sp>
      <p:sp>
        <p:nvSpPr>
          <p:cNvPr id="12" name="arrow"/>
          <p:cNvSpPr/>
          <p:nvPr/>
        </p:nvSpPr>
        <p:spPr>
          <a:xfrm>
            <a:off x="2377440" y="2103120"/>
            <a:ext cx="21031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2587752" y="1097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Step 1</a:t>
            </a:r>
            <a:endParaRPr lang="en-US" sz="1300" dirty="0"/>
          </a:p>
        </p:txBody>
      </p:sp>
      <p:sp>
        <p:nvSpPr>
          <p:cNvPr id="14" name="stage 1"/>
          <p:cNvSpPr/>
          <p:nvPr/>
        </p:nvSpPr>
        <p:spPr>
          <a:xfrm>
            <a:off x="2587752" y="14173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x v1"/>
          <p:cNvSpPr/>
          <p:nvPr/>
        </p:nvSpPr>
        <p:spPr>
          <a:xfrm>
            <a:off x="2724912" y="1828800"/>
            <a:ext cx="502920" cy="548640"/>
          </a:xfrm>
          <a:prstGeom prst="roundRect">
            <a:avLst>
              <a:gd name="adj" fmla="val 14545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ox text v1"/>
          <p:cNvSpPr txBox="1"/>
          <p:nvPr/>
        </p:nvSpPr>
        <p:spPr>
          <a:xfrm>
            <a:off x="2724912" y="1828800"/>
            <a:ext cx="5029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v1</a:t>
            </a:r>
            <a:endParaRPr lang="en-US" sz="1100" dirty="0"/>
          </a:p>
        </p:txBody>
      </p:sp>
      <p:sp>
        <p:nvSpPr>
          <p:cNvPr id="17" name="box v1"/>
          <p:cNvSpPr/>
          <p:nvPr/>
        </p:nvSpPr>
        <p:spPr>
          <a:xfrm>
            <a:off x="3291840" y="1828800"/>
            <a:ext cx="502920" cy="548640"/>
          </a:xfrm>
          <a:prstGeom prst="roundRect">
            <a:avLst>
              <a:gd name="adj" fmla="val 14545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ox text v1"/>
          <p:cNvSpPr txBox="1"/>
          <p:nvPr/>
        </p:nvSpPr>
        <p:spPr>
          <a:xfrm>
            <a:off x="3291840" y="1828800"/>
            <a:ext cx="5029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v1</a:t>
            </a:r>
            <a:endParaRPr lang="en-US" sz="1100" dirty="0"/>
          </a:p>
        </p:txBody>
      </p:sp>
      <p:sp>
        <p:nvSpPr>
          <p:cNvPr id="19" name="box v2"/>
          <p:cNvSpPr/>
          <p:nvPr/>
        </p:nvSpPr>
        <p:spPr>
          <a:xfrm>
            <a:off x="3858768" y="1828800"/>
            <a:ext cx="502920" cy="54864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ox text v2"/>
          <p:cNvSpPr txBox="1"/>
          <p:nvPr/>
        </p:nvSpPr>
        <p:spPr>
          <a:xfrm>
            <a:off x="3858768" y="1828800"/>
            <a:ext cx="5029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v2</a:t>
            </a:r>
            <a:endParaRPr lang="en-US" sz="1100" dirty="0"/>
          </a:p>
        </p:txBody>
      </p:sp>
      <p:sp>
        <p:nvSpPr>
          <p:cNvPr id="21" name="arrow"/>
          <p:cNvSpPr/>
          <p:nvPr/>
        </p:nvSpPr>
        <p:spPr>
          <a:xfrm>
            <a:off x="4507992" y="2103120"/>
            <a:ext cx="21031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4718304" y="1097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Step 2</a:t>
            </a:r>
            <a:endParaRPr lang="en-US" sz="1300" dirty="0"/>
          </a:p>
        </p:txBody>
      </p:sp>
      <p:sp>
        <p:nvSpPr>
          <p:cNvPr id="23" name="stage 2"/>
          <p:cNvSpPr/>
          <p:nvPr/>
        </p:nvSpPr>
        <p:spPr>
          <a:xfrm>
            <a:off x="4718304" y="14173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ox v1"/>
          <p:cNvSpPr/>
          <p:nvPr/>
        </p:nvSpPr>
        <p:spPr>
          <a:xfrm>
            <a:off x="4855464" y="1828800"/>
            <a:ext cx="502920" cy="548640"/>
          </a:xfrm>
          <a:prstGeom prst="roundRect">
            <a:avLst>
              <a:gd name="adj" fmla="val 14545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box text v1"/>
          <p:cNvSpPr txBox="1"/>
          <p:nvPr/>
        </p:nvSpPr>
        <p:spPr>
          <a:xfrm>
            <a:off x="4855464" y="1828800"/>
            <a:ext cx="5029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v1</a:t>
            </a:r>
            <a:endParaRPr lang="en-US" sz="1100" dirty="0"/>
          </a:p>
        </p:txBody>
      </p:sp>
      <p:sp>
        <p:nvSpPr>
          <p:cNvPr id="26" name="box v2"/>
          <p:cNvSpPr/>
          <p:nvPr/>
        </p:nvSpPr>
        <p:spPr>
          <a:xfrm>
            <a:off x="5422392" y="1828800"/>
            <a:ext cx="502920" cy="54864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box text v2"/>
          <p:cNvSpPr txBox="1"/>
          <p:nvPr/>
        </p:nvSpPr>
        <p:spPr>
          <a:xfrm>
            <a:off x="5422392" y="1828800"/>
            <a:ext cx="5029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v2</a:t>
            </a:r>
            <a:endParaRPr lang="en-US" sz="1100" dirty="0"/>
          </a:p>
        </p:txBody>
      </p:sp>
      <p:sp>
        <p:nvSpPr>
          <p:cNvPr id="28" name="box v2"/>
          <p:cNvSpPr/>
          <p:nvPr/>
        </p:nvSpPr>
        <p:spPr>
          <a:xfrm>
            <a:off x="5989320" y="1828800"/>
            <a:ext cx="502920" cy="54864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box text v2"/>
          <p:cNvSpPr txBox="1"/>
          <p:nvPr/>
        </p:nvSpPr>
        <p:spPr>
          <a:xfrm>
            <a:off x="5989320" y="1828800"/>
            <a:ext cx="5029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v2</a:t>
            </a:r>
            <a:endParaRPr lang="en-US" sz="1100" dirty="0"/>
          </a:p>
        </p:txBody>
      </p:sp>
      <p:sp>
        <p:nvSpPr>
          <p:cNvPr id="30" name="arrow"/>
          <p:cNvSpPr/>
          <p:nvPr/>
        </p:nvSpPr>
        <p:spPr>
          <a:xfrm>
            <a:off x="6638544" y="2103120"/>
            <a:ext cx="21031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6848856" y="1097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After</a:t>
            </a:r>
            <a:endParaRPr lang="en-US" sz="1300" dirty="0"/>
          </a:p>
        </p:txBody>
      </p:sp>
      <p:sp>
        <p:nvSpPr>
          <p:cNvPr id="32" name="stage 3"/>
          <p:cNvSpPr/>
          <p:nvPr/>
        </p:nvSpPr>
        <p:spPr>
          <a:xfrm>
            <a:off x="6848856" y="14173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box v2"/>
          <p:cNvSpPr/>
          <p:nvPr/>
        </p:nvSpPr>
        <p:spPr>
          <a:xfrm>
            <a:off x="6986016" y="1828800"/>
            <a:ext cx="502920" cy="54864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box text v2"/>
          <p:cNvSpPr txBox="1"/>
          <p:nvPr/>
        </p:nvSpPr>
        <p:spPr>
          <a:xfrm>
            <a:off x="6986016" y="1828800"/>
            <a:ext cx="5029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v2</a:t>
            </a:r>
            <a:endParaRPr lang="en-US" sz="1100" dirty="0"/>
          </a:p>
        </p:txBody>
      </p:sp>
      <p:sp>
        <p:nvSpPr>
          <p:cNvPr id="35" name="box v2"/>
          <p:cNvSpPr/>
          <p:nvPr/>
        </p:nvSpPr>
        <p:spPr>
          <a:xfrm>
            <a:off x="7552944" y="1828800"/>
            <a:ext cx="502920" cy="54864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ox text v2"/>
          <p:cNvSpPr txBox="1"/>
          <p:nvPr/>
        </p:nvSpPr>
        <p:spPr>
          <a:xfrm>
            <a:off x="7552944" y="1828800"/>
            <a:ext cx="5029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v2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30175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Start one new Pod → wait until its readiness probe passes → only then remove one old Pod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Service keeps routing to whichever Pods are Ready: users never see an error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old version is kept (at 0 copies) so  kubectl rollout undo  is instant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Bad image tag? New Pods never become Ready, old ones stay. The rollout just stalls, safely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Pod statuses you'll see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graphicFrame>
        <p:nvGraphicFramePr>
          <p:cNvPr id="26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96896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you do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Pending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Scheduler hasn't placed it yet, or no node has room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wait / check resources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ContainerCreating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Pulling the image, setting up the container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wait a few seconds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Running  1/1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Healthy. READY column = containers ready / total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nothing: this is good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ErrImagePull / ImagePullBackOff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Image name or tag wrong, or not loaded into minikube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fix tag / minikube image load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CrashLoopBackOff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The app starts, crashes, K8s restarts it, repeat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kubectl logs &lt;pod&gt;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box Debug loop:  kubectl get pods  →  kubectl describe pod &lt;name&gt;  (read Events)  →  kubectl logs &lt;name&gt;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ox text Debug loop:  kubectl get pods  →  kubectl describe pod &amp;lt;name&amp;gt;  (read Events)  →  kubectl logs &amp;lt;name&amp;gt;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Debug loop:  kubectl get pods  →  kubectl describe pod &lt;name&gt;  (read Events)  →  kubectl logs &lt;name&gt;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kubectl commands you'll use in the lab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graphicFrame>
        <p:nvGraphicFramePr>
          <p:cNvPr id="27" name="kubect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32232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apply -f k8s/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Create / update everything in the folder (declarative)</a:t>
                      </a:r>
                      <a:endParaRPr lang="en-US" sz="11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get pods -o wide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List Pods, which node, which IP</a:t>
                      </a:r>
                      <a:endParaRPr lang="en-US" sz="11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describe pod &lt;name&gt;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Details + Events: why is it not Running?</a:t>
                      </a:r>
                      <a:endParaRPr lang="en-US" sz="11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logs &lt;pod&gt;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Container stdout</a:t>
                      </a:r>
                      <a:endParaRPr lang="en-US" sz="11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port-forward svc/hello-devops 8080:80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Tunnel the Service to your browser</a:t>
                      </a:r>
                      <a:endParaRPr lang="en-US" sz="11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scale deploy hello-devops --replicas=4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Change desired state</a:t>
                      </a:r>
                      <a:endParaRPr lang="en-US" sz="11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set image deploy/hello-devops hello-devops=hello-devops:v2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Rolling update</a:t>
                      </a:r>
                      <a:endParaRPr lang="en-US" sz="11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rollout undo deploy/hello-devops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The oops button</a:t>
                      </a:r>
                      <a:endParaRPr lang="en-US" sz="11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delete -f k8s/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Clean up</a:t>
                      </a:r>
                      <a:endParaRPr lang="en-US" sz="11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Our setup: minikube inside GitHub Codespaces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codespace box"/>
          <p:cNvSpPr/>
          <p:nvPr/>
        </p:nvSpPr>
        <p:spPr>
          <a:xfrm>
            <a:off x="457200" y="1097280"/>
            <a:ext cx="8229600" cy="2834640"/>
          </a:xfrm>
          <a:prstGeom prst="roundRect">
            <a:avLst>
              <a:gd name="adj" fmla="val 322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94360" y="11612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GitHub Codespace (a Linux VM in the cloud, 2 CPU / 8 GB)</a:t>
            </a:r>
            <a:endParaRPr lang="en-US" sz="1200" dirty="0"/>
          </a:p>
        </p:txBody>
      </p:sp>
      <p:sp>
        <p:nvSpPr>
          <p:cNvPr id="8" name="docker box"/>
          <p:cNvSpPr/>
          <p:nvPr/>
        </p:nvSpPr>
        <p:spPr>
          <a:xfrm>
            <a:off x="640080" y="1508760"/>
            <a:ext cx="7863840" cy="2286000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1572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Docker Engine (docker-in-docker)</a:t>
            </a:r>
            <a:endParaRPr lang="en-US" sz="1200" dirty="0"/>
          </a:p>
        </p:txBody>
      </p:sp>
      <p:sp>
        <p:nvSpPr>
          <p:cNvPr id="10" name="box your image + containers from Lab 1 (hello-devops:v1)"/>
          <p:cNvSpPr/>
          <p:nvPr/>
        </p:nvSpPr>
        <p:spPr>
          <a:xfrm>
            <a:off x="822960" y="1920240"/>
            <a:ext cx="21031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box text your image + containers from Lab 1 (hello-devops:v1)"/>
          <p:cNvSpPr txBox="1"/>
          <p:nvPr/>
        </p:nvSpPr>
        <p:spPr>
          <a:xfrm>
            <a:off x="82296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your image + containers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from Lab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(hello-devops:v1)</a:t>
            </a:r>
            <a:endParaRPr lang="en-US" sz="1100" dirty="0"/>
          </a:p>
        </p:txBody>
      </p:sp>
      <p:sp>
        <p:nvSpPr>
          <p:cNvPr id="12" name="minikube box"/>
          <p:cNvSpPr/>
          <p:nvPr/>
        </p:nvSpPr>
        <p:spPr>
          <a:xfrm>
            <a:off x="3291840" y="192024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342900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minikube node (one container, with its own image store)</a:t>
            </a:r>
            <a:endParaRPr lang="en-US" sz="1200" dirty="0"/>
          </a:p>
        </p:txBody>
      </p:sp>
      <p:sp>
        <p:nvSpPr>
          <p:cNvPr id="14" name="box control plane"/>
          <p:cNvSpPr/>
          <p:nvPr/>
        </p:nvSpPr>
        <p:spPr>
          <a:xfrm>
            <a:off x="3474720" y="233172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x text control plane"/>
          <p:cNvSpPr txBox="1"/>
          <p:nvPr/>
        </p:nvSpPr>
        <p:spPr>
          <a:xfrm>
            <a:off x="3474720" y="2331720"/>
            <a:ext cx="2194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control plane</a:t>
            </a:r>
            <a:endParaRPr lang="en-US" sz="1100" dirty="0"/>
          </a:p>
        </p:txBody>
      </p:sp>
      <p:sp>
        <p:nvSpPr>
          <p:cNvPr id="16" name="box Pod"/>
          <p:cNvSpPr/>
          <p:nvPr/>
        </p:nvSpPr>
        <p:spPr>
          <a:xfrm>
            <a:off x="5852160" y="2331720"/>
            <a:ext cx="109728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ox text Pod"/>
          <p:cNvSpPr txBox="1"/>
          <p:nvPr/>
        </p:nvSpPr>
        <p:spPr>
          <a:xfrm>
            <a:off x="5852160" y="2331720"/>
            <a:ext cx="1097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Pod</a:t>
            </a:r>
            <a:endParaRPr lang="en-US" sz="1100" dirty="0"/>
          </a:p>
        </p:txBody>
      </p:sp>
      <p:sp>
        <p:nvSpPr>
          <p:cNvPr id="18" name="box Pod"/>
          <p:cNvSpPr/>
          <p:nvPr/>
        </p:nvSpPr>
        <p:spPr>
          <a:xfrm>
            <a:off x="7086600" y="2331720"/>
            <a:ext cx="109728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ox text Pod"/>
          <p:cNvSpPr txBox="1"/>
          <p:nvPr/>
        </p:nvSpPr>
        <p:spPr>
          <a:xfrm>
            <a:off x="7086600" y="2331720"/>
            <a:ext cx="10972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Pod</a:t>
            </a:r>
            <a:endParaRPr lang="en-US" sz="1100" dirty="0"/>
          </a:p>
        </p:txBody>
      </p:sp>
      <p:sp>
        <p:nvSpPr>
          <p:cNvPr id="20" name="box minikube image load hello-devops:v1  copies the image in here"/>
          <p:cNvSpPr/>
          <p:nvPr/>
        </p:nvSpPr>
        <p:spPr>
          <a:xfrm>
            <a:off x="3474720" y="297180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ox text minikube image load hello-devops:v1  copies the image in here"/>
          <p:cNvSpPr txBox="1"/>
          <p:nvPr/>
        </p:nvSpPr>
        <p:spPr>
          <a:xfrm>
            <a:off x="3474720" y="2971800"/>
            <a:ext cx="47091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minikube image load hello-devops:v1  copies the image in here</a:t>
            </a:r>
            <a:endParaRPr lang="en-US" sz="1100" dirty="0"/>
          </a:p>
        </p:txBody>
      </p:sp>
      <p:sp>
        <p:nvSpPr>
          <p:cNvPr id="22" name="arrow"/>
          <p:cNvSpPr/>
          <p:nvPr/>
        </p:nvSpPr>
        <p:spPr>
          <a:xfrm>
            <a:off x="2926080" y="2331720"/>
            <a:ext cx="365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box Browser  ⇄  VS Code port forwarding  ⇄  kubectl port-forward svc/hello-devops 8080:80  ⇄  Pods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ox text Browser  ⇄  VS Code port forwarding  ⇄  kubectl port-forward svc/hello-devops 8080:80  ⇄  Pods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Browser  ⇄  VS Code port forwarding  ⇄  kubectl port-forward svc/hello-devops 8080:80  ⇄  Pods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Quick check · Kubernetes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Say the answer out loud before the instructor does</a:t>
            </a:r>
            <a:endParaRPr lang="en-US" sz="1300" dirty="0"/>
          </a:p>
        </p:txBody>
      </p:sp>
      <p:sp>
        <p:nvSpPr>
          <p:cNvPr id="7" name="q circle 0"/>
          <p:cNvSpPr/>
          <p:nvPr/>
        </p:nvSpPr>
        <p:spPr>
          <a:xfrm>
            <a:off x="457200" y="1527048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Q1</a:t>
            </a:r>
            <a:endParaRPr lang="en-US" sz="1300" dirty="0"/>
          </a:p>
        </p:txBody>
      </p:sp>
      <p:sp>
        <p:nvSpPr>
          <p:cNvPr id="9" name="q box 0"/>
          <p:cNvSpPr/>
          <p:nvPr/>
        </p:nvSpPr>
        <p:spPr>
          <a:xfrm>
            <a:off x="1143000" y="1417320"/>
            <a:ext cx="7543800" cy="731520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325880" y="1417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 run  kubectl delete pod &lt;name&gt;  on a Pod owned by a Deployment. What happens 2 seconds later?</a:t>
            </a:r>
            <a:endParaRPr lang="en-US" sz="1500" dirty="0"/>
          </a:p>
        </p:txBody>
      </p:sp>
      <p:sp>
        <p:nvSpPr>
          <p:cNvPr id="11" name="q circle 1"/>
          <p:cNvSpPr/>
          <p:nvPr/>
        </p:nvSpPr>
        <p:spPr>
          <a:xfrm>
            <a:off x="457200" y="2395728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5720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Q2</a:t>
            </a:r>
            <a:endParaRPr lang="en-US" sz="1300" dirty="0"/>
          </a:p>
        </p:txBody>
      </p:sp>
      <p:sp>
        <p:nvSpPr>
          <p:cNvPr id="13" name="q box 1"/>
          <p:cNvSpPr/>
          <p:nvPr/>
        </p:nvSpPr>
        <p:spPr>
          <a:xfrm>
            <a:off x="1143000" y="2286000"/>
            <a:ext cx="7543800" cy="731520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32588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Pods get new IPs when they restart. So how does a browser (or another service) reliably reach them?</a:t>
            </a:r>
            <a:endParaRPr lang="en-US" sz="1500" dirty="0"/>
          </a:p>
        </p:txBody>
      </p:sp>
      <p:sp>
        <p:nvSpPr>
          <p:cNvPr id="15" name="q circle 2"/>
          <p:cNvSpPr/>
          <p:nvPr/>
        </p:nvSpPr>
        <p:spPr>
          <a:xfrm>
            <a:off x="457200" y="3264408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5720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Q3</a:t>
            </a:r>
            <a:endParaRPr lang="en-US" sz="1300" dirty="0"/>
          </a:p>
        </p:txBody>
      </p:sp>
      <p:sp>
        <p:nvSpPr>
          <p:cNvPr id="17" name="q box 2"/>
          <p:cNvSpPr/>
          <p:nvPr/>
        </p:nvSpPr>
        <p:spPr>
          <a:xfrm>
            <a:off x="1143000" y="3154680"/>
            <a:ext cx="7543800" cy="731520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1325880" y="315468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new Pod shows  ImagePullBackOff.  Name two likely causes.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Kubernetes · 3 things to remember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KUBERNETES</a:t>
            </a:r>
            <a:endParaRPr lang="en-US" sz="900" dirty="0"/>
          </a:p>
        </p:txBody>
      </p:sp>
      <p:sp>
        <p:nvSpPr>
          <p:cNvPr id="6" name="recap 0"/>
          <p:cNvSpPr/>
          <p:nvPr/>
        </p:nvSpPr>
        <p:spPr>
          <a:xfrm>
            <a:off x="457200" y="109728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ap circle 0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recap icon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12070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You declare desired state; controllers make it real, forever.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1600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replicas: 2 means K8s will keep two running even if you delete one. Scaling and updating are one-line changes.</a:t>
            </a:r>
            <a:endParaRPr lang="en-US" sz="1200" dirty="0"/>
          </a:p>
        </p:txBody>
      </p:sp>
      <p:sp>
        <p:nvSpPr>
          <p:cNvPr id="11" name="recap 1"/>
          <p:cNvSpPr/>
          <p:nvPr/>
        </p:nvSpPr>
        <p:spPr>
          <a:xfrm>
            <a:off x="457200" y="224028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ap circle 1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recap icon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060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23500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Pod runs containers. Deployment keeps N Pods. Service gives them one address.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2743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Labels connect the three. Everything you touched today is one of these.</a:t>
            </a:r>
            <a:endParaRPr lang="en-US" sz="1200" dirty="0"/>
          </a:p>
        </p:txBody>
      </p:sp>
      <p:sp>
        <p:nvSpPr>
          <p:cNvPr id="16" name="recap 2"/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ap circle 2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recap icon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490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80160" y="34930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When something's wrong: get, describe, logs.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280160" y="3886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describe shows Events (why it can't start), logs shows what the app said.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Lab 2 · Deploy, scale, break, roll out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HANDS-ON</a:t>
            </a:r>
            <a:endParaRPr lang="en-US" sz="900" dirty="0"/>
          </a:p>
        </p:txBody>
      </p:sp>
      <p:sp>
        <p:nvSpPr>
          <p:cNvPr id="6" name="time badge"/>
          <p:cNvSpPr/>
          <p:nvPr/>
        </p:nvSpPr>
        <p:spPr>
          <a:xfrm>
            <a:off x="5760720" y="38404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ime badge text"/>
          <p:cNvSpPr txBox="1"/>
          <p:nvPr/>
        </p:nvSpPr>
        <p:spPr>
          <a:xfrm>
            <a:off x="5760720" y="3840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30 min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Open  labs/02-kubernetes.md  in your Codespace and mirror the instructor</a:t>
            </a:r>
            <a:endParaRPr lang="en-US" sz="1500" dirty="0"/>
          </a:p>
        </p:txBody>
      </p:sp>
      <p:sp>
        <p:nvSpPr>
          <p:cNvPr id="9" name="box 1"/>
          <p:cNvSpPr/>
          <p:nvPr/>
        </p:nvSpPr>
        <p:spPr>
          <a:xfrm>
            <a:off x="457200" y="1463040"/>
            <a:ext cx="365760" cy="306324"/>
          </a:xfrm>
          <a:prstGeom prst="roundRect">
            <a:avLst>
              <a:gd name="adj" fmla="val 2388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ox text 1"/>
          <p:cNvSpPr txBox="1"/>
          <p:nvPr/>
        </p:nvSpPr>
        <p:spPr>
          <a:xfrm>
            <a:off x="457200" y="1463040"/>
            <a:ext cx="36576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1463040"/>
            <a:ext cx="4206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minikube status, kubectl get nodes</a:t>
            </a:r>
            <a:endParaRPr lang="en-US" sz="1400" dirty="0"/>
          </a:p>
        </p:txBody>
      </p:sp>
      <p:sp>
        <p:nvSpPr>
          <p:cNvPr id="12" name="box 2"/>
          <p:cNvSpPr/>
          <p:nvPr/>
        </p:nvSpPr>
        <p:spPr>
          <a:xfrm>
            <a:off x="457200" y="1851660"/>
            <a:ext cx="365760" cy="306324"/>
          </a:xfrm>
          <a:prstGeom prst="roundRect">
            <a:avLst>
              <a:gd name="adj" fmla="val 2388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ox text 2"/>
          <p:cNvSpPr txBox="1"/>
          <p:nvPr/>
        </p:nvSpPr>
        <p:spPr>
          <a:xfrm>
            <a:off x="457200" y="1851660"/>
            <a:ext cx="36576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1851660"/>
            <a:ext cx="4206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minikube image load hello-devops:v1</a:t>
            </a:r>
            <a:endParaRPr lang="en-US" sz="1400" dirty="0"/>
          </a:p>
        </p:txBody>
      </p:sp>
      <p:sp>
        <p:nvSpPr>
          <p:cNvPr id="15" name="box 3"/>
          <p:cNvSpPr/>
          <p:nvPr/>
        </p:nvSpPr>
        <p:spPr>
          <a:xfrm>
            <a:off x="457200" y="2240280"/>
            <a:ext cx="365760" cy="306324"/>
          </a:xfrm>
          <a:prstGeom prst="roundRect">
            <a:avLst>
              <a:gd name="adj" fmla="val 2388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ox text 3"/>
          <p:cNvSpPr txBox="1"/>
          <p:nvPr/>
        </p:nvSpPr>
        <p:spPr>
          <a:xfrm>
            <a:off x="457200" y="2240280"/>
            <a:ext cx="36576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2240280"/>
            <a:ext cx="4206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kubectl apply -f k8s/ → get pods</a:t>
            </a:r>
            <a:endParaRPr lang="en-US" sz="1400" dirty="0"/>
          </a:p>
        </p:txBody>
      </p:sp>
      <p:sp>
        <p:nvSpPr>
          <p:cNvPr id="18" name="box 4"/>
          <p:cNvSpPr/>
          <p:nvPr/>
        </p:nvSpPr>
        <p:spPr>
          <a:xfrm>
            <a:off x="457200" y="2628900"/>
            <a:ext cx="365760" cy="306324"/>
          </a:xfrm>
          <a:prstGeom prst="roundRect">
            <a:avLst>
              <a:gd name="adj" fmla="val 2388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ox text 4"/>
          <p:cNvSpPr txBox="1"/>
          <p:nvPr/>
        </p:nvSpPr>
        <p:spPr>
          <a:xfrm>
            <a:off x="457200" y="2628900"/>
            <a:ext cx="36576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" y="2628900"/>
            <a:ext cx="4206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port-forward → browser; curl loop → hosts rotate</a:t>
            </a:r>
            <a:endParaRPr lang="en-US" sz="1400" dirty="0"/>
          </a:p>
        </p:txBody>
      </p:sp>
      <p:sp>
        <p:nvSpPr>
          <p:cNvPr id="21" name="box 5"/>
          <p:cNvSpPr/>
          <p:nvPr/>
        </p:nvSpPr>
        <p:spPr>
          <a:xfrm>
            <a:off x="457200" y="3017520"/>
            <a:ext cx="365760" cy="306324"/>
          </a:xfrm>
          <a:prstGeom prst="roundRect">
            <a:avLst>
              <a:gd name="adj" fmla="val 2388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ox text 5"/>
          <p:cNvSpPr txBox="1"/>
          <p:nvPr/>
        </p:nvSpPr>
        <p:spPr>
          <a:xfrm>
            <a:off x="457200" y="3017520"/>
            <a:ext cx="36576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60120" y="3017520"/>
            <a:ext cx="4206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scale to 4, back to 2</a:t>
            </a:r>
            <a:endParaRPr lang="en-US" sz="1400" dirty="0"/>
          </a:p>
        </p:txBody>
      </p:sp>
      <p:sp>
        <p:nvSpPr>
          <p:cNvPr id="24" name="box 6"/>
          <p:cNvSpPr/>
          <p:nvPr/>
        </p:nvSpPr>
        <p:spPr>
          <a:xfrm>
            <a:off x="457200" y="3406140"/>
            <a:ext cx="365760" cy="306324"/>
          </a:xfrm>
          <a:prstGeom prst="roundRect">
            <a:avLst>
              <a:gd name="adj" fmla="val 2388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box text 6"/>
          <p:cNvSpPr txBox="1"/>
          <p:nvPr/>
        </p:nvSpPr>
        <p:spPr>
          <a:xfrm>
            <a:off x="457200" y="3406140"/>
            <a:ext cx="36576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60120" y="3406140"/>
            <a:ext cx="4206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delete a pod → watch it come back</a:t>
            </a:r>
            <a:endParaRPr lang="en-US" sz="1400" dirty="0"/>
          </a:p>
        </p:txBody>
      </p:sp>
      <p:sp>
        <p:nvSpPr>
          <p:cNvPr id="27" name="box 7"/>
          <p:cNvSpPr/>
          <p:nvPr/>
        </p:nvSpPr>
        <p:spPr>
          <a:xfrm>
            <a:off x="457200" y="3794760"/>
            <a:ext cx="365760" cy="306324"/>
          </a:xfrm>
          <a:prstGeom prst="roundRect">
            <a:avLst>
              <a:gd name="adj" fmla="val 2388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box text 7"/>
          <p:cNvSpPr txBox="1"/>
          <p:nvPr/>
        </p:nvSpPr>
        <p:spPr>
          <a:xfrm>
            <a:off x="457200" y="3794760"/>
            <a:ext cx="36576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60120" y="3794760"/>
            <a:ext cx="4206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v2 rolling update, then rollout undo</a:t>
            </a:r>
            <a:endParaRPr lang="en-US" sz="1400" dirty="0"/>
          </a:p>
        </p:txBody>
      </p:sp>
      <p:sp>
        <p:nvSpPr>
          <p:cNvPr id="30" name="box 8"/>
          <p:cNvSpPr/>
          <p:nvPr/>
        </p:nvSpPr>
        <p:spPr>
          <a:xfrm>
            <a:off x="457200" y="4183380"/>
            <a:ext cx="365760" cy="306324"/>
          </a:xfrm>
          <a:prstGeom prst="roundRect">
            <a:avLst>
              <a:gd name="adj" fmla="val 2388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box text 8"/>
          <p:cNvSpPr txBox="1"/>
          <p:nvPr/>
        </p:nvSpPr>
        <p:spPr>
          <a:xfrm>
            <a:off x="457200" y="4183380"/>
            <a:ext cx="36576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60120" y="4183380"/>
            <a:ext cx="4206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describe + logs: how to debug</a:t>
            </a:r>
            <a:endParaRPr lang="en-US" sz="1400" dirty="0"/>
          </a:p>
        </p:txBody>
      </p:sp>
      <p:sp>
        <p:nvSpPr>
          <p:cNvPr id="33" name="Done when card"/>
          <p:cNvSpPr/>
          <p:nvPr/>
        </p:nvSpPr>
        <p:spPr>
          <a:xfrm>
            <a:off x="5486400" y="1463040"/>
            <a:ext cx="3200400" cy="1234440"/>
          </a:xfrm>
          <a:prstGeom prst="roundRect">
            <a:avLst>
              <a:gd name="adj" fmla="val 888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Done when circle"/>
          <p:cNvSpPr/>
          <p:nvPr/>
        </p:nvSpPr>
        <p:spPr>
          <a:xfrm>
            <a:off x="5669280" y="164592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Done when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737360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6263640" y="1645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Done when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5669280" y="2240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You scaled to 4, killed a Pod and saw it return, rolled out v2 and rolled back.</a:t>
            </a:r>
            <a:endParaRPr lang="en-US" sz="1200" dirty="0"/>
          </a:p>
        </p:txBody>
      </p:sp>
      <p:sp>
        <p:nvSpPr>
          <p:cNvPr id="38" name="Stuck? card"/>
          <p:cNvSpPr/>
          <p:nvPr/>
        </p:nvSpPr>
        <p:spPr>
          <a:xfrm>
            <a:off x="5486400" y="283464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tuck? circle"/>
          <p:cNvSpPr/>
          <p:nvPr/>
        </p:nvSpPr>
        <p:spPr>
          <a:xfrm>
            <a:off x="5669280" y="301752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Stuck?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108960"/>
            <a:ext cx="274320" cy="274320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6263640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Stuck?</a:t>
            </a:r>
            <a:endParaRPr lang="en-US" sz="1600" dirty="0"/>
          </a:p>
        </p:txBody>
      </p:sp>
      <p:sp>
        <p:nvSpPr>
          <p:cNvPr id="42" name="Text 37"/>
          <p:cNvSpPr txBox="1"/>
          <p:nvPr/>
        </p:nvSpPr>
        <p:spPr>
          <a:xfrm>
            <a:off x="5669280" y="36118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ErrImagePull → redo step 2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minikube stuck → minikube delete, then start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describe pod → read the Events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Part 3 · CI/CD and Jenkins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</a:rPr>
              <a:t>If you did it by hand twice today, a robot should do it from now on</a:t>
            </a:r>
            <a:endParaRPr lang="en-US" sz="1800" dirty="0"/>
          </a:p>
        </p:txBody>
      </p:sp>
      <p:pic>
        <p:nvPicPr>
          <p:cNvPr id="5" name="jenkin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630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CI, CD and the other CD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CI/CD</a:t>
            </a:r>
            <a:endParaRPr lang="en-US" sz="900" dirty="0"/>
          </a:p>
        </p:txBody>
      </p:sp>
      <p:sp>
        <p:nvSpPr>
          <p:cNvPr id="6" name="box Push"/>
          <p:cNvSpPr/>
          <p:nvPr/>
        </p:nvSpPr>
        <p:spPr>
          <a:xfrm>
            <a:off x="457200" y="118872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box text Push"/>
          <p:cNvSpPr txBox="1"/>
          <p:nvPr/>
        </p:nvSpPr>
        <p:spPr>
          <a:xfrm>
            <a:off x="457200" y="1188720"/>
            <a:ext cx="1234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Push</a:t>
            </a:r>
            <a:endParaRPr lang="en-US" sz="1200" dirty="0"/>
          </a:p>
        </p:txBody>
      </p:sp>
      <p:sp>
        <p:nvSpPr>
          <p:cNvPr id="8" name="arrow"/>
          <p:cNvSpPr/>
          <p:nvPr/>
        </p:nvSpPr>
        <p:spPr>
          <a:xfrm>
            <a:off x="1691640" y="1554480"/>
            <a:ext cx="15544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Build"/>
          <p:cNvSpPr/>
          <p:nvPr/>
        </p:nvSpPr>
        <p:spPr>
          <a:xfrm>
            <a:off x="1847088" y="118872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ox text Build"/>
          <p:cNvSpPr txBox="1"/>
          <p:nvPr/>
        </p:nvSpPr>
        <p:spPr>
          <a:xfrm>
            <a:off x="1847088" y="1188720"/>
            <a:ext cx="1234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Build</a:t>
            </a:r>
            <a:endParaRPr lang="en-US" sz="1200" dirty="0"/>
          </a:p>
        </p:txBody>
      </p:sp>
      <p:sp>
        <p:nvSpPr>
          <p:cNvPr id="11" name="arrow"/>
          <p:cNvSpPr/>
          <p:nvPr/>
        </p:nvSpPr>
        <p:spPr>
          <a:xfrm>
            <a:off x="3081528" y="1554480"/>
            <a:ext cx="15544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 Test"/>
          <p:cNvSpPr/>
          <p:nvPr/>
        </p:nvSpPr>
        <p:spPr>
          <a:xfrm>
            <a:off x="3236976" y="118872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ox text Test"/>
          <p:cNvSpPr txBox="1"/>
          <p:nvPr/>
        </p:nvSpPr>
        <p:spPr>
          <a:xfrm>
            <a:off x="3236976" y="1188720"/>
            <a:ext cx="1234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Test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4471416" y="1554480"/>
            <a:ext cx="15544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x Package (image)"/>
          <p:cNvSpPr/>
          <p:nvPr/>
        </p:nvSpPr>
        <p:spPr>
          <a:xfrm>
            <a:off x="4626864" y="118872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ox text Package (image)"/>
          <p:cNvSpPr txBox="1"/>
          <p:nvPr/>
        </p:nvSpPr>
        <p:spPr>
          <a:xfrm>
            <a:off x="4626864" y="1188720"/>
            <a:ext cx="1234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Package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(image)</a:t>
            </a:r>
            <a:endParaRPr lang="en-US" sz="1200" dirty="0"/>
          </a:p>
        </p:txBody>
      </p:sp>
      <p:sp>
        <p:nvSpPr>
          <p:cNvPr id="17" name="arrow"/>
          <p:cNvSpPr/>
          <p:nvPr/>
        </p:nvSpPr>
        <p:spPr>
          <a:xfrm>
            <a:off x="5861304" y="1554480"/>
            <a:ext cx="15544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box Deploy staging"/>
          <p:cNvSpPr/>
          <p:nvPr/>
        </p:nvSpPr>
        <p:spPr>
          <a:xfrm>
            <a:off x="6016752" y="118872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ox text Deploy staging"/>
          <p:cNvSpPr txBox="1"/>
          <p:nvPr/>
        </p:nvSpPr>
        <p:spPr>
          <a:xfrm>
            <a:off x="6016752" y="1188720"/>
            <a:ext cx="1234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Deploy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staging</a:t>
            </a:r>
            <a:endParaRPr lang="en-US" sz="1200" dirty="0"/>
          </a:p>
        </p:txBody>
      </p:sp>
      <p:sp>
        <p:nvSpPr>
          <p:cNvPr id="20" name="arrow"/>
          <p:cNvSpPr/>
          <p:nvPr/>
        </p:nvSpPr>
        <p:spPr>
          <a:xfrm>
            <a:off x="7251192" y="1554480"/>
            <a:ext cx="15544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box Deploy prod"/>
          <p:cNvSpPr/>
          <p:nvPr/>
        </p:nvSpPr>
        <p:spPr>
          <a:xfrm>
            <a:off x="7406640" y="1188720"/>
            <a:ext cx="123444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ox text Deploy prod"/>
          <p:cNvSpPr txBox="1"/>
          <p:nvPr/>
        </p:nvSpPr>
        <p:spPr>
          <a:xfrm>
            <a:off x="7406640" y="1188720"/>
            <a:ext cx="12344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Deploy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prod</a:t>
            </a:r>
            <a:endParaRPr lang="en-US" sz="1200" dirty="0"/>
          </a:p>
        </p:txBody>
      </p:sp>
      <p:sp>
        <p:nvSpPr>
          <p:cNvPr id="23" name="span 0"/>
          <p:cNvSpPr/>
          <p:nvPr/>
        </p:nvSpPr>
        <p:spPr>
          <a:xfrm>
            <a:off x="1828800" y="2057400"/>
            <a:ext cx="3931920" cy="32004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1920240" y="2057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Continuous Integration: build + test every push</a:t>
            </a:r>
            <a:endParaRPr lang="en-US" sz="1100" dirty="0"/>
          </a:p>
        </p:txBody>
      </p:sp>
      <p:sp>
        <p:nvSpPr>
          <p:cNvPr id="25" name="span 1"/>
          <p:cNvSpPr/>
          <p:nvPr/>
        </p:nvSpPr>
        <p:spPr>
          <a:xfrm>
            <a:off x="1828800" y="2423160"/>
            <a:ext cx="5349240" cy="32004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1920240" y="24231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Continuous Delivery: every green build is deployable (prod needs a human click)</a:t>
            </a:r>
            <a:endParaRPr lang="en-US" sz="1100" dirty="0"/>
          </a:p>
        </p:txBody>
      </p:sp>
      <p:sp>
        <p:nvSpPr>
          <p:cNvPr id="27" name="span 2"/>
          <p:cNvSpPr/>
          <p:nvPr/>
        </p:nvSpPr>
        <p:spPr>
          <a:xfrm>
            <a:off x="1828800" y="2788920"/>
            <a:ext cx="6858000" cy="32004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1920240" y="27889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Continuous Deployment: no click, green = live in production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Trigger: a git push or a pull request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Runs on a fresh machine every time: no "works on my machine"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 = you find out in 2 minutes, not after merging to main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Lab 1 + Lab 2 by hand = exactly what a pipeline automates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Anatomy of any pipeline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CI/CD</a:t>
            </a:r>
            <a:endParaRPr lang="en-US" sz="900" dirty="0"/>
          </a:p>
        </p:txBody>
      </p:sp>
      <p:sp>
        <p:nvSpPr>
          <p:cNvPr id="6" name="box Trigger push, PR, schedule"/>
          <p:cNvSpPr/>
          <p:nvPr/>
        </p:nvSpPr>
        <p:spPr>
          <a:xfrm>
            <a:off x="457200" y="1188720"/>
            <a:ext cx="1484986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box text Trigger push, PR, schedule"/>
          <p:cNvSpPr txBox="1"/>
          <p:nvPr/>
        </p:nvSpPr>
        <p:spPr>
          <a:xfrm>
            <a:off x="457200" y="1188720"/>
            <a:ext cx="1484986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Trigger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push, PR, schedule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1942186" y="164592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Runner a fresh VM or container"/>
          <p:cNvSpPr/>
          <p:nvPr/>
        </p:nvSpPr>
        <p:spPr>
          <a:xfrm>
            <a:off x="2143354" y="1188720"/>
            <a:ext cx="1484986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ox text Runner a fresh VM or container"/>
          <p:cNvSpPr txBox="1"/>
          <p:nvPr/>
        </p:nvSpPr>
        <p:spPr>
          <a:xfrm>
            <a:off x="2143354" y="1188720"/>
            <a:ext cx="1484986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Runner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a fresh VM or container</a:t>
            </a:r>
            <a:endParaRPr lang="en-US" sz="1100" dirty="0"/>
          </a:p>
        </p:txBody>
      </p:sp>
      <p:sp>
        <p:nvSpPr>
          <p:cNvPr id="11" name="arrow"/>
          <p:cNvSpPr/>
          <p:nvPr/>
        </p:nvSpPr>
        <p:spPr>
          <a:xfrm>
            <a:off x="3628339" y="164592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 Job runs on one runner"/>
          <p:cNvSpPr/>
          <p:nvPr/>
        </p:nvSpPr>
        <p:spPr>
          <a:xfrm>
            <a:off x="3829507" y="1188720"/>
            <a:ext cx="1484986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ox text Job runs on one runner"/>
          <p:cNvSpPr txBox="1"/>
          <p:nvPr/>
        </p:nvSpPr>
        <p:spPr>
          <a:xfrm>
            <a:off x="3829507" y="1188720"/>
            <a:ext cx="1484986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Job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runs on one runner</a:t>
            </a:r>
            <a:endParaRPr lang="en-US" sz="1100" dirty="0"/>
          </a:p>
        </p:txBody>
      </p:sp>
      <p:sp>
        <p:nvSpPr>
          <p:cNvPr id="14" name="arrow"/>
          <p:cNvSpPr/>
          <p:nvPr/>
        </p:nvSpPr>
        <p:spPr>
          <a:xfrm>
            <a:off x="5314493" y="164592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x Steps commands, in order"/>
          <p:cNvSpPr/>
          <p:nvPr/>
        </p:nvSpPr>
        <p:spPr>
          <a:xfrm>
            <a:off x="5515661" y="1188720"/>
            <a:ext cx="1484986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ox text Steps commands, in order"/>
          <p:cNvSpPr txBox="1"/>
          <p:nvPr/>
        </p:nvSpPr>
        <p:spPr>
          <a:xfrm>
            <a:off x="5515661" y="1188720"/>
            <a:ext cx="1484986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Steps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commands, in order</a:t>
            </a:r>
            <a:endParaRPr lang="en-US" sz="1100" dirty="0"/>
          </a:p>
        </p:txBody>
      </p:sp>
      <p:sp>
        <p:nvSpPr>
          <p:cNvPr id="17" name="arrow"/>
          <p:cNvSpPr/>
          <p:nvPr/>
        </p:nvSpPr>
        <p:spPr>
          <a:xfrm>
            <a:off x="7000646" y="164592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box Artefact image, report, binary"/>
          <p:cNvSpPr/>
          <p:nvPr/>
        </p:nvSpPr>
        <p:spPr>
          <a:xfrm>
            <a:off x="7201814" y="1188720"/>
            <a:ext cx="1484986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ox text Artefact image, report, binary"/>
          <p:cNvSpPr txBox="1"/>
          <p:nvPr/>
        </p:nvSpPr>
        <p:spPr>
          <a:xfrm>
            <a:off x="7201814" y="1188720"/>
            <a:ext cx="1484986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Artefact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image, report, binary</a:t>
            </a:r>
            <a:endParaRPr lang="en-US" sz="1100" dirty="0"/>
          </a:p>
        </p:txBody>
      </p:sp>
      <p:sp>
        <p:nvSpPr>
          <p:cNvPr id="20" name="Rules of a good pipeline card"/>
          <p:cNvSpPr/>
          <p:nvPr/>
        </p:nvSpPr>
        <p:spPr>
          <a:xfrm>
            <a:off x="457200" y="2377440"/>
            <a:ext cx="40233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ules of a good pipeline circle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Rules of a good pipeline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5176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234440" y="2560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Rules of a good pipeline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640080" y="3154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Fast: fail in minutes, not hours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Fresh: nothing left over from last run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Same every time: it's code, in git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Red blocks the merge, green allows it</a:t>
            </a:r>
            <a:endParaRPr lang="en-US" sz="1300" dirty="0"/>
          </a:p>
        </p:txBody>
      </p:sp>
      <p:sp>
        <p:nvSpPr>
          <p:cNvPr id="25" name="Same words, every tool card"/>
          <p:cNvSpPr/>
          <p:nvPr/>
        </p:nvSpPr>
        <p:spPr>
          <a:xfrm>
            <a:off x="4663440" y="2377440"/>
            <a:ext cx="40233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ame words, every tool circle"/>
          <p:cNvSpPr/>
          <p:nvPr/>
        </p:nvSpPr>
        <p:spPr>
          <a:xfrm>
            <a:off x="4846320" y="25603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Same words, every tool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65176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440680" y="2560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Same words, every tool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4846320" y="3154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GitHub Actions: workflow → job → step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Jenkins: pipeline → stage → step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GitLab CI: pipeline → stage → job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Learn the shape once; tools are syntax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.github/workflows/ci.yml, annotated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CI/CD</a:t>
            </a:r>
            <a:endParaRPr lang="en-US" sz="900" dirty="0"/>
          </a:p>
        </p:txBody>
      </p:sp>
      <p:sp>
        <p:nvSpPr>
          <p:cNvPr id="6" name="code bg"/>
          <p:cNvSpPr/>
          <p:nvPr/>
        </p:nvSpPr>
        <p:spPr>
          <a:xfrm>
            <a:off x="457200" y="1051560"/>
            <a:ext cx="4754880" cy="3566160"/>
          </a:xfrm>
          <a:prstGeom prst="roundRect">
            <a:avLst>
              <a:gd name="adj" fmla="val 256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de"/>
          <p:cNvSpPr txBox="1"/>
          <p:nvPr/>
        </p:nvSpPr>
        <p:spPr>
          <a:xfrm>
            <a:off x="594360" y="1143000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[push, pull_request]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test-and-build: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actions/setup-node@v4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 { node-version: 20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install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working-directory: app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working-directory: app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docker build -t hello-devops:$GITHUB_SHA 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working-directory: app</a:t>
            </a:r>
            <a:endParaRPr lang="en-US" sz="1000" dirty="0"/>
          </a:p>
        </p:txBody>
      </p:sp>
      <p:sp>
        <p:nvSpPr>
          <p:cNvPr id="8" name="box on"/>
          <p:cNvSpPr/>
          <p:nvPr/>
        </p:nvSpPr>
        <p:spPr>
          <a:xfrm>
            <a:off x="5440680" y="1051560"/>
            <a:ext cx="100584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text on"/>
          <p:cNvSpPr txBox="1"/>
          <p:nvPr/>
        </p:nvSpPr>
        <p:spPr>
          <a:xfrm>
            <a:off x="5440680" y="1051560"/>
            <a:ext cx="1005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1051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Trigger: any push, and every pull request</a:t>
            </a:r>
            <a:endParaRPr lang="en-US" sz="1100" dirty="0"/>
          </a:p>
        </p:txBody>
      </p:sp>
      <p:sp>
        <p:nvSpPr>
          <p:cNvPr id="11" name="box jobs"/>
          <p:cNvSpPr/>
          <p:nvPr/>
        </p:nvSpPr>
        <p:spPr>
          <a:xfrm>
            <a:off x="5440680" y="1764792"/>
            <a:ext cx="100584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 text jobs"/>
          <p:cNvSpPr txBox="1"/>
          <p:nvPr/>
        </p:nvSpPr>
        <p:spPr>
          <a:xfrm>
            <a:off x="5440680" y="1764792"/>
            <a:ext cx="1005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17647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Units of work; each on its own fresh VM</a:t>
            </a:r>
            <a:endParaRPr lang="en-US" sz="1100" dirty="0"/>
          </a:p>
        </p:txBody>
      </p:sp>
      <p:sp>
        <p:nvSpPr>
          <p:cNvPr id="14" name="box runs-on"/>
          <p:cNvSpPr/>
          <p:nvPr/>
        </p:nvSpPr>
        <p:spPr>
          <a:xfrm>
            <a:off x="5440680" y="2478024"/>
            <a:ext cx="100584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x text runs-on"/>
          <p:cNvSpPr txBox="1"/>
          <p:nvPr/>
        </p:nvSpPr>
        <p:spPr>
          <a:xfrm>
            <a:off x="5440680" y="2478024"/>
            <a:ext cx="1005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runs-on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247802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GitHub lends you an Ubuntu VM for this job</a:t>
            </a:r>
            <a:endParaRPr lang="en-US" sz="1100" dirty="0"/>
          </a:p>
        </p:txBody>
      </p:sp>
      <p:sp>
        <p:nvSpPr>
          <p:cNvPr id="17" name="box uses"/>
          <p:cNvSpPr/>
          <p:nvPr/>
        </p:nvSpPr>
        <p:spPr>
          <a:xfrm>
            <a:off x="5440680" y="3191256"/>
            <a:ext cx="100584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ox text uses"/>
          <p:cNvSpPr txBox="1"/>
          <p:nvPr/>
        </p:nvSpPr>
        <p:spPr>
          <a:xfrm>
            <a:off x="5440680" y="3191256"/>
            <a:ext cx="1005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319125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 reusable action from the marketplace</a:t>
            </a:r>
            <a:endParaRPr lang="en-US" sz="1100" dirty="0"/>
          </a:p>
        </p:txBody>
      </p:sp>
      <p:sp>
        <p:nvSpPr>
          <p:cNvPr id="20" name="box run"/>
          <p:cNvSpPr/>
          <p:nvPr/>
        </p:nvSpPr>
        <p:spPr>
          <a:xfrm>
            <a:off x="5440680" y="3904488"/>
            <a:ext cx="100584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ox text run"/>
          <p:cNvSpPr txBox="1"/>
          <p:nvPr/>
        </p:nvSpPr>
        <p:spPr>
          <a:xfrm>
            <a:off x="5440680" y="3904488"/>
            <a:ext cx="100584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537960" y="390448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 shell command: exactly what you typed in Lab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Why it matters: the pull request gate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CI/CD</a:t>
            </a:r>
            <a:endParaRPr lang="en-US" sz="900" dirty="0"/>
          </a:p>
        </p:txBody>
      </p:sp>
      <p:sp>
        <p:nvSpPr>
          <p:cNvPr id="6" name="box You push a branch"/>
          <p:cNvSpPr/>
          <p:nvPr/>
        </p:nvSpPr>
        <p:spPr>
          <a:xfrm>
            <a:off x="457200" y="1188720"/>
            <a:ext cx="1484986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box text You push a branch"/>
          <p:cNvSpPr txBox="1"/>
          <p:nvPr/>
        </p:nvSpPr>
        <p:spPr>
          <a:xfrm>
            <a:off x="457200" y="1188720"/>
            <a:ext cx="1484986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You push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 branch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1942186" y="164592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Pipeline runs automatically"/>
          <p:cNvSpPr/>
          <p:nvPr/>
        </p:nvSpPr>
        <p:spPr>
          <a:xfrm>
            <a:off x="2143354" y="1188720"/>
            <a:ext cx="1484986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ox text Pipeline runs automatically"/>
          <p:cNvSpPr txBox="1"/>
          <p:nvPr/>
        </p:nvSpPr>
        <p:spPr>
          <a:xfrm>
            <a:off x="2143354" y="1188720"/>
            <a:ext cx="1484986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Pipeline runs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automatically</a:t>
            </a:r>
            <a:endParaRPr lang="en-US" sz="1100" dirty="0"/>
          </a:p>
        </p:txBody>
      </p:sp>
      <p:sp>
        <p:nvSpPr>
          <p:cNvPr id="11" name="arrow"/>
          <p:cNvSpPr/>
          <p:nvPr/>
        </p:nvSpPr>
        <p:spPr>
          <a:xfrm>
            <a:off x="3628339" y="164592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 Result shows on the PR"/>
          <p:cNvSpPr/>
          <p:nvPr/>
        </p:nvSpPr>
        <p:spPr>
          <a:xfrm>
            <a:off x="3829507" y="1188720"/>
            <a:ext cx="1484986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ox text Result shows on the PR"/>
          <p:cNvSpPr txBox="1"/>
          <p:nvPr/>
        </p:nvSpPr>
        <p:spPr>
          <a:xfrm>
            <a:off x="3829507" y="1188720"/>
            <a:ext cx="1484986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Result shows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on the PR</a:t>
            </a:r>
            <a:endParaRPr lang="en-US" sz="1100" dirty="0"/>
          </a:p>
        </p:txBody>
      </p:sp>
      <p:sp>
        <p:nvSpPr>
          <p:cNvPr id="14" name="arrow"/>
          <p:cNvSpPr/>
          <p:nvPr/>
        </p:nvSpPr>
        <p:spPr>
          <a:xfrm>
            <a:off x="5314493" y="164592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box Red: fix and push again"/>
          <p:cNvSpPr/>
          <p:nvPr/>
        </p:nvSpPr>
        <p:spPr>
          <a:xfrm>
            <a:off x="5515661" y="1188720"/>
            <a:ext cx="1484986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ox text Red: fix and push again"/>
          <p:cNvSpPr txBox="1"/>
          <p:nvPr/>
        </p:nvSpPr>
        <p:spPr>
          <a:xfrm>
            <a:off x="5515661" y="1188720"/>
            <a:ext cx="1484986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Red: fix 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push again</a:t>
            </a:r>
            <a:endParaRPr lang="en-US" sz="1100" dirty="0"/>
          </a:p>
        </p:txBody>
      </p:sp>
      <p:sp>
        <p:nvSpPr>
          <p:cNvPr id="17" name="arrow"/>
          <p:cNvSpPr/>
          <p:nvPr/>
        </p:nvSpPr>
        <p:spPr>
          <a:xfrm>
            <a:off x="7000646" y="1645920"/>
            <a:ext cx="201168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box Green: reviewer merges to main"/>
          <p:cNvSpPr/>
          <p:nvPr/>
        </p:nvSpPr>
        <p:spPr>
          <a:xfrm>
            <a:off x="7201814" y="1188720"/>
            <a:ext cx="1484986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ox text Green: reviewer merges to main"/>
          <p:cNvSpPr txBox="1"/>
          <p:nvPr/>
        </p:nvSpPr>
        <p:spPr>
          <a:xfrm>
            <a:off x="7201814" y="1188720"/>
            <a:ext cx="1484986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Green: reviewer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merges to main</a:t>
            </a:r>
            <a:endParaRPr lang="en-US" sz="1100" dirty="0"/>
          </a:p>
        </p:txBody>
      </p:sp>
      <p:sp>
        <p:nvSpPr>
          <p:cNvPr id="20" name="box ❌  Run tests failed  ·  AssertionError: expected 'ok' Merging is blocked"/>
          <p:cNvSpPr/>
          <p:nvPr/>
        </p:nvSpPr>
        <p:spPr>
          <a:xfrm>
            <a:off x="457200" y="24688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ox text ❌  Run tests failed  ·  AssertionError: expected &amp;apos;ok&amp;apos; Merging is blocked"/>
          <p:cNvSpPr txBox="1"/>
          <p:nvPr/>
        </p:nvSpPr>
        <p:spPr>
          <a:xfrm>
            <a:off x="457200" y="2468880"/>
            <a:ext cx="40233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❌  Run tests failed  ·  AssertionError: expected 'ok'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Merging is blocked</a:t>
            </a:r>
            <a:endParaRPr lang="en-US" sz="1200" dirty="0"/>
          </a:p>
        </p:txBody>
      </p:sp>
      <p:sp>
        <p:nvSpPr>
          <p:cNvPr id="22" name="box ✅  All checks have passed  ·  test-and-build 58s Merge pull request"/>
          <p:cNvSpPr/>
          <p:nvPr/>
        </p:nvSpPr>
        <p:spPr>
          <a:xfrm>
            <a:off x="4663440" y="24688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ox text ✅  All checks have passed  ·  test-and-build 58s Merge pull request"/>
          <p:cNvSpPr txBox="1"/>
          <p:nvPr/>
        </p:nvSpPr>
        <p:spPr>
          <a:xfrm>
            <a:off x="4663440" y="2468880"/>
            <a:ext cx="40233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</a:rPr>
              <a:t>✅  All checks have passed  ·  test-and-build 58s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</a:rPr>
              <a:t>Merge pull request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Nobody has to remember to run the tests: the robot always does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main stays green, so main is always deployable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Reviewers review code, not whether it compiles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Jenkins: the self-hosted original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CI/CD</a:t>
            </a:r>
            <a:endParaRPr lang="en-US" sz="900" dirty="0"/>
          </a:p>
        </p:txBody>
      </p:sp>
      <p:sp>
        <p:nvSpPr>
          <p:cNvPr id="6" name="box Git repo (webhook or polling)"/>
          <p:cNvSpPr/>
          <p:nvPr/>
        </p:nvSpPr>
        <p:spPr>
          <a:xfrm>
            <a:off x="457200" y="1097280"/>
            <a:ext cx="201168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box text Git repo (webhook or polling)"/>
          <p:cNvSpPr txBox="1"/>
          <p:nvPr/>
        </p:nvSpPr>
        <p:spPr>
          <a:xfrm>
            <a:off x="457200" y="1097280"/>
            <a:ext cx="20116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Git repo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(webhook or polling)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2468880" y="1554480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box Jenkins controller web UI · job scheduler · plugins"/>
          <p:cNvSpPr/>
          <p:nvPr/>
        </p:nvSpPr>
        <p:spPr>
          <a:xfrm>
            <a:off x="2926080" y="1097280"/>
            <a:ext cx="237744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ox text Jenkins controller web UI · job scheduler · plugins"/>
          <p:cNvSpPr txBox="1"/>
          <p:nvPr/>
        </p:nvSpPr>
        <p:spPr>
          <a:xfrm>
            <a:off x="2926080" y="1097280"/>
            <a:ext cx="23774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Jenkins controller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web UI · job scheduler · plugins</a:t>
            </a:r>
            <a:endParaRPr lang="en-US" sz="1100" dirty="0"/>
          </a:p>
        </p:txBody>
      </p:sp>
      <p:sp>
        <p:nvSpPr>
          <p:cNvPr id="11" name="arrow"/>
          <p:cNvSpPr/>
          <p:nvPr/>
        </p:nvSpPr>
        <p:spPr>
          <a:xfrm flipV="1">
            <a:off x="5303520" y="1188720"/>
            <a:ext cx="548640" cy="18288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arrow"/>
          <p:cNvSpPr/>
          <p:nvPr/>
        </p:nvSpPr>
        <p:spPr>
          <a:xfrm>
            <a:off x="5303520" y="1737360"/>
            <a:ext cx="548640" cy="18288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box agent 1"/>
          <p:cNvSpPr/>
          <p:nvPr/>
        </p:nvSpPr>
        <p:spPr>
          <a:xfrm>
            <a:off x="5852160" y="96012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box text agent 1"/>
          <p:cNvSpPr txBox="1"/>
          <p:nvPr/>
        </p:nvSpPr>
        <p:spPr>
          <a:xfrm>
            <a:off x="5852160" y="960120"/>
            <a:ext cx="13716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agent 1</a:t>
            </a:r>
            <a:endParaRPr lang="en-US" sz="1100" dirty="0"/>
          </a:p>
        </p:txBody>
      </p:sp>
      <p:sp>
        <p:nvSpPr>
          <p:cNvPr id="15" name="box agent 2"/>
          <p:cNvSpPr/>
          <p:nvPr/>
        </p:nvSpPr>
        <p:spPr>
          <a:xfrm>
            <a:off x="5852160" y="173736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ox text agent 2"/>
          <p:cNvSpPr txBox="1"/>
          <p:nvPr/>
        </p:nvSpPr>
        <p:spPr>
          <a:xfrm>
            <a:off x="585216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agent 2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1097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agents run the stages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(build, test, docker)</a:t>
            </a:r>
            <a:endParaRPr lang="en-US" sz="1000" dirty="0"/>
          </a:p>
        </p:txBody>
      </p:sp>
      <p:sp>
        <p:nvSpPr>
          <p:cNvPr id="18" name="code bg"/>
          <p:cNvSpPr/>
          <p:nvPr/>
        </p:nvSpPr>
        <p:spPr>
          <a:xfrm>
            <a:off x="457200" y="2240280"/>
            <a:ext cx="4937760" cy="2377440"/>
          </a:xfrm>
          <a:prstGeom prst="roundRect">
            <a:avLst>
              <a:gd name="adj" fmla="val 384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ode"/>
          <p:cNvSpPr txBox="1"/>
          <p:nvPr/>
        </p:nvSpPr>
        <p:spPr>
          <a:xfrm>
            <a:off x="594360" y="2331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 any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 { nodejs "node20"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stages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stage("Checkout") { steps { checkout scm }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stage("Install")  { steps { dir("app") { sh "npm install" } }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stage("Test")     { steps { dir("app") { sh "npm test" } }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stage("Build image")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steps { dir("app")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 "docker build -t hello-devops:${BUILD_NUMBER} ."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0" name="Why it still matters card"/>
          <p:cNvSpPr/>
          <p:nvPr/>
        </p:nvSpPr>
        <p:spPr>
          <a:xfrm>
            <a:off x="5577840" y="2240280"/>
            <a:ext cx="31089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Why it still matters circle"/>
          <p:cNvSpPr/>
          <p:nvPr/>
        </p:nvSpPr>
        <p:spPr>
          <a:xfrm>
            <a:off x="5760720" y="2423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Why it still matter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51460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355080" y="2423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it still matters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5760720" y="30175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You own it: on-prem, air-gapped, any cloud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1800+ plugins, any tool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Most large companies run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Jenkinsfile lives in git, like ci.yml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GitHub Actions vs Jenkins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CI/CD</a:t>
            </a:r>
            <a:endParaRPr lang="en-US" sz="900" dirty="0"/>
          </a:p>
        </p:txBody>
      </p:sp>
      <p:graphicFrame>
        <p:nvGraphicFramePr>
          <p:cNvPr id="38" name="compa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GitHub Actions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Jenkins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Who hosts it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GitHub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You (server / VM / container)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Config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YAML in .github/workflows/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Jenkinsfile (Groovy) or clicks in the UI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Setup time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Zero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Install, plugins, agents, upgrades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Runners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GitHub's VMs (or self-hosted)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Your agents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Projects already on GitHub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On-prem, custom infra, legacy, regulated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Cost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Free minutes, then pay per minute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</a:rPr>
                        <a:t>Free software, you pay for machines + people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box Same concepts everywhere: trigger → jobs → steps → artefact. Also: GitLab CI, Azure DevOps, CircleCI, ArgoCD.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ox text Same concepts everywhere: trigger → jobs → steps → artefact. Also: GitLab CI, Azure DevOps, CircleCI, ArgoCD."/>
          <p:cNvSpPr txBox="1"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Same concepts everywhere: trigger → jobs → steps → artefact. Also: GitLab CI, Azure DevOps, CircleCI, ArgoCD.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Quick check · CI/CD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CI/CD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Say the answer out loud before the instructor does</a:t>
            </a:r>
            <a:endParaRPr lang="en-US" sz="1300" dirty="0"/>
          </a:p>
        </p:txBody>
      </p:sp>
      <p:sp>
        <p:nvSpPr>
          <p:cNvPr id="7" name="q circle 0"/>
          <p:cNvSpPr/>
          <p:nvPr/>
        </p:nvSpPr>
        <p:spPr>
          <a:xfrm>
            <a:off x="457200" y="1527048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Q1</a:t>
            </a:r>
            <a:endParaRPr lang="en-US" sz="1300" dirty="0"/>
          </a:p>
        </p:txBody>
      </p:sp>
      <p:sp>
        <p:nvSpPr>
          <p:cNvPr id="9" name="q box 0"/>
          <p:cNvSpPr/>
          <p:nvPr/>
        </p:nvSpPr>
        <p:spPr>
          <a:xfrm>
            <a:off x="1143000" y="1417320"/>
            <a:ext cx="7543800" cy="73152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325880" y="1417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teammate says "the tests pass on my laptop" but CI is red. Who is right, and why does that matter?</a:t>
            </a:r>
            <a:endParaRPr lang="en-US" sz="1500" dirty="0"/>
          </a:p>
        </p:txBody>
      </p:sp>
      <p:sp>
        <p:nvSpPr>
          <p:cNvPr id="11" name="q circle 1"/>
          <p:cNvSpPr/>
          <p:nvPr/>
        </p:nvSpPr>
        <p:spPr>
          <a:xfrm>
            <a:off x="457200" y="2395728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5720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Q2</a:t>
            </a:r>
            <a:endParaRPr lang="en-US" sz="1300" dirty="0"/>
          </a:p>
        </p:txBody>
      </p:sp>
      <p:sp>
        <p:nvSpPr>
          <p:cNvPr id="13" name="q box 1"/>
          <p:cNvSpPr/>
          <p:nvPr/>
        </p:nvSpPr>
        <p:spPr>
          <a:xfrm>
            <a:off x="1143000" y="2286000"/>
            <a:ext cx="7543800" cy="73152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32588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What's the difference between Continuous Delivery and Continuous Deployment?</a:t>
            </a:r>
            <a:endParaRPr lang="en-US" sz="1500" dirty="0"/>
          </a:p>
        </p:txBody>
      </p:sp>
      <p:sp>
        <p:nvSpPr>
          <p:cNvPr id="15" name="q circle 2"/>
          <p:cNvSpPr/>
          <p:nvPr/>
        </p:nvSpPr>
        <p:spPr>
          <a:xfrm>
            <a:off x="457200" y="3264408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5720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Q3</a:t>
            </a:r>
            <a:endParaRPr lang="en-US" sz="1300" dirty="0"/>
          </a:p>
        </p:txBody>
      </p:sp>
      <p:sp>
        <p:nvSpPr>
          <p:cNvPr id="17" name="q box 2"/>
          <p:cNvSpPr/>
          <p:nvPr/>
        </p:nvSpPr>
        <p:spPr>
          <a:xfrm>
            <a:off x="1143000" y="3154680"/>
            <a:ext cx="7543800" cy="73152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1325880" y="315468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Where does the pipeline definition live, and why there?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CI/CD · 3 things to remember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CI/CD</a:t>
            </a:r>
            <a:endParaRPr lang="en-US" sz="900" dirty="0"/>
          </a:p>
        </p:txBody>
      </p:sp>
      <p:sp>
        <p:nvSpPr>
          <p:cNvPr id="6" name="recap 0"/>
          <p:cNvSpPr/>
          <p:nvPr/>
        </p:nvSpPr>
        <p:spPr>
          <a:xfrm>
            <a:off x="457200" y="109728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ap circle 0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recap icon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12070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Every push is built and tested on a fresh machine, automatically.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1600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That's Continuous Integration. Problems surface in minutes, and 'works on my machine' stops being an excuse.</a:t>
            </a:r>
            <a:endParaRPr lang="en-US" sz="1200" dirty="0"/>
          </a:p>
        </p:txBody>
      </p:sp>
      <p:sp>
        <p:nvSpPr>
          <p:cNvPr id="11" name="recap 1"/>
          <p:cNvSpPr/>
          <p:nvPr/>
        </p:nvSpPr>
        <p:spPr>
          <a:xfrm>
            <a:off x="457200" y="224028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ap circle 1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recap icon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060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23500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pipeline is code in the repo: trigger → jobs → steps.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2743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ci.yml and Jenkinsfile describe the same stages you ran by hand in Lab 1.</a:t>
            </a:r>
            <a:endParaRPr lang="en-US" sz="1200" dirty="0"/>
          </a:p>
        </p:txBody>
      </p:sp>
      <p:sp>
        <p:nvSpPr>
          <p:cNvPr id="16" name="recap 2"/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ap circle 2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recap icon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490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80160" y="349300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Red blocks the merge, green makes main deployable.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1280160" y="3886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Continuous Delivery keeps a releasable build ready; Continuous Deployment ships it with no click.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Lab 3 · A pipeline on every push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HANDS-ON</a:t>
            </a:r>
            <a:endParaRPr lang="en-US" sz="900" dirty="0"/>
          </a:p>
        </p:txBody>
      </p:sp>
      <p:sp>
        <p:nvSpPr>
          <p:cNvPr id="6" name="time badge"/>
          <p:cNvSpPr/>
          <p:nvPr/>
        </p:nvSpPr>
        <p:spPr>
          <a:xfrm>
            <a:off x="5760720" y="38404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ime badge text"/>
          <p:cNvSpPr txBox="1"/>
          <p:nvPr/>
        </p:nvSpPr>
        <p:spPr>
          <a:xfrm>
            <a:off x="5760720" y="3840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</a:rPr>
              <a:t>12 min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Open  labs/03-cicd.md  in your Codespace and mirror the instructor</a:t>
            </a:r>
            <a:endParaRPr lang="en-US" sz="1500" dirty="0"/>
          </a:p>
        </p:txBody>
      </p:sp>
      <p:sp>
        <p:nvSpPr>
          <p:cNvPr id="9" name="box 1"/>
          <p:cNvSpPr/>
          <p:nvPr/>
        </p:nvSpPr>
        <p:spPr>
          <a:xfrm>
            <a:off x="457200" y="1463040"/>
            <a:ext cx="36576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ox text 1"/>
          <p:cNvSpPr txBox="1"/>
          <p:nvPr/>
        </p:nvSpPr>
        <p:spPr>
          <a:xfrm>
            <a:off x="457200" y="1463040"/>
            <a:ext cx="3657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14630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Read .github/workflows/ci.yml</a:t>
            </a:r>
            <a:endParaRPr lang="en-US" sz="1400" dirty="0"/>
          </a:p>
        </p:txBody>
      </p:sp>
      <p:sp>
        <p:nvSpPr>
          <p:cNvPr id="12" name="box 2"/>
          <p:cNvSpPr/>
          <p:nvPr/>
        </p:nvSpPr>
        <p:spPr>
          <a:xfrm>
            <a:off x="457200" y="1892808"/>
            <a:ext cx="36576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box text 2"/>
          <p:cNvSpPr txBox="1"/>
          <p:nvPr/>
        </p:nvSpPr>
        <p:spPr>
          <a:xfrm>
            <a:off x="457200" y="1892808"/>
            <a:ext cx="3657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1892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Branch, commit anything, push to your fork</a:t>
            </a:r>
            <a:endParaRPr lang="en-US" sz="1400" dirty="0"/>
          </a:p>
        </p:txBody>
      </p:sp>
      <p:sp>
        <p:nvSpPr>
          <p:cNvPr id="15" name="box 3"/>
          <p:cNvSpPr/>
          <p:nvPr/>
        </p:nvSpPr>
        <p:spPr>
          <a:xfrm>
            <a:off x="457200" y="2322576"/>
            <a:ext cx="36576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ox text 3"/>
          <p:cNvSpPr txBox="1"/>
          <p:nvPr/>
        </p:nvSpPr>
        <p:spPr>
          <a:xfrm>
            <a:off x="457200" y="2322576"/>
            <a:ext cx="3657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23225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Actions tab → watch it go green</a:t>
            </a:r>
            <a:endParaRPr lang="en-US" sz="1400" dirty="0"/>
          </a:p>
        </p:txBody>
      </p:sp>
      <p:sp>
        <p:nvSpPr>
          <p:cNvPr id="18" name="box 4"/>
          <p:cNvSpPr/>
          <p:nvPr/>
        </p:nvSpPr>
        <p:spPr>
          <a:xfrm>
            <a:off x="457200" y="2752344"/>
            <a:ext cx="36576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ox text 4"/>
          <p:cNvSpPr txBox="1"/>
          <p:nvPr/>
        </p:nvSpPr>
        <p:spPr>
          <a:xfrm>
            <a:off x="457200" y="2752344"/>
            <a:ext cx="3657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" y="27523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Break /health on purpose, push → red</a:t>
            </a:r>
            <a:endParaRPr lang="en-US" sz="1400" dirty="0"/>
          </a:p>
        </p:txBody>
      </p:sp>
      <p:sp>
        <p:nvSpPr>
          <p:cNvPr id="21" name="box 5"/>
          <p:cNvSpPr/>
          <p:nvPr/>
        </p:nvSpPr>
        <p:spPr>
          <a:xfrm>
            <a:off x="457200" y="3182112"/>
            <a:ext cx="36576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ox text 5"/>
          <p:cNvSpPr txBox="1"/>
          <p:nvPr/>
        </p:nvSpPr>
        <p:spPr>
          <a:xfrm>
            <a:off x="457200" y="3182112"/>
            <a:ext cx="3657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60120" y="31821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Open a PR → see the red check block it</a:t>
            </a:r>
            <a:endParaRPr lang="en-US" sz="1400" dirty="0"/>
          </a:p>
        </p:txBody>
      </p:sp>
      <p:sp>
        <p:nvSpPr>
          <p:cNvPr id="24" name="box 6"/>
          <p:cNvSpPr/>
          <p:nvPr/>
        </p:nvSpPr>
        <p:spPr>
          <a:xfrm>
            <a:off x="457200" y="3611880"/>
            <a:ext cx="36576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box text 6"/>
          <p:cNvSpPr txBox="1"/>
          <p:nvPr/>
        </p:nvSpPr>
        <p:spPr>
          <a:xfrm>
            <a:off x="457200" y="3611880"/>
            <a:ext cx="3657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60120" y="36118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Fix, push → green</a:t>
            </a:r>
            <a:endParaRPr lang="en-US" sz="1400" dirty="0"/>
          </a:p>
        </p:txBody>
      </p:sp>
      <p:sp>
        <p:nvSpPr>
          <p:cNvPr id="27" name="box 7"/>
          <p:cNvSpPr/>
          <p:nvPr/>
        </p:nvSpPr>
        <p:spPr>
          <a:xfrm>
            <a:off x="457200" y="4041648"/>
            <a:ext cx="36576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box text 7"/>
          <p:cNvSpPr txBox="1"/>
          <p:nvPr/>
        </p:nvSpPr>
        <p:spPr>
          <a:xfrm>
            <a:off x="457200" y="4041648"/>
            <a:ext cx="36576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60120" y="40416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Instructor: the same stages in Jenkins</a:t>
            </a:r>
            <a:endParaRPr lang="en-US" sz="1400" dirty="0"/>
          </a:p>
        </p:txBody>
      </p:sp>
      <p:sp>
        <p:nvSpPr>
          <p:cNvPr id="30" name="Done when card"/>
          <p:cNvSpPr/>
          <p:nvPr/>
        </p:nvSpPr>
        <p:spPr>
          <a:xfrm>
            <a:off x="5486400" y="1463040"/>
            <a:ext cx="3200400" cy="1234440"/>
          </a:xfrm>
          <a:prstGeom prst="roundRect">
            <a:avLst>
              <a:gd name="adj" fmla="val 888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Done when circle"/>
          <p:cNvSpPr/>
          <p:nvPr/>
        </p:nvSpPr>
        <p:spPr>
          <a:xfrm>
            <a:off x="5669280" y="164592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Done when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737360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6263640" y="1645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Done when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5669280" y="2240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Your fork's Actions tab shows one green run and one red run.</a:t>
            </a:r>
            <a:endParaRPr lang="en-US" sz="1200" dirty="0"/>
          </a:p>
        </p:txBody>
      </p:sp>
      <p:sp>
        <p:nvSpPr>
          <p:cNvPr id="35" name="Stuck? card"/>
          <p:cNvSpPr/>
          <p:nvPr/>
        </p:nvSpPr>
        <p:spPr>
          <a:xfrm>
            <a:off x="5486400" y="283464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tuck? circle"/>
          <p:cNvSpPr/>
          <p:nvPr/>
        </p:nvSpPr>
        <p:spPr>
          <a:xfrm>
            <a:off x="5669280" y="301752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Stuck?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108960"/>
            <a:ext cx="274320" cy="274320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6263640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Stuck?</a:t>
            </a:r>
            <a:endParaRPr lang="en-US" sz="1600" dirty="0"/>
          </a:p>
        </p:txBody>
      </p:sp>
      <p:sp>
        <p:nvSpPr>
          <p:cNvPr id="39" name="Text 34"/>
          <p:cNvSpPr txBox="1"/>
          <p:nvPr/>
        </p:nvSpPr>
        <p:spPr>
          <a:xfrm>
            <a:off x="5669280" y="36118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Actions tab empty → enable workflows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Pushed to main? It triggers too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Unexpected red? Read the failed step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The big picture: today, end to end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WRAP-UP</a:t>
            </a:r>
            <a:endParaRPr lang="en-US" sz="900" dirty="0"/>
          </a:p>
        </p:txBody>
      </p:sp>
      <p:sp>
        <p:nvSpPr>
          <p:cNvPr id="6" name="flow circle 0"/>
          <p:cNvSpPr/>
          <p:nvPr/>
        </p:nvSpPr>
        <p:spPr>
          <a:xfrm>
            <a:off x="731520" y="118872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flow icon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3487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git push</a:t>
            </a:r>
            <a:endParaRPr lang="en-US" sz="1200" dirty="0"/>
          </a:p>
        </p:txBody>
      </p:sp>
      <p:sp>
        <p:nvSpPr>
          <p:cNvPr id="9" name="arrow"/>
          <p:cNvSpPr/>
          <p:nvPr/>
        </p:nvSpPr>
        <p:spPr>
          <a:xfrm>
            <a:off x="1463040" y="1527048"/>
            <a:ext cx="3383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flow circle 1"/>
          <p:cNvSpPr/>
          <p:nvPr/>
        </p:nvSpPr>
        <p:spPr>
          <a:xfrm>
            <a:off x="2121408" y="11887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flow icon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428" y="134874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847088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CI runs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tests</a:t>
            </a:r>
            <a:endParaRPr lang="en-US" sz="1200" dirty="0"/>
          </a:p>
        </p:txBody>
      </p:sp>
      <p:sp>
        <p:nvSpPr>
          <p:cNvPr id="13" name="arrow"/>
          <p:cNvSpPr/>
          <p:nvPr/>
        </p:nvSpPr>
        <p:spPr>
          <a:xfrm>
            <a:off x="2852928" y="1527048"/>
            <a:ext cx="3383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flow circle 2"/>
          <p:cNvSpPr/>
          <p:nvPr/>
        </p:nvSpPr>
        <p:spPr>
          <a:xfrm>
            <a:off x="3511296" y="11887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flow icon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316" y="134874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236976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docker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build</a:t>
            </a:r>
            <a:endParaRPr lang="en-US" sz="1200" dirty="0"/>
          </a:p>
        </p:txBody>
      </p:sp>
      <p:sp>
        <p:nvSpPr>
          <p:cNvPr id="17" name="arrow"/>
          <p:cNvSpPr/>
          <p:nvPr/>
        </p:nvSpPr>
        <p:spPr>
          <a:xfrm>
            <a:off x="4242816" y="1527048"/>
            <a:ext cx="3383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flow circle 3"/>
          <p:cNvSpPr/>
          <p:nvPr/>
        </p:nvSpPr>
        <p:spPr>
          <a:xfrm>
            <a:off x="4901184" y="11887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flow icon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1204" y="134874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626864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image →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registry</a:t>
            </a:r>
            <a:endParaRPr lang="en-US" sz="1200" dirty="0"/>
          </a:p>
        </p:txBody>
      </p:sp>
      <p:sp>
        <p:nvSpPr>
          <p:cNvPr id="21" name="arrow"/>
          <p:cNvSpPr/>
          <p:nvPr/>
        </p:nvSpPr>
        <p:spPr>
          <a:xfrm>
            <a:off x="5632704" y="1527048"/>
            <a:ext cx="3383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flow circle 4"/>
          <p:cNvSpPr/>
          <p:nvPr/>
        </p:nvSpPr>
        <p:spPr>
          <a:xfrm>
            <a:off x="6291072" y="118872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flow icon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1092" y="1348740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016752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kubectl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apply</a:t>
            </a:r>
            <a:endParaRPr lang="en-US" sz="1200" dirty="0"/>
          </a:p>
        </p:txBody>
      </p:sp>
      <p:sp>
        <p:nvSpPr>
          <p:cNvPr id="25" name="arrow"/>
          <p:cNvSpPr/>
          <p:nvPr/>
        </p:nvSpPr>
        <p:spPr>
          <a:xfrm>
            <a:off x="7022592" y="1527048"/>
            <a:ext cx="33832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flow circle 5"/>
          <p:cNvSpPr/>
          <p:nvPr/>
        </p:nvSpPr>
        <p:spPr>
          <a:xfrm>
            <a:off x="7680960" y="1188720"/>
            <a:ext cx="685800" cy="6858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flow icon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0980" y="1348740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406640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Pods serve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users</a:t>
            </a:r>
            <a:endParaRPr lang="en-US" sz="1200" dirty="0"/>
          </a:p>
        </p:txBody>
      </p:sp>
      <p:sp>
        <p:nvSpPr>
          <p:cNvPr id="29" name="box Lab 1"/>
          <p:cNvSpPr/>
          <p:nvPr/>
        </p:nvSpPr>
        <p:spPr>
          <a:xfrm>
            <a:off x="457200" y="2743200"/>
            <a:ext cx="8229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box text Lab 1"/>
          <p:cNvSpPr txBox="1"/>
          <p:nvPr/>
        </p:nvSpPr>
        <p:spPr>
          <a:xfrm>
            <a:off x="457200" y="2743200"/>
            <a:ext cx="8229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Lab 1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1371600" y="2743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You did step 3 by hand: built the image and ran it</a:t>
            </a:r>
            <a:endParaRPr lang="en-US" sz="1300" dirty="0"/>
          </a:p>
        </p:txBody>
      </p:sp>
      <p:sp>
        <p:nvSpPr>
          <p:cNvPr id="32" name="box Lab 3"/>
          <p:cNvSpPr/>
          <p:nvPr/>
        </p:nvSpPr>
        <p:spPr>
          <a:xfrm>
            <a:off x="4663440" y="2743200"/>
            <a:ext cx="82296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box text Lab 3"/>
          <p:cNvSpPr txBox="1"/>
          <p:nvPr/>
        </p:nvSpPr>
        <p:spPr>
          <a:xfrm>
            <a:off x="4663440" y="2743200"/>
            <a:ext cx="8229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Lab 3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5577840" y="27432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The pipeline did steps 2–3 for you, on every push</a:t>
            </a:r>
            <a:endParaRPr lang="en-US" sz="1300" dirty="0"/>
          </a:p>
        </p:txBody>
      </p:sp>
      <p:sp>
        <p:nvSpPr>
          <p:cNvPr id="35" name="box Lab 2"/>
          <p:cNvSpPr/>
          <p:nvPr/>
        </p:nvSpPr>
        <p:spPr>
          <a:xfrm>
            <a:off x="457200" y="3611880"/>
            <a:ext cx="82296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ox text Lab 2"/>
          <p:cNvSpPr txBox="1"/>
          <p:nvPr/>
        </p:nvSpPr>
        <p:spPr>
          <a:xfrm>
            <a:off x="457200" y="3611880"/>
            <a:ext cx="8229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Lab 2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1371600" y="3611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You did steps 5–6 on minikube: scale, heal, roll out, roll back</a:t>
            </a:r>
            <a:endParaRPr lang="en-US" sz="1300" dirty="0"/>
          </a:p>
        </p:txBody>
      </p:sp>
      <p:sp>
        <p:nvSpPr>
          <p:cNvPr id="38" name="box Next"/>
          <p:cNvSpPr/>
          <p:nvPr/>
        </p:nvSpPr>
        <p:spPr>
          <a:xfrm>
            <a:off x="4663440" y="3611880"/>
            <a:ext cx="822960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box text Next"/>
          <p:cNvSpPr txBox="1"/>
          <p:nvPr/>
        </p:nvSpPr>
        <p:spPr>
          <a:xfrm>
            <a:off x="4663440" y="3611880"/>
            <a:ext cx="8229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Next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5577840" y="36118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 registry + a real cluster (EKS / GKE / AKS) + ArgoCD = production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</a:rPr>
              <a:t>Where to go from here</a:t>
            </a:r>
            <a:endParaRPr lang="en-US" sz="2800" dirty="0"/>
          </a:p>
        </p:txBody>
      </p:sp>
      <p:sp>
        <p:nvSpPr>
          <p:cNvPr id="4" name="topic chip"/>
          <p:cNvSpPr/>
          <p:nvPr/>
        </p:nvSpPr>
        <p:spPr>
          <a:xfrm>
            <a:off x="7498080" y="384048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opic chip text"/>
          <p:cNvSpPr txBox="1"/>
          <p:nvPr/>
        </p:nvSpPr>
        <p:spPr>
          <a:xfrm>
            <a:off x="7498080" y="384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WRAP-UP</a:t>
            </a:r>
            <a:endParaRPr lang="en-US" sz="900" dirty="0"/>
          </a:p>
        </p:txBody>
      </p:sp>
      <p:sp>
        <p:nvSpPr>
          <p:cNvPr id="6" name="Docker card"/>
          <p:cNvSpPr/>
          <p:nvPr/>
        </p:nvSpPr>
        <p:spPr>
          <a:xfrm>
            <a:off x="457200" y="10972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Docker 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Docker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Docker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8745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Docker Compose: multi-container apps (app + DB)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Volumes: data that survives rm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Multi-stage builds: tiny images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docs.docker.com/get-started</a:t>
            </a:r>
            <a:endParaRPr lang="en-US" sz="1300" dirty="0"/>
          </a:p>
        </p:txBody>
      </p:sp>
      <p:sp>
        <p:nvSpPr>
          <p:cNvPr id="11" name="Kubernetes card"/>
          <p:cNvSpPr/>
          <p:nvPr/>
        </p:nvSpPr>
        <p:spPr>
          <a:xfrm>
            <a:off x="3264408" y="10972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Kubernetes circle"/>
          <p:cNvSpPr/>
          <p:nvPr/>
        </p:nvSpPr>
        <p:spPr>
          <a:xfrm>
            <a:off x="3447288" y="128016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Kubernetes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371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41648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Kubernetes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447288" y="18745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ConfigMaps + Secrets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Ingress: real URLs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Helm: package K8s apps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kubernetes.io/docs/tutorials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Play with K8s: labs.play-with-k8s.com</a:t>
            </a:r>
            <a:endParaRPr lang="en-US" sz="1300" dirty="0"/>
          </a:p>
        </p:txBody>
      </p:sp>
      <p:sp>
        <p:nvSpPr>
          <p:cNvPr id="16" name="CI/CD + beyond card"/>
          <p:cNvSpPr/>
          <p:nvPr/>
        </p:nvSpPr>
        <p:spPr>
          <a:xfrm>
            <a:off x="6080760" y="10972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I/CD + beyond circle"/>
          <p:cNvSpPr/>
          <p:nvPr/>
        </p:nvSpPr>
        <p:spPr>
          <a:xfrm>
            <a:off x="6263640" y="1280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CI/CD + beyond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3716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5800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CI/CD + beyond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263640" y="18745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Push images to GHCR from Actions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ArgoCD: GitOps deploys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Terraform: infra as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Prometheus + Grafana: monitoring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roadmap.sh/devops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Thanks. Questions?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51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</a:rPr>
              <a:t>Fork the repo, keep the Codespace, finish the challenges at home.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CBD5E1"/>
                </a:solidFill>
              </a:rPr>
              <a:t>Show the green Actions badge on your GitHub profile.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vOps Workshop">
  <a:themeElements>
    <a:clrScheme name="DevOps Workshop">
      <a:dk1>
        <a:srgbClr val="0F172A"/>
      </a:dk1>
      <a:lt1>
        <a:srgbClr val="FFFFFF"/>
      </a:lt1>
      <a:dk2>
        <a:srgbClr val="475569"/>
      </a:dk2>
      <a:lt2>
        <a:srgbClr val="F1F5F9"/>
      </a:lt2>
      <a:accent1>
        <a:srgbClr val="0284C7"/>
      </a:accent1>
      <a:accent2>
        <a:srgbClr val="0D9488"/>
      </a:accent2>
      <a:accent3>
        <a:srgbClr val="D97706"/>
      </a:accent3>
      <a:accent4>
        <a:srgbClr val="7C3AED"/>
      </a:accent4>
      <a:accent5>
        <a:srgbClr val="DC2626"/>
      </a:accent5>
      <a:accent6>
        <a:srgbClr val="16A34A"/>
      </a:accent6>
      <a:hlink>
        <a:srgbClr val="0284C7"/>
      </a:hlink>
      <a:folHlink>
        <a:srgbClr val="7C3AED"/>
      </a:folHlink>
    </a:clrScheme>
    <a:fontScheme name="DevOps Worksho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7064</Words>
  <Application>Microsoft Macintosh PowerPoint</Application>
  <PresentationFormat>On-screen Show (16:9)</PresentationFormat>
  <Paragraphs>997</Paragraphs>
  <Slides>51</Slides>
  <Notes>51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Arial</vt:lpstr>
      <vt:lpstr>Calibri</vt:lpstr>
      <vt:lpstr>Courier New</vt:lpstr>
      <vt:lpstr>DevOps Workshop</vt:lpstr>
      <vt:lpstr>Ship It: Docker, Kubernetes &amp; CI/CD</vt:lpstr>
      <vt:lpstr>Today: the right half of the DevOps loop</vt:lpstr>
      <vt:lpstr>How this session works</vt:lpstr>
      <vt:lpstr>Part 1 · Docker</vt:lpstr>
      <vt:lpstr>"But it works on my machine"</vt:lpstr>
      <vt:lpstr> What is a container?</vt:lpstr>
      <vt:lpstr>Images are stacks of layers</vt:lpstr>
      <vt:lpstr>Image vs container</vt:lpstr>
      <vt:lpstr>Docker vs virtual machine</vt:lpstr>
      <vt:lpstr>Virtual machines vs containers</vt:lpstr>
      <vt:lpstr>Four words, one flow</vt:lpstr>
      <vt:lpstr>Main Docker commands</vt:lpstr>
      <vt:lpstr>Image commands vs container commands</vt:lpstr>
      <vt:lpstr>The flags you use every day</vt:lpstr>
      <vt:lpstr>Port binding: why two redis containers don't clash</vt:lpstr>
      <vt:lpstr>The Dockerfile we'll use (6 instructions)</vt:lpstr>
      <vt:lpstr>Images are layers, and layers are cached</vt:lpstr>
      <vt:lpstr>What actually happens on 'docker run'</vt:lpstr>
      <vt:lpstr>Container lifecycle</vt:lpstr>
      <vt:lpstr>Docker commands you'll use in the lab</vt:lpstr>
      <vt:lpstr>Quick check · Docker</vt:lpstr>
      <vt:lpstr>Docker · 3 things to remember</vt:lpstr>
      <vt:lpstr>Lab 1 · Build and run a container</vt:lpstr>
      <vt:lpstr>Part 2 · Kubernetes</vt:lpstr>
      <vt:lpstr>Docker runs one container. Who runs 200?</vt:lpstr>
      <vt:lpstr>Cluster architecture</vt:lpstr>
      <vt:lpstr>Three objects cover 80% of what you'll do</vt:lpstr>
      <vt:lpstr>The one idea behind everything: desired state</vt:lpstr>
      <vt:lpstr>Every YAML file has the same 4 parts</vt:lpstr>
      <vt:lpstr>k8s/deployment.yaml</vt:lpstr>
      <vt:lpstr>k8s/service.yaml and how traffic flows</vt:lpstr>
      <vt:lpstr>Rolling update, step by step</vt:lpstr>
      <vt:lpstr>Pod statuses you'll see</vt:lpstr>
      <vt:lpstr>kubectl commands you'll use in the lab</vt:lpstr>
      <vt:lpstr>Our setup: minikube inside GitHub Codespaces</vt:lpstr>
      <vt:lpstr>Quick check · Kubernetes</vt:lpstr>
      <vt:lpstr>Kubernetes · 3 things to remember</vt:lpstr>
      <vt:lpstr>Lab 2 · Deploy, scale, break, roll out</vt:lpstr>
      <vt:lpstr>Part 3 · CI/CD and Jenkins</vt:lpstr>
      <vt:lpstr>CI, CD and the other CD</vt:lpstr>
      <vt:lpstr>Anatomy of any pipeline</vt:lpstr>
      <vt:lpstr>.github/workflows/ci.yml, annotated</vt:lpstr>
      <vt:lpstr>Why it matters: the pull request gate</vt:lpstr>
      <vt:lpstr>Jenkins: the self-hosted original</vt:lpstr>
      <vt:lpstr>GitHub Actions vs Jenkins</vt:lpstr>
      <vt:lpstr>Quick check · CI/CD</vt:lpstr>
      <vt:lpstr>CI/CD · 3 things to remember</vt:lpstr>
      <vt:lpstr>Lab 3 · A pipeline on every push</vt:lpstr>
      <vt:lpstr>The big picture: today, end to end</vt:lpstr>
      <vt:lpstr>Where to go from here</vt:lpstr>
      <vt:lpstr>Thanks. Questions?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 It: Docker, Kubernetes and CI/CD</dc:title>
  <dc:subject>PptxGenJS Presentation</dc:subject>
  <dc:creator>DevOps Workshop</dc:creator>
  <cp:lastModifiedBy>Phalaksha C G</cp:lastModifiedBy>
  <cp:revision>2</cp:revision>
  <dcterms:created xsi:type="dcterms:W3CDTF">2026-10-28T12:40:46Z</dcterms:created>
  <dcterms:modified xsi:type="dcterms:W3CDTF">2026-10-29T05:31:04Z</dcterms:modified>
</cp:coreProperties>
</file>