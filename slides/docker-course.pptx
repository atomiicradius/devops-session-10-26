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85821f12-977f-fa28-b1dd-b331dcf6176f}">
          <p14:sldIdLst>
            <p14:sldId id="256"/>
            <p14:sldId id="257"/>
          </p14:sldIdLst>
        </p14:section>
        <p14:section name="What is Docker" id="{aca042df-a211-b62b-b47b-20bc7370d99d}">
          <p14:sldIdLst>
            <p14:sldId id="258"/>
            <p14:sldId id="259"/>
            <p14:sldId id="260"/>
            <p14:sldId id="261"/>
          </p14:sldIdLst>
        </p14:section>
        <p14:section name="What is a container" id="{178f42c0-c01c-d531-bdf0-a83997fb7d18}">
          <p14:sldIdLst>
            <p14:sldId id="262"/>
            <p14:sldId id="263"/>
            <p14:sldId id="264"/>
            <p14:sldId id="265"/>
          </p14:sldIdLst>
        </p14:section>
        <p14:section name="Docker vs VM" id="{8130202b-b924-c5c5-d497-b1881e156a8b}">
          <p14:sldIdLst>
            <p14:sldId id="266"/>
            <p14:sldId id="267"/>
            <p14:sldId id="268"/>
          </p14:sldIdLst>
        </p14:section>
        <p14:section name="Installation" id="{677cd40b-3aa7-d950-2d36-1dc5a17aba36}">
          <p14:sldIdLst>
            <p14:sldId id="269"/>
            <p14:sldId id="270"/>
            <p14:sldId id="271"/>
          </p14:sldIdLst>
        </p14:section>
        <p14:section name="Main commands" id="{c9662d4e-4ee3-605a-02f9-4415d3402ed3}">
          <p14:sldIdLst>
            <p14:sldId id="272"/>
            <p14:sldId id="273"/>
            <p14:sldId id="274"/>
            <p14:sldId id="275"/>
          </p14:sldIdLst>
        </p14:section>
        <p14:section name="Debugging" id="{7e25a621-2d67-2ec4-715d-f950bc8c784a}">
          <p14:sldIdLst>
            <p14:sldId id="276"/>
            <p14:sldId id="277"/>
            <p14:sldId id="278"/>
          </p14:sldIdLst>
        </p14:section>
        <p14:section name="Developing with containers" id="{e43aea81-6730-e4c4-402c-a9653b349447}">
          <p14:sldIdLst>
            <p14:sldId id="279"/>
            <p14:sldId id="280"/>
            <p14:sldId id="281"/>
            <p14:sldId id="282"/>
          </p14:sldIdLst>
        </p14:section>
        <p14:section name="Docker Compose" id="{5d11c576-4b77-aa51-bf69-4bccac3e1212}">
          <p14:sldIdLst>
            <p14:sldId id="283"/>
            <p14:sldId id="284"/>
            <p14:sldId id="285"/>
          </p14:sldIdLst>
        </p14:section>
        <p14:section name="Dockerfile" id="{6a1a0316-cb0c-1fae-ceea-e86a920aa038}">
          <p14:sldIdLst>
            <p14:sldId id="286"/>
            <p14:sldId id="287"/>
            <p14:sldId id="288"/>
            <p14:sldId id="289"/>
          </p14:sldIdLst>
        </p14:section>
        <p14:section name="Private registry" id="{5b808a28-1b22-8ea3-8a81-4cd8255cb87d}">
          <p14:sldIdLst>
            <p14:sldId id="290"/>
            <p14:sldId id="291"/>
            <p14:sldId id="292"/>
          </p14:sldIdLst>
        </p14:section>
        <p14:section name="Deploy" id="{9db5b2e9-3dac-cded-69b5-2b2fea74a1e5}">
          <p14:sldIdLst>
            <p14:sldId id="293"/>
            <p14:sldId id="294"/>
          </p14:sldIdLst>
        </p14:section>
        <p14:section name="Volumes" id="{7e9082a8-e799-0956-1b28-d6533ebb0bce}">
          <p14:sldIdLst>
            <p14:sldId id="295"/>
            <p14:sldId id="296"/>
            <p14:sldId id="297"/>
            <p14:sldId id="298"/>
          </p14:sldIdLst>
        </p14:section>
        <p14:section name="Wrap-up" id="{ce023b09-a75b-496c-a346-84f84b8f3f4b}">
          <p14:sldIdLst>
            <p14:sldId id="299"/>
            <p14:sldId id="300"/>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Intro and course overview. Say who it's for: anyone who can run a terminal. By the end you'll containerise a real app (Node + MongoDB), push it to a private registry, deploy it, and persist its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15 sections. Three arcs: 1 concepts (what/why), 2 daily use (commands, debugging, developing with containers, compose), 3 shipping (Dockerfile, registry, deploy, volumes).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01:58. Definition first, then the two problems it solves: development setup and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 a tool that packages an application with ALL its dependencies into a standard unit (a container) that runs the same way on any machine. The company Docker Inc. made the tool; 'docker' is also the CLI; the format became the open OCI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Nana's story: a team of 10 installing PostgreSQL, Redis, Node on 10 laptops, different OSes, 20 steps each, something breaks on each one. Then a new dev joins and you do it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 hands a jar/zip + a text file of instructions to Ops. Ops installs the runtime, mis-reads a step, versions differ, 'it works on my machine'. Back-and-forth for days. With containers Dev ships an image that already contains the runtime and config; Ops runs one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10:56. Container = layers of images; a running image. Show Docker Hub. Show 'docker run postgres:9.6' pulling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Bottom: a small Linux base (Alpine, Debian slim). Middle: runtime + libraries. Top: the application. Each layer is read-only and shared between images that use it. Pulling 'postgres:9.6' then 'postgres:10' downloads only the layers that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 the package (static, on disk or in a registry). Container = the image started: a process, with its own filesystem (image layers + writable layer), its own network, its own hostname. 'docker run image' creates a container. One image, many containers.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hub.docker.com. Official images (postgres, redis, mongo, node, nginx) are maintained by Docker + the upstream project. Tags = versions. 'latest' is just the default tag, not 'newest'. Show the page for mongo and the tag list. Demo: docker run postgres:9.6 then postgres:10, watch the shared layers say 'Already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19:40. OS = kernel + applications layer. Docker virtualises the applications layer, a VM virtualises the kernel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OS = kernel (talks to hardware) + applications layer (shell, package manager, libraries, UI). A VM image contains both: its own kernel, boots like a computer, GBs, minutes. A Docker image contains only the applications layer and uses the HOST's kernel: MBs, seconds. Consequence: a Linux container needs a Linux kernel; on Mac/Windows Docker Desktop runs a tiny Linux VM to provide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comparison table; then the compatibility caveat: older Windows (Home before WSL2) couldn't run Docker natively; now WSL2 handles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23:53. Docker Desktop for Mac/Windows, Docker Engine for Linux. Check requirements. Then 'docker run hello-world'.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docs.docker.com/get-docker. Mac: Docker Desktop (Apple or Intel chip). Windows: Docker Desktop, needs WSL2 enabled (Windows 10 2004+ / 11). Linux: Docker Engine via apt/dnf; add your user to the docker group to skip sudo. Verify with docker --version and docker run hello-world, which pulls a tiny image and prints a message: proves the daemon, the pull path and the run path all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docker CLI is a client. The Docker daemon (dockerd) does the real work: builds, runs, pulls. They talk over a Unix socket (or TCP). Docker Desktop also bundles Compose, and a GUI. 'Cannot connect to the Docker daemon' means the daemon isn't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42:02. Demo with redis: pull, run, ps, stop, start, run -d, -p port binding, naming. Explain the difference between image commands and container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families. Image family manages the local cache (what you downloaded/built). Container family manages running instances. 'docker run' bridges them: it pulls if needed, then creates and starts a container.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order from the course: docker run redis (blocks the terminal) → Ctrl+C → docker run -d redis → docker ps shows a random name → docker run -d --name my-redis redis → stop/start by name → need port? docker run -d -p 6000:6379 redis → two redis on different host 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container has its own network namespace, so both redis listen on 'their' 6379. Only when you publish to the host do ports have to be unique: 6000 and 6001. Without -p the container is reachable only from other containers.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57:15. logs, exec -it, and the mental model: a container is a tiny Linux you can walk 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logs = stdout/stderr of the main process; -f follows. docker exec -it &lt;c&gt; /bin/bash (or sh on Alpine) opens a shell inside: check env, files, processes, curl localhost. docker inspect dumps the full config JSON: IP, mounts, env. Show: cd /, ls, env, exit. Note: 'exit' leaves the shell; the container keeps running because its main process is redis, not your shell.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container has a 64-char ID; the first few chars are enough. Names from --name. 'docker ps -a' shows exited ones; they pile up. docker rm removes; docker container prune removes all stopped; docker system prune also removes unused images/networks. Each 'docker run' without --rm leaves a container behind, which is why people end up with 40 exited containers.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1:06:39 Demo project overview. A JavaScript app (Node + simple HTML form) that stores a user profile in MongoDB; Mongo Express as admin UI. Workflow of the rest of the course: develop locally with containers → CI builds an image → push to private registry → deploy on a server → persist data with volumes.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roadmap for sections 8–14. Local dev uses containers for the services the app needs (Mongo, Mongo Express). Then the app itself becomes an image, goes through a registry, and runs on a server alongside the same Mongo, with a volume for persistence.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1:10:08 Developing with containers. Create a network: docker network create mongo-network. Run mongo and mongo-express on it. Containers on the same user-defined network resolve each other by container NAME (mongodb) via Docker's built-in DNS, no IPs needed. The app running on the host (node server.js) talks to Mongo via localhost:27017 thanks to -p.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server.js the Mongo URL is mongodb://admin:password@localhost:27017 while the app runs on the host. Later, when the app itself is a container on the same network, 'localhost' becomes 'mongodb'. This single change trips everyone up: localhost inside a container means THAT container.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1:29:49. Those two long 'docker run' commands become one YAML file. Compose creates the network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each flag to a YAML key: image → image, --name → service name (and container_name), -p → ports, -e → environment, --network → not needed: Compose creates one network per project and puts all services on it, resolvable by service name. depends_on orders startup (but doesn't wait for readiness).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compose (v2, built into Docker Desktop) replaced docker-compose (v1 Python). up creates network + containers; -d detached; down removes containers AND the network (not volumes unless -v). logs -f follows all services with colour prefixes. Project name defaults to the folder name, which prefixes container names: myapp-mongodb-1.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1:42:02. So far we only ran other people's images. Now the Node app becomes an image so it can be deployed like Mongo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image starts FROM a base. ENV sets variables (prefer compose/run-time for secrets). RUN executes at BUILD time inside the image (mkdir, npm install). COPY copies from the host (build context) into the image. WORKDIR sets the working dir. CMD is the ENTRYPOINT command executed at RUN time, only one CMD. Difference RUN vs CMD is the exam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confused point. RUN happens while 'docker build' executes: install packages, create dirs; each RUN is a layer. CMD does NOT execute during build; it's stored as metadata and executed when 'docker run' starts a container. You can have many RUN, one effective CMD. ENTRYPOINT is like CMD but harder to override; CMD then supplies default args.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build -t my-app:1.0 . — the '.' is the build context: the folder sent to the daemon, which is what COPY can see. Tag name:version. Then run with -p and the right network so it can reach mongodb. Change code → rebuild → the old container must be removed (docker rm) and a new one run; images are immutable. Show the layered output and the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2:04:36. Docker Hub is public by default. Companies keep images in a private registry: AWS ECR, Google Artifact Registry, Azure ACR, Nexus, Harbor, or a private Docker Hub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Registry = the service (ECR). Repository = one image name inside it (my-app); holds many tags (1.0, 1.1). On ECR one repository per application. The full image name encodes the address: &lt;account&gt;.dkr.ecr.&lt;region&gt;.amazonaws.com/my-app:1.0. Docker decides where to push purely from the name prefix.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Create repository in the ECR console (name my-app). 2 Authenticate: aws ecr get-login-password piped into docker login (needs AWS CLI configured with credentials). 3 Tag: docker tag my-app:1.0 &lt;registry&gt;/my-app:1.0 — tagging creates a second NAME for the same image ID, no copy. 4 docker push. Then on the next version: build 1.1, tag, push again; ECR shows both tags.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2:19:06. A server with Docker installed pulls the app image from ECR and the public mongo images from Docker Hub, then docker compose up. Mongo Express is optional in prod.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compose file as section 8 plus a my-app service pointing at the ECR image. On the server: docker login to ECR, then docker compose up. The app's Mongo URL must now be mongodb://admin:password@mongodb:27017 (service name, not localhost). Show the three containers on one network; app reachable on server:3000.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2:27:26. Problem: restart the mongodb container → all data gone, because the writable layer is deleted with the container. Volumes connect a host directory to a container directory so data survives.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container's filesystem = image layers (read-only) + one writable layer. Mongo writes to /data/db in that writable layer. Remove/recreate the container → layer gone → database empty. A volume mounts a directory from the HOST filesystem into the container at that path, so writes land on the host and survive. Also lets you back up and share data between containers.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Host (bind) volume: you choose the host path: -v /home/me/data:/data/db. 2 Anonymous volume: only the container path: -v /data/db; Docker picks a random host dir under /var/lib/docker/volumes. 3 Named volume: -v mongo-data:/data/db; Docker manages the location, you reference it by name. Named is the recommended one for production; bind mounts are for dev (live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2:33:03. Add a named volume to the mongodb service and declare it at the bottom under volumes:. docker compose up, save a profile, docker compose down, up again → data still there. Show docker volume ls and inspect to find the host path. Mongo's data dir is /data/db (check the image docs; MySQL is /var/lib/mysql, Postgres /var/lib/postgresql/data).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2:45:13. Recap of the full workflow and the key mental models. Point to next topics.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follow-ups, in order of usefulness.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188720"/>
          </a:xfrm>
          <a:prstGeom prst="rect">
            <a:avLst/>
          </a:prstGeom>
          <a:noFill/>
          <a:ln/>
        </p:spPr>
        <p:txBody>
          <a:bodyPr wrap="square" rtlCol="0"/>
          <a:lstStyle>
            <a:lvl1pPr algn="l" indent="0" marL="0">
              <a:buNone/>
              <a:defRPr lang="en-US" sz="4400" b="1" dirty="0">
                <a:solidFill>
                  <a:srgbClr val="FFFFFF"/>
                </a:solidFill>
              </a:defRPr>
            </a:lvl1pPr>
          </a:lstStyle>
          <a:p>
            <a:pPr algn="l" indent="0" marL="0">
              <a:buNone/>
            </a:pPr>
            <a:endParaRPr lang="en-US" sz="4400" dirty="0"/>
          </a:p>
        </p:txBody>
      </p:sp>
      <p:sp>
        <p:nvSpPr>
          <p:cNvPr id="3" name="Text 0"/>
          <p:cNvSpPr/>
          <p:nvPr>
            <p:ph idx="101" type="body" hasCustomPrompt="1"/>
          </p:nvPr>
        </p:nvSpPr>
        <p:spPr>
          <a:xfrm>
            <a:off x="548640" y="2651760"/>
            <a:ext cx="8046720" cy="1097280"/>
          </a:xfrm>
          <a:prstGeom prst="rect">
            <a:avLst/>
          </a:prstGeom>
          <a:noFill/>
          <a:ln/>
        </p:spPr>
        <p:txBody>
          <a:bodyPr wrap="square" rtlCol="0"/>
          <a:lstStyle>
            <a:lvl1pPr algn="l" indent="0" marL="0">
              <a:buNone/>
              <a:defRPr lang="en-US" sz="2000" dirty="0">
                <a:solidFill>
                  <a:srgbClr val="CBD5E1"/>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91440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548640" y="2834640"/>
            <a:ext cx="8046720" cy="822960"/>
          </a:xfrm>
          <a:prstGeom prst="rect">
            <a:avLst/>
          </a:prstGeom>
          <a:noFill/>
          <a:ln/>
        </p:spPr>
        <p:txBody>
          <a:bodyPr wrap="square" rtlCol="0"/>
          <a:lstStyle>
            <a:lvl1pPr algn="l" indent="0" marL="0">
              <a:buNone/>
              <a:defRPr lang="en-US" sz="1800" dirty="0">
                <a:solidFill>
                  <a:srgbClr val="CBD5E1"/>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rtlCol="0"/>
          <a:lstStyle>
            <a:lvl1pPr algn="l" indent="0" marL="0">
              <a:buNone/>
              <a:defRPr lang="en-US" sz="2800" b="1" dirty="0">
                <a:solidFill>
                  <a:srgbClr val="0F172A"/>
                </a:solidFill>
              </a:defRPr>
            </a:lvl1pPr>
          </a:lstStyle>
          <a:p>
            <a:pPr algn="l" indent="0" marL="0">
              <a:buNone/>
            </a:pPr>
            <a:endParaRPr lang="en-US" sz="28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rgbClr val="475569"/>
                </a:solidFill>
              </a:rPr>
              <a:t>Docker from Zero  ·  containers, images, compose, registries, volumes</a:t>
            </a:r>
            <a:endParaRPr lang="en-US" sz="9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AB">
    <p:bg>
      <p:bgPr>
        <a:solidFill>
          <a:srgbClr val="F0FDF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rtlCol="0"/>
          <a:lstStyle>
            <a:lvl1pPr algn="l" indent="0" marL="0">
              <a:buNone/>
              <a:defRPr lang="en-US" sz="2800" b="1" dirty="0">
                <a:solidFill>
                  <a:srgbClr val="0F172A"/>
                </a:solidFill>
              </a:defRPr>
            </a:lvl1pPr>
          </a:lstStyle>
          <a:p>
            <a:pPr algn="l" indent="0" marL="0">
              <a:buNone/>
            </a:pPr>
            <a:endParaRPr lang="en-US" sz="2800" dirty="0"/>
          </a:p>
        </p:txBody>
      </p:sp>
      <p:sp>
        <p:nvSpPr>
          <p:cNvPr id="3"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900" dirty="0">
                <a:solidFill>
                  <a:srgbClr val="475569"/>
                </a:solidFill>
              </a:rPr>
              <a:t>Docker from Zero  ·  containers, images, compose, registries, volumes</a:t>
            </a:r>
            <a:endParaRPr lang="en-US" sz="9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4.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4.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4.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4.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slideLayout" Target="../slideLayouts/slideLayout4.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image" Target="../media/image-44-7.png"/><Relationship Id="rId8" Type="http://schemas.openxmlformats.org/officeDocument/2006/relationships/image" Target="../media/image-44-8.png"/><Relationship Id="rId9" Type="http://schemas.openxmlformats.org/officeDocument/2006/relationships/image" Target="../media/image-44-9.png"/><Relationship Id="rId10" Type="http://schemas.openxmlformats.org/officeDocument/2006/relationships/image" Target="../media/image-44-10.png"/><Relationship Id="rId11" Type="http://schemas.openxmlformats.org/officeDocument/2006/relationships/slideLayout" Target="../slideLayouts/slideLayout4.xml"/><Relationship Id="rId1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slideLayout" Target="../slideLayouts/slideLayout4.xml"/><Relationship Id="rId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188720"/>
          </a:xfrm>
          <a:prstGeom prst="rect">
            <a:avLst/>
          </a:prstGeom>
          <a:noFill/>
          <a:ln/>
        </p:spPr>
        <p:txBody>
          <a:bodyPr wrap="square" lIns="0" tIns="0" rIns="0" bIns="0" rtlCol="0" anchor="b"/>
          <a:lstStyle/>
          <a:p>
            <a:pPr algn="l" indent="0" marL="0">
              <a:buNone/>
            </a:pPr>
            <a:r>
              <a:rPr lang="en-US" sz="4400" b="1" dirty="0">
                <a:solidFill>
                  <a:srgbClr val="FFFFFF"/>
                </a:solidFill>
              </a:rPr>
              <a:t>Docker from Zero</a:t>
            </a:r>
            <a:endParaRPr lang="en-US" sz="4400" dirty="0"/>
          </a:p>
        </p:txBody>
      </p:sp>
      <p:sp>
        <p:nvSpPr>
          <p:cNvPr id="3" name="Text 0"/>
          <p:cNvSpPr/>
          <p:nvPr>
            <p:ph idx="101" type="body" hasCustomPrompt="1"/>
          </p:nvPr>
        </p:nvSpPr>
        <p:spPr>
          <a:xfrm>
            <a:off x="548640" y="2651760"/>
            <a:ext cx="8046720" cy="1097280"/>
          </a:xfrm>
          <a:prstGeom prst="rect">
            <a:avLst/>
          </a:prstGeom>
          <a:noFill/>
          <a:ln/>
        </p:spPr>
        <p:txBody>
          <a:bodyPr wrap="square" lIns="0" tIns="0" rIns="0" bIns="0" rtlCol="0" anchor="t"/>
          <a:lstStyle/>
          <a:p>
            <a:pPr algn="l" indent="0" marL="0">
              <a:buNone/>
            </a:pPr>
            <a:r>
              <a:rPr lang="en-US" sz="2000" dirty="0">
                <a:solidFill>
                  <a:srgbClr val="CBD5E1"/>
                </a:solidFill>
              </a:rPr>
              <a:t>A 3-hour course · what Docker is, why it exists, and how to use it for a real multi-service app</a:t>
            </a:r>
            <a:endParaRPr lang="en-US" sz="2000" dirty="0"/>
          </a:p>
        </p:txBody>
      </p:sp>
      <p:pic>
        <p:nvPicPr>
          <p:cNvPr id="5" name="docker icon" descr="preencoded.png">    </p:cNvPr>
          <p:cNvPicPr>
            <a:picLocks noChangeAspect="1"/>
          </p:cNvPicPr>
          <p:nvPr/>
        </p:nvPicPr>
        <p:blipFill>
          <a:blip r:embed="rId1"/>
          <a:stretch>
            <a:fillRect/>
          </a:stretch>
        </p:blipFill>
        <p:spPr>
          <a:xfrm>
            <a:off x="7498080" y="640080"/>
            <a:ext cx="1005840" cy="1005840"/>
          </a:xfrm>
          <a:prstGeom prst="rect">
            <a:avLst/>
          </a:prstGeom>
        </p:spPr>
      </p:pic>
      <p:sp>
        <p:nvSpPr>
          <p:cNvPr id="6" name="box Structure based on 'Docker Tutorial for Beginners' by TechWorld with Nana  ·  demo project: Node app + MongoDB + Mongo Express"/>
          <p:cNvSpPr/>
          <p:nvPr/>
        </p:nvSpPr>
        <p:spPr>
          <a:xfrm>
            <a:off x="548640" y="3931920"/>
            <a:ext cx="8046720" cy="548640"/>
          </a:xfrm>
          <a:prstGeom prst="roundRect">
            <a:avLst>
              <a:gd name="adj" fmla="val 13333"/>
            </a:avLst>
          </a:prstGeom>
          <a:solidFill>
            <a:srgbClr val="1E293B"/>
          </a:solidFill>
          <a:ln w="12700">
            <a:solidFill>
              <a:srgbClr val="1E293B"/>
            </a:solidFill>
            <a:prstDash val="solid"/>
          </a:ln>
        </p:spPr>
      </p:sp>
      <p:sp>
        <p:nvSpPr>
          <p:cNvPr id="7" name="box text Structure based on &amp;apos;Docker Tutorial for Beginners&amp;apos; by TechWorld with Nana  ·  demo project: Node app + MongoDB + Mongo Express"/>
          <p:cNvSpPr txBox="1"/>
          <p:nvPr/>
        </p:nvSpPr>
        <p:spPr>
          <a:xfrm>
            <a:off x="548640" y="3931920"/>
            <a:ext cx="8046720" cy="548640"/>
          </a:xfrm>
          <a:prstGeom prst="rect">
            <a:avLst/>
          </a:prstGeom>
          <a:noFill/>
          <a:ln/>
        </p:spPr>
        <p:txBody>
          <a:bodyPr wrap="square" lIns="381" tIns="381" rIns="381" bIns="381" rtlCol="0" anchor="ctr"/>
          <a:lstStyle/>
          <a:p>
            <a:pPr algn="ctr" indent="0" marL="0">
              <a:buNone/>
            </a:pPr>
            <a:r>
              <a:rPr lang="en-US" sz="1200" dirty="0">
                <a:solidFill>
                  <a:srgbClr val="E2E8F0"/>
                </a:solidFill>
              </a:rPr>
              <a:t>Structure based on 'Docker Tutorial for Beginners' by TechWorld with Nana  ·  demo project: Node app + MongoDB + Mongo Express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Course overview</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tx1"/>
          </a:solidFill>
          <a:ln w="12700">
            <a:solidFill>
              <a:schemeClr val="tx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INTRO</a:t>
            </a:r>
            <a:endParaRPr lang="en-US" sz="900" dirty="0"/>
          </a:p>
        </p:txBody>
      </p:sp>
      <p:sp>
        <p:nvSpPr>
          <p:cNvPr id="6" name="1 · Understand card"/>
          <p:cNvSpPr/>
          <p:nvPr/>
        </p:nvSpPr>
        <p:spPr>
          <a:xfrm>
            <a:off x="457200" y="1097280"/>
            <a:ext cx="2606040" cy="2834640"/>
          </a:xfrm>
          <a:prstGeom prst="roundRect">
            <a:avLst>
              <a:gd name="adj" fmla="val 4211"/>
            </a:avLst>
          </a:prstGeom>
          <a:solidFill>
            <a:srgbClr val="E0F2FE"/>
          </a:solidFill>
          <a:ln w="12700">
            <a:solidFill>
              <a:srgbClr val="E0F2FE"/>
            </a:solidFill>
            <a:prstDash val="solid"/>
          </a:ln>
        </p:spPr>
      </p:sp>
      <p:sp>
        <p:nvSpPr>
          <p:cNvPr id="7" name="1 · Understand circle"/>
          <p:cNvSpPr/>
          <p:nvPr/>
        </p:nvSpPr>
        <p:spPr>
          <a:xfrm>
            <a:off x="640080" y="1280160"/>
            <a:ext cx="457200" cy="457200"/>
          </a:xfrm>
          <a:prstGeom prst="ellipse">
            <a:avLst/>
          </a:prstGeom>
          <a:solidFill>
            <a:schemeClr val="accent1"/>
          </a:solidFill>
          <a:ln w="12700">
            <a:solidFill>
              <a:schemeClr val="accent1"/>
            </a:solidFill>
            <a:prstDash val="solid"/>
          </a:ln>
        </p:spPr>
      </p:sp>
      <p:pic>
        <p:nvPicPr>
          <p:cNvPr id="8" name="1 · Understand icon" descr="preencoded.png">    </p:cNvPr>
          <p:cNvPicPr>
            <a:picLocks noChangeAspect="1"/>
          </p:cNvPicPr>
          <p:nvPr/>
        </p:nvPicPr>
        <p:blipFill>
          <a:blip r:embed="rId1"/>
          <a:stretch>
            <a:fillRect/>
          </a:stretch>
        </p:blipFill>
        <p:spPr>
          <a:xfrm>
            <a:off x="731520" y="1371600"/>
            <a:ext cx="274320" cy="274320"/>
          </a:xfrm>
          <a:prstGeom prst="rect">
            <a:avLst/>
          </a:prstGeom>
        </p:spPr>
      </p:pic>
      <p:sp>
        <p:nvSpPr>
          <p:cNvPr id="9" name="Text 5"/>
          <p:cNvSpPr txBox="1"/>
          <p:nvPr/>
        </p:nvSpPr>
        <p:spPr>
          <a:xfrm>
            <a:off x="1234440" y="1280160"/>
            <a:ext cx="1645920" cy="457200"/>
          </a:xfrm>
          <a:prstGeom prst="rect">
            <a:avLst/>
          </a:prstGeom>
          <a:noFill/>
          <a:ln/>
        </p:spPr>
        <p:txBody>
          <a:bodyPr wrap="square" lIns="0" tIns="0" rIns="0" bIns="0" rtlCol="0" anchor="ctr"/>
          <a:lstStyle/>
          <a:p>
            <a:pPr indent="0" marL="0">
              <a:buNone/>
            </a:pPr>
            <a:r>
              <a:rPr lang="en-US" sz="1600" b="1" dirty="0">
                <a:solidFill>
                  <a:schemeClr val="tx1"/>
                </a:solidFill>
              </a:rPr>
              <a:t>1 · Understand</a:t>
            </a:r>
            <a:endParaRPr lang="en-US" sz="1600" dirty="0"/>
          </a:p>
        </p:txBody>
      </p:sp>
      <p:sp>
        <p:nvSpPr>
          <p:cNvPr id="10" name="Text 6"/>
          <p:cNvSpPr txBox="1"/>
          <p:nvPr/>
        </p:nvSpPr>
        <p:spPr>
          <a:xfrm>
            <a:off x="640080" y="1874520"/>
            <a:ext cx="224028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What is Docker?</a:t>
            </a:r>
            <a:endParaRPr lang="en-US" sz="1300" dirty="0"/>
          </a:p>
          <a:p>
            <a:pPr marL="342900" indent="-342900">
              <a:spcAft>
                <a:spcPts val="600"/>
              </a:spcAft>
              <a:buSzPct val="100000"/>
              <a:buChar char="•"/>
            </a:pPr>
            <a:r>
              <a:rPr lang="en-US" sz="1300" dirty="0">
                <a:solidFill>
                  <a:schemeClr val="tx1"/>
                </a:solidFill>
              </a:rPr>
              <a:t>What is a container?</a:t>
            </a:r>
            <a:endParaRPr lang="en-US" sz="1300" dirty="0"/>
          </a:p>
          <a:p>
            <a:pPr marL="342900" indent="-342900">
              <a:spcAft>
                <a:spcPts val="600"/>
              </a:spcAft>
              <a:buSzPct val="100000"/>
              <a:buChar char="•"/>
            </a:pPr>
            <a:r>
              <a:rPr lang="en-US" sz="1300" dirty="0">
                <a:solidFill>
                  <a:schemeClr val="tx1"/>
                </a:solidFill>
              </a:rPr>
              <a:t>Docker vs virtual machine</a:t>
            </a:r>
            <a:endParaRPr lang="en-US" sz="1300" dirty="0"/>
          </a:p>
          <a:p>
            <a:pPr marL="342900" indent="-342900">
              <a:spcAft>
                <a:spcPts val="600"/>
              </a:spcAft>
              <a:buSzPct val="100000"/>
              <a:buChar char="•"/>
            </a:pPr>
            <a:r>
              <a:rPr lang="en-US" sz="1300" dirty="0">
                <a:solidFill>
                  <a:schemeClr val="tx1"/>
                </a:solidFill>
              </a:rPr>
              <a:t>Installation</a:t>
            </a:r>
            <a:endParaRPr lang="en-US" sz="1300" dirty="0"/>
          </a:p>
        </p:txBody>
      </p:sp>
      <p:sp>
        <p:nvSpPr>
          <p:cNvPr id="11" name="2 · Use daily card"/>
          <p:cNvSpPr/>
          <p:nvPr/>
        </p:nvSpPr>
        <p:spPr>
          <a:xfrm>
            <a:off x="3264408" y="1097280"/>
            <a:ext cx="2606040" cy="2834640"/>
          </a:xfrm>
          <a:prstGeom prst="roundRect">
            <a:avLst>
              <a:gd name="adj" fmla="val 4211"/>
            </a:avLst>
          </a:prstGeom>
          <a:solidFill>
            <a:srgbClr val="E0F2FE"/>
          </a:solidFill>
          <a:ln w="12700">
            <a:solidFill>
              <a:srgbClr val="E0F2FE"/>
            </a:solidFill>
            <a:prstDash val="solid"/>
          </a:ln>
        </p:spPr>
      </p:sp>
      <p:sp>
        <p:nvSpPr>
          <p:cNvPr id="12" name="2 · Use daily circle"/>
          <p:cNvSpPr/>
          <p:nvPr/>
        </p:nvSpPr>
        <p:spPr>
          <a:xfrm>
            <a:off x="3447288" y="1280160"/>
            <a:ext cx="457200" cy="457200"/>
          </a:xfrm>
          <a:prstGeom prst="ellipse">
            <a:avLst/>
          </a:prstGeom>
          <a:solidFill>
            <a:schemeClr val="accent1"/>
          </a:solidFill>
          <a:ln w="12700">
            <a:solidFill>
              <a:schemeClr val="accent1"/>
            </a:solidFill>
            <a:prstDash val="solid"/>
          </a:ln>
        </p:spPr>
      </p:sp>
      <p:pic>
        <p:nvPicPr>
          <p:cNvPr id="13" name="2 · Use daily icon" descr="preencoded.png">    </p:cNvPr>
          <p:cNvPicPr>
            <a:picLocks noChangeAspect="1"/>
          </p:cNvPicPr>
          <p:nvPr/>
        </p:nvPicPr>
        <p:blipFill>
          <a:blip r:embed="rId2"/>
          <a:stretch>
            <a:fillRect/>
          </a:stretch>
        </p:blipFill>
        <p:spPr>
          <a:xfrm>
            <a:off x="3538728" y="1371600"/>
            <a:ext cx="274320" cy="274320"/>
          </a:xfrm>
          <a:prstGeom prst="rect">
            <a:avLst/>
          </a:prstGeom>
        </p:spPr>
      </p:pic>
      <p:sp>
        <p:nvSpPr>
          <p:cNvPr id="14" name="Text 9"/>
          <p:cNvSpPr txBox="1"/>
          <p:nvPr/>
        </p:nvSpPr>
        <p:spPr>
          <a:xfrm>
            <a:off x="4041648" y="1280160"/>
            <a:ext cx="1645920" cy="457200"/>
          </a:xfrm>
          <a:prstGeom prst="rect">
            <a:avLst/>
          </a:prstGeom>
          <a:noFill/>
          <a:ln/>
        </p:spPr>
        <p:txBody>
          <a:bodyPr wrap="square" lIns="0" tIns="0" rIns="0" bIns="0" rtlCol="0" anchor="ctr"/>
          <a:lstStyle/>
          <a:p>
            <a:pPr indent="0" marL="0">
              <a:buNone/>
            </a:pPr>
            <a:r>
              <a:rPr lang="en-US" sz="1600" b="1" dirty="0">
                <a:solidFill>
                  <a:schemeClr val="tx1"/>
                </a:solidFill>
              </a:rPr>
              <a:t>2 · Use daily</a:t>
            </a:r>
            <a:endParaRPr lang="en-US" sz="1600" dirty="0"/>
          </a:p>
        </p:txBody>
      </p:sp>
      <p:sp>
        <p:nvSpPr>
          <p:cNvPr id="15" name="Text 10"/>
          <p:cNvSpPr txBox="1"/>
          <p:nvPr/>
        </p:nvSpPr>
        <p:spPr>
          <a:xfrm>
            <a:off x="3447288" y="1874520"/>
            <a:ext cx="224028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Main commands</a:t>
            </a:r>
            <a:endParaRPr lang="en-US" sz="1300" dirty="0"/>
          </a:p>
          <a:p>
            <a:pPr marL="342900" indent="-342900">
              <a:spcAft>
                <a:spcPts val="600"/>
              </a:spcAft>
              <a:buSzPct val="100000"/>
              <a:buChar char="•"/>
            </a:pPr>
            <a:r>
              <a:rPr lang="en-US" sz="1300" dirty="0">
                <a:solidFill>
                  <a:schemeClr val="tx1"/>
                </a:solidFill>
              </a:rPr>
              <a:t>Debugging a container</a:t>
            </a:r>
            <a:endParaRPr lang="en-US" sz="1300" dirty="0"/>
          </a:p>
          <a:p>
            <a:pPr marL="342900" indent="-342900">
              <a:spcAft>
                <a:spcPts val="600"/>
              </a:spcAft>
              <a:buSzPct val="100000"/>
              <a:buChar char="•"/>
            </a:pPr>
            <a:r>
              <a:rPr lang="en-US" sz="1300" dirty="0">
                <a:solidFill>
                  <a:schemeClr val="tx1"/>
                </a:solidFill>
              </a:rPr>
              <a:t>Developing with containers</a:t>
            </a:r>
            <a:endParaRPr lang="en-US" sz="1300" dirty="0"/>
          </a:p>
          <a:p>
            <a:pPr marL="342900" indent="-342900">
              <a:spcAft>
                <a:spcPts val="600"/>
              </a:spcAft>
              <a:buSzPct val="100000"/>
              <a:buChar char="•"/>
            </a:pPr>
            <a:r>
              <a:rPr lang="en-US" sz="1300" dirty="0">
                <a:solidFill>
                  <a:schemeClr val="tx1"/>
                </a:solidFill>
              </a:rPr>
              <a:t>Docker Compose</a:t>
            </a:r>
            <a:endParaRPr lang="en-US" sz="1300" dirty="0"/>
          </a:p>
        </p:txBody>
      </p:sp>
      <p:sp>
        <p:nvSpPr>
          <p:cNvPr id="16" name="3 · Ship it card"/>
          <p:cNvSpPr/>
          <p:nvPr/>
        </p:nvSpPr>
        <p:spPr>
          <a:xfrm>
            <a:off x="6071616" y="1097280"/>
            <a:ext cx="2606040" cy="2834640"/>
          </a:xfrm>
          <a:prstGeom prst="roundRect">
            <a:avLst>
              <a:gd name="adj" fmla="val 4211"/>
            </a:avLst>
          </a:prstGeom>
          <a:solidFill>
            <a:srgbClr val="E0F2FE"/>
          </a:solidFill>
          <a:ln w="12700">
            <a:solidFill>
              <a:srgbClr val="E0F2FE"/>
            </a:solidFill>
            <a:prstDash val="solid"/>
          </a:ln>
        </p:spPr>
      </p:sp>
      <p:sp>
        <p:nvSpPr>
          <p:cNvPr id="17" name="3 · Ship it circle"/>
          <p:cNvSpPr/>
          <p:nvPr/>
        </p:nvSpPr>
        <p:spPr>
          <a:xfrm>
            <a:off x="6254496" y="1280160"/>
            <a:ext cx="457200" cy="457200"/>
          </a:xfrm>
          <a:prstGeom prst="ellipse">
            <a:avLst/>
          </a:prstGeom>
          <a:solidFill>
            <a:schemeClr val="accent1"/>
          </a:solidFill>
          <a:ln w="12700">
            <a:solidFill>
              <a:schemeClr val="accent1"/>
            </a:solidFill>
            <a:prstDash val="solid"/>
          </a:ln>
        </p:spPr>
      </p:sp>
      <p:pic>
        <p:nvPicPr>
          <p:cNvPr id="18" name="3 · Ship it icon" descr="preencoded.png">    </p:cNvPr>
          <p:cNvPicPr>
            <a:picLocks noChangeAspect="1"/>
          </p:cNvPicPr>
          <p:nvPr/>
        </p:nvPicPr>
        <p:blipFill>
          <a:blip r:embed="rId3"/>
          <a:stretch>
            <a:fillRect/>
          </a:stretch>
        </p:blipFill>
        <p:spPr>
          <a:xfrm>
            <a:off x="6345936" y="1371600"/>
            <a:ext cx="274320" cy="274320"/>
          </a:xfrm>
          <a:prstGeom prst="rect">
            <a:avLst/>
          </a:prstGeom>
        </p:spPr>
      </p:pic>
      <p:sp>
        <p:nvSpPr>
          <p:cNvPr id="19" name="Text 13"/>
          <p:cNvSpPr txBox="1"/>
          <p:nvPr/>
        </p:nvSpPr>
        <p:spPr>
          <a:xfrm>
            <a:off x="6848856" y="1280160"/>
            <a:ext cx="1645920" cy="457200"/>
          </a:xfrm>
          <a:prstGeom prst="rect">
            <a:avLst/>
          </a:prstGeom>
          <a:noFill/>
          <a:ln/>
        </p:spPr>
        <p:txBody>
          <a:bodyPr wrap="square" lIns="0" tIns="0" rIns="0" bIns="0" rtlCol="0" anchor="ctr"/>
          <a:lstStyle/>
          <a:p>
            <a:pPr indent="0" marL="0">
              <a:buNone/>
            </a:pPr>
            <a:r>
              <a:rPr lang="en-US" sz="1600" b="1" dirty="0">
                <a:solidFill>
                  <a:schemeClr val="tx1"/>
                </a:solidFill>
              </a:rPr>
              <a:t>3 · Ship it</a:t>
            </a:r>
            <a:endParaRPr lang="en-US" sz="1600" dirty="0"/>
          </a:p>
        </p:txBody>
      </p:sp>
      <p:sp>
        <p:nvSpPr>
          <p:cNvPr id="20" name="Text 14"/>
          <p:cNvSpPr txBox="1"/>
          <p:nvPr/>
        </p:nvSpPr>
        <p:spPr>
          <a:xfrm>
            <a:off x="6254496" y="1874520"/>
            <a:ext cx="224028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Dockerfile: build your own image</a:t>
            </a:r>
            <a:endParaRPr lang="en-US" sz="1300" dirty="0"/>
          </a:p>
          <a:p>
            <a:pPr marL="342900" indent="-342900">
              <a:spcAft>
                <a:spcPts val="600"/>
              </a:spcAft>
              <a:buSzPct val="100000"/>
              <a:buChar char="•"/>
            </a:pPr>
            <a:r>
              <a:rPr lang="en-US" sz="1300" dirty="0">
                <a:solidFill>
                  <a:schemeClr val="tx1"/>
                </a:solidFill>
              </a:rPr>
              <a:t>Private registry (AWS ECR)</a:t>
            </a:r>
            <a:endParaRPr lang="en-US" sz="1300" dirty="0"/>
          </a:p>
          <a:p>
            <a:pPr marL="342900" indent="-342900">
              <a:spcAft>
                <a:spcPts val="600"/>
              </a:spcAft>
              <a:buSzPct val="100000"/>
              <a:buChar char="•"/>
            </a:pPr>
            <a:r>
              <a:rPr lang="en-US" sz="1300" dirty="0">
                <a:solidFill>
                  <a:schemeClr val="tx1"/>
                </a:solidFill>
              </a:rPr>
              <a:t>Deploy the containerised app</a:t>
            </a:r>
            <a:endParaRPr lang="en-US" sz="1300" dirty="0"/>
          </a:p>
          <a:p>
            <a:pPr marL="342900" indent="-342900">
              <a:spcAft>
                <a:spcPts val="600"/>
              </a:spcAft>
              <a:buSzPct val="100000"/>
              <a:buChar char="•"/>
            </a:pPr>
            <a:r>
              <a:rPr lang="en-US" sz="1300" dirty="0">
                <a:solidFill>
                  <a:schemeClr val="tx1"/>
                </a:solidFill>
              </a:rPr>
              <a:t>Volumes: persist data</a:t>
            </a:r>
            <a:endParaRPr lang="en-US" sz="1300" dirty="0"/>
          </a:p>
        </p:txBody>
      </p:sp>
      <p:sp>
        <p:nvSpPr>
          <p:cNvPr id="21" name="box One demo project runs through the whole course: a Node.js app that talks to MongoDB, with Mongo Express as admin UI."/>
          <p:cNvSpPr/>
          <p:nvPr/>
        </p:nvSpPr>
        <p:spPr>
          <a:xfrm>
            <a:off x="457200" y="4069080"/>
            <a:ext cx="8229600" cy="502920"/>
          </a:xfrm>
          <a:prstGeom prst="roundRect">
            <a:avLst>
              <a:gd name="adj" fmla="val 14545"/>
            </a:avLst>
          </a:prstGeom>
          <a:solidFill>
            <a:schemeClr val="tx1"/>
          </a:solidFill>
          <a:ln w="12700">
            <a:solidFill>
              <a:schemeClr val="tx1"/>
            </a:solidFill>
            <a:prstDash val="solid"/>
          </a:ln>
        </p:spPr>
      </p:sp>
      <p:sp>
        <p:nvSpPr>
          <p:cNvPr id="22" name="box text One demo project runs through the whole course: a Node.js app that talks to MongoDB, with Mongo Express as admin UI."/>
          <p:cNvSpPr txBox="1"/>
          <p:nvPr/>
        </p:nvSpPr>
        <p:spPr>
          <a:xfrm>
            <a:off x="457200" y="4069080"/>
            <a:ext cx="8229600" cy="502920"/>
          </a:xfrm>
          <a:prstGeom prst="rect">
            <a:avLst/>
          </a:prstGeom>
          <a:noFill/>
          <a:ln/>
        </p:spPr>
        <p:txBody>
          <a:bodyPr wrap="square" lIns="381" tIns="381" rIns="381" bIns="381" rtlCol="0" anchor="ctr"/>
          <a:lstStyle/>
          <a:p>
            <a:pPr algn="ctr" indent="0" marL="0">
              <a:buNone/>
            </a:pPr>
            <a:r>
              <a:rPr lang="en-US" sz="1400" b="1" dirty="0">
                <a:solidFill>
                  <a:schemeClr val="bg1"/>
                </a:solidFill>
              </a:rPr>
              <a:t>One demo project runs through the whole course: a Node.js app that talks to MongoDB, with Mongo Express as admin UI.</a:t>
            </a:r>
            <a:endParaRPr lang="en-US" sz="14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914400"/>
          </a:xfrm>
          <a:prstGeom prst="rect">
            <a:avLst/>
          </a:prstGeom>
          <a:noFill/>
          <a:ln/>
        </p:spPr>
        <p:txBody>
          <a:bodyPr wrap="square" lIns="0" tIns="0" rIns="0" bIns="0" rtlCol="0" anchor="b"/>
          <a:lstStyle/>
          <a:p>
            <a:pPr algn="l" indent="0" marL="0">
              <a:buNone/>
            </a:pPr>
            <a:r>
              <a:rPr lang="en-US" sz="4000" b="1" dirty="0">
                <a:solidFill>
                  <a:srgbClr val="FFFFFF"/>
                </a:solidFill>
              </a:rPr>
              <a:t>1 · What is Docker?</a:t>
            </a:r>
            <a:endParaRPr lang="en-US" sz="4000" dirty="0"/>
          </a:p>
        </p:txBody>
      </p:sp>
      <p:sp>
        <p:nvSpPr>
          <p:cNvPr id="3" name="Text 0"/>
          <p:cNvSpPr/>
          <p:nvPr>
            <p:ph idx="101" type="body" hasCustomPrompt="1"/>
          </p:nvPr>
        </p:nvSpPr>
        <p:spPr>
          <a:xfrm>
            <a:off x="548640" y="2834640"/>
            <a:ext cx="8046720" cy="822960"/>
          </a:xfrm>
          <a:prstGeom prst="rect">
            <a:avLst/>
          </a:prstGeom>
          <a:noFill/>
          <a:ln/>
        </p:spPr>
        <p:txBody>
          <a:bodyPr wrap="square" lIns="0" tIns="0" rIns="0" bIns="0" rtlCol="0" anchor="t"/>
          <a:lstStyle/>
          <a:p>
            <a:pPr algn="l" indent="0" marL="0">
              <a:buNone/>
            </a:pPr>
            <a:r>
              <a:rPr lang="en-US" sz="1800" dirty="0">
                <a:solidFill>
                  <a:srgbClr val="CBD5E1"/>
                </a:solidFill>
              </a:rPr>
              <a:t>A platform for packaging, distributing and running applications in containers</a:t>
            </a:r>
            <a:endParaRPr lang="en-US" sz="1800" dirty="0"/>
          </a:p>
        </p:txBody>
      </p:sp>
      <p:pic>
        <p:nvPicPr>
          <p:cNvPr id="5" name="docker icon" descr="preencoded.png">    </p:cNvPr>
          <p:cNvPicPr>
            <a:picLocks noChangeAspect="1"/>
          </p:cNvPicPr>
          <p:nvPr/>
        </p:nvPicPr>
        <p:blipFill>
          <a:blip r:embed="rId1"/>
          <a:stretch>
            <a:fillRect/>
          </a:stretch>
        </p:blipFill>
        <p:spPr>
          <a:xfrm>
            <a:off x="7132320" y="1463040"/>
            <a:ext cx="1371600" cy="1371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Docker in one sentence</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accent1"/>
          </a:solidFill>
          <a:ln w="12700">
            <a:solidFill>
              <a:schemeClr val="accent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DOCKER</a:t>
            </a:r>
            <a:endParaRPr lang="en-US" sz="900" dirty="0"/>
          </a:p>
        </p:txBody>
      </p:sp>
      <p:sp>
        <p:nvSpPr>
          <p:cNvPr id="6" name="box Docker packages an application together with everything it needs to run, so it behaves identically on any machine."/>
          <p:cNvSpPr/>
          <p:nvPr/>
        </p:nvSpPr>
        <p:spPr>
          <a:xfrm>
            <a:off x="457200" y="1143000"/>
            <a:ext cx="8229600" cy="914400"/>
          </a:xfrm>
          <a:prstGeom prst="roundRect">
            <a:avLst>
              <a:gd name="adj" fmla="val 8000"/>
            </a:avLst>
          </a:prstGeom>
          <a:solidFill>
            <a:schemeClr val="accent1"/>
          </a:solidFill>
          <a:ln w="12700">
            <a:solidFill>
              <a:schemeClr val="accent1"/>
            </a:solidFill>
            <a:prstDash val="solid"/>
          </a:ln>
        </p:spPr>
      </p:sp>
      <p:sp>
        <p:nvSpPr>
          <p:cNvPr id="7" name="box text Docker packages an application together with everything it needs to run, so it behaves identically on any machine."/>
          <p:cNvSpPr txBox="1"/>
          <p:nvPr/>
        </p:nvSpPr>
        <p:spPr>
          <a:xfrm>
            <a:off x="457200" y="1143000"/>
            <a:ext cx="8229600" cy="914400"/>
          </a:xfrm>
          <a:prstGeom prst="rect">
            <a:avLst/>
          </a:prstGeom>
          <a:noFill/>
          <a:ln/>
        </p:spPr>
        <p:txBody>
          <a:bodyPr wrap="square" lIns="381" tIns="381" rIns="381" bIns="381" rtlCol="0" anchor="ctr"/>
          <a:lstStyle/>
          <a:p>
            <a:pPr algn="ctr" indent="0" marL="0">
              <a:buNone/>
            </a:pPr>
            <a:r>
              <a:rPr lang="en-US" sz="1700" b="1" dirty="0">
                <a:solidFill>
                  <a:schemeClr val="bg1"/>
                </a:solidFill>
              </a:rPr>
              <a:t>Docker packages an application together with everything it needs to run, so it behaves identically on any machine.</a:t>
            </a:r>
            <a:endParaRPr lang="en-US" sz="1700" dirty="0"/>
          </a:p>
        </p:txBody>
      </p:sp>
      <p:sp>
        <p:nvSpPr>
          <p:cNvPr id="8" name="The application card"/>
          <p:cNvSpPr/>
          <p:nvPr/>
        </p:nvSpPr>
        <p:spPr>
          <a:xfrm>
            <a:off x="457200" y="2286000"/>
            <a:ext cx="4023360" cy="2194560"/>
          </a:xfrm>
          <a:prstGeom prst="roundRect">
            <a:avLst>
              <a:gd name="adj" fmla="val 5000"/>
            </a:avLst>
          </a:prstGeom>
          <a:solidFill>
            <a:schemeClr val="bg2"/>
          </a:solidFill>
          <a:ln w="12700">
            <a:solidFill>
              <a:schemeClr val="bg2"/>
            </a:solidFill>
            <a:prstDash val="solid"/>
          </a:ln>
        </p:spPr>
      </p:sp>
      <p:sp>
        <p:nvSpPr>
          <p:cNvPr id="9" name="The application circle"/>
          <p:cNvSpPr/>
          <p:nvPr/>
        </p:nvSpPr>
        <p:spPr>
          <a:xfrm>
            <a:off x="640080" y="2468880"/>
            <a:ext cx="457200" cy="457200"/>
          </a:xfrm>
          <a:prstGeom prst="ellipse">
            <a:avLst/>
          </a:prstGeom>
          <a:solidFill>
            <a:schemeClr val="accent1"/>
          </a:solidFill>
          <a:ln w="12700">
            <a:solidFill>
              <a:schemeClr val="accent1"/>
            </a:solidFill>
            <a:prstDash val="solid"/>
          </a:ln>
        </p:spPr>
      </p:sp>
      <p:pic>
        <p:nvPicPr>
          <p:cNvPr id="10" name="The application icon" descr="preencoded.png">    </p:cNvPr>
          <p:cNvPicPr>
            <a:picLocks noChangeAspect="1"/>
          </p:cNvPicPr>
          <p:nvPr/>
        </p:nvPicPr>
        <p:blipFill>
          <a:blip r:embed="rId1"/>
          <a:stretch>
            <a:fillRect/>
          </a:stretch>
        </p:blipFill>
        <p:spPr>
          <a:xfrm>
            <a:off x="731520" y="2560320"/>
            <a:ext cx="274320" cy="274320"/>
          </a:xfrm>
          <a:prstGeom prst="rect">
            <a:avLst/>
          </a:prstGeom>
        </p:spPr>
      </p:pic>
      <p:sp>
        <p:nvSpPr>
          <p:cNvPr id="11" name="Text 7"/>
          <p:cNvSpPr txBox="1"/>
          <p:nvPr/>
        </p:nvSpPr>
        <p:spPr>
          <a:xfrm>
            <a:off x="1234440" y="2468880"/>
            <a:ext cx="3063240" cy="457200"/>
          </a:xfrm>
          <a:prstGeom prst="rect">
            <a:avLst/>
          </a:prstGeom>
          <a:noFill/>
          <a:ln/>
        </p:spPr>
        <p:txBody>
          <a:bodyPr wrap="square" lIns="0" tIns="0" rIns="0" bIns="0" rtlCol="0" anchor="ctr"/>
          <a:lstStyle/>
          <a:p>
            <a:pPr indent="0" marL="0">
              <a:buNone/>
            </a:pPr>
            <a:r>
              <a:rPr lang="en-US" sz="1600" b="1" dirty="0">
                <a:solidFill>
                  <a:schemeClr val="tx1"/>
                </a:solidFill>
              </a:rPr>
              <a:t>The application</a:t>
            </a:r>
            <a:endParaRPr lang="en-US" sz="1600" dirty="0"/>
          </a:p>
        </p:txBody>
      </p:sp>
      <p:sp>
        <p:nvSpPr>
          <p:cNvPr id="12" name="Text 8"/>
          <p:cNvSpPr txBox="1"/>
          <p:nvPr/>
        </p:nvSpPr>
        <p:spPr>
          <a:xfrm>
            <a:off x="640080" y="3063240"/>
            <a:ext cx="3657600" cy="12801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Your code (JS, Python, Java…)</a:t>
            </a:r>
            <a:endParaRPr lang="en-US" sz="1300" dirty="0"/>
          </a:p>
          <a:p>
            <a:pPr marL="342900" indent="-342900">
              <a:spcAft>
                <a:spcPts val="600"/>
              </a:spcAft>
              <a:buSzPct val="100000"/>
              <a:buChar char="•"/>
            </a:pPr>
            <a:r>
              <a:rPr lang="en-US" sz="1300" dirty="0">
                <a:solidFill>
                  <a:schemeClr val="tx1"/>
                </a:solidFill>
              </a:rPr>
              <a:t>The runtime (Node 20, Python 3.12)</a:t>
            </a:r>
            <a:endParaRPr lang="en-US" sz="1300" dirty="0"/>
          </a:p>
          <a:p>
            <a:pPr marL="342900" indent="-342900">
              <a:spcAft>
                <a:spcPts val="600"/>
              </a:spcAft>
              <a:buSzPct val="100000"/>
              <a:buChar char="•"/>
            </a:pPr>
            <a:r>
              <a:rPr lang="en-US" sz="1300" dirty="0">
                <a:solidFill>
                  <a:schemeClr val="tx1"/>
                </a:solidFill>
              </a:rPr>
              <a:t>Libraries and packages</a:t>
            </a:r>
            <a:endParaRPr lang="en-US" sz="1300" dirty="0"/>
          </a:p>
          <a:p>
            <a:pPr marL="342900" indent="-342900">
              <a:spcAft>
                <a:spcPts val="600"/>
              </a:spcAft>
              <a:buSzPct val="100000"/>
              <a:buChar char="•"/>
            </a:pPr>
            <a:r>
              <a:rPr lang="en-US" sz="1300" dirty="0">
                <a:solidFill>
                  <a:schemeClr val="tx1"/>
                </a:solidFill>
              </a:rPr>
              <a:t>Config and environment variables</a:t>
            </a:r>
            <a:endParaRPr lang="en-US" sz="1300" dirty="0"/>
          </a:p>
        </p:txBody>
      </p:sp>
      <p:sp>
        <p:nvSpPr>
          <p:cNvPr id="13" name="Everything it needs card"/>
          <p:cNvSpPr/>
          <p:nvPr/>
        </p:nvSpPr>
        <p:spPr>
          <a:xfrm>
            <a:off x="4663440" y="2286000"/>
            <a:ext cx="4023360" cy="2194560"/>
          </a:xfrm>
          <a:prstGeom prst="roundRect">
            <a:avLst>
              <a:gd name="adj" fmla="val 5000"/>
            </a:avLst>
          </a:prstGeom>
          <a:solidFill>
            <a:schemeClr val="bg2"/>
          </a:solidFill>
          <a:ln w="12700">
            <a:solidFill>
              <a:schemeClr val="bg2"/>
            </a:solidFill>
            <a:prstDash val="solid"/>
          </a:ln>
        </p:spPr>
      </p:sp>
      <p:sp>
        <p:nvSpPr>
          <p:cNvPr id="14" name="Everything it needs circle"/>
          <p:cNvSpPr/>
          <p:nvPr/>
        </p:nvSpPr>
        <p:spPr>
          <a:xfrm>
            <a:off x="4846320" y="2468880"/>
            <a:ext cx="457200" cy="457200"/>
          </a:xfrm>
          <a:prstGeom prst="ellipse">
            <a:avLst/>
          </a:prstGeom>
          <a:solidFill>
            <a:schemeClr val="accent1"/>
          </a:solidFill>
          <a:ln w="12700">
            <a:solidFill>
              <a:schemeClr val="accent1"/>
            </a:solidFill>
            <a:prstDash val="solid"/>
          </a:ln>
        </p:spPr>
      </p:sp>
      <p:pic>
        <p:nvPicPr>
          <p:cNvPr id="15" name="Everything it needs icon" descr="preencoded.png">    </p:cNvPr>
          <p:cNvPicPr>
            <a:picLocks noChangeAspect="1"/>
          </p:cNvPicPr>
          <p:nvPr/>
        </p:nvPicPr>
        <p:blipFill>
          <a:blip r:embed="rId2"/>
          <a:stretch>
            <a:fillRect/>
          </a:stretch>
        </p:blipFill>
        <p:spPr>
          <a:xfrm>
            <a:off x="4937760" y="2560320"/>
            <a:ext cx="274320" cy="274320"/>
          </a:xfrm>
          <a:prstGeom prst="rect">
            <a:avLst/>
          </a:prstGeom>
        </p:spPr>
      </p:pic>
      <p:sp>
        <p:nvSpPr>
          <p:cNvPr id="16" name="Text 11"/>
          <p:cNvSpPr txBox="1"/>
          <p:nvPr/>
        </p:nvSpPr>
        <p:spPr>
          <a:xfrm>
            <a:off x="5440680" y="2468880"/>
            <a:ext cx="3063240" cy="457200"/>
          </a:xfrm>
          <a:prstGeom prst="rect">
            <a:avLst/>
          </a:prstGeom>
          <a:noFill/>
          <a:ln/>
        </p:spPr>
        <p:txBody>
          <a:bodyPr wrap="square" lIns="0" tIns="0" rIns="0" bIns="0" rtlCol="0" anchor="ctr"/>
          <a:lstStyle/>
          <a:p>
            <a:pPr indent="0" marL="0">
              <a:buNone/>
            </a:pPr>
            <a:r>
              <a:rPr lang="en-US" sz="1600" b="1" dirty="0">
                <a:solidFill>
                  <a:schemeClr val="tx1"/>
                </a:solidFill>
              </a:rPr>
              <a:t>Everything it needs</a:t>
            </a:r>
            <a:endParaRPr lang="en-US" sz="1600" dirty="0"/>
          </a:p>
        </p:txBody>
      </p:sp>
      <p:sp>
        <p:nvSpPr>
          <p:cNvPr id="17" name="Text 12"/>
          <p:cNvSpPr txBox="1"/>
          <p:nvPr/>
        </p:nvSpPr>
        <p:spPr>
          <a:xfrm>
            <a:off x="4846320" y="3063240"/>
            <a:ext cx="3657600" cy="12801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The OS layer it expects (Debian, Alpine)</a:t>
            </a:r>
            <a:endParaRPr lang="en-US" sz="1300" dirty="0"/>
          </a:p>
          <a:p>
            <a:pPr marL="342900" indent="-342900">
              <a:spcAft>
                <a:spcPts val="600"/>
              </a:spcAft>
              <a:buSzPct val="100000"/>
              <a:buChar char="•"/>
            </a:pPr>
            <a:r>
              <a:rPr lang="en-US" sz="1300" dirty="0">
                <a:solidFill>
                  <a:schemeClr val="tx1"/>
                </a:solidFill>
              </a:rPr>
              <a:t>System libraries (OpenSSL, libc)</a:t>
            </a:r>
            <a:endParaRPr lang="en-US" sz="1300" dirty="0"/>
          </a:p>
          <a:p>
            <a:pPr marL="342900" indent="-342900">
              <a:spcAft>
                <a:spcPts val="600"/>
              </a:spcAft>
              <a:buSzPct val="100000"/>
              <a:buChar char="•"/>
            </a:pPr>
            <a:r>
              <a:rPr lang="en-US" sz="1300" dirty="0">
                <a:solidFill>
                  <a:schemeClr val="tx1"/>
                </a:solidFill>
              </a:rPr>
              <a:t>Tools and binaries</a:t>
            </a:r>
            <a:endParaRPr lang="en-US" sz="1300" dirty="0"/>
          </a:p>
          <a:p>
            <a:pPr marL="342900" indent="-342900">
              <a:spcAft>
                <a:spcPts val="600"/>
              </a:spcAft>
              <a:buSzPct val="100000"/>
              <a:buChar char="•"/>
            </a:pPr>
            <a:r>
              <a:rPr lang="en-US" sz="1300" dirty="0">
                <a:solidFill>
                  <a:schemeClr val="tx1"/>
                </a:solidFill>
              </a:rPr>
              <a:t>All frozen into one artefact: the image</a:t>
            </a:r>
            <a:endParaRPr lang="en-US" sz="13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Problem 1: development before containers</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accent1"/>
          </a:solidFill>
          <a:ln w="12700">
            <a:solidFill>
              <a:schemeClr val="accent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DOCKER</a:t>
            </a:r>
            <a:endParaRPr lang="en-US" sz="900" dirty="0"/>
          </a:p>
        </p:txBody>
      </p:sp>
      <p:sp>
        <p:nvSpPr>
          <p:cNvPr id="6" name="box Read the setup wiki (out of date)"/>
          <p:cNvSpPr/>
          <p:nvPr/>
        </p:nvSpPr>
        <p:spPr>
          <a:xfrm>
            <a:off x="457200" y="1188720"/>
            <a:ext cx="1484986" cy="914400"/>
          </a:xfrm>
          <a:prstGeom prst="roundRect">
            <a:avLst>
              <a:gd name="adj" fmla="val 8000"/>
            </a:avLst>
          </a:prstGeom>
          <a:solidFill>
            <a:schemeClr val="accent5"/>
          </a:solidFill>
          <a:ln w="12700">
            <a:solidFill>
              <a:schemeClr val="accent5"/>
            </a:solidFill>
            <a:prstDash val="solid"/>
          </a:ln>
        </p:spPr>
      </p:sp>
      <p:sp>
        <p:nvSpPr>
          <p:cNvPr id="7" name="box text Read the setup wiki (out of date)"/>
          <p:cNvSpPr txBox="1"/>
          <p:nvPr/>
        </p:nvSpPr>
        <p:spPr>
          <a:xfrm>
            <a:off x="457200" y="1188720"/>
            <a:ext cx="1484986" cy="914400"/>
          </a:xfrm>
          <a:prstGeom prst="rect">
            <a:avLst/>
          </a:prstGeom>
          <a:noFill/>
          <a:ln/>
        </p:spPr>
        <p:txBody>
          <a:bodyPr wrap="square" lIns="381" tIns="381" rIns="381" bIns="381" rtlCol="0" anchor="ctr"/>
          <a:lstStyle/>
          <a:p>
            <a:pPr algn="ctr" indent="0" marL="0">
              <a:buNone/>
            </a:pPr>
            <a:r>
              <a:rPr lang="en-US" sz="1100" b="1" dirty="0">
                <a:solidFill>
                  <a:schemeClr val="bg1"/>
                </a:solidFill>
              </a:rPr>
              <a:t>Read the setup wiki</a:t>
            </a:r>
            <a:endParaRPr lang="en-US" sz="1100" dirty="0"/>
          </a:p>
          <a:p>
            <a:pPr algn="ctr" indent="0" marL="0">
              <a:buNone/>
            </a:pPr>
            <a:r>
              <a:rPr lang="en-US" sz="1100" b="1" dirty="0">
                <a:solidFill>
                  <a:schemeClr val="bg1"/>
                </a:solidFill>
              </a:rPr>
              <a:t>(out of date)</a:t>
            </a:r>
            <a:endParaRPr lang="en-US" sz="1100" dirty="0"/>
          </a:p>
        </p:txBody>
      </p:sp>
      <p:sp>
        <p:nvSpPr>
          <p:cNvPr id="8" name="arrow"/>
          <p:cNvSpPr/>
          <p:nvPr/>
        </p:nvSpPr>
        <p:spPr>
          <a:xfrm>
            <a:off x="1942186" y="1645920"/>
            <a:ext cx="201168" cy="0"/>
          </a:xfrm>
          <a:prstGeom prst="line">
            <a:avLst/>
          </a:prstGeom>
          <a:noFill/>
          <a:ln w="19050">
            <a:solidFill>
              <a:schemeClr val="accent5"/>
            </a:solidFill>
            <a:prstDash val="solid"/>
            <a:tailEnd type="triangle"/>
          </a:ln>
        </p:spPr>
      </p:sp>
      <p:sp>
        <p:nvSpPr>
          <p:cNvPr id="9" name="box Install Postgres, Redis, Node…"/>
          <p:cNvSpPr/>
          <p:nvPr/>
        </p:nvSpPr>
        <p:spPr>
          <a:xfrm>
            <a:off x="2143354" y="1188720"/>
            <a:ext cx="1484986" cy="914400"/>
          </a:xfrm>
          <a:prstGeom prst="roundRect">
            <a:avLst>
              <a:gd name="adj" fmla="val 8000"/>
            </a:avLst>
          </a:prstGeom>
          <a:solidFill>
            <a:srgbClr val="FEE2E2"/>
          </a:solidFill>
          <a:ln w="12700">
            <a:solidFill>
              <a:srgbClr val="FEE2E2"/>
            </a:solidFill>
            <a:prstDash val="solid"/>
          </a:ln>
        </p:spPr>
      </p:sp>
      <p:sp>
        <p:nvSpPr>
          <p:cNvPr id="10" name="box text Install Postgres, Redis, Node…"/>
          <p:cNvSpPr txBox="1"/>
          <p:nvPr/>
        </p:nvSpPr>
        <p:spPr>
          <a:xfrm>
            <a:off x="2143354" y="1188720"/>
            <a:ext cx="1484986" cy="914400"/>
          </a:xfrm>
          <a:prstGeom prst="rect">
            <a:avLst/>
          </a:prstGeom>
          <a:noFill/>
          <a:ln/>
        </p:spPr>
        <p:txBody>
          <a:bodyPr wrap="square" lIns="381" tIns="381" rIns="381" bIns="381" rtlCol="0" anchor="ctr"/>
          <a:lstStyle/>
          <a:p>
            <a:pPr algn="ctr" indent="0" marL="0">
              <a:buNone/>
            </a:pPr>
            <a:r>
              <a:rPr lang="en-US" sz="1100" b="1" dirty="0">
                <a:solidFill>
                  <a:schemeClr val="tx1"/>
                </a:solidFill>
              </a:rPr>
              <a:t>Install Postgres,</a:t>
            </a:r>
            <a:endParaRPr lang="en-US" sz="1100" dirty="0"/>
          </a:p>
          <a:p>
            <a:pPr algn="ctr" indent="0" marL="0">
              <a:buNone/>
            </a:pPr>
            <a:r>
              <a:rPr lang="en-US" sz="1100" b="1" dirty="0">
                <a:solidFill>
                  <a:schemeClr val="tx1"/>
                </a:solidFill>
              </a:rPr>
              <a:t>Redis, Node…</a:t>
            </a:r>
            <a:endParaRPr lang="en-US" sz="1100" dirty="0"/>
          </a:p>
        </p:txBody>
      </p:sp>
      <p:sp>
        <p:nvSpPr>
          <p:cNvPr id="11" name="arrow"/>
          <p:cNvSpPr/>
          <p:nvPr/>
        </p:nvSpPr>
        <p:spPr>
          <a:xfrm>
            <a:off x="3628339" y="1645920"/>
            <a:ext cx="201168" cy="0"/>
          </a:xfrm>
          <a:prstGeom prst="line">
            <a:avLst/>
          </a:prstGeom>
          <a:noFill/>
          <a:ln w="19050">
            <a:solidFill>
              <a:schemeClr val="accent5"/>
            </a:solidFill>
            <a:prstDash val="solid"/>
            <a:tailEnd type="triangle"/>
          </a:ln>
        </p:spPr>
      </p:sp>
      <p:sp>
        <p:nvSpPr>
          <p:cNvPr id="12" name="box Different steps for Mac / Win / Linux"/>
          <p:cNvSpPr/>
          <p:nvPr/>
        </p:nvSpPr>
        <p:spPr>
          <a:xfrm>
            <a:off x="3829507" y="1188720"/>
            <a:ext cx="1484986" cy="914400"/>
          </a:xfrm>
          <a:prstGeom prst="roundRect">
            <a:avLst>
              <a:gd name="adj" fmla="val 8000"/>
            </a:avLst>
          </a:prstGeom>
          <a:solidFill>
            <a:srgbClr val="FEE2E2"/>
          </a:solidFill>
          <a:ln w="12700">
            <a:solidFill>
              <a:srgbClr val="FEE2E2"/>
            </a:solidFill>
            <a:prstDash val="solid"/>
          </a:ln>
        </p:spPr>
      </p:sp>
      <p:sp>
        <p:nvSpPr>
          <p:cNvPr id="13" name="box text Different steps for Mac / Win / Linux"/>
          <p:cNvSpPr txBox="1"/>
          <p:nvPr/>
        </p:nvSpPr>
        <p:spPr>
          <a:xfrm>
            <a:off x="3829507" y="1188720"/>
            <a:ext cx="1484986" cy="914400"/>
          </a:xfrm>
          <a:prstGeom prst="rect">
            <a:avLst/>
          </a:prstGeom>
          <a:noFill/>
          <a:ln/>
        </p:spPr>
        <p:txBody>
          <a:bodyPr wrap="square" lIns="381" tIns="381" rIns="381" bIns="381" rtlCol="0" anchor="ctr"/>
          <a:lstStyle/>
          <a:p>
            <a:pPr algn="ctr" indent="0" marL="0">
              <a:buNone/>
            </a:pPr>
            <a:r>
              <a:rPr lang="en-US" sz="1100" b="1" dirty="0">
                <a:solidFill>
                  <a:schemeClr val="tx1"/>
                </a:solidFill>
              </a:rPr>
              <a:t>Different steps</a:t>
            </a:r>
            <a:endParaRPr lang="en-US" sz="1100" dirty="0"/>
          </a:p>
          <a:p>
            <a:pPr algn="ctr" indent="0" marL="0">
              <a:buNone/>
            </a:pPr>
            <a:r>
              <a:rPr lang="en-US" sz="1100" b="1" dirty="0">
                <a:solidFill>
                  <a:schemeClr val="tx1"/>
                </a:solidFill>
              </a:rPr>
              <a:t>for Mac / Win / Linux</a:t>
            </a:r>
            <a:endParaRPr lang="en-US" sz="1100" dirty="0"/>
          </a:p>
        </p:txBody>
      </p:sp>
      <p:sp>
        <p:nvSpPr>
          <p:cNvPr id="14" name="arrow"/>
          <p:cNvSpPr/>
          <p:nvPr/>
        </p:nvSpPr>
        <p:spPr>
          <a:xfrm>
            <a:off x="5314493" y="1645920"/>
            <a:ext cx="201168" cy="0"/>
          </a:xfrm>
          <a:prstGeom prst="line">
            <a:avLst/>
          </a:prstGeom>
          <a:noFill/>
          <a:ln w="19050">
            <a:solidFill>
              <a:schemeClr val="accent5"/>
            </a:solidFill>
            <a:prstDash val="solid"/>
            <a:tailEnd type="triangle"/>
          </a:ln>
        </p:spPr>
      </p:sp>
      <p:sp>
        <p:nvSpPr>
          <p:cNvPr id="15" name="box Something fails on step 14"/>
          <p:cNvSpPr/>
          <p:nvPr/>
        </p:nvSpPr>
        <p:spPr>
          <a:xfrm>
            <a:off x="5515661" y="1188720"/>
            <a:ext cx="1484986" cy="914400"/>
          </a:xfrm>
          <a:prstGeom prst="roundRect">
            <a:avLst>
              <a:gd name="adj" fmla="val 8000"/>
            </a:avLst>
          </a:prstGeom>
          <a:solidFill>
            <a:srgbClr val="FEE2E2"/>
          </a:solidFill>
          <a:ln w="12700">
            <a:solidFill>
              <a:srgbClr val="FEE2E2"/>
            </a:solidFill>
            <a:prstDash val="solid"/>
          </a:ln>
        </p:spPr>
      </p:sp>
      <p:sp>
        <p:nvSpPr>
          <p:cNvPr id="16" name="box text Something fails on step 14"/>
          <p:cNvSpPr txBox="1"/>
          <p:nvPr/>
        </p:nvSpPr>
        <p:spPr>
          <a:xfrm>
            <a:off x="5515661" y="1188720"/>
            <a:ext cx="1484986" cy="914400"/>
          </a:xfrm>
          <a:prstGeom prst="rect">
            <a:avLst/>
          </a:prstGeom>
          <a:noFill/>
          <a:ln/>
        </p:spPr>
        <p:txBody>
          <a:bodyPr wrap="square" lIns="381" tIns="381" rIns="381" bIns="381" rtlCol="0" anchor="ctr"/>
          <a:lstStyle/>
          <a:p>
            <a:pPr algn="ctr" indent="0" marL="0">
              <a:buNone/>
            </a:pPr>
            <a:r>
              <a:rPr lang="en-US" sz="1100" b="1" dirty="0">
                <a:solidFill>
                  <a:schemeClr val="tx1"/>
                </a:solidFill>
              </a:rPr>
              <a:t>Something fails</a:t>
            </a:r>
            <a:endParaRPr lang="en-US" sz="1100" dirty="0"/>
          </a:p>
          <a:p>
            <a:pPr algn="ctr" indent="0" marL="0">
              <a:buNone/>
            </a:pPr>
            <a:r>
              <a:rPr lang="en-US" sz="1100" b="1" dirty="0">
                <a:solidFill>
                  <a:schemeClr val="tx1"/>
                </a:solidFill>
              </a:rPr>
              <a:t>on step 14</a:t>
            </a:r>
            <a:endParaRPr lang="en-US" sz="1100" dirty="0"/>
          </a:p>
        </p:txBody>
      </p:sp>
      <p:sp>
        <p:nvSpPr>
          <p:cNvPr id="17" name="arrow"/>
          <p:cNvSpPr/>
          <p:nvPr/>
        </p:nvSpPr>
        <p:spPr>
          <a:xfrm>
            <a:off x="7000646" y="1645920"/>
            <a:ext cx="201168" cy="0"/>
          </a:xfrm>
          <a:prstGeom prst="line">
            <a:avLst/>
          </a:prstGeom>
          <a:noFill/>
          <a:ln w="19050">
            <a:solidFill>
              <a:schemeClr val="accent5"/>
            </a:solidFill>
            <a:prstDash val="solid"/>
            <a:tailEnd type="triangle"/>
          </a:ln>
        </p:spPr>
      </p:sp>
      <p:sp>
        <p:nvSpPr>
          <p:cNvPr id="18" name="box Ask a colleague half a day gone"/>
          <p:cNvSpPr/>
          <p:nvPr/>
        </p:nvSpPr>
        <p:spPr>
          <a:xfrm>
            <a:off x="7201814" y="1188720"/>
            <a:ext cx="1484986" cy="914400"/>
          </a:xfrm>
          <a:prstGeom prst="roundRect">
            <a:avLst>
              <a:gd name="adj" fmla="val 8000"/>
            </a:avLst>
          </a:prstGeom>
          <a:solidFill>
            <a:srgbClr val="FEE2E2"/>
          </a:solidFill>
          <a:ln w="12700">
            <a:solidFill>
              <a:srgbClr val="FEE2E2"/>
            </a:solidFill>
            <a:prstDash val="solid"/>
          </a:ln>
        </p:spPr>
      </p:sp>
      <p:sp>
        <p:nvSpPr>
          <p:cNvPr id="19" name="box text Ask a colleague half a day gone"/>
          <p:cNvSpPr txBox="1"/>
          <p:nvPr/>
        </p:nvSpPr>
        <p:spPr>
          <a:xfrm>
            <a:off x="7201814" y="1188720"/>
            <a:ext cx="1484986" cy="914400"/>
          </a:xfrm>
          <a:prstGeom prst="rect">
            <a:avLst/>
          </a:prstGeom>
          <a:noFill/>
          <a:ln/>
        </p:spPr>
        <p:txBody>
          <a:bodyPr wrap="square" lIns="381" tIns="381" rIns="381" bIns="381" rtlCol="0" anchor="ctr"/>
          <a:lstStyle/>
          <a:p>
            <a:pPr algn="ctr" indent="0" marL="0">
              <a:buNone/>
            </a:pPr>
            <a:r>
              <a:rPr lang="en-US" sz="1100" b="1" dirty="0">
                <a:solidFill>
                  <a:schemeClr val="tx1"/>
                </a:solidFill>
              </a:rPr>
              <a:t>Ask a colleague</a:t>
            </a:r>
            <a:endParaRPr lang="en-US" sz="1100" dirty="0"/>
          </a:p>
          <a:p>
            <a:pPr algn="ctr" indent="0" marL="0">
              <a:buNone/>
            </a:pPr>
            <a:r>
              <a:rPr lang="en-US" sz="1100" b="1" dirty="0">
                <a:solidFill>
                  <a:schemeClr val="tx1"/>
                </a:solidFill>
              </a:rPr>
              <a:t>half a day gone</a:t>
            </a:r>
            <a:endParaRPr lang="en-US" sz="1100" dirty="0"/>
          </a:p>
        </p:txBody>
      </p:sp>
      <p:sp>
        <p:nvSpPr>
          <p:cNvPr id="20" name="Text 17"/>
          <p:cNvSpPr txBox="1"/>
          <p:nvPr/>
        </p:nvSpPr>
        <p:spPr>
          <a:xfrm>
            <a:off x="457200" y="2377440"/>
            <a:ext cx="8229600" cy="274320"/>
          </a:xfrm>
          <a:prstGeom prst="rect">
            <a:avLst/>
          </a:prstGeom>
          <a:noFill/>
          <a:ln/>
        </p:spPr>
        <p:txBody>
          <a:bodyPr wrap="square" lIns="0" tIns="0" rIns="0" bIns="0" rtlCol="0" anchor="t"/>
          <a:lstStyle/>
          <a:p>
            <a:pPr indent="0" marL="0">
              <a:buNone/>
            </a:pPr>
            <a:r>
              <a:rPr lang="en-US" sz="1400" b="1" dirty="0">
                <a:solidFill>
                  <a:schemeClr val="accent1"/>
                </a:solidFill>
              </a:rPr>
              <a:t>With containers:</a:t>
            </a:r>
            <a:endParaRPr lang="en-US" sz="1400" dirty="0"/>
          </a:p>
        </p:txBody>
      </p:sp>
      <p:sp>
        <p:nvSpPr>
          <p:cNvPr id="21" name="box Install Docker (once)"/>
          <p:cNvSpPr/>
          <p:nvPr/>
        </p:nvSpPr>
        <p:spPr>
          <a:xfrm>
            <a:off x="457200" y="2697480"/>
            <a:ext cx="1484986" cy="914400"/>
          </a:xfrm>
          <a:prstGeom prst="roundRect">
            <a:avLst>
              <a:gd name="adj" fmla="val 8000"/>
            </a:avLst>
          </a:prstGeom>
          <a:solidFill>
            <a:schemeClr val="accent1"/>
          </a:solidFill>
          <a:ln w="12700">
            <a:solidFill>
              <a:schemeClr val="accent1"/>
            </a:solidFill>
            <a:prstDash val="solid"/>
          </a:ln>
        </p:spPr>
      </p:sp>
      <p:sp>
        <p:nvSpPr>
          <p:cNvPr id="22" name="box text Install Docker (once)"/>
          <p:cNvSpPr txBox="1"/>
          <p:nvPr/>
        </p:nvSpPr>
        <p:spPr>
          <a:xfrm>
            <a:off x="457200" y="2697480"/>
            <a:ext cx="1484986" cy="914400"/>
          </a:xfrm>
          <a:prstGeom prst="rect">
            <a:avLst/>
          </a:prstGeom>
          <a:noFill/>
          <a:ln/>
        </p:spPr>
        <p:txBody>
          <a:bodyPr wrap="square" lIns="381" tIns="381" rIns="381" bIns="381" rtlCol="0" anchor="ctr"/>
          <a:lstStyle/>
          <a:p>
            <a:pPr algn="ctr" indent="0" marL="0">
              <a:buNone/>
            </a:pPr>
            <a:r>
              <a:rPr lang="en-US" sz="1100" b="1" dirty="0">
                <a:solidFill>
                  <a:schemeClr val="bg1"/>
                </a:solidFill>
              </a:rPr>
              <a:t>Install Docker</a:t>
            </a:r>
            <a:endParaRPr lang="en-US" sz="1100" dirty="0"/>
          </a:p>
          <a:p>
            <a:pPr algn="ctr" indent="0" marL="0">
              <a:buNone/>
            </a:pPr>
            <a:r>
              <a:rPr lang="en-US" sz="1100" b="1" dirty="0">
                <a:solidFill>
                  <a:schemeClr val="bg1"/>
                </a:solidFill>
              </a:rPr>
              <a:t>(once)</a:t>
            </a:r>
            <a:endParaRPr lang="en-US" sz="1100" dirty="0"/>
          </a:p>
        </p:txBody>
      </p:sp>
      <p:sp>
        <p:nvSpPr>
          <p:cNvPr id="23" name="arrow"/>
          <p:cNvSpPr/>
          <p:nvPr/>
        </p:nvSpPr>
        <p:spPr>
          <a:xfrm>
            <a:off x="1942186" y="3154680"/>
            <a:ext cx="201168" cy="0"/>
          </a:xfrm>
          <a:prstGeom prst="line">
            <a:avLst/>
          </a:prstGeom>
          <a:noFill/>
          <a:ln w="19050">
            <a:solidFill>
              <a:schemeClr val="accent1"/>
            </a:solidFill>
            <a:prstDash val="solid"/>
            <a:tailEnd type="triangle"/>
          </a:ln>
        </p:spPr>
      </p:sp>
      <p:sp>
        <p:nvSpPr>
          <p:cNvPr id="24" name="box docker run postgres docker run redis"/>
          <p:cNvSpPr/>
          <p:nvPr/>
        </p:nvSpPr>
        <p:spPr>
          <a:xfrm>
            <a:off x="2143354" y="2697480"/>
            <a:ext cx="1484986" cy="914400"/>
          </a:xfrm>
          <a:prstGeom prst="roundRect">
            <a:avLst>
              <a:gd name="adj" fmla="val 8000"/>
            </a:avLst>
          </a:prstGeom>
          <a:solidFill>
            <a:srgbClr val="E0F2FE"/>
          </a:solidFill>
          <a:ln w="12700">
            <a:solidFill>
              <a:srgbClr val="E0F2FE"/>
            </a:solidFill>
            <a:prstDash val="solid"/>
          </a:ln>
        </p:spPr>
      </p:sp>
      <p:sp>
        <p:nvSpPr>
          <p:cNvPr id="25" name="box text docker run postgres docker run redis"/>
          <p:cNvSpPr txBox="1"/>
          <p:nvPr/>
        </p:nvSpPr>
        <p:spPr>
          <a:xfrm>
            <a:off x="2143354" y="2697480"/>
            <a:ext cx="1484986" cy="914400"/>
          </a:xfrm>
          <a:prstGeom prst="rect">
            <a:avLst/>
          </a:prstGeom>
          <a:noFill/>
          <a:ln/>
        </p:spPr>
        <p:txBody>
          <a:bodyPr wrap="square" lIns="381" tIns="381" rIns="381" bIns="381" rtlCol="0" anchor="ctr"/>
          <a:lstStyle/>
          <a:p>
            <a:pPr algn="ctr" indent="0" marL="0">
              <a:buNone/>
            </a:pPr>
            <a:r>
              <a:rPr lang="en-US" sz="1100" b="1" dirty="0">
                <a:solidFill>
                  <a:schemeClr val="tx1"/>
                </a:solidFill>
              </a:rPr>
              <a:t>docker run postgres</a:t>
            </a:r>
            <a:endParaRPr lang="en-US" sz="1100" dirty="0"/>
          </a:p>
          <a:p>
            <a:pPr algn="ctr" indent="0" marL="0">
              <a:buNone/>
            </a:pPr>
            <a:r>
              <a:rPr lang="en-US" sz="1100" b="1" dirty="0">
                <a:solidFill>
                  <a:schemeClr val="tx1"/>
                </a:solidFill>
              </a:rPr>
              <a:t>docker run redis</a:t>
            </a:r>
            <a:endParaRPr lang="en-US" sz="1100" dirty="0"/>
          </a:p>
        </p:txBody>
      </p:sp>
      <p:sp>
        <p:nvSpPr>
          <p:cNvPr id="26" name="arrow"/>
          <p:cNvSpPr/>
          <p:nvPr/>
        </p:nvSpPr>
        <p:spPr>
          <a:xfrm>
            <a:off x="3628339" y="3154680"/>
            <a:ext cx="201168" cy="0"/>
          </a:xfrm>
          <a:prstGeom prst="line">
            <a:avLst/>
          </a:prstGeom>
          <a:noFill/>
          <a:ln w="19050">
            <a:solidFill>
              <a:schemeClr val="accent1"/>
            </a:solidFill>
            <a:prstDash val="solid"/>
            <a:tailEnd type="triangle"/>
          </a:ln>
        </p:spPr>
      </p:sp>
      <p:sp>
        <p:nvSpPr>
          <p:cNvPr id="27" name="box Same command on every OS"/>
          <p:cNvSpPr/>
          <p:nvPr/>
        </p:nvSpPr>
        <p:spPr>
          <a:xfrm>
            <a:off x="3829507" y="2697480"/>
            <a:ext cx="1484986" cy="914400"/>
          </a:xfrm>
          <a:prstGeom prst="roundRect">
            <a:avLst>
              <a:gd name="adj" fmla="val 8000"/>
            </a:avLst>
          </a:prstGeom>
          <a:solidFill>
            <a:srgbClr val="E0F2FE"/>
          </a:solidFill>
          <a:ln w="12700">
            <a:solidFill>
              <a:srgbClr val="E0F2FE"/>
            </a:solidFill>
            <a:prstDash val="solid"/>
          </a:ln>
        </p:spPr>
      </p:sp>
      <p:sp>
        <p:nvSpPr>
          <p:cNvPr id="28" name="box text Same command on every OS"/>
          <p:cNvSpPr txBox="1"/>
          <p:nvPr/>
        </p:nvSpPr>
        <p:spPr>
          <a:xfrm>
            <a:off x="3829507" y="2697480"/>
            <a:ext cx="1484986" cy="914400"/>
          </a:xfrm>
          <a:prstGeom prst="rect">
            <a:avLst/>
          </a:prstGeom>
          <a:noFill/>
          <a:ln/>
        </p:spPr>
        <p:txBody>
          <a:bodyPr wrap="square" lIns="381" tIns="381" rIns="381" bIns="381" rtlCol="0" anchor="ctr"/>
          <a:lstStyle/>
          <a:p>
            <a:pPr algn="ctr" indent="0" marL="0">
              <a:buNone/>
            </a:pPr>
            <a:r>
              <a:rPr lang="en-US" sz="1100" b="1" dirty="0">
                <a:solidFill>
                  <a:schemeClr val="tx1"/>
                </a:solidFill>
              </a:rPr>
              <a:t>Same command on</a:t>
            </a:r>
            <a:endParaRPr lang="en-US" sz="1100" dirty="0"/>
          </a:p>
          <a:p>
            <a:pPr algn="ctr" indent="0" marL="0">
              <a:buNone/>
            </a:pPr>
            <a:r>
              <a:rPr lang="en-US" sz="1100" b="1" dirty="0">
                <a:solidFill>
                  <a:schemeClr val="tx1"/>
                </a:solidFill>
              </a:rPr>
              <a:t>every OS</a:t>
            </a:r>
            <a:endParaRPr lang="en-US" sz="1100" dirty="0"/>
          </a:p>
        </p:txBody>
      </p:sp>
      <p:sp>
        <p:nvSpPr>
          <p:cNvPr id="29" name="arrow"/>
          <p:cNvSpPr/>
          <p:nvPr/>
        </p:nvSpPr>
        <p:spPr>
          <a:xfrm>
            <a:off x="5314493" y="3154680"/>
            <a:ext cx="201168" cy="0"/>
          </a:xfrm>
          <a:prstGeom prst="line">
            <a:avLst/>
          </a:prstGeom>
          <a:noFill/>
          <a:ln w="19050">
            <a:solidFill>
              <a:schemeClr val="accent1"/>
            </a:solidFill>
            <a:prstDash val="solid"/>
            <a:tailEnd type="triangle"/>
          </a:ln>
        </p:spPr>
      </p:sp>
      <p:sp>
        <p:nvSpPr>
          <p:cNvPr id="30" name="box Isolated: no clash with what's already installed"/>
          <p:cNvSpPr/>
          <p:nvPr/>
        </p:nvSpPr>
        <p:spPr>
          <a:xfrm>
            <a:off x="5515661" y="2697480"/>
            <a:ext cx="1484986" cy="914400"/>
          </a:xfrm>
          <a:prstGeom prst="roundRect">
            <a:avLst>
              <a:gd name="adj" fmla="val 8000"/>
            </a:avLst>
          </a:prstGeom>
          <a:solidFill>
            <a:srgbClr val="E0F2FE"/>
          </a:solidFill>
          <a:ln w="12700">
            <a:solidFill>
              <a:srgbClr val="E0F2FE"/>
            </a:solidFill>
            <a:prstDash val="solid"/>
          </a:ln>
        </p:spPr>
      </p:sp>
      <p:sp>
        <p:nvSpPr>
          <p:cNvPr id="31" name="box text Isolated: no clash with what&amp;apos;s already installed"/>
          <p:cNvSpPr txBox="1"/>
          <p:nvPr/>
        </p:nvSpPr>
        <p:spPr>
          <a:xfrm>
            <a:off x="5515661" y="2697480"/>
            <a:ext cx="1484986" cy="914400"/>
          </a:xfrm>
          <a:prstGeom prst="rect">
            <a:avLst/>
          </a:prstGeom>
          <a:noFill/>
          <a:ln/>
        </p:spPr>
        <p:txBody>
          <a:bodyPr wrap="square" lIns="381" tIns="381" rIns="381" bIns="381" rtlCol="0" anchor="ctr"/>
          <a:lstStyle/>
          <a:p>
            <a:pPr algn="ctr" indent="0" marL="0">
              <a:buNone/>
            </a:pPr>
            <a:r>
              <a:rPr lang="en-US" sz="1100" b="1" dirty="0">
                <a:solidFill>
                  <a:schemeClr val="tx1"/>
                </a:solidFill>
              </a:rPr>
              <a:t>Isolated: no clash with</a:t>
            </a:r>
            <a:endParaRPr lang="en-US" sz="1100" dirty="0"/>
          </a:p>
          <a:p>
            <a:pPr algn="ctr" indent="0" marL="0">
              <a:buNone/>
            </a:pPr>
            <a:r>
              <a:rPr lang="en-US" sz="1100" b="1" dirty="0">
                <a:solidFill>
                  <a:schemeClr val="tx1"/>
                </a:solidFill>
              </a:rPr>
              <a:t>what's already installed</a:t>
            </a:r>
            <a:endParaRPr lang="en-US" sz="1100" dirty="0"/>
          </a:p>
        </p:txBody>
      </p:sp>
      <p:sp>
        <p:nvSpPr>
          <p:cNvPr id="32" name="arrow"/>
          <p:cNvSpPr/>
          <p:nvPr/>
        </p:nvSpPr>
        <p:spPr>
          <a:xfrm>
            <a:off x="7000646" y="3154680"/>
            <a:ext cx="201168" cy="0"/>
          </a:xfrm>
          <a:prstGeom prst="line">
            <a:avLst/>
          </a:prstGeom>
          <a:noFill/>
          <a:ln w="19050">
            <a:solidFill>
              <a:schemeClr val="accent1"/>
            </a:solidFill>
            <a:prstDash val="solid"/>
            <a:tailEnd type="triangle"/>
          </a:ln>
        </p:spPr>
      </p:sp>
      <p:sp>
        <p:nvSpPr>
          <p:cNvPr id="33" name="box New dev productive in 10 minutes"/>
          <p:cNvSpPr/>
          <p:nvPr/>
        </p:nvSpPr>
        <p:spPr>
          <a:xfrm>
            <a:off x="7201814" y="2697480"/>
            <a:ext cx="1484986" cy="914400"/>
          </a:xfrm>
          <a:prstGeom prst="roundRect">
            <a:avLst>
              <a:gd name="adj" fmla="val 8000"/>
            </a:avLst>
          </a:prstGeom>
          <a:solidFill>
            <a:srgbClr val="E0F2FE"/>
          </a:solidFill>
          <a:ln w="12700">
            <a:solidFill>
              <a:srgbClr val="E0F2FE"/>
            </a:solidFill>
            <a:prstDash val="solid"/>
          </a:ln>
        </p:spPr>
      </p:sp>
      <p:sp>
        <p:nvSpPr>
          <p:cNvPr id="34" name="box text New dev productive in 10 minutes"/>
          <p:cNvSpPr txBox="1"/>
          <p:nvPr/>
        </p:nvSpPr>
        <p:spPr>
          <a:xfrm>
            <a:off x="7201814" y="2697480"/>
            <a:ext cx="1484986" cy="914400"/>
          </a:xfrm>
          <a:prstGeom prst="rect">
            <a:avLst/>
          </a:prstGeom>
          <a:noFill/>
          <a:ln/>
        </p:spPr>
        <p:txBody>
          <a:bodyPr wrap="square" lIns="381" tIns="381" rIns="381" bIns="381" rtlCol="0" anchor="ctr"/>
          <a:lstStyle/>
          <a:p>
            <a:pPr algn="ctr" indent="0" marL="0">
              <a:buNone/>
            </a:pPr>
            <a:r>
              <a:rPr lang="en-US" sz="1100" b="1" dirty="0">
                <a:solidFill>
                  <a:schemeClr val="tx1"/>
                </a:solidFill>
              </a:rPr>
              <a:t>New dev productive</a:t>
            </a:r>
            <a:endParaRPr lang="en-US" sz="1100" dirty="0"/>
          </a:p>
          <a:p>
            <a:pPr algn="ctr" indent="0" marL="0">
              <a:buNone/>
            </a:pPr>
            <a:r>
              <a:rPr lang="en-US" sz="1100" b="1" dirty="0">
                <a:solidFill>
                  <a:schemeClr val="tx1"/>
                </a:solidFill>
              </a:rPr>
              <a:t>in 10 minutes</a:t>
            </a:r>
            <a:endParaRPr lang="en-US" sz="1100" dirty="0"/>
          </a:p>
        </p:txBody>
      </p:sp>
      <p:sp>
        <p:nvSpPr>
          <p:cNvPr id="35" name="box Services become one command each. No installation, no OS-specific steps, no version conflicts."/>
          <p:cNvSpPr/>
          <p:nvPr/>
        </p:nvSpPr>
        <p:spPr>
          <a:xfrm>
            <a:off x="457200" y="4069080"/>
            <a:ext cx="8229600" cy="502920"/>
          </a:xfrm>
          <a:prstGeom prst="roundRect">
            <a:avLst>
              <a:gd name="adj" fmla="val 14545"/>
            </a:avLst>
          </a:prstGeom>
          <a:solidFill>
            <a:schemeClr val="accent1"/>
          </a:solidFill>
          <a:ln w="12700">
            <a:solidFill>
              <a:schemeClr val="accent1"/>
            </a:solidFill>
            <a:prstDash val="solid"/>
          </a:ln>
        </p:spPr>
      </p:sp>
      <p:sp>
        <p:nvSpPr>
          <p:cNvPr id="36" name="box text Services become one command each. No installation, no OS-specific steps, no version conflicts."/>
          <p:cNvSpPr txBox="1"/>
          <p:nvPr/>
        </p:nvSpPr>
        <p:spPr>
          <a:xfrm>
            <a:off x="457200" y="4069080"/>
            <a:ext cx="8229600" cy="502920"/>
          </a:xfrm>
          <a:prstGeom prst="rect">
            <a:avLst/>
          </a:prstGeom>
          <a:noFill/>
          <a:ln/>
        </p:spPr>
        <p:txBody>
          <a:bodyPr wrap="square" lIns="381" tIns="381" rIns="381" bIns="381" rtlCol="0" anchor="ctr"/>
          <a:lstStyle/>
          <a:p>
            <a:pPr algn="ctr" indent="0" marL="0">
              <a:buNone/>
            </a:pPr>
            <a:r>
              <a:rPr lang="en-US" sz="1400" b="1" dirty="0">
                <a:solidFill>
                  <a:schemeClr val="bg1"/>
                </a:solidFill>
              </a:rPr>
              <a:t>Services become one command each. No installation, no OS-specific steps, no version conflicts.</a:t>
            </a:r>
            <a:endParaRPr lang="en-US" sz="14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Problem 2: deployment before containers</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accent1"/>
          </a:solidFill>
          <a:ln w="12700">
            <a:solidFill>
              <a:schemeClr val="accent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DOCKER</a:t>
            </a:r>
            <a:endParaRPr lang="en-US" sz="900" dirty="0"/>
          </a:p>
        </p:txBody>
      </p:sp>
      <p:sp>
        <p:nvSpPr>
          <p:cNvPr id="6" name="Text 3"/>
          <p:cNvSpPr txBox="1"/>
          <p:nvPr/>
        </p:nvSpPr>
        <p:spPr>
          <a:xfrm>
            <a:off x="457200" y="1051560"/>
            <a:ext cx="3931920" cy="274320"/>
          </a:xfrm>
          <a:prstGeom prst="rect">
            <a:avLst/>
          </a:prstGeom>
          <a:noFill/>
          <a:ln/>
        </p:spPr>
        <p:txBody>
          <a:bodyPr wrap="square" lIns="0" tIns="0" rIns="0" bIns="0" rtlCol="0" anchor="t"/>
          <a:lstStyle/>
          <a:p>
            <a:pPr indent="0" marL="0">
              <a:buNone/>
            </a:pPr>
            <a:r>
              <a:rPr lang="en-US" sz="1400" b="1" dirty="0">
                <a:solidFill>
                  <a:schemeClr val="accent5"/>
                </a:solidFill>
              </a:rPr>
              <a:t>Before</a:t>
            </a:r>
            <a:endParaRPr lang="en-US" sz="1400" dirty="0"/>
          </a:p>
        </p:txBody>
      </p:sp>
      <p:sp>
        <p:nvSpPr>
          <p:cNvPr id="7" name="box Developers app artefact + setup instructions"/>
          <p:cNvSpPr/>
          <p:nvPr/>
        </p:nvSpPr>
        <p:spPr>
          <a:xfrm>
            <a:off x="457200" y="1371600"/>
            <a:ext cx="1737360" cy="1005840"/>
          </a:xfrm>
          <a:prstGeom prst="roundRect">
            <a:avLst>
              <a:gd name="adj" fmla="val 7273"/>
            </a:avLst>
          </a:prstGeom>
          <a:solidFill>
            <a:srgbClr val="FEE2E2"/>
          </a:solidFill>
          <a:ln w="12700">
            <a:solidFill>
              <a:srgbClr val="FEE2E2"/>
            </a:solidFill>
            <a:prstDash val="solid"/>
          </a:ln>
        </p:spPr>
      </p:sp>
      <p:sp>
        <p:nvSpPr>
          <p:cNvPr id="8" name="box text Developers app artefact + setup instructions"/>
          <p:cNvSpPr txBox="1"/>
          <p:nvPr/>
        </p:nvSpPr>
        <p:spPr>
          <a:xfrm>
            <a:off x="457200" y="1371600"/>
            <a:ext cx="1737360" cy="1005840"/>
          </a:xfrm>
          <a:prstGeom prst="rect">
            <a:avLst/>
          </a:prstGeom>
          <a:noFill/>
          <a:ln/>
        </p:spPr>
        <p:txBody>
          <a:bodyPr wrap="square" lIns="381" tIns="381" rIns="381" bIns="381" rtlCol="0" anchor="ctr"/>
          <a:lstStyle/>
          <a:p>
            <a:pPr algn="ctr" indent="0" marL="0">
              <a:buNone/>
            </a:pPr>
            <a:r>
              <a:rPr lang="en-US" sz="1100" b="1" dirty="0">
                <a:solidFill>
                  <a:schemeClr val="tx1"/>
                </a:solidFill>
              </a:rPr>
              <a:t>Developers</a:t>
            </a:r>
            <a:endParaRPr lang="en-US" sz="1100" dirty="0"/>
          </a:p>
          <a:p>
            <a:pPr algn="ctr" indent="0" marL="0">
              <a:buNone/>
            </a:pPr>
            <a:r>
              <a:rPr lang="en-US" sz="1100" b="1" dirty="0">
                <a:solidFill>
                  <a:schemeClr val="tx1"/>
                </a:solidFill>
              </a:rPr>
              <a:t>app artefact +</a:t>
            </a:r>
            <a:endParaRPr lang="en-US" sz="1100" dirty="0"/>
          </a:p>
          <a:p>
            <a:pPr algn="ctr" indent="0" marL="0">
              <a:buNone/>
            </a:pPr>
            <a:r>
              <a:rPr lang="en-US" sz="1100" b="1" dirty="0">
                <a:solidFill>
                  <a:schemeClr val="tx1"/>
                </a:solidFill>
              </a:rPr>
              <a:t>setup instructions</a:t>
            </a:r>
            <a:endParaRPr lang="en-US" sz="1100" dirty="0"/>
          </a:p>
        </p:txBody>
      </p:sp>
      <p:sp>
        <p:nvSpPr>
          <p:cNvPr id="9" name="arrow"/>
          <p:cNvSpPr/>
          <p:nvPr/>
        </p:nvSpPr>
        <p:spPr>
          <a:xfrm>
            <a:off x="2194560" y="1874520"/>
            <a:ext cx="457200" cy="0"/>
          </a:xfrm>
          <a:prstGeom prst="line">
            <a:avLst/>
          </a:prstGeom>
          <a:noFill/>
          <a:ln w="19050">
            <a:solidFill>
              <a:schemeClr val="accent5"/>
            </a:solidFill>
            <a:prstDash val="solid"/>
            <a:tailEnd type="triangle"/>
          </a:ln>
        </p:spPr>
      </p:sp>
      <p:sp>
        <p:nvSpPr>
          <p:cNvPr id="10" name="box Operations install runtime, configure, hope it matches"/>
          <p:cNvSpPr/>
          <p:nvPr/>
        </p:nvSpPr>
        <p:spPr>
          <a:xfrm>
            <a:off x="2651760" y="1371600"/>
            <a:ext cx="1737360" cy="1005840"/>
          </a:xfrm>
          <a:prstGeom prst="roundRect">
            <a:avLst>
              <a:gd name="adj" fmla="val 7273"/>
            </a:avLst>
          </a:prstGeom>
          <a:solidFill>
            <a:srgbClr val="FEE2E2"/>
          </a:solidFill>
          <a:ln w="12700">
            <a:solidFill>
              <a:srgbClr val="FEE2E2"/>
            </a:solidFill>
            <a:prstDash val="solid"/>
          </a:ln>
        </p:spPr>
      </p:sp>
      <p:sp>
        <p:nvSpPr>
          <p:cNvPr id="11" name="box text Operations install runtime, configure, hope it matches"/>
          <p:cNvSpPr txBox="1"/>
          <p:nvPr/>
        </p:nvSpPr>
        <p:spPr>
          <a:xfrm>
            <a:off x="2651760" y="1371600"/>
            <a:ext cx="1737360" cy="1005840"/>
          </a:xfrm>
          <a:prstGeom prst="rect">
            <a:avLst/>
          </a:prstGeom>
          <a:noFill/>
          <a:ln/>
        </p:spPr>
        <p:txBody>
          <a:bodyPr wrap="square" lIns="381" tIns="381" rIns="381" bIns="381" rtlCol="0" anchor="ctr"/>
          <a:lstStyle/>
          <a:p>
            <a:pPr algn="ctr" indent="0" marL="0">
              <a:buNone/>
            </a:pPr>
            <a:r>
              <a:rPr lang="en-US" sz="1100" b="1" dirty="0">
                <a:solidFill>
                  <a:schemeClr val="tx1"/>
                </a:solidFill>
              </a:rPr>
              <a:t>Operations</a:t>
            </a:r>
            <a:endParaRPr lang="en-US" sz="1100" dirty="0"/>
          </a:p>
          <a:p>
            <a:pPr algn="ctr" indent="0" marL="0">
              <a:buNone/>
            </a:pPr>
            <a:r>
              <a:rPr lang="en-US" sz="1100" b="1" dirty="0">
                <a:solidFill>
                  <a:schemeClr val="tx1"/>
                </a:solidFill>
              </a:rPr>
              <a:t>install runtime, configure,</a:t>
            </a:r>
            <a:endParaRPr lang="en-US" sz="1100" dirty="0"/>
          </a:p>
          <a:p>
            <a:pPr algn="ctr" indent="0" marL="0">
              <a:buNone/>
            </a:pPr>
            <a:r>
              <a:rPr lang="en-US" sz="1100" b="1" dirty="0">
                <a:solidFill>
                  <a:schemeClr val="tx1"/>
                </a:solidFill>
              </a:rPr>
              <a:t>hope it matches</a:t>
            </a:r>
            <a:endParaRPr lang="en-US" sz="1100" dirty="0"/>
          </a:p>
        </p:txBody>
      </p:sp>
      <p:sp>
        <p:nvSpPr>
          <p:cNvPr id="12" name="Text 9"/>
          <p:cNvSpPr txBox="1"/>
          <p:nvPr/>
        </p:nvSpPr>
        <p:spPr>
          <a:xfrm>
            <a:off x="457200" y="2560320"/>
            <a:ext cx="3931920" cy="1371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Instructions misread or out of date</a:t>
            </a:r>
            <a:endParaRPr lang="en-US" sz="1200" dirty="0"/>
          </a:p>
          <a:p>
            <a:pPr marL="342900" indent="-342900">
              <a:spcAft>
                <a:spcPts val="600"/>
              </a:spcAft>
              <a:buSzPct val="100000"/>
              <a:buChar char="•"/>
            </a:pPr>
            <a:r>
              <a:rPr lang="en-US" sz="1200" dirty="0">
                <a:solidFill>
                  <a:schemeClr val="tx1"/>
                </a:solidFill>
              </a:rPr>
              <a:t>Different runtime versions on the server</a:t>
            </a:r>
            <a:endParaRPr lang="en-US" sz="1200" dirty="0"/>
          </a:p>
          <a:p>
            <a:pPr marL="342900" indent="-342900">
              <a:spcAft>
                <a:spcPts val="600"/>
              </a:spcAft>
              <a:buSzPct val="100000"/>
              <a:buChar char="•"/>
            </a:pPr>
            <a:r>
              <a:rPr lang="en-US" sz="1200" dirty="0">
                <a:solidFill>
                  <a:schemeClr val="tx1"/>
                </a:solidFill>
              </a:rPr>
              <a:t>Dependency conflicts with other apps</a:t>
            </a:r>
            <a:endParaRPr lang="en-US" sz="1200" dirty="0"/>
          </a:p>
          <a:p>
            <a:pPr marL="342900" indent="-342900">
              <a:spcAft>
                <a:spcPts val="600"/>
              </a:spcAft>
              <a:buSzPct val="100000"/>
              <a:buChar char="•"/>
            </a:pPr>
            <a:r>
              <a:rPr lang="en-US" sz="1200" dirty="0">
                <a:solidFill>
                  <a:schemeClr val="tx1"/>
                </a:solidFill>
              </a:rPr>
              <a:t>Errors found only in production</a:t>
            </a:r>
            <a:endParaRPr lang="en-US" sz="1200" dirty="0"/>
          </a:p>
        </p:txBody>
      </p:sp>
      <p:sp>
        <p:nvSpPr>
          <p:cNvPr id="13" name="Text 10"/>
          <p:cNvSpPr txBox="1"/>
          <p:nvPr/>
        </p:nvSpPr>
        <p:spPr>
          <a:xfrm>
            <a:off x="4754880" y="1051560"/>
            <a:ext cx="3931920" cy="274320"/>
          </a:xfrm>
          <a:prstGeom prst="rect">
            <a:avLst/>
          </a:prstGeom>
          <a:noFill/>
          <a:ln/>
        </p:spPr>
        <p:txBody>
          <a:bodyPr wrap="square" lIns="0" tIns="0" rIns="0" bIns="0" rtlCol="0" anchor="t"/>
          <a:lstStyle/>
          <a:p>
            <a:pPr indent="0" marL="0">
              <a:buNone/>
            </a:pPr>
            <a:r>
              <a:rPr lang="en-US" sz="1400" b="1" dirty="0">
                <a:solidFill>
                  <a:schemeClr val="accent1"/>
                </a:solidFill>
              </a:rPr>
              <a:t>After</a:t>
            </a:r>
            <a:endParaRPr lang="en-US" sz="1400" dirty="0"/>
          </a:p>
        </p:txBody>
      </p:sp>
      <p:sp>
        <p:nvSpPr>
          <p:cNvPr id="14" name="box Developers build an image: app + runtime + config"/>
          <p:cNvSpPr/>
          <p:nvPr/>
        </p:nvSpPr>
        <p:spPr>
          <a:xfrm>
            <a:off x="4754880" y="1371600"/>
            <a:ext cx="1737360" cy="1005840"/>
          </a:xfrm>
          <a:prstGeom prst="roundRect">
            <a:avLst>
              <a:gd name="adj" fmla="val 7273"/>
            </a:avLst>
          </a:prstGeom>
          <a:solidFill>
            <a:schemeClr val="accent1"/>
          </a:solidFill>
          <a:ln w="12700">
            <a:solidFill>
              <a:schemeClr val="accent1"/>
            </a:solidFill>
            <a:prstDash val="solid"/>
          </a:ln>
        </p:spPr>
      </p:sp>
      <p:sp>
        <p:nvSpPr>
          <p:cNvPr id="15" name="box text Developers build an image: app + runtime + config"/>
          <p:cNvSpPr txBox="1"/>
          <p:nvPr/>
        </p:nvSpPr>
        <p:spPr>
          <a:xfrm>
            <a:off x="4754880" y="1371600"/>
            <a:ext cx="1737360" cy="1005840"/>
          </a:xfrm>
          <a:prstGeom prst="rect">
            <a:avLst/>
          </a:prstGeom>
          <a:noFill/>
          <a:ln/>
        </p:spPr>
        <p:txBody>
          <a:bodyPr wrap="square" lIns="381" tIns="381" rIns="381" bIns="381" rtlCol="0" anchor="ctr"/>
          <a:lstStyle/>
          <a:p>
            <a:pPr algn="ctr" indent="0" marL="0">
              <a:buNone/>
            </a:pPr>
            <a:r>
              <a:rPr lang="en-US" sz="1100" b="1" dirty="0">
                <a:solidFill>
                  <a:schemeClr val="bg1"/>
                </a:solidFill>
              </a:rPr>
              <a:t>Developers</a:t>
            </a:r>
            <a:endParaRPr lang="en-US" sz="1100" dirty="0"/>
          </a:p>
          <a:p>
            <a:pPr algn="ctr" indent="0" marL="0">
              <a:buNone/>
            </a:pPr>
            <a:r>
              <a:rPr lang="en-US" sz="1100" b="1" dirty="0">
                <a:solidFill>
                  <a:schemeClr val="bg1"/>
                </a:solidFill>
              </a:rPr>
              <a:t>build an image:</a:t>
            </a:r>
            <a:endParaRPr lang="en-US" sz="1100" dirty="0"/>
          </a:p>
          <a:p>
            <a:pPr algn="ctr" indent="0" marL="0">
              <a:buNone/>
            </a:pPr>
            <a:r>
              <a:rPr lang="en-US" sz="1100" b="1" dirty="0">
                <a:solidFill>
                  <a:schemeClr val="bg1"/>
                </a:solidFill>
              </a:rPr>
              <a:t>app + runtime + config</a:t>
            </a:r>
            <a:endParaRPr lang="en-US" sz="1100" dirty="0"/>
          </a:p>
        </p:txBody>
      </p:sp>
      <p:sp>
        <p:nvSpPr>
          <p:cNvPr id="16" name="arrow"/>
          <p:cNvSpPr/>
          <p:nvPr/>
        </p:nvSpPr>
        <p:spPr>
          <a:xfrm>
            <a:off x="6492240" y="1874520"/>
            <a:ext cx="457200" cy="0"/>
          </a:xfrm>
          <a:prstGeom prst="line">
            <a:avLst/>
          </a:prstGeom>
          <a:noFill/>
          <a:ln w="19050">
            <a:solidFill>
              <a:schemeClr val="accent1"/>
            </a:solidFill>
            <a:prstDash val="solid"/>
            <a:tailEnd type="triangle"/>
          </a:ln>
        </p:spPr>
      </p:sp>
      <p:sp>
        <p:nvSpPr>
          <p:cNvPr id="17" name="box Operations docker run image (plus the platform)"/>
          <p:cNvSpPr/>
          <p:nvPr/>
        </p:nvSpPr>
        <p:spPr>
          <a:xfrm>
            <a:off x="6949440" y="1371600"/>
            <a:ext cx="1737360" cy="1005840"/>
          </a:xfrm>
          <a:prstGeom prst="roundRect">
            <a:avLst>
              <a:gd name="adj" fmla="val 7273"/>
            </a:avLst>
          </a:prstGeom>
          <a:solidFill>
            <a:schemeClr val="accent1"/>
          </a:solidFill>
          <a:ln w="12700">
            <a:solidFill>
              <a:schemeClr val="accent1"/>
            </a:solidFill>
            <a:prstDash val="solid"/>
          </a:ln>
        </p:spPr>
      </p:sp>
      <p:sp>
        <p:nvSpPr>
          <p:cNvPr id="18" name="box text Operations docker run image (plus the platform)"/>
          <p:cNvSpPr txBox="1"/>
          <p:nvPr/>
        </p:nvSpPr>
        <p:spPr>
          <a:xfrm>
            <a:off x="6949440" y="1371600"/>
            <a:ext cx="1737360" cy="1005840"/>
          </a:xfrm>
          <a:prstGeom prst="rect">
            <a:avLst/>
          </a:prstGeom>
          <a:noFill/>
          <a:ln/>
        </p:spPr>
        <p:txBody>
          <a:bodyPr wrap="square" lIns="381" tIns="381" rIns="381" bIns="381" rtlCol="0" anchor="ctr"/>
          <a:lstStyle/>
          <a:p>
            <a:pPr algn="ctr" indent="0" marL="0">
              <a:buNone/>
            </a:pPr>
            <a:r>
              <a:rPr lang="en-US" sz="1100" b="1" dirty="0">
                <a:solidFill>
                  <a:schemeClr val="bg1"/>
                </a:solidFill>
              </a:rPr>
              <a:t>Operations</a:t>
            </a:r>
            <a:endParaRPr lang="en-US" sz="1100" dirty="0"/>
          </a:p>
          <a:p>
            <a:pPr algn="ctr" indent="0" marL="0">
              <a:buNone/>
            </a:pPr>
            <a:r>
              <a:rPr lang="en-US" sz="1100" b="1" dirty="0">
                <a:solidFill>
                  <a:schemeClr val="bg1"/>
                </a:solidFill>
              </a:rPr>
              <a:t>docker run image</a:t>
            </a:r>
            <a:endParaRPr lang="en-US" sz="1100" dirty="0"/>
          </a:p>
          <a:p>
            <a:pPr algn="ctr" indent="0" marL="0">
              <a:buNone/>
            </a:pPr>
            <a:r>
              <a:rPr lang="en-US" sz="1100" b="1" dirty="0">
                <a:solidFill>
                  <a:schemeClr val="bg1"/>
                </a:solidFill>
              </a:rPr>
              <a:t>(plus the platform)</a:t>
            </a:r>
            <a:endParaRPr lang="en-US" sz="1100" dirty="0"/>
          </a:p>
        </p:txBody>
      </p:sp>
      <p:sp>
        <p:nvSpPr>
          <p:cNvPr id="19" name="Text 16"/>
          <p:cNvSpPr txBox="1"/>
          <p:nvPr/>
        </p:nvSpPr>
        <p:spPr>
          <a:xfrm>
            <a:off x="4754880" y="2560320"/>
            <a:ext cx="3931920" cy="1371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Nothing to install except Docker</a:t>
            </a:r>
            <a:endParaRPr lang="en-US" sz="1200" dirty="0"/>
          </a:p>
          <a:p>
            <a:pPr marL="342900" indent="-342900">
              <a:spcAft>
                <a:spcPts val="600"/>
              </a:spcAft>
              <a:buSzPct val="100000"/>
              <a:buChar char="•"/>
            </a:pPr>
            <a:r>
              <a:rPr lang="en-US" sz="1200" dirty="0">
                <a:solidFill>
                  <a:schemeClr val="tx1"/>
                </a:solidFill>
              </a:rPr>
              <a:t>Exact same artefact dev tested</a:t>
            </a:r>
            <a:endParaRPr lang="en-US" sz="1200" dirty="0"/>
          </a:p>
          <a:p>
            <a:pPr marL="342900" indent="-342900">
              <a:spcAft>
                <a:spcPts val="600"/>
              </a:spcAft>
              <a:buSzPct val="100000"/>
              <a:buChar char="•"/>
            </a:pPr>
            <a:r>
              <a:rPr lang="en-US" sz="1200" dirty="0">
                <a:solidFill>
                  <a:schemeClr val="tx1"/>
                </a:solidFill>
              </a:rPr>
              <a:t>Isolated from other apps on the server</a:t>
            </a:r>
            <a:endParaRPr lang="en-US" sz="1200" dirty="0"/>
          </a:p>
          <a:p>
            <a:pPr marL="342900" indent="-342900">
              <a:spcAft>
                <a:spcPts val="600"/>
              </a:spcAft>
              <a:buSzPct val="100000"/>
              <a:buChar char="•"/>
            </a:pPr>
            <a:r>
              <a:rPr lang="en-US" sz="1200" dirty="0">
                <a:solidFill>
                  <a:schemeClr val="tx1"/>
                </a:solidFill>
              </a:rPr>
              <a:t>Same image in test, staging, production</a:t>
            </a:r>
            <a:endParaRPr lang="en-US" sz="1200" dirty="0"/>
          </a:p>
        </p:txBody>
      </p:sp>
      <p:sp>
        <p:nvSpPr>
          <p:cNvPr id="20" name="box The image becomes the contract between Dev and Ops. That's the origin of 'DevOps' tooling."/>
          <p:cNvSpPr/>
          <p:nvPr/>
        </p:nvSpPr>
        <p:spPr>
          <a:xfrm>
            <a:off x="457200" y="4069080"/>
            <a:ext cx="8229600" cy="502920"/>
          </a:xfrm>
          <a:prstGeom prst="roundRect">
            <a:avLst>
              <a:gd name="adj" fmla="val 14545"/>
            </a:avLst>
          </a:prstGeom>
          <a:solidFill>
            <a:schemeClr val="accent1"/>
          </a:solidFill>
          <a:ln w="12700">
            <a:solidFill>
              <a:schemeClr val="accent1"/>
            </a:solidFill>
            <a:prstDash val="solid"/>
          </a:ln>
        </p:spPr>
      </p:sp>
      <p:sp>
        <p:nvSpPr>
          <p:cNvPr id="21" name="box text The image becomes the contract between Dev and Ops. That&amp;apos;s the origin of &amp;apos;DevOps&amp;apos; tooling."/>
          <p:cNvSpPr txBox="1"/>
          <p:nvPr/>
        </p:nvSpPr>
        <p:spPr>
          <a:xfrm>
            <a:off x="457200" y="4069080"/>
            <a:ext cx="8229600" cy="502920"/>
          </a:xfrm>
          <a:prstGeom prst="rect">
            <a:avLst/>
          </a:prstGeom>
          <a:noFill/>
          <a:ln/>
        </p:spPr>
        <p:txBody>
          <a:bodyPr wrap="square" lIns="381" tIns="381" rIns="381" bIns="381" rtlCol="0" anchor="ctr"/>
          <a:lstStyle/>
          <a:p>
            <a:pPr algn="ctr" indent="0" marL="0">
              <a:buNone/>
            </a:pPr>
            <a:r>
              <a:rPr lang="en-US" sz="1400" b="1" dirty="0">
                <a:solidFill>
                  <a:schemeClr val="bg1"/>
                </a:solidFill>
              </a:rPr>
              <a:t>The image becomes the contract between Dev and Ops. That's the origin of 'DevOps' tooling.</a:t>
            </a:r>
            <a:endParaRPr lang="en-US" sz="14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914400"/>
          </a:xfrm>
          <a:prstGeom prst="rect">
            <a:avLst/>
          </a:prstGeom>
          <a:noFill/>
          <a:ln/>
        </p:spPr>
        <p:txBody>
          <a:bodyPr wrap="square" lIns="0" tIns="0" rIns="0" bIns="0" rtlCol="0" anchor="b"/>
          <a:lstStyle/>
          <a:p>
            <a:pPr algn="l" indent="0" marL="0">
              <a:buNone/>
            </a:pPr>
            <a:r>
              <a:rPr lang="en-US" sz="4000" b="1" dirty="0">
                <a:solidFill>
                  <a:srgbClr val="FFFFFF"/>
                </a:solidFill>
              </a:rPr>
              <a:t>2 · What is a container?</a:t>
            </a:r>
            <a:endParaRPr lang="en-US" sz="4000" dirty="0"/>
          </a:p>
        </p:txBody>
      </p:sp>
      <p:sp>
        <p:nvSpPr>
          <p:cNvPr id="3" name="Text 0"/>
          <p:cNvSpPr/>
          <p:nvPr>
            <p:ph idx="101" type="body" hasCustomPrompt="1"/>
          </p:nvPr>
        </p:nvSpPr>
        <p:spPr>
          <a:xfrm>
            <a:off x="548640" y="2834640"/>
            <a:ext cx="8046720" cy="822960"/>
          </a:xfrm>
          <a:prstGeom prst="rect">
            <a:avLst/>
          </a:prstGeom>
          <a:noFill/>
          <a:ln/>
        </p:spPr>
        <p:txBody>
          <a:bodyPr wrap="square" lIns="0" tIns="0" rIns="0" bIns="0" rtlCol="0" anchor="t"/>
          <a:lstStyle/>
          <a:p>
            <a:pPr algn="l" indent="0" marL="0">
              <a:buNone/>
            </a:pPr>
            <a:r>
              <a:rPr lang="en-US" sz="1800" dirty="0">
                <a:solidFill>
                  <a:srgbClr val="CBD5E1"/>
                </a:solidFill>
              </a:rPr>
              <a:t>A running package of an application: image layers + a process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Images are stacks of layers</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accent1"/>
          </a:solidFill>
          <a:ln w="12700">
            <a:solidFill>
              <a:schemeClr val="accent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DOCKER</a:t>
            </a:r>
            <a:endParaRPr lang="en-US" sz="900" dirty="0"/>
          </a:p>
        </p:txBody>
      </p:sp>
      <p:sp>
        <p:nvSpPr>
          <p:cNvPr id="6" name="box Application layer: your app + config"/>
          <p:cNvSpPr/>
          <p:nvPr/>
        </p:nvSpPr>
        <p:spPr>
          <a:xfrm>
            <a:off x="548640" y="1188720"/>
            <a:ext cx="4206240" cy="594360"/>
          </a:xfrm>
          <a:prstGeom prst="roundRect">
            <a:avLst>
              <a:gd name="adj" fmla="val 12308"/>
            </a:avLst>
          </a:prstGeom>
          <a:solidFill>
            <a:schemeClr val="accent1"/>
          </a:solidFill>
          <a:ln w="12700">
            <a:solidFill>
              <a:schemeClr val="accent1"/>
            </a:solidFill>
            <a:prstDash val="solid"/>
          </a:ln>
        </p:spPr>
      </p:sp>
      <p:sp>
        <p:nvSpPr>
          <p:cNvPr id="7" name="box text Application layer: your app + config"/>
          <p:cNvSpPr txBox="1"/>
          <p:nvPr/>
        </p:nvSpPr>
        <p:spPr>
          <a:xfrm>
            <a:off x="548640" y="1188720"/>
            <a:ext cx="4206240" cy="594360"/>
          </a:xfrm>
          <a:prstGeom prst="rect">
            <a:avLst/>
          </a:prstGeom>
          <a:noFill/>
          <a:ln/>
        </p:spPr>
        <p:txBody>
          <a:bodyPr wrap="square" lIns="381" tIns="381" rIns="381" bIns="381" rtlCol="0" anchor="ctr"/>
          <a:lstStyle/>
          <a:p>
            <a:pPr algn="ctr" indent="0" marL="0">
              <a:buNone/>
            </a:pPr>
            <a:r>
              <a:rPr lang="en-US" sz="1300" b="1" dirty="0">
                <a:solidFill>
                  <a:schemeClr val="bg1"/>
                </a:solidFill>
              </a:rPr>
              <a:t>Application layer: your app + config</a:t>
            </a:r>
            <a:endParaRPr lang="en-US" sz="1300" dirty="0"/>
          </a:p>
        </p:txBody>
      </p:sp>
      <p:sp>
        <p:nvSpPr>
          <p:cNvPr id="8" name="box Runtime: Node 20 / Python / JDK"/>
          <p:cNvSpPr/>
          <p:nvPr/>
        </p:nvSpPr>
        <p:spPr>
          <a:xfrm>
            <a:off x="548640" y="1874520"/>
            <a:ext cx="4206240" cy="594360"/>
          </a:xfrm>
          <a:prstGeom prst="roundRect">
            <a:avLst>
              <a:gd name="adj" fmla="val 12308"/>
            </a:avLst>
          </a:prstGeom>
          <a:solidFill>
            <a:srgbClr val="38BDF8"/>
          </a:solidFill>
          <a:ln w="12700">
            <a:solidFill>
              <a:srgbClr val="38BDF8"/>
            </a:solidFill>
            <a:prstDash val="solid"/>
          </a:ln>
        </p:spPr>
      </p:sp>
      <p:sp>
        <p:nvSpPr>
          <p:cNvPr id="9" name="box text Runtime: Node 20 / Python / JDK"/>
          <p:cNvSpPr txBox="1"/>
          <p:nvPr/>
        </p:nvSpPr>
        <p:spPr>
          <a:xfrm>
            <a:off x="548640" y="1874520"/>
            <a:ext cx="4206240" cy="594360"/>
          </a:xfrm>
          <a:prstGeom prst="rect">
            <a:avLst/>
          </a:prstGeom>
          <a:noFill/>
          <a:ln/>
        </p:spPr>
        <p:txBody>
          <a:bodyPr wrap="square" lIns="381" tIns="381" rIns="381" bIns="381" rtlCol="0" anchor="ctr"/>
          <a:lstStyle/>
          <a:p>
            <a:pPr algn="ctr" indent="0" marL="0">
              <a:buNone/>
            </a:pPr>
            <a:r>
              <a:rPr lang="en-US" sz="1300" b="1" dirty="0">
                <a:solidFill>
                  <a:schemeClr val="tx1"/>
                </a:solidFill>
              </a:rPr>
              <a:t>Runtime: Node 20 / Python / JDK</a:t>
            </a:r>
            <a:endParaRPr lang="en-US" sz="1300" dirty="0"/>
          </a:p>
        </p:txBody>
      </p:sp>
      <p:sp>
        <p:nvSpPr>
          <p:cNvPr id="10" name="box Libraries: OpenSSL, libc, tools"/>
          <p:cNvSpPr/>
          <p:nvPr/>
        </p:nvSpPr>
        <p:spPr>
          <a:xfrm>
            <a:off x="548640" y="2560320"/>
            <a:ext cx="4206240" cy="594360"/>
          </a:xfrm>
          <a:prstGeom prst="roundRect">
            <a:avLst>
              <a:gd name="adj" fmla="val 12308"/>
            </a:avLst>
          </a:prstGeom>
          <a:solidFill>
            <a:srgbClr val="7DD3FC"/>
          </a:solidFill>
          <a:ln w="12700">
            <a:solidFill>
              <a:srgbClr val="7DD3FC"/>
            </a:solidFill>
            <a:prstDash val="solid"/>
          </a:ln>
        </p:spPr>
      </p:sp>
      <p:sp>
        <p:nvSpPr>
          <p:cNvPr id="11" name="box text Libraries: OpenSSL, libc, tools"/>
          <p:cNvSpPr txBox="1"/>
          <p:nvPr/>
        </p:nvSpPr>
        <p:spPr>
          <a:xfrm>
            <a:off x="548640" y="2560320"/>
            <a:ext cx="4206240" cy="594360"/>
          </a:xfrm>
          <a:prstGeom prst="rect">
            <a:avLst/>
          </a:prstGeom>
          <a:noFill/>
          <a:ln/>
        </p:spPr>
        <p:txBody>
          <a:bodyPr wrap="square" lIns="381" tIns="381" rIns="381" bIns="381" rtlCol="0" anchor="ctr"/>
          <a:lstStyle/>
          <a:p>
            <a:pPr algn="ctr" indent="0" marL="0">
              <a:buNone/>
            </a:pPr>
            <a:r>
              <a:rPr lang="en-US" sz="1300" b="1" dirty="0">
                <a:solidFill>
                  <a:schemeClr val="tx1"/>
                </a:solidFill>
              </a:rPr>
              <a:t>Libraries: OpenSSL, libc, tools</a:t>
            </a:r>
            <a:endParaRPr lang="en-US" sz="1300" dirty="0"/>
          </a:p>
        </p:txBody>
      </p:sp>
      <p:sp>
        <p:nvSpPr>
          <p:cNvPr id="12" name="box Base OS layer: Alpine or Debian (no kernel)"/>
          <p:cNvSpPr/>
          <p:nvPr/>
        </p:nvSpPr>
        <p:spPr>
          <a:xfrm>
            <a:off x="548640" y="3246120"/>
            <a:ext cx="4206240" cy="594360"/>
          </a:xfrm>
          <a:prstGeom prst="roundRect">
            <a:avLst>
              <a:gd name="adj" fmla="val 12308"/>
            </a:avLst>
          </a:prstGeom>
          <a:solidFill>
            <a:srgbClr val="BAE6FD"/>
          </a:solidFill>
          <a:ln w="12700">
            <a:solidFill>
              <a:srgbClr val="BAE6FD"/>
            </a:solidFill>
            <a:prstDash val="solid"/>
          </a:ln>
        </p:spPr>
      </p:sp>
      <p:sp>
        <p:nvSpPr>
          <p:cNvPr id="13" name="box text Base OS layer: Alpine or Debian (no kernel)"/>
          <p:cNvSpPr txBox="1"/>
          <p:nvPr/>
        </p:nvSpPr>
        <p:spPr>
          <a:xfrm>
            <a:off x="548640" y="3246120"/>
            <a:ext cx="4206240" cy="594360"/>
          </a:xfrm>
          <a:prstGeom prst="rect">
            <a:avLst/>
          </a:prstGeom>
          <a:noFill/>
          <a:ln/>
        </p:spPr>
        <p:txBody>
          <a:bodyPr wrap="square" lIns="381" tIns="381" rIns="381" bIns="381" rtlCol="0" anchor="ctr"/>
          <a:lstStyle/>
          <a:p>
            <a:pPr algn="ctr" indent="0" marL="0">
              <a:buNone/>
            </a:pPr>
            <a:r>
              <a:rPr lang="en-US" sz="1300" b="1" dirty="0">
                <a:solidFill>
                  <a:schemeClr val="tx1"/>
                </a:solidFill>
              </a:rPr>
              <a:t>Base OS layer: Alpine or Debian (no kernel)</a:t>
            </a:r>
            <a:endParaRPr lang="en-US" sz="1300" dirty="0"/>
          </a:p>
        </p:txBody>
      </p:sp>
      <p:sp>
        <p:nvSpPr>
          <p:cNvPr id="14" name="Text 11"/>
          <p:cNvSpPr txBox="1"/>
          <p:nvPr/>
        </p:nvSpPr>
        <p:spPr>
          <a:xfrm>
            <a:off x="548640" y="3977640"/>
            <a:ext cx="4206240" cy="274320"/>
          </a:xfrm>
          <a:prstGeom prst="rect">
            <a:avLst/>
          </a:prstGeom>
          <a:noFill/>
          <a:ln/>
        </p:spPr>
        <p:txBody>
          <a:bodyPr wrap="square" lIns="0" tIns="0" rIns="0" bIns="0" rtlCol="0" anchor="t"/>
          <a:lstStyle/>
          <a:p>
            <a:pPr indent="0" marL="0">
              <a:buNone/>
            </a:pPr>
            <a:r>
              <a:rPr lang="en-US" sz="1000" i="1" dirty="0">
                <a:solidFill>
                  <a:schemeClr val="tx2"/>
                </a:solidFill>
              </a:rPr>
              <a:t>↑ most specific, changes most</a:t>
            </a:r>
            <a:endParaRPr lang="en-US" sz="1000" dirty="0"/>
          </a:p>
        </p:txBody>
      </p:sp>
      <p:sp>
        <p:nvSpPr>
          <p:cNvPr id="15" name="Why layers card"/>
          <p:cNvSpPr/>
          <p:nvPr/>
        </p:nvSpPr>
        <p:spPr>
          <a:xfrm>
            <a:off x="5120640" y="1188720"/>
            <a:ext cx="3566160" cy="3108960"/>
          </a:xfrm>
          <a:prstGeom prst="roundRect">
            <a:avLst>
              <a:gd name="adj" fmla="val 3529"/>
            </a:avLst>
          </a:prstGeom>
          <a:solidFill>
            <a:schemeClr val="bg2"/>
          </a:solidFill>
          <a:ln w="12700">
            <a:solidFill>
              <a:schemeClr val="bg2"/>
            </a:solidFill>
            <a:prstDash val="solid"/>
          </a:ln>
        </p:spPr>
      </p:sp>
      <p:sp>
        <p:nvSpPr>
          <p:cNvPr id="16" name="Why layers circle"/>
          <p:cNvSpPr/>
          <p:nvPr/>
        </p:nvSpPr>
        <p:spPr>
          <a:xfrm>
            <a:off x="5303520" y="1371600"/>
            <a:ext cx="457200" cy="457200"/>
          </a:xfrm>
          <a:prstGeom prst="ellipse">
            <a:avLst/>
          </a:prstGeom>
          <a:solidFill>
            <a:schemeClr val="accent1"/>
          </a:solidFill>
          <a:ln w="12700">
            <a:solidFill>
              <a:schemeClr val="accent1"/>
            </a:solidFill>
            <a:prstDash val="solid"/>
          </a:ln>
        </p:spPr>
      </p:sp>
      <p:pic>
        <p:nvPicPr>
          <p:cNvPr id="17" name="Why layers icon" descr="preencoded.png">    </p:cNvPr>
          <p:cNvPicPr>
            <a:picLocks noChangeAspect="1"/>
          </p:cNvPicPr>
          <p:nvPr/>
        </p:nvPicPr>
        <p:blipFill>
          <a:blip r:embed="rId1"/>
          <a:stretch>
            <a:fillRect/>
          </a:stretch>
        </p:blipFill>
        <p:spPr>
          <a:xfrm>
            <a:off x="5394960" y="1463040"/>
            <a:ext cx="274320" cy="274320"/>
          </a:xfrm>
          <a:prstGeom prst="rect">
            <a:avLst/>
          </a:prstGeom>
        </p:spPr>
      </p:pic>
      <p:sp>
        <p:nvSpPr>
          <p:cNvPr id="18" name="Text 14"/>
          <p:cNvSpPr txBox="1"/>
          <p:nvPr/>
        </p:nvSpPr>
        <p:spPr>
          <a:xfrm>
            <a:off x="5897880" y="1371600"/>
            <a:ext cx="2606040" cy="457200"/>
          </a:xfrm>
          <a:prstGeom prst="rect">
            <a:avLst/>
          </a:prstGeom>
          <a:noFill/>
          <a:ln/>
        </p:spPr>
        <p:txBody>
          <a:bodyPr wrap="square" lIns="0" tIns="0" rIns="0" bIns="0" rtlCol="0" anchor="ctr"/>
          <a:lstStyle/>
          <a:p>
            <a:pPr indent="0" marL="0">
              <a:buNone/>
            </a:pPr>
            <a:r>
              <a:rPr lang="en-US" sz="1600" b="1" dirty="0">
                <a:solidFill>
                  <a:schemeClr val="tx1"/>
                </a:solidFill>
              </a:rPr>
              <a:t>Why layers</a:t>
            </a:r>
            <a:endParaRPr lang="en-US" sz="1600" dirty="0"/>
          </a:p>
        </p:txBody>
      </p:sp>
      <p:sp>
        <p:nvSpPr>
          <p:cNvPr id="19" name="Text 15"/>
          <p:cNvSpPr txBox="1"/>
          <p:nvPr/>
        </p:nvSpPr>
        <p:spPr>
          <a:xfrm>
            <a:off x="5303520" y="1965960"/>
            <a:ext cx="3200400" cy="21945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Small base images: Alpine is ~5 MB</a:t>
            </a:r>
            <a:endParaRPr lang="en-US" sz="1300" dirty="0"/>
          </a:p>
          <a:p>
            <a:pPr marL="342900" indent="-342900">
              <a:spcAft>
                <a:spcPts val="600"/>
              </a:spcAft>
              <a:buSzPct val="100000"/>
              <a:buChar char="•"/>
            </a:pPr>
            <a:r>
              <a:rPr lang="en-US" sz="1300" dirty="0">
                <a:solidFill>
                  <a:schemeClr val="tx1"/>
                </a:solidFill>
              </a:rPr>
              <a:t>Shared: 10 Node images store the base once</a:t>
            </a:r>
            <a:endParaRPr lang="en-US" sz="1300" dirty="0"/>
          </a:p>
          <a:p>
            <a:pPr marL="342900" indent="-342900">
              <a:spcAft>
                <a:spcPts val="600"/>
              </a:spcAft>
              <a:buSzPct val="100000"/>
              <a:buChar char="•"/>
            </a:pPr>
            <a:r>
              <a:rPr lang="en-US" sz="1300" dirty="0">
                <a:solidFill>
                  <a:schemeClr val="tx1"/>
                </a:solidFill>
              </a:rPr>
              <a:t>Fast pulls: only missing layers download</a:t>
            </a:r>
            <a:endParaRPr lang="en-US" sz="1300" dirty="0"/>
          </a:p>
          <a:p>
            <a:pPr marL="342900" indent="-342900">
              <a:spcAft>
                <a:spcPts val="600"/>
              </a:spcAft>
              <a:buSzPct val="100000"/>
              <a:buChar char="•"/>
            </a:pPr>
            <a:r>
              <a:rPr lang="en-US" sz="1300" dirty="0">
                <a:solidFill>
                  <a:schemeClr val="tx1"/>
                </a:solidFill>
              </a:rPr>
              <a:t>Immutable: a layer never changes after build</a:t>
            </a:r>
            <a:endParaRPr lang="en-US" sz="1300" dirty="0"/>
          </a:p>
          <a:p>
            <a:pPr marL="342900" indent="-342900">
              <a:spcAft>
                <a:spcPts val="600"/>
              </a:spcAft>
              <a:buSzPct val="100000"/>
              <a:buChar char="•"/>
            </a:pPr>
            <a:r>
              <a:rPr lang="en-US" sz="1300" dirty="0">
                <a:solidFill>
                  <a:schemeClr val="tx1"/>
                </a:solidFill>
              </a:rPr>
              <a:t>A container adds one thin writable layer on top</a:t>
            </a:r>
            <a:endParaRPr lang="en-US" sz="13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Image vs container</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accent1"/>
          </a:solidFill>
          <a:ln w="12700">
            <a:solidFill>
              <a:schemeClr val="accent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DOCKER</a:t>
            </a:r>
            <a:endParaRPr lang="en-US" sz="900" dirty="0"/>
          </a:p>
        </p:txBody>
      </p:sp>
      <p:sp>
        <p:nvSpPr>
          <p:cNvPr id="6" name="Image card"/>
          <p:cNvSpPr/>
          <p:nvPr/>
        </p:nvSpPr>
        <p:spPr>
          <a:xfrm>
            <a:off x="457200" y="1097280"/>
            <a:ext cx="4023360" cy="2651760"/>
          </a:xfrm>
          <a:prstGeom prst="roundRect">
            <a:avLst>
              <a:gd name="adj" fmla="val 4138"/>
            </a:avLst>
          </a:prstGeom>
          <a:solidFill>
            <a:schemeClr val="bg2"/>
          </a:solidFill>
          <a:ln w="12700">
            <a:solidFill>
              <a:schemeClr val="bg2"/>
            </a:solidFill>
            <a:prstDash val="solid"/>
          </a:ln>
        </p:spPr>
      </p:sp>
      <p:sp>
        <p:nvSpPr>
          <p:cNvPr id="7" name="Image circle"/>
          <p:cNvSpPr/>
          <p:nvPr/>
        </p:nvSpPr>
        <p:spPr>
          <a:xfrm>
            <a:off x="640080" y="1280160"/>
            <a:ext cx="457200" cy="457200"/>
          </a:xfrm>
          <a:prstGeom prst="ellipse">
            <a:avLst/>
          </a:prstGeom>
          <a:solidFill>
            <a:schemeClr val="accent1"/>
          </a:solidFill>
          <a:ln w="12700">
            <a:solidFill>
              <a:schemeClr val="accent1"/>
            </a:solidFill>
            <a:prstDash val="solid"/>
          </a:ln>
        </p:spPr>
      </p:sp>
      <p:pic>
        <p:nvPicPr>
          <p:cNvPr id="8" name="Image icon" descr="preencoded.png">    </p:cNvPr>
          <p:cNvPicPr>
            <a:picLocks noChangeAspect="1"/>
          </p:cNvPicPr>
          <p:nvPr/>
        </p:nvPicPr>
        <p:blipFill>
          <a:blip r:embed="rId1"/>
          <a:stretch>
            <a:fillRect/>
          </a:stretch>
        </p:blipFill>
        <p:spPr>
          <a:xfrm>
            <a:off x="731520" y="1371600"/>
            <a:ext cx="274320" cy="274320"/>
          </a:xfrm>
          <a:prstGeom prst="rect">
            <a:avLst/>
          </a:prstGeom>
        </p:spPr>
      </p:pic>
      <p:sp>
        <p:nvSpPr>
          <p:cNvPr id="9" name="Text 5"/>
          <p:cNvSpPr txBox="1"/>
          <p:nvPr/>
        </p:nvSpPr>
        <p:spPr>
          <a:xfrm>
            <a:off x="1234440" y="1280160"/>
            <a:ext cx="3063240" cy="457200"/>
          </a:xfrm>
          <a:prstGeom prst="rect">
            <a:avLst/>
          </a:prstGeom>
          <a:noFill/>
          <a:ln/>
        </p:spPr>
        <p:txBody>
          <a:bodyPr wrap="square" lIns="0" tIns="0" rIns="0" bIns="0" rtlCol="0" anchor="ctr"/>
          <a:lstStyle/>
          <a:p>
            <a:pPr indent="0" marL="0">
              <a:buNone/>
            </a:pPr>
            <a:r>
              <a:rPr lang="en-US" sz="1600" b="1" dirty="0">
                <a:solidFill>
                  <a:schemeClr val="tx1"/>
                </a:solidFill>
              </a:rPr>
              <a:t>Image</a:t>
            </a:r>
            <a:endParaRPr lang="en-US" sz="1600" dirty="0"/>
          </a:p>
        </p:txBody>
      </p:sp>
      <p:sp>
        <p:nvSpPr>
          <p:cNvPr id="10" name="Text 6"/>
          <p:cNvSpPr txBox="1"/>
          <p:nvPr/>
        </p:nvSpPr>
        <p:spPr>
          <a:xfrm>
            <a:off x="640080" y="1874520"/>
            <a:ext cx="3657600" cy="17373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A file artefact: layers + metadata</a:t>
            </a:r>
            <a:endParaRPr lang="en-US" sz="1300" dirty="0"/>
          </a:p>
          <a:p>
            <a:pPr marL="342900" indent="-342900">
              <a:spcAft>
                <a:spcPts val="600"/>
              </a:spcAft>
              <a:buSzPct val="100000"/>
              <a:buChar char="•"/>
            </a:pPr>
            <a:r>
              <a:rPr lang="en-US" sz="1300" dirty="0">
                <a:solidFill>
                  <a:schemeClr val="tx1"/>
                </a:solidFill>
              </a:rPr>
              <a:t>Not running. Can't 'crash'</a:t>
            </a:r>
            <a:endParaRPr lang="en-US" sz="1300" dirty="0"/>
          </a:p>
          <a:p>
            <a:pPr marL="342900" indent="-342900">
              <a:spcAft>
                <a:spcPts val="600"/>
              </a:spcAft>
              <a:buSzPct val="100000"/>
              <a:buChar char="•"/>
            </a:pPr>
            <a:r>
              <a:rPr lang="en-US" sz="1300" dirty="0">
                <a:solidFill>
                  <a:schemeClr val="tx1"/>
                </a:solidFill>
              </a:rPr>
              <a:t>Lives in a registry or local cache</a:t>
            </a:r>
            <a:endParaRPr lang="en-US" sz="1300" dirty="0"/>
          </a:p>
          <a:p>
            <a:pPr marL="342900" indent="-342900">
              <a:spcAft>
                <a:spcPts val="600"/>
              </a:spcAft>
              <a:buSzPct val="100000"/>
              <a:buChar char="•"/>
            </a:pPr>
            <a:r>
              <a:rPr lang="en-US" sz="1300" dirty="0">
                <a:solidFill>
                  <a:schemeClr val="tx1"/>
                </a:solidFill>
              </a:rPr>
              <a:t>Versioned by tag: postgres:16</a:t>
            </a:r>
            <a:endParaRPr lang="en-US" sz="1300" dirty="0"/>
          </a:p>
          <a:p>
            <a:pPr marL="342900" indent="-342900">
              <a:spcAft>
                <a:spcPts val="600"/>
              </a:spcAft>
              <a:buSzPct val="100000"/>
              <a:buChar char="•"/>
            </a:pPr>
            <a:r>
              <a:rPr lang="en-US" sz="1300" dirty="0">
                <a:solidFill>
                  <a:schemeClr val="tx1"/>
                </a:solidFill>
              </a:rPr>
              <a:t>Like a class, or an installer</a:t>
            </a:r>
            <a:endParaRPr lang="en-US" sz="1300" dirty="0"/>
          </a:p>
        </p:txBody>
      </p:sp>
      <p:sp>
        <p:nvSpPr>
          <p:cNvPr id="11" name="Container card"/>
          <p:cNvSpPr/>
          <p:nvPr/>
        </p:nvSpPr>
        <p:spPr>
          <a:xfrm>
            <a:off x="4663440" y="1097280"/>
            <a:ext cx="4023360" cy="2651760"/>
          </a:xfrm>
          <a:prstGeom prst="roundRect">
            <a:avLst>
              <a:gd name="adj" fmla="val 4138"/>
            </a:avLst>
          </a:prstGeom>
          <a:solidFill>
            <a:schemeClr val="bg2"/>
          </a:solidFill>
          <a:ln w="12700">
            <a:solidFill>
              <a:schemeClr val="bg2"/>
            </a:solidFill>
            <a:prstDash val="solid"/>
          </a:ln>
        </p:spPr>
      </p:sp>
      <p:sp>
        <p:nvSpPr>
          <p:cNvPr id="12" name="Container circle"/>
          <p:cNvSpPr/>
          <p:nvPr/>
        </p:nvSpPr>
        <p:spPr>
          <a:xfrm>
            <a:off x="4846320" y="1280160"/>
            <a:ext cx="457200" cy="457200"/>
          </a:xfrm>
          <a:prstGeom prst="ellipse">
            <a:avLst/>
          </a:prstGeom>
          <a:solidFill>
            <a:schemeClr val="accent1"/>
          </a:solidFill>
          <a:ln w="12700">
            <a:solidFill>
              <a:schemeClr val="accent1"/>
            </a:solidFill>
            <a:prstDash val="solid"/>
          </a:ln>
        </p:spPr>
      </p:sp>
      <p:pic>
        <p:nvPicPr>
          <p:cNvPr id="13" name="Container icon" descr="preencoded.png">    </p:cNvPr>
          <p:cNvPicPr>
            <a:picLocks noChangeAspect="1"/>
          </p:cNvPicPr>
          <p:nvPr/>
        </p:nvPicPr>
        <p:blipFill>
          <a:blip r:embed="rId2"/>
          <a:stretch>
            <a:fillRect/>
          </a:stretch>
        </p:blipFill>
        <p:spPr>
          <a:xfrm>
            <a:off x="4937760" y="1371600"/>
            <a:ext cx="274320" cy="274320"/>
          </a:xfrm>
          <a:prstGeom prst="rect">
            <a:avLst/>
          </a:prstGeom>
        </p:spPr>
      </p:pic>
      <p:sp>
        <p:nvSpPr>
          <p:cNvPr id="14" name="Text 9"/>
          <p:cNvSpPr txBox="1"/>
          <p:nvPr/>
        </p:nvSpPr>
        <p:spPr>
          <a:xfrm>
            <a:off x="5440680" y="1280160"/>
            <a:ext cx="3063240" cy="457200"/>
          </a:xfrm>
          <a:prstGeom prst="rect">
            <a:avLst/>
          </a:prstGeom>
          <a:noFill/>
          <a:ln/>
        </p:spPr>
        <p:txBody>
          <a:bodyPr wrap="square" lIns="0" tIns="0" rIns="0" bIns="0" rtlCol="0" anchor="ctr"/>
          <a:lstStyle/>
          <a:p>
            <a:pPr indent="0" marL="0">
              <a:buNone/>
            </a:pPr>
            <a:r>
              <a:rPr lang="en-US" sz="1600" b="1" dirty="0">
                <a:solidFill>
                  <a:schemeClr val="tx1"/>
                </a:solidFill>
              </a:rPr>
              <a:t>Container</a:t>
            </a:r>
            <a:endParaRPr lang="en-US" sz="1600" dirty="0"/>
          </a:p>
        </p:txBody>
      </p:sp>
      <p:sp>
        <p:nvSpPr>
          <p:cNvPr id="15" name="Text 10"/>
          <p:cNvSpPr txBox="1"/>
          <p:nvPr/>
        </p:nvSpPr>
        <p:spPr>
          <a:xfrm>
            <a:off x="4846320" y="1874520"/>
            <a:ext cx="3657600" cy="17373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The image, started: a process with isolation</a:t>
            </a:r>
            <a:endParaRPr lang="en-US" sz="1300" dirty="0"/>
          </a:p>
          <a:p>
            <a:pPr marL="342900" indent="-342900">
              <a:spcAft>
                <a:spcPts val="600"/>
              </a:spcAft>
              <a:buSzPct val="100000"/>
              <a:buChar char="•"/>
            </a:pPr>
            <a:r>
              <a:rPr lang="en-US" sz="1300" dirty="0">
                <a:solidFill>
                  <a:schemeClr val="tx1"/>
                </a:solidFill>
              </a:rPr>
              <a:t>Own filesystem view, network, hostname, port space</a:t>
            </a:r>
            <a:endParaRPr lang="en-US" sz="1300" dirty="0"/>
          </a:p>
          <a:p>
            <a:pPr marL="342900" indent="-342900">
              <a:spcAft>
                <a:spcPts val="600"/>
              </a:spcAft>
              <a:buSzPct val="100000"/>
              <a:buChar char="•"/>
            </a:pPr>
            <a:r>
              <a:rPr lang="en-US" sz="1300" dirty="0">
                <a:solidFill>
                  <a:schemeClr val="tx1"/>
                </a:solidFill>
              </a:rPr>
              <a:t>Has a state: created, running, exited</a:t>
            </a:r>
            <a:endParaRPr lang="en-US" sz="1300" dirty="0"/>
          </a:p>
          <a:p>
            <a:pPr marL="342900" indent="-342900">
              <a:spcAft>
                <a:spcPts val="600"/>
              </a:spcAft>
              <a:buSzPct val="100000"/>
              <a:buChar char="•"/>
            </a:pPr>
            <a:r>
              <a:rPr lang="en-US" sz="1300" dirty="0">
                <a:solidFill>
                  <a:schemeClr val="tx1"/>
                </a:solidFill>
              </a:rPr>
              <a:t>Many containers from one image</a:t>
            </a:r>
            <a:endParaRPr lang="en-US" sz="1300" dirty="0"/>
          </a:p>
          <a:p>
            <a:pPr marL="342900" indent="-342900">
              <a:spcAft>
                <a:spcPts val="600"/>
              </a:spcAft>
              <a:buSzPct val="100000"/>
              <a:buChar char="•"/>
            </a:pPr>
            <a:r>
              <a:rPr lang="en-US" sz="1300" dirty="0">
                <a:solidFill>
                  <a:schemeClr val="tx1"/>
                </a:solidFill>
              </a:rPr>
              <a:t>Like an object, or an installed+running app</a:t>
            </a:r>
            <a:endParaRPr lang="en-US" sz="1300" dirty="0"/>
          </a:p>
        </p:txBody>
      </p:sp>
      <p:sp>
        <p:nvSpPr>
          <p:cNvPr id="16" name="box docker pull  fetches an image.   docker run  turns an image into a container."/>
          <p:cNvSpPr/>
          <p:nvPr/>
        </p:nvSpPr>
        <p:spPr>
          <a:xfrm>
            <a:off x="457200" y="4069080"/>
            <a:ext cx="8229600" cy="502920"/>
          </a:xfrm>
          <a:prstGeom prst="roundRect">
            <a:avLst>
              <a:gd name="adj" fmla="val 14545"/>
            </a:avLst>
          </a:prstGeom>
          <a:solidFill>
            <a:schemeClr val="accent1"/>
          </a:solidFill>
          <a:ln w="12700">
            <a:solidFill>
              <a:schemeClr val="accent1"/>
            </a:solidFill>
            <a:prstDash val="solid"/>
          </a:ln>
        </p:spPr>
      </p:sp>
      <p:sp>
        <p:nvSpPr>
          <p:cNvPr id="17" name="box text docker pull  fetches an image.   docker run  turns an image into a container."/>
          <p:cNvSpPr txBox="1"/>
          <p:nvPr/>
        </p:nvSpPr>
        <p:spPr>
          <a:xfrm>
            <a:off x="457200" y="4069080"/>
            <a:ext cx="8229600" cy="502920"/>
          </a:xfrm>
          <a:prstGeom prst="rect">
            <a:avLst/>
          </a:prstGeom>
          <a:noFill/>
          <a:ln/>
        </p:spPr>
        <p:txBody>
          <a:bodyPr wrap="square" lIns="381" tIns="381" rIns="381" bIns="381" rtlCol="0" anchor="ctr"/>
          <a:lstStyle/>
          <a:p>
            <a:pPr algn="ctr" indent="0" marL="0">
              <a:buNone/>
            </a:pPr>
            <a:r>
              <a:rPr lang="en-US" sz="1400" b="1" dirty="0">
                <a:solidFill>
                  <a:schemeClr val="bg1"/>
                </a:solidFill>
              </a:rPr>
              <a:t>docker pull  fetches an image.   docker run  turns an image into a container.</a:t>
            </a:r>
            <a:endParaRPr lang="en-US" sz="14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Docker Hub: the public image library</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accent1"/>
          </a:solidFill>
          <a:ln w="12700">
            <a:solidFill>
              <a:schemeClr val="accent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DOCKER</a:t>
            </a:r>
            <a:endParaRPr lang="en-US" sz="900" dirty="0"/>
          </a:p>
        </p:txBody>
      </p:sp>
      <p:sp>
        <p:nvSpPr>
          <p:cNvPr id="6" name="box docker run postgres:9.6        # pulls image if missing, then starts it"/>
          <p:cNvSpPr/>
          <p:nvPr/>
        </p:nvSpPr>
        <p:spPr>
          <a:xfrm>
            <a:off x="457200" y="1097280"/>
            <a:ext cx="8229600" cy="502920"/>
          </a:xfrm>
          <a:prstGeom prst="roundRect">
            <a:avLst>
              <a:gd name="adj" fmla="val 14545"/>
            </a:avLst>
          </a:prstGeom>
          <a:solidFill>
            <a:schemeClr val="tx1"/>
          </a:solidFill>
          <a:ln w="12700">
            <a:solidFill>
              <a:schemeClr val="tx1"/>
            </a:solidFill>
            <a:prstDash val="solid"/>
          </a:ln>
        </p:spPr>
      </p:sp>
      <p:sp>
        <p:nvSpPr>
          <p:cNvPr id="7" name="box text docker run postgres:9.6        # pulls image if missing, then starts it"/>
          <p:cNvSpPr txBox="1"/>
          <p:nvPr/>
        </p:nvSpPr>
        <p:spPr>
          <a:xfrm>
            <a:off x="457200" y="1097280"/>
            <a:ext cx="8229600" cy="502920"/>
          </a:xfrm>
          <a:prstGeom prst="rect">
            <a:avLst/>
          </a:prstGeom>
          <a:noFill/>
          <a:ln/>
        </p:spPr>
        <p:txBody>
          <a:bodyPr wrap="square" lIns="381" tIns="381" rIns="381" bIns="381" rtlCol="0" anchor="ctr"/>
          <a:lstStyle/>
          <a:p>
            <a:pPr algn="ctr" indent="0" marL="0">
              <a:buNone/>
            </a:pPr>
            <a:r>
              <a:rPr lang="en-US" sz="1200" b="1" dirty="0">
                <a:solidFill>
                  <a:srgbClr val="E2E8F0"/>
                </a:solidFill>
                <a:latin typeface="Courier New" pitchFamily="34" charset="0"/>
                <a:ea typeface="Courier New" pitchFamily="34" charset="-122"/>
                <a:cs typeface="Courier New" pitchFamily="34" charset="-120"/>
              </a:rPr>
              <a:t>docker run postgres:9.6        # pulls image if missing, then starts it</a:t>
            </a:r>
            <a:endParaRPr lang="en-US" sz="1200" dirty="0"/>
          </a:p>
        </p:txBody>
      </p:sp>
      <p:sp>
        <p:nvSpPr>
          <p:cNvPr id="8" name="code bg"/>
          <p:cNvSpPr/>
          <p:nvPr/>
        </p:nvSpPr>
        <p:spPr>
          <a:xfrm>
            <a:off x="457200" y="1737360"/>
            <a:ext cx="4937760" cy="2194560"/>
          </a:xfrm>
          <a:prstGeom prst="roundRect">
            <a:avLst>
              <a:gd name="adj" fmla="val 4167"/>
            </a:avLst>
          </a:prstGeom>
          <a:solidFill>
            <a:schemeClr val="tx1"/>
          </a:solidFill>
          <a:ln w="12700">
            <a:solidFill>
              <a:schemeClr val="tx1"/>
            </a:solidFill>
            <a:prstDash val="solid"/>
          </a:ln>
        </p:spPr>
      </p:sp>
      <p:sp>
        <p:nvSpPr>
          <p:cNvPr id="9" name="code"/>
          <p:cNvSpPr txBox="1"/>
          <p:nvPr/>
        </p:nvSpPr>
        <p:spPr>
          <a:xfrm>
            <a:off x="594360" y="1828800"/>
            <a:ext cx="4663440" cy="2011680"/>
          </a:xfrm>
          <a:prstGeom prst="rect">
            <a:avLst/>
          </a:prstGeom>
          <a:noFill/>
          <a:ln/>
        </p:spPr>
        <p:txBody>
          <a:bodyPr wrap="square" lIns="0" tIns="0" rIns="0" bIns="0" rtlCol="0" anchor="t"/>
          <a:lstStyle/>
          <a:p>
            <a:pPr indent="0" marL="0">
              <a:buNone/>
            </a:pPr>
            <a:r>
              <a:rPr lang="en-US" sz="1000" dirty="0">
                <a:solidFill>
                  <a:srgbClr val="E2E8F0"/>
                </a:solidFill>
                <a:latin typeface="Courier New" pitchFamily="34" charset="0"/>
                <a:ea typeface="Courier New" pitchFamily="34" charset="-122"/>
                <a:cs typeface="Courier New" pitchFamily="34" charset="-120"/>
              </a:rPr>
              <a:t>Unable to find image 'postgres:9.6' locally</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9.6: Pulling from library/postgres</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f7e2b70d04ae: Pull complete        ← base layer</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0a5ac6b4e5e5: Pull complete        ← libraries</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8d3b1e0d4b7a: Pull complete        ← postgres binaries</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Status: Downloaded newer image for postgres:9.6</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PostgreSQL init process complete; ready for start up.</a:t>
            </a:r>
            <a:endParaRPr lang="en-US" sz="1000" dirty="0"/>
          </a:p>
        </p:txBody>
      </p:sp>
      <p:sp>
        <p:nvSpPr>
          <p:cNvPr id="10" name="Image names card"/>
          <p:cNvSpPr/>
          <p:nvPr/>
        </p:nvSpPr>
        <p:spPr>
          <a:xfrm>
            <a:off x="5577840" y="1737360"/>
            <a:ext cx="3108960" cy="2194560"/>
          </a:xfrm>
          <a:prstGeom prst="roundRect">
            <a:avLst>
              <a:gd name="adj" fmla="val 5000"/>
            </a:avLst>
          </a:prstGeom>
          <a:solidFill>
            <a:schemeClr val="bg2"/>
          </a:solidFill>
          <a:ln w="12700">
            <a:solidFill>
              <a:schemeClr val="bg2"/>
            </a:solidFill>
            <a:prstDash val="solid"/>
          </a:ln>
        </p:spPr>
      </p:sp>
      <p:sp>
        <p:nvSpPr>
          <p:cNvPr id="11" name="Image names circle"/>
          <p:cNvSpPr/>
          <p:nvPr/>
        </p:nvSpPr>
        <p:spPr>
          <a:xfrm>
            <a:off x="5760720" y="1920240"/>
            <a:ext cx="457200" cy="457200"/>
          </a:xfrm>
          <a:prstGeom prst="ellipse">
            <a:avLst/>
          </a:prstGeom>
          <a:solidFill>
            <a:schemeClr val="accent1"/>
          </a:solidFill>
          <a:ln w="12700">
            <a:solidFill>
              <a:schemeClr val="accent1"/>
            </a:solidFill>
            <a:prstDash val="solid"/>
          </a:ln>
        </p:spPr>
      </p:sp>
      <p:pic>
        <p:nvPicPr>
          <p:cNvPr id="12" name="Image names icon" descr="preencoded.png">    </p:cNvPr>
          <p:cNvPicPr>
            <a:picLocks noChangeAspect="1"/>
          </p:cNvPicPr>
          <p:nvPr/>
        </p:nvPicPr>
        <p:blipFill>
          <a:blip r:embed="rId1"/>
          <a:stretch>
            <a:fillRect/>
          </a:stretch>
        </p:blipFill>
        <p:spPr>
          <a:xfrm>
            <a:off x="5852160" y="2011680"/>
            <a:ext cx="274320" cy="274320"/>
          </a:xfrm>
          <a:prstGeom prst="rect">
            <a:avLst/>
          </a:prstGeom>
        </p:spPr>
      </p:pic>
      <p:sp>
        <p:nvSpPr>
          <p:cNvPr id="13" name="Text 9"/>
          <p:cNvSpPr txBox="1"/>
          <p:nvPr/>
        </p:nvSpPr>
        <p:spPr>
          <a:xfrm>
            <a:off x="6355080" y="1920240"/>
            <a:ext cx="2148840" cy="457200"/>
          </a:xfrm>
          <a:prstGeom prst="rect">
            <a:avLst/>
          </a:prstGeom>
          <a:noFill/>
          <a:ln/>
        </p:spPr>
        <p:txBody>
          <a:bodyPr wrap="square" lIns="0" tIns="0" rIns="0" bIns="0" rtlCol="0" anchor="ctr"/>
          <a:lstStyle/>
          <a:p>
            <a:pPr indent="0" marL="0">
              <a:buNone/>
            </a:pPr>
            <a:r>
              <a:rPr lang="en-US" sz="1600" b="1" dirty="0">
                <a:solidFill>
                  <a:schemeClr val="tx1"/>
                </a:solidFill>
              </a:rPr>
              <a:t>Image names</a:t>
            </a:r>
            <a:endParaRPr lang="en-US" sz="1600" dirty="0"/>
          </a:p>
        </p:txBody>
      </p:sp>
      <p:sp>
        <p:nvSpPr>
          <p:cNvPr id="14" name="Text 10"/>
          <p:cNvSpPr txBox="1"/>
          <p:nvPr/>
        </p:nvSpPr>
        <p:spPr>
          <a:xfrm>
            <a:off x="5760720" y="2514600"/>
            <a:ext cx="2743200" cy="12801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name:tag  →  postgres:9.6</a:t>
            </a:r>
            <a:endParaRPr lang="en-US" sz="1300" dirty="0"/>
          </a:p>
          <a:p>
            <a:pPr marL="342900" indent="-342900">
              <a:spcAft>
                <a:spcPts val="600"/>
              </a:spcAft>
              <a:buSzPct val="100000"/>
              <a:buChar char="•"/>
            </a:pPr>
            <a:r>
              <a:rPr lang="en-US" sz="1300" dirty="0">
                <a:solidFill>
                  <a:schemeClr val="tx1"/>
                </a:solidFill>
              </a:rPr>
              <a:t>no tag  →  :latest</a:t>
            </a:r>
            <a:endParaRPr lang="en-US" sz="1300" dirty="0"/>
          </a:p>
          <a:p>
            <a:pPr marL="342900" indent="-342900">
              <a:spcAft>
                <a:spcPts val="600"/>
              </a:spcAft>
              <a:buSzPct val="100000"/>
              <a:buChar char="•"/>
            </a:pPr>
            <a:r>
              <a:rPr lang="en-US" sz="1300" dirty="0">
                <a:solidFill>
                  <a:schemeClr val="tx1"/>
                </a:solidFill>
              </a:rPr>
              <a:t>user/name  →  nana/my-app</a:t>
            </a:r>
            <a:endParaRPr lang="en-US" sz="1300" dirty="0"/>
          </a:p>
          <a:p>
            <a:pPr marL="342900" indent="-342900">
              <a:spcAft>
                <a:spcPts val="600"/>
              </a:spcAft>
              <a:buSzPct val="100000"/>
              <a:buChar char="•"/>
            </a:pPr>
            <a:r>
              <a:rPr lang="en-US" sz="1300" dirty="0">
                <a:solidFill>
                  <a:schemeClr val="tx1"/>
                </a:solidFill>
              </a:rPr>
              <a:t>registry/user/name:tag  →  private</a:t>
            </a:r>
            <a:endParaRPr lang="en-US" sz="1300" dirty="0"/>
          </a:p>
        </p:txBody>
      </p:sp>
      <p:sp>
        <p:nvSpPr>
          <p:cNvPr id="15" name="box Pull postgres:10 next: shared layers print 'Already exists'. Only the difference downloads."/>
          <p:cNvSpPr/>
          <p:nvPr/>
        </p:nvSpPr>
        <p:spPr>
          <a:xfrm>
            <a:off x="457200" y="4069080"/>
            <a:ext cx="8229600" cy="502920"/>
          </a:xfrm>
          <a:prstGeom prst="roundRect">
            <a:avLst>
              <a:gd name="adj" fmla="val 14545"/>
            </a:avLst>
          </a:prstGeom>
          <a:solidFill>
            <a:schemeClr val="accent1"/>
          </a:solidFill>
          <a:ln w="12700">
            <a:solidFill>
              <a:schemeClr val="accent1"/>
            </a:solidFill>
            <a:prstDash val="solid"/>
          </a:ln>
        </p:spPr>
      </p:sp>
      <p:sp>
        <p:nvSpPr>
          <p:cNvPr id="16" name="box text Pull postgres:10 next: shared layers print &amp;apos;Already exists&amp;apos;. Only the difference downloads."/>
          <p:cNvSpPr txBox="1"/>
          <p:nvPr/>
        </p:nvSpPr>
        <p:spPr>
          <a:xfrm>
            <a:off x="457200" y="4069080"/>
            <a:ext cx="8229600" cy="502920"/>
          </a:xfrm>
          <a:prstGeom prst="rect">
            <a:avLst/>
          </a:prstGeom>
          <a:noFill/>
          <a:ln/>
        </p:spPr>
        <p:txBody>
          <a:bodyPr wrap="square" lIns="381" tIns="381" rIns="381" bIns="381" rtlCol="0" anchor="ctr"/>
          <a:lstStyle/>
          <a:p>
            <a:pPr algn="ctr" indent="0" marL="0">
              <a:buNone/>
            </a:pPr>
            <a:r>
              <a:rPr lang="en-US" sz="1400" b="1" dirty="0">
                <a:solidFill>
                  <a:schemeClr val="bg1"/>
                </a:solidFill>
              </a:rPr>
              <a:t>Pull postgres:10 next: shared layers print 'Already exists'. Only the difference downloads.</a:t>
            </a:r>
            <a:endParaRPr lang="en-US" sz="14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914400"/>
          </a:xfrm>
          <a:prstGeom prst="rect">
            <a:avLst/>
          </a:prstGeom>
          <a:noFill/>
          <a:ln/>
        </p:spPr>
        <p:txBody>
          <a:bodyPr wrap="square" lIns="0" tIns="0" rIns="0" bIns="0" rtlCol="0" anchor="b"/>
          <a:lstStyle/>
          <a:p>
            <a:pPr algn="l" indent="0" marL="0">
              <a:buNone/>
            </a:pPr>
            <a:r>
              <a:rPr lang="en-US" sz="4000" b="1" dirty="0">
                <a:solidFill>
                  <a:srgbClr val="FFFFFF"/>
                </a:solidFill>
              </a:rPr>
              <a:t>3 · Docker vs virtual machine</a:t>
            </a:r>
            <a:endParaRPr lang="en-US" sz="4000" dirty="0"/>
          </a:p>
        </p:txBody>
      </p:sp>
      <p:sp>
        <p:nvSpPr>
          <p:cNvPr id="3" name="Text 0"/>
          <p:cNvSpPr/>
          <p:nvPr>
            <p:ph idx="101" type="body" hasCustomPrompt="1"/>
          </p:nvPr>
        </p:nvSpPr>
        <p:spPr>
          <a:xfrm>
            <a:off x="548640" y="2834640"/>
            <a:ext cx="8046720" cy="822960"/>
          </a:xfrm>
          <a:prstGeom prst="rect">
            <a:avLst/>
          </a:prstGeom>
          <a:noFill/>
          <a:ln/>
        </p:spPr>
        <p:txBody>
          <a:bodyPr wrap="square" lIns="0" tIns="0" rIns="0" bIns="0" rtlCol="0" anchor="t"/>
          <a:lstStyle/>
          <a:p>
            <a:pPr algn="l" indent="0" marL="0">
              <a:buNone/>
            </a:pPr>
            <a:r>
              <a:rPr lang="en-US" sz="1800" dirty="0">
                <a:solidFill>
                  <a:srgbClr val="CBD5E1"/>
                </a:solidFill>
              </a:rPr>
              <a:t>Which part of the operating system gets virtualised?</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An OS has two layers; Docker virtualises only one</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accent1"/>
          </a:solidFill>
          <a:ln w="12700">
            <a:solidFill>
              <a:schemeClr val="accent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DOCKER</a:t>
            </a:r>
            <a:endParaRPr lang="en-US" sz="900" dirty="0"/>
          </a:p>
        </p:txBody>
      </p:sp>
      <p:sp>
        <p:nvSpPr>
          <p:cNvPr id="6" name="Text 3"/>
          <p:cNvSpPr txBox="1"/>
          <p:nvPr/>
        </p:nvSpPr>
        <p:spPr>
          <a:xfrm>
            <a:off x="457200" y="1051560"/>
            <a:ext cx="3840480" cy="320040"/>
          </a:xfrm>
          <a:prstGeom prst="rect">
            <a:avLst/>
          </a:prstGeom>
          <a:noFill/>
          <a:ln/>
        </p:spPr>
        <p:txBody>
          <a:bodyPr wrap="square" lIns="0" tIns="0" rIns="0" bIns="0" rtlCol="0" anchor="t"/>
          <a:lstStyle/>
          <a:p>
            <a:pPr indent="0" marL="0">
              <a:buNone/>
            </a:pPr>
            <a:r>
              <a:rPr lang="en-US" sz="1500" b="1" dirty="0">
                <a:solidFill>
                  <a:schemeClr val="tx1"/>
                </a:solidFill>
              </a:rPr>
              <a:t>Virtual machine</a:t>
            </a:r>
            <a:endParaRPr lang="en-US" sz="1500" dirty="0"/>
          </a:p>
        </p:txBody>
      </p:sp>
      <p:sp>
        <p:nvSpPr>
          <p:cNvPr id="7" name="box Applications layer"/>
          <p:cNvSpPr/>
          <p:nvPr/>
        </p:nvSpPr>
        <p:spPr>
          <a:xfrm>
            <a:off x="548640" y="1417320"/>
            <a:ext cx="3657600" cy="411480"/>
          </a:xfrm>
          <a:prstGeom prst="roundRect">
            <a:avLst>
              <a:gd name="adj" fmla="val 17778"/>
            </a:avLst>
          </a:prstGeom>
          <a:solidFill>
            <a:schemeClr val="bg2"/>
          </a:solidFill>
          <a:ln w="12700">
            <a:solidFill>
              <a:schemeClr val="bg2"/>
            </a:solidFill>
            <a:prstDash val="solid"/>
          </a:ln>
        </p:spPr>
      </p:sp>
      <p:sp>
        <p:nvSpPr>
          <p:cNvPr id="8" name="box text Applications layer"/>
          <p:cNvSpPr txBox="1"/>
          <p:nvPr/>
        </p:nvSpPr>
        <p:spPr>
          <a:xfrm>
            <a:off x="548640" y="1417320"/>
            <a:ext cx="3657600" cy="411480"/>
          </a:xfrm>
          <a:prstGeom prst="rect">
            <a:avLst/>
          </a:prstGeom>
          <a:noFill/>
          <a:ln/>
        </p:spPr>
        <p:txBody>
          <a:bodyPr wrap="square" lIns="381" tIns="381" rIns="381" bIns="381" rtlCol="0" anchor="ctr"/>
          <a:lstStyle/>
          <a:p>
            <a:pPr algn="ctr" indent="0" marL="0">
              <a:buNone/>
            </a:pPr>
            <a:r>
              <a:rPr lang="en-US" sz="1200" dirty="0">
                <a:solidFill>
                  <a:schemeClr val="tx1"/>
                </a:solidFill>
              </a:rPr>
              <a:t>Applications layer</a:t>
            </a:r>
            <a:endParaRPr lang="en-US" sz="1200" dirty="0"/>
          </a:p>
        </p:txBody>
      </p:sp>
      <p:sp>
        <p:nvSpPr>
          <p:cNvPr id="9" name="box Guest OS kernel"/>
          <p:cNvSpPr/>
          <p:nvPr/>
        </p:nvSpPr>
        <p:spPr>
          <a:xfrm>
            <a:off x="548640" y="1874520"/>
            <a:ext cx="3657600" cy="411480"/>
          </a:xfrm>
          <a:prstGeom prst="roundRect">
            <a:avLst>
              <a:gd name="adj" fmla="val 17778"/>
            </a:avLst>
          </a:prstGeom>
          <a:solidFill>
            <a:srgbClr val="CBD5E1"/>
          </a:solidFill>
          <a:ln w="12700">
            <a:solidFill>
              <a:srgbClr val="CBD5E1"/>
            </a:solidFill>
            <a:prstDash val="solid"/>
          </a:ln>
        </p:spPr>
      </p:sp>
      <p:sp>
        <p:nvSpPr>
          <p:cNvPr id="10" name="box text Guest OS kernel"/>
          <p:cNvSpPr txBox="1"/>
          <p:nvPr/>
        </p:nvSpPr>
        <p:spPr>
          <a:xfrm>
            <a:off x="548640" y="1874520"/>
            <a:ext cx="3657600" cy="411480"/>
          </a:xfrm>
          <a:prstGeom prst="rect">
            <a:avLst/>
          </a:prstGeom>
          <a:noFill/>
          <a:ln/>
        </p:spPr>
        <p:txBody>
          <a:bodyPr wrap="square" lIns="381" tIns="381" rIns="381" bIns="381" rtlCol="0" anchor="ctr"/>
          <a:lstStyle/>
          <a:p>
            <a:pPr algn="ctr" indent="0" marL="0">
              <a:buNone/>
            </a:pPr>
            <a:r>
              <a:rPr lang="en-US" sz="1200" dirty="0">
                <a:solidFill>
                  <a:schemeClr val="tx1"/>
                </a:solidFill>
              </a:rPr>
              <a:t>Guest OS kernel</a:t>
            </a:r>
            <a:endParaRPr lang="en-US" sz="1200" dirty="0"/>
          </a:p>
        </p:txBody>
      </p:sp>
      <p:sp>
        <p:nvSpPr>
          <p:cNvPr id="11" name="box Hypervisor"/>
          <p:cNvSpPr/>
          <p:nvPr/>
        </p:nvSpPr>
        <p:spPr>
          <a:xfrm>
            <a:off x="548640" y="2331720"/>
            <a:ext cx="3657600" cy="411480"/>
          </a:xfrm>
          <a:prstGeom prst="roundRect">
            <a:avLst>
              <a:gd name="adj" fmla="val 17778"/>
            </a:avLst>
          </a:prstGeom>
          <a:solidFill>
            <a:schemeClr val="tx2"/>
          </a:solidFill>
          <a:ln w="12700">
            <a:solidFill>
              <a:schemeClr val="tx2"/>
            </a:solidFill>
            <a:prstDash val="solid"/>
          </a:ln>
        </p:spPr>
      </p:sp>
      <p:sp>
        <p:nvSpPr>
          <p:cNvPr id="12" name="box text Hypervisor"/>
          <p:cNvSpPr txBox="1"/>
          <p:nvPr/>
        </p:nvSpPr>
        <p:spPr>
          <a:xfrm>
            <a:off x="548640" y="2331720"/>
            <a:ext cx="3657600" cy="411480"/>
          </a:xfrm>
          <a:prstGeom prst="rect">
            <a:avLst/>
          </a:prstGeom>
          <a:noFill/>
          <a:ln/>
        </p:spPr>
        <p:txBody>
          <a:bodyPr wrap="square" lIns="381" tIns="381" rIns="381" bIns="381" rtlCol="0" anchor="ctr"/>
          <a:lstStyle/>
          <a:p>
            <a:pPr algn="ctr" indent="0" marL="0">
              <a:buNone/>
            </a:pPr>
            <a:r>
              <a:rPr lang="en-US" sz="1200" b="1" dirty="0">
                <a:solidFill>
                  <a:schemeClr val="bg1"/>
                </a:solidFill>
              </a:rPr>
              <a:t>Hypervisor</a:t>
            </a:r>
            <a:endParaRPr lang="en-US" sz="1200" dirty="0"/>
          </a:p>
        </p:txBody>
      </p:sp>
      <p:sp>
        <p:nvSpPr>
          <p:cNvPr id="13" name="box Host kernel · Hardware"/>
          <p:cNvSpPr/>
          <p:nvPr/>
        </p:nvSpPr>
        <p:spPr>
          <a:xfrm>
            <a:off x="548640" y="2788920"/>
            <a:ext cx="3657600" cy="411480"/>
          </a:xfrm>
          <a:prstGeom prst="roundRect">
            <a:avLst>
              <a:gd name="adj" fmla="val 17778"/>
            </a:avLst>
          </a:prstGeom>
          <a:solidFill>
            <a:schemeClr val="tx1"/>
          </a:solidFill>
          <a:ln w="12700">
            <a:solidFill>
              <a:schemeClr val="tx1"/>
            </a:solidFill>
            <a:prstDash val="solid"/>
          </a:ln>
        </p:spPr>
      </p:sp>
      <p:sp>
        <p:nvSpPr>
          <p:cNvPr id="14" name="box text Host kernel · Hardware"/>
          <p:cNvSpPr txBox="1"/>
          <p:nvPr/>
        </p:nvSpPr>
        <p:spPr>
          <a:xfrm>
            <a:off x="548640" y="2788920"/>
            <a:ext cx="3657600" cy="411480"/>
          </a:xfrm>
          <a:prstGeom prst="rect">
            <a:avLst/>
          </a:prstGeom>
          <a:noFill/>
          <a:ln/>
        </p:spPr>
        <p:txBody>
          <a:bodyPr wrap="square" lIns="381" tIns="381" rIns="381" bIns="381" rtlCol="0" anchor="ctr"/>
          <a:lstStyle/>
          <a:p>
            <a:pPr algn="ctr" indent="0" marL="0">
              <a:buNone/>
            </a:pPr>
            <a:r>
              <a:rPr lang="en-US" sz="1200" dirty="0">
                <a:solidFill>
                  <a:schemeClr val="bg1"/>
                </a:solidFill>
              </a:rPr>
              <a:t>Host kernel · Hardware</a:t>
            </a:r>
            <a:endParaRPr lang="en-US" sz="1200" dirty="0"/>
          </a:p>
        </p:txBody>
      </p:sp>
      <p:sp>
        <p:nvSpPr>
          <p:cNvPr id="15" name="Text 12"/>
          <p:cNvSpPr txBox="1"/>
          <p:nvPr/>
        </p:nvSpPr>
        <p:spPr>
          <a:xfrm>
            <a:off x="548640" y="3337560"/>
            <a:ext cx="3657600" cy="10972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Image = GBs, boots in minutes</a:t>
            </a:r>
            <a:endParaRPr lang="en-US" sz="1200" dirty="0"/>
          </a:p>
          <a:p>
            <a:pPr marL="342900" indent="-342900">
              <a:spcAft>
                <a:spcPts val="600"/>
              </a:spcAft>
              <a:buSzPct val="100000"/>
              <a:buChar char="•"/>
            </a:pPr>
            <a:r>
              <a:rPr lang="en-US" sz="1200" dirty="0">
                <a:solidFill>
                  <a:schemeClr val="tx1"/>
                </a:solidFill>
              </a:rPr>
              <a:t>Any OS inside any host</a:t>
            </a:r>
            <a:endParaRPr lang="en-US" sz="1200" dirty="0"/>
          </a:p>
          <a:p>
            <a:pPr marL="342900" indent="-342900">
              <a:spcAft>
                <a:spcPts val="600"/>
              </a:spcAft>
              <a:buSzPct val="100000"/>
              <a:buChar char="•"/>
            </a:pPr>
            <a:r>
              <a:rPr lang="en-US" sz="1200" dirty="0">
                <a:solidFill>
                  <a:schemeClr val="tx1"/>
                </a:solidFill>
              </a:rPr>
              <a:t>Strong isolation</a:t>
            </a:r>
            <a:endParaRPr lang="en-US" sz="1200" dirty="0"/>
          </a:p>
        </p:txBody>
      </p:sp>
      <p:sp>
        <p:nvSpPr>
          <p:cNvPr id="16" name="Text 13"/>
          <p:cNvSpPr txBox="1"/>
          <p:nvPr/>
        </p:nvSpPr>
        <p:spPr>
          <a:xfrm>
            <a:off x="4846320" y="1051560"/>
            <a:ext cx="3840480" cy="320040"/>
          </a:xfrm>
          <a:prstGeom prst="rect">
            <a:avLst/>
          </a:prstGeom>
          <a:noFill/>
          <a:ln/>
        </p:spPr>
        <p:txBody>
          <a:bodyPr wrap="square" lIns="0" tIns="0" rIns="0" bIns="0" rtlCol="0" anchor="t"/>
          <a:lstStyle/>
          <a:p>
            <a:pPr indent="0" marL="0">
              <a:buNone/>
            </a:pPr>
            <a:r>
              <a:rPr lang="en-US" sz="1500" b="1" dirty="0">
                <a:solidFill>
                  <a:schemeClr val="accent1"/>
                </a:solidFill>
              </a:rPr>
              <a:t>Docker container</a:t>
            </a:r>
            <a:endParaRPr lang="en-US" sz="1500" dirty="0"/>
          </a:p>
        </p:txBody>
      </p:sp>
      <p:sp>
        <p:nvSpPr>
          <p:cNvPr id="17" name="box Applications layer only"/>
          <p:cNvSpPr/>
          <p:nvPr/>
        </p:nvSpPr>
        <p:spPr>
          <a:xfrm>
            <a:off x="4937760" y="1417320"/>
            <a:ext cx="3657600" cy="411480"/>
          </a:xfrm>
          <a:prstGeom prst="roundRect">
            <a:avLst>
              <a:gd name="adj" fmla="val 17778"/>
            </a:avLst>
          </a:prstGeom>
          <a:solidFill>
            <a:srgbClr val="E0F2FE"/>
          </a:solidFill>
          <a:ln w="12700">
            <a:solidFill>
              <a:srgbClr val="E0F2FE"/>
            </a:solidFill>
            <a:prstDash val="solid"/>
          </a:ln>
        </p:spPr>
      </p:sp>
      <p:sp>
        <p:nvSpPr>
          <p:cNvPr id="18" name="box text Applications layer only"/>
          <p:cNvSpPr txBox="1"/>
          <p:nvPr/>
        </p:nvSpPr>
        <p:spPr>
          <a:xfrm>
            <a:off x="4937760" y="1417320"/>
            <a:ext cx="3657600" cy="411480"/>
          </a:xfrm>
          <a:prstGeom prst="rect">
            <a:avLst/>
          </a:prstGeom>
          <a:noFill/>
          <a:ln/>
        </p:spPr>
        <p:txBody>
          <a:bodyPr wrap="square" lIns="381" tIns="381" rIns="381" bIns="381" rtlCol="0" anchor="ctr"/>
          <a:lstStyle/>
          <a:p>
            <a:pPr algn="ctr" indent="0" marL="0">
              <a:buNone/>
            </a:pPr>
            <a:r>
              <a:rPr lang="en-US" sz="1200" b="1" dirty="0">
                <a:solidFill>
                  <a:schemeClr val="tx1"/>
                </a:solidFill>
              </a:rPr>
              <a:t>Applications layer only</a:t>
            </a:r>
            <a:endParaRPr lang="en-US" sz="1200" dirty="0"/>
          </a:p>
        </p:txBody>
      </p:sp>
      <p:sp>
        <p:nvSpPr>
          <p:cNvPr id="19" name="box (no kernel in the image)"/>
          <p:cNvSpPr/>
          <p:nvPr/>
        </p:nvSpPr>
        <p:spPr>
          <a:xfrm>
            <a:off x="4937760" y="1874520"/>
            <a:ext cx="3657600" cy="868680"/>
          </a:xfrm>
          <a:prstGeom prst="roundRect">
            <a:avLst>
              <a:gd name="adj" fmla="val 8421"/>
            </a:avLst>
          </a:prstGeom>
          <a:solidFill>
            <a:srgbClr val="FFFFFF"/>
          </a:solidFill>
          <a:ln w="12700">
            <a:solidFill>
              <a:srgbClr val="FFFFFF"/>
            </a:solidFill>
            <a:prstDash val="dash"/>
          </a:ln>
        </p:spPr>
      </p:sp>
      <p:sp>
        <p:nvSpPr>
          <p:cNvPr id="20" name="box text (no kernel in the image)"/>
          <p:cNvSpPr txBox="1"/>
          <p:nvPr/>
        </p:nvSpPr>
        <p:spPr>
          <a:xfrm>
            <a:off x="4937760" y="1874520"/>
            <a:ext cx="3657600" cy="868680"/>
          </a:xfrm>
          <a:prstGeom prst="rect">
            <a:avLst/>
          </a:prstGeom>
          <a:noFill/>
          <a:ln/>
        </p:spPr>
        <p:txBody>
          <a:bodyPr wrap="square" lIns="381" tIns="381" rIns="381" bIns="381" rtlCol="0" anchor="ctr"/>
          <a:lstStyle/>
          <a:p>
            <a:pPr algn="ctr" indent="0" marL="0">
              <a:buNone/>
            </a:pPr>
            <a:r>
              <a:rPr lang="en-US" sz="1100" dirty="0">
                <a:solidFill>
                  <a:schemeClr val="tx1"/>
                </a:solidFill>
              </a:rPr>
              <a:t>(no kernel in the image)</a:t>
            </a:r>
            <a:endParaRPr lang="en-US" sz="1100" dirty="0"/>
          </a:p>
        </p:txBody>
      </p:sp>
      <p:sp>
        <p:nvSpPr>
          <p:cNvPr id="21" name="box Host kernel (shared) · Hardware"/>
          <p:cNvSpPr/>
          <p:nvPr/>
        </p:nvSpPr>
        <p:spPr>
          <a:xfrm>
            <a:off x="4937760" y="2788920"/>
            <a:ext cx="3657600" cy="411480"/>
          </a:xfrm>
          <a:prstGeom prst="roundRect">
            <a:avLst>
              <a:gd name="adj" fmla="val 17778"/>
            </a:avLst>
          </a:prstGeom>
          <a:solidFill>
            <a:schemeClr val="accent1"/>
          </a:solidFill>
          <a:ln w="12700">
            <a:solidFill>
              <a:schemeClr val="accent1"/>
            </a:solidFill>
            <a:prstDash val="solid"/>
          </a:ln>
        </p:spPr>
      </p:sp>
      <p:sp>
        <p:nvSpPr>
          <p:cNvPr id="22" name="box text Host kernel (shared) · Hardware"/>
          <p:cNvSpPr txBox="1"/>
          <p:nvPr/>
        </p:nvSpPr>
        <p:spPr>
          <a:xfrm>
            <a:off x="4937760" y="2788920"/>
            <a:ext cx="3657600" cy="411480"/>
          </a:xfrm>
          <a:prstGeom prst="rect">
            <a:avLst/>
          </a:prstGeom>
          <a:noFill/>
          <a:ln/>
        </p:spPr>
        <p:txBody>
          <a:bodyPr wrap="square" lIns="381" tIns="381" rIns="381" bIns="381" rtlCol="0" anchor="ctr"/>
          <a:lstStyle/>
          <a:p>
            <a:pPr algn="ctr" indent="0" marL="0">
              <a:buNone/>
            </a:pPr>
            <a:r>
              <a:rPr lang="en-US" sz="1200" b="1" dirty="0">
                <a:solidFill>
                  <a:schemeClr val="bg1"/>
                </a:solidFill>
              </a:rPr>
              <a:t>Host kernel (shared) · Hardware</a:t>
            </a:r>
            <a:endParaRPr lang="en-US" sz="1200" dirty="0"/>
          </a:p>
        </p:txBody>
      </p:sp>
      <p:sp>
        <p:nvSpPr>
          <p:cNvPr id="23" name="Text 20"/>
          <p:cNvSpPr txBox="1"/>
          <p:nvPr/>
        </p:nvSpPr>
        <p:spPr>
          <a:xfrm>
            <a:off x="4937760" y="3337560"/>
            <a:ext cx="3657600" cy="11887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Image = MBs, starts in seconds</a:t>
            </a:r>
            <a:endParaRPr lang="en-US" sz="1200" dirty="0"/>
          </a:p>
          <a:p>
            <a:pPr marL="342900" indent="-342900">
              <a:spcAft>
                <a:spcPts val="600"/>
              </a:spcAft>
              <a:buSzPct val="100000"/>
              <a:buChar char="•"/>
            </a:pPr>
            <a:r>
              <a:rPr lang="en-US" sz="1200" dirty="0">
                <a:solidFill>
                  <a:schemeClr val="tx1"/>
                </a:solidFill>
              </a:rPr>
              <a:t>Linux containers need a Linux kernel</a:t>
            </a:r>
            <a:endParaRPr lang="en-US" sz="1200" dirty="0"/>
          </a:p>
          <a:p>
            <a:pPr marL="342900" indent="-342900">
              <a:spcAft>
                <a:spcPts val="600"/>
              </a:spcAft>
              <a:buSzPct val="100000"/>
              <a:buChar char="•"/>
            </a:pPr>
            <a:r>
              <a:rPr lang="en-US" sz="1200" dirty="0">
                <a:solidFill>
                  <a:schemeClr val="tx1"/>
                </a:solidFill>
              </a:rPr>
              <a:t>On Mac / Windows: Docker Desktop ships a small Linux VM to supply it</a:t>
            </a:r>
            <a:endParaRPr lang="en-US" sz="12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Side by side</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accent1"/>
          </a:solidFill>
          <a:ln w="12700">
            <a:solidFill>
              <a:schemeClr val="accent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DOCKER</a:t>
            </a:r>
            <a:endParaRPr lang="en-US" sz="900" dirty="0"/>
          </a:p>
        </p:txBody>
      </p:sp>
      <p:graphicFrame>
        <p:nvGraphicFramePr>
          <p:cNvPr id="14" name="vm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554480"/>
                <a:gridCol w="3108960"/>
                <a:gridCol w="3566160"/>
              </a:tblGrid>
              <a:tr h="411480">
                <a:tc>
                  <a:txBody>
                    <a:bodyPr/>
                    <a:lstStyle/>
                    <a:p>
                      <a:pPr indent="0" marL="0">
                        <a:buNone/>
                      </a:pP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rPr>
                        <a:t>Virtual machine</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rPr>
                        <a:t>Docker container</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411480">
                <a:tc>
                  <a:txBody>
                    <a:bodyPr/>
                    <a:lstStyle/>
                    <a:p>
                      <a:pPr indent="0" marL="0">
                        <a:buNone/>
                      </a:pPr>
                      <a:r>
                        <a:rPr lang="en-US" sz="1200" b="1" dirty="0">
                          <a:solidFill>
                            <a:srgbClr val="0F172A"/>
                          </a:solidFill>
                        </a:rPr>
                        <a:t>Virtualises</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Kernel + applications layer</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Applications layer only</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0F172A"/>
                          </a:solidFill>
                        </a:rPr>
                        <a:t>Image size</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Gigabytes</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Megabytes</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0F172A"/>
                          </a:solidFill>
                        </a:rPr>
                        <a:t>Start time</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Minutes</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Seconds or less</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0F172A"/>
                          </a:solidFill>
                        </a:rPr>
                        <a:t>Compatibility</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Any OS on any host</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Linux images need a Linux kernel (Docker Desktop provides one)</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0F172A"/>
                          </a:solidFill>
                        </a:rPr>
                        <a:t>Isolation</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Hardware-level</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Process-level (namespaces, cgroups)</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11480">
                <a:tc>
                  <a:txBody>
                    <a:bodyPr/>
                    <a:lstStyle/>
                    <a:p>
                      <a:pPr indent="0" marL="0">
                        <a:buNone/>
                      </a:pPr>
                      <a:r>
                        <a:rPr lang="en-US" sz="1200" b="1" dirty="0">
                          <a:solidFill>
                            <a:srgbClr val="0F172A"/>
                          </a:solidFill>
                        </a:rPr>
                        <a:t>Typical use</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Run a whole OS; strong tenancy boundaries</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Package and run one application</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7" name="box They're complementary: in the cloud, your containers usually run on VMs."/>
          <p:cNvSpPr/>
          <p:nvPr/>
        </p:nvSpPr>
        <p:spPr>
          <a:xfrm>
            <a:off x="457200" y="4069080"/>
            <a:ext cx="8229600" cy="502920"/>
          </a:xfrm>
          <a:prstGeom prst="roundRect">
            <a:avLst>
              <a:gd name="adj" fmla="val 14545"/>
            </a:avLst>
          </a:prstGeom>
          <a:solidFill>
            <a:schemeClr val="accent1"/>
          </a:solidFill>
          <a:ln w="12700">
            <a:solidFill>
              <a:schemeClr val="accent1"/>
            </a:solidFill>
            <a:prstDash val="solid"/>
          </a:ln>
        </p:spPr>
      </p:sp>
      <p:sp>
        <p:nvSpPr>
          <p:cNvPr id="8" name="box text They&amp;apos;re complementary: in the cloud, your containers usually run on VMs."/>
          <p:cNvSpPr txBox="1"/>
          <p:nvPr/>
        </p:nvSpPr>
        <p:spPr>
          <a:xfrm>
            <a:off x="457200" y="4069080"/>
            <a:ext cx="8229600" cy="502920"/>
          </a:xfrm>
          <a:prstGeom prst="rect">
            <a:avLst/>
          </a:prstGeom>
          <a:noFill/>
          <a:ln/>
        </p:spPr>
        <p:txBody>
          <a:bodyPr wrap="square" lIns="381" tIns="381" rIns="381" bIns="381" rtlCol="0" anchor="ctr"/>
          <a:lstStyle/>
          <a:p>
            <a:pPr algn="ctr" indent="0" marL="0">
              <a:buNone/>
            </a:pPr>
            <a:r>
              <a:rPr lang="en-US" sz="1400" b="1" dirty="0">
                <a:solidFill>
                  <a:schemeClr val="bg1"/>
                </a:solidFill>
              </a:rPr>
              <a:t>They're complementary: in the cloud, your containers usually run on VMs.</a:t>
            </a:r>
            <a:endParaRPr lang="en-US" sz="14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914400"/>
          </a:xfrm>
          <a:prstGeom prst="rect">
            <a:avLst/>
          </a:prstGeom>
          <a:noFill/>
          <a:ln/>
        </p:spPr>
        <p:txBody>
          <a:bodyPr wrap="square" lIns="0" tIns="0" rIns="0" bIns="0" rtlCol="0" anchor="b"/>
          <a:lstStyle/>
          <a:p>
            <a:pPr algn="l" indent="0" marL="0">
              <a:buNone/>
            </a:pPr>
            <a:r>
              <a:rPr lang="en-US" sz="4000" b="1" dirty="0">
                <a:solidFill>
                  <a:srgbClr val="FFFFFF"/>
                </a:solidFill>
              </a:rPr>
              <a:t>4 · Installing Docker</a:t>
            </a:r>
            <a:endParaRPr lang="en-US" sz="4000" dirty="0"/>
          </a:p>
        </p:txBody>
      </p:sp>
      <p:sp>
        <p:nvSpPr>
          <p:cNvPr id="3" name="Text 0"/>
          <p:cNvSpPr/>
          <p:nvPr>
            <p:ph idx="101" type="body" hasCustomPrompt="1"/>
          </p:nvPr>
        </p:nvSpPr>
        <p:spPr>
          <a:xfrm>
            <a:off x="548640" y="2834640"/>
            <a:ext cx="8046720" cy="822960"/>
          </a:xfrm>
          <a:prstGeom prst="rect">
            <a:avLst/>
          </a:prstGeom>
          <a:noFill/>
          <a:ln/>
        </p:spPr>
        <p:txBody>
          <a:bodyPr wrap="square" lIns="0" tIns="0" rIns="0" bIns="0" rtlCol="0" anchor="t"/>
          <a:lstStyle/>
          <a:p>
            <a:pPr algn="l" indent="0" marL="0">
              <a:buNone/>
            </a:pPr>
            <a:r>
              <a:rPr lang="en-US" sz="1800" dirty="0">
                <a:solidFill>
                  <a:srgbClr val="CBD5E1"/>
                </a:solidFill>
              </a:rPr>
              <a:t>Docker Desktop on Mac and Windows, Docker Engine on Linux</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Install, then verify</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accent1"/>
          </a:solidFill>
          <a:ln w="12700">
            <a:solidFill>
              <a:schemeClr val="accent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DOCKER</a:t>
            </a:r>
            <a:endParaRPr lang="en-US" sz="900" dirty="0"/>
          </a:p>
        </p:txBody>
      </p:sp>
      <p:sp>
        <p:nvSpPr>
          <p:cNvPr id="6" name="macOS card"/>
          <p:cNvSpPr/>
          <p:nvPr/>
        </p:nvSpPr>
        <p:spPr>
          <a:xfrm>
            <a:off x="457200" y="1097280"/>
            <a:ext cx="2606040" cy="2103120"/>
          </a:xfrm>
          <a:prstGeom prst="roundRect">
            <a:avLst>
              <a:gd name="adj" fmla="val 5217"/>
            </a:avLst>
          </a:prstGeom>
          <a:solidFill>
            <a:schemeClr val="bg2"/>
          </a:solidFill>
          <a:ln w="12700">
            <a:solidFill>
              <a:schemeClr val="bg2"/>
            </a:solidFill>
            <a:prstDash val="solid"/>
          </a:ln>
        </p:spPr>
      </p:sp>
      <p:sp>
        <p:nvSpPr>
          <p:cNvPr id="7" name="macOS circle"/>
          <p:cNvSpPr/>
          <p:nvPr/>
        </p:nvSpPr>
        <p:spPr>
          <a:xfrm>
            <a:off x="640080" y="1280160"/>
            <a:ext cx="457200" cy="457200"/>
          </a:xfrm>
          <a:prstGeom prst="ellipse">
            <a:avLst/>
          </a:prstGeom>
          <a:solidFill>
            <a:schemeClr val="accent1"/>
          </a:solidFill>
          <a:ln w="12700">
            <a:solidFill>
              <a:schemeClr val="accent1"/>
            </a:solidFill>
            <a:prstDash val="solid"/>
          </a:ln>
        </p:spPr>
      </p:sp>
      <p:pic>
        <p:nvPicPr>
          <p:cNvPr id="8" name="macOS icon" descr="preencoded.png">    </p:cNvPr>
          <p:cNvPicPr>
            <a:picLocks noChangeAspect="1"/>
          </p:cNvPicPr>
          <p:nvPr/>
        </p:nvPicPr>
        <p:blipFill>
          <a:blip r:embed="rId1"/>
          <a:stretch>
            <a:fillRect/>
          </a:stretch>
        </p:blipFill>
        <p:spPr>
          <a:xfrm>
            <a:off x="731520" y="1371600"/>
            <a:ext cx="274320" cy="274320"/>
          </a:xfrm>
          <a:prstGeom prst="rect">
            <a:avLst/>
          </a:prstGeom>
        </p:spPr>
      </p:pic>
      <p:sp>
        <p:nvSpPr>
          <p:cNvPr id="9" name="Text 5"/>
          <p:cNvSpPr txBox="1"/>
          <p:nvPr/>
        </p:nvSpPr>
        <p:spPr>
          <a:xfrm>
            <a:off x="1234440" y="1280160"/>
            <a:ext cx="1645920" cy="457200"/>
          </a:xfrm>
          <a:prstGeom prst="rect">
            <a:avLst/>
          </a:prstGeom>
          <a:noFill/>
          <a:ln/>
        </p:spPr>
        <p:txBody>
          <a:bodyPr wrap="square" lIns="0" tIns="0" rIns="0" bIns="0" rtlCol="0" anchor="ctr"/>
          <a:lstStyle/>
          <a:p>
            <a:pPr indent="0" marL="0">
              <a:buNone/>
            </a:pPr>
            <a:r>
              <a:rPr lang="en-US" sz="1600" b="1" dirty="0">
                <a:solidFill>
                  <a:schemeClr val="tx1"/>
                </a:solidFill>
              </a:rPr>
              <a:t>macOS</a:t>
            </a:r>
            <a:endParaRPr lang="en-US" sz="1600" dirty="0"/>
          </a:p>
        </p:txBody>
      </p:sp>
      <p:sp>
        <p:nvSpPr>
          <p:cNvPr id="10" name="Text 6"/>
          <p:cNvSpPr txBox="1"/>
          <p:nvPr/>
        </p:nvSpPr>
        <p:spPr>
          <a:xfrm>
            <a:off x="640080" y="1874520"/>
            <a:ext cx="2240280" cy="1188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Docker Desktop (.dmg)</a:t>
            </a:r>
            <a:endParaRPr lang="en-US" sz="1300" dirty="0"/>
          </a:p>
          <a:p>
            <a:pPr marL="342900" indent="-342900">
              <a:spcAft>
                <a:spcPts val="600"/>
              </a:spcAft>
              <a:buSzPct val="100000"/>
              <a:buChar char="•"/>
            </a:pPr>
            <a:r>
              <a:rPr lang="en-US" sz="1300" dirty="0">
                <a:solidFill>
                  <a:schemeClr val="tx1"/>
                </a:solidFill>
              </a:rPr>
              <a:t>Pick Apple silicon or Intel</a:t>
            </a:r>
            <a:endParaRPr lang="en-US" sz="1300" dirty="0"/>
          </a:p>
          <a:p>
            <a:pPr marL="342900" indent="-342900">
              <a:spcAft>
                <a:spcPts val="600"/>
              </a:spcAft>
              <a:buSzPct val="100000"/>
              <a:buChar char="•"/>
            </a:pPr>
            <a:r>
              <a:rPr lang="en-US" sz="1300" dirty="0">
                <a:solidFill>
                  <a:schemeClr val="tx1"/>
                </a:solidFill>
              </a:rPr>
              <a:t>Includes the Linux VM, CLI, Compose</a:t>
            </a:r>
            <a:endParaRPr lang="en-US" sz="1300" dirty="0"/>
          </a:p>
        </p:txBody>
      </p:sp>
      <p:sp>
        <p:nvSpPr>
          <p:cNvPr id="11" name="Windows card"/>
          <p:cNvSpPr/>
          <p:nvPr/>
        </p:nvSpPr>
        <p:spPr>
          <a:xfrm>
            <a:off x="3264408" y="1097280"/>
            <a:ext cx="2606040" cy="2103120"/>
          </a:xfrm>
          <a:prstGeom prst="roundRect">
            <a:avLst>
              <a:gd name="adj" fmla="val 5217"/>
            </a:avLst>
          </a:prstGeom>
          <a:solidFill>
            <a:schemeClr val="bg2"/>
          </a:solidFill>
          <a:ln w="12700">
            <a:solidFill>
              <a:schemeClr val="bg2"/>
            </a:solidFill>
            <a:prstDash val="solid"/>
          </a:ln>
        </p:spPr>
      </p:sp>
      <p:sp>
        <p:nvSpPr>
          <p:cNvPr id="12" name="Windows circle"/>
          <p:cNvSpPr/>
          <p:nvPr/>
        </p:nvSpPr>
        <p:spPr>
          <a:xfrm>
            <a:off x="3447288" y="1280160"/>
            <a:ext cx="457200" cy="457200"/>
          </a:xfrm>
          <a:prstGeom prst="ellipse">
            <a:avLst/>
          </a:prstGeom>
          <a:solidFill>
            <a:schemeClr val="accent1"/>
          </a:solidFill>
          <a:ln w="12700">
            <a:solidFill>
              <a:schemeClr val="accent1"/>
            </a:solidFill>
            <a:prstDash val="solid"/>
          </a:ln>
        </p:spPr>
      </p:sp>
      <p:pic>
        <p:nvPicPr>
          <p:cNvPr id="13" name="Windows icon" descr="preencoded.png">    </p:cNvPr>
          <p:cNvPicPr>
            <a:picLocks noChangeAspect="1"/>
          </p:cNvPicPr>
          <p:nvPr/>
        </p:nvPicPr>
        <p:blipFill>
          <a:blip r:embed="rId2"/>
          <a:stretch>
            <a:fillRect/>
          </a:stretch>
        </p:blipFill>
        <p:spPr>
          <a:xfrm>
            <a:off x="3538728" y="1371600"/>
            <a:ext cx="274320" cy="274320"/>
          </a:xfrm>
          <a:prstGeom prst="rect">
            <a:avLst/>
          </a:prstGeom>
        </p:spPr>
      </p:pic>
      <p:sp>
        <p:nvSpPr>
          <p:cNvPr id="14" name="Text 9"/>
          <p:cNvSpPr txBox="1"/>
          <p:nvPr/>
        </p:nvSpPr>
        <p:spPr>
          <a:xfrm>
            <a:off x="4041648" y="1280160"/>
            <a:ext cx="1645920" cy="457200"/>
          </a:xfrm>
          <a:prstGeom prst="rect">
            <a:avLst/>
          </a:prstGeom>
          <a:noFill/>
          <a:ln/>
        </p:spPr>
        <p:txBody>
          <a:bodyPr wrap="square" lIns="0" tIns="0" rIns="0" bIns="0" rtlCol="0" anchor="ctr"/>
          <a:lstStyle/>
          <a:p>
            <a:pPr indent="0" marL="0">
              <a:buNone/>
            </a:pPr>
            <a:r>
              <a:rPr lang="en-US" sz="1600" b="1" dirty="0">
                <a:solidFill>
                  <a:schemeClr val="tx1"/>
                </a:solidFill>
              </a:rPr>
              <a:t>Windows</a:t>
            </a:r>
            <a:endParaRPr lang="en-US" sz="1600" dirty="0"/>
          </a:p>
        </p:txBody>
      </p:sp>
      <p:sp>
        <p:nvSpPr>
          <p:cNvPr id="15" name="Text 10"/>
          <p:cNvSpPr txBox="1"/>
          <p:nvPr/>
        </p:nvSpPr>
        <p:spPr>
          <a:xfrm>
            <a:off x="3447288" y="1874520"/>
            <a:ext cx="2240280" cy="1188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Docker Desktop (.exe)</a:t>
            </a:r>
            <a:endParaRPr lang="en-US" sz="1300" dirty="0"/>
          </a:p>
          <a:p>
            <a:pPr marL="342900" indent="-342900">
              <a:spcAft>
                <a:spcPts val="600"/>
              </a:spcAft>
              <a:buSzPct val="100000"/>
              <a:buChar char="•"/>
            </a:pPr>
            <a:r>
              <a:rPr lang="en-US" sz="1300" dirty="0">
                <a:solidFill>
                  <a:schemeClr val="tx1"/>
                </a:solidFill>
              </a:rPr>
              <a:t>Needs WSL 2 enabled</a:t>
            </a:r>
            <a:endParaRPr lang="en-US" sz="1300" dirty="0"/>
          </a:p>
          <a:p>
            <a:pPr marL="342900" indent="-342900">
              <a:spcAft>
                <a:spcPts val="600"/>
              </a:spcAft>
              <a:buSzPct val="100000"/>
              <a:buChar char="•"/>
            </a:pPr>
            <a:r>
              <a:rPr lang="en-US" sz="1300" dirty="0">
                <a:solidFill>
                  <a:schemeClr val="tx1"/>
                </a:solidFill>
              </a:rPr>
              <a:t>Windows 10 2004+ or 11</a:t>
            </a:r>
            <a:endParaRPr lang="en-US" sz="1300" dirty="0"/>
          </a:p>
        </p:txBody>
      </p:sp>
      <p:sp>
        <p:nvSpPr>
          <p:cNvPr id="16" name="Linux card"/>
          <p:cNvSpPr/>
          <p:nvPr/>
        </p:nvSpPr>
        <p:spPr>
          <a:xfrm>
            <a:off x="6080760" y="1097280"/>
            <a:ext cx="2606040" cy="2103120"/>
          </a:xfrm>
          <a:prstGeom prst="roundRect">
            <a:avLst>
              <a:gd name="adj" fmla="val 5217"/>
            </a:avLst>
          </a:prstGeom>
          <a:solidFill>
            <a:schemeClr val="bg2"/>
          </a:solidFill>
          <a:ln w="12700">
            <a:solidFill>
              <a:schemeClr val="bg2"/>
            </a:solidFill>
            <a:prstDash val="solid"/>
          </a:ln>
        </p:spPr>
      </p:sp>
      <p:sp>
        <p:nvSpPr>
          <p:cNvPr id="17" name="Linux circle"/>
          <p:cNvSpPr/>
          <p:nvPr/>
        </p:nvSpPr>
        <p:spPr>
          <a:xfrm>
            <a:off x="6263640" y="1280160"/>
            <a:ext cx="457200" cy="457200"/>
          </a:xfrm>
          <a:prstGeom prst="ellipse">
            <a:avLst/>
          </a:prstGeom>
          <a:solidFill>
            <a:schemeClr val="accent1"/>
          </a:solidFill>
          <a:ln w="12700">
            <a:solidFill>
              <a:schemeClr val="accent1"/>
            </a:solidFill>
            <a:prstDash val="solid"/>
          </a:ln>
        </p:spPr>
      </p:sp>
      <p:pic>
        <p:nvPicPr>
          <p:cNvPr id="18" name="Linux icon" descr="preencoded.png">    </p:cNvPr>
          <p:cNvPicPr>
            <a:picLocks noChangeAspect="1"/>
          </p:cNvPicPr>
          <p:nvPr/>
        </p:nvPicPr>
        <p:blipFill>
          <a:blip r:embed="rId3"/>
          <a:stretch>
            <a:fillRect/>
          </a:stretch>
        </p:blipFill>
        <p:spPr>
          <a:xfrm>
            <a:off x="6355080" y="1371600"/>
            <a:ext cx="274320" cy="274320"/>
          </a:xfrm>
          <a:prstGeom prst="rect">
            <a:avLst/>
          </a:prstGeom>
        </p:spPr>
      </p:pic>
      <p:sp>
        <p:nvSpPr>
          <p:cNvPr id="19" name="Text 13"/>
          <p:cNvSpPr txBox="1"/>
          <p:nvPr/>
        </p:nvSpPr>
        <p:spPr>
          <a:xfrm>
            <a:off x="6858000" y="1280160"/>
            <a:ext cx="1645920" cy="457200"/>
          </a:xfrm>
          <a:prstGeom prst="rect">
            <a:avLst/>
          </a:prstGeom>
          <a:noFill/>
          <a:ln/>
        </p:spPr>
        <p:txBody>
          <a:bodyPr wrap="square" lIns="0" tIns="0" rIns="0" bIns="0" rtlCol="0" anchor="ctr"/>
          <a:lstStyle/>
          <a:p>
            <a:pPr indent="0" marL="0">
              <a:buNone/>
            </a:pPr>
            <a:r>
              <a:rPr lang="en-US" sz="1600" b="1" dirty="0">
                <a:solidFill>
                  <a:schemeClr val="tx1"/>
                </a:solidFill>
              </a:rPr>
              <a:t>Linux</a:t>
            </a:r>
            <a:endParaRPr lang="en-US" sz="1600" dirty="0"/>
          </a:p>
        </p:txBody>
      </p:sp>
      <p:sp>
        <p:nvSpPr>
          <p:cNvPr id="20" name="Text 14"/>
          <p:cNvSpPr txBox="1"/>
          <p:nvPr/>
        </p:nvSpPr>
        <p:spPr>
          <a:xfrm>
            <a:off x="6263640" y="1874520"/>
            <a:ext cx="2240280" cy="1188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Docker Engine via apt / dnf</a:t>
            </a:r>
            <a:endParaRPr lang="en-US" sz="1300" dirty="0"/>
          </a:p>
          <a:p>
            <a:pPr marL="342900" indent="-342900">
              <a:spcAft>
                <a:spcPts val="600"/>
              </a:spcAft>
              <a:buSzPct val="100000"/>
              <a:buChar char="•"/>
            </a:pPr>
            <a:r>
              <a:rPr lang="en-US" sz="1300" dirty="0">
                <a:solidFill>
                  <a:schemeClr val="tx1"/>
                </a:solidFill>
              </a:rPr>
              <a:t>sudo usermod -aG docker $USER</a:t>
            </a:r>
            <a:endParaRPr lang="en-US" sz="1300" dirty="0"/>
          </a:p>
          <a:p>
            <a:pPr marL="342900" indent="-342900">
              <a:spcAft>
                <a:spcPts val="600"/>
              </a:spcAft>
              <a:buSzPct val="100000"/>
              <a:buChar char="•"/>
            </a:pPr>
            <a:r>
              <a:rPr lang="en-US" sz="1300" dirty="0">
                <a:solidFill>
                  <a:schemeClr val="tx1"/>
                </a:solidFill>
              </a:rPr>
              <a:t>Log out and back in</a:t>
            </a:r>
            <a:endParaRPr lang="en-US" sz="1300" dirty="0"/>
          </a:p>
        </p:txBody>
      </p:sp>
      <p:sp>
        <p:nvSpPr>
          <p:cNvPr id="21" name="code bg"/>
          <p:cNvSpPr/>
          <p:nvPr/>
        </p:nvSpPr>
        <p:spPr>
          <a:xfrm>
            <a:off x="457200" y="3383280"/>
            <a:ext cx="8229600" cy="1097280"/>
          </a:xfrm>
          <a:prstGeom prst="roundRect">
            <a:avLst>
              <a:gd name="adj" fmla="val 8333"/>
            </a:avLst>
          </a:prstGeom>
          <a:solidFill>
            <a:schemeClr val="tx1"/>
          </a:solidFill>
          <a:ln w="12700">
            <a:solidFill>
              <a:schemeClr val="tx1"/>
            </a:solidFill>
            <a:prstDash val="solid"/>
          </a:ln>
        </p:spPr>
      </p:sp>
      <p:sp>
        <p:nvSpPr>
          <p:cNvPr id="22" name="code"/>
          <p:cNvSpPr txBox="1"/>
          <p:nvPr/>
        </p:nvSpPr>
        <p:spPr>
          <a:xfrm>
            <a:off x="594360" y="3474720"/>
            <a:ext cx="7955280" cy="914400"/>
          </a:xfrm>
          <a:prstGeom prst="rect">
            <a:avLst/>
          </a:prstGeom>
          <a:noFill/>
          <a:ln/>
        </p:spPr>
        <p:txBody>
          <a:bodyPr wrap="square" lIns="0" tIns="0" rIns="0" bIns="0" rtlCol="0" anchor="t"/>
          <a:lstStyle/>
          <a:p>
            <a:pPr indent="0" marL="0">
              <a:buNone/>
            </a:pPr>
            <a:r>
              <a:rPr lang="en-US" sz="1100" dirty="0">
                <a:solidFill>
                  <a:srgbClr val="E2E8F0"/>
                </a:solidFill>
                <a:latin typeface="Courier New" pitchFamily="34" charset="0"/>
                <a:ea typeface="Courier New" pitchFamily="34" charset="-122"/>
                <a:cs typeface="Courier New" pitchFamily="34" charset="-120"/>
              </a:rPr>
              <a:t>docker --version          # client version</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docker run hello-world    # pulls a tiny image, runs it, prints 'Hello from Docker!'</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docker ps                 # talks to the daemon: an empty table means all good</a:t>
            </a:r>
            <a:endParaRPr lang="en-US" sz="11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What got installed: client, daemon, and friends</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accent1"/>
          </a:solidFill>
          <a:ln w="12700">
            <a:solidFill>
              <a:schemeClr val="accent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DOCKER</a:t>
            </a:r>
            <a:endParaRPr lang="en-US" sz="900" dirty="0"/>
          </a:p>
        </p:txBody>
      </p:sp>
      <p:sp>
        <p:nvSpPr>
          <p:cNvPr id="6" name="box docker CLI (client)"/>
          <p:cNvSpPr/>
          <p:nvPr/>
        </p:nvSpPr>
        <p:spPr>
          <a:xfrm>
            <a:off x="457200" y="1371600"/>
            <a:ext cx="2011680" cy="1005840"/>
          </a:xfrm>
          <a:prstGeom prst="roundRect">
            <a:avLst>
              <a:gd name="adj" fmla="val 7273"/>
            </a:avLst>
          </a:prstGeom>
          <a:solidFill>
            <a:srgbClr val="E0F2FE"/>
          </a:solidFill>
          <a:ln w="12700">
            <a:solidFill>
              <a:srgbClr val="E0F2FE"/>
            </a:solidFill>
            <a:prstDash val="solid"/>
          </a:ln>
        </p:spPr>
      </p:sp>
      <p:sp>
        <p:nvSpPr>
          <p:cNvPr id="7" name="box text docker CLI (client)"/>
          <p:cNvSpPr txBox="1"/>
          <p:nvPr/>
        </p:nvSpPr>
        <p:spPr>
          <a:xfrm>
            <a:off x="457200" y="1371600"/>
            <a:ext cx="2011680" cy="1005840"/>
          </a:xfrm>
          <a:prstGeom prst="rect">
            <a:avLst/>
          </a:prstGeom>
          <a:noFill/>
          <a:ln/>
        </p:spPr>
        <p:txBody>
          <a:bodyPr wrap="square" lIns="381" tIns="381" rIns="381" bIns="381" rtlCol="0" anchor="ctr"/>
          <a:lstStyle/>
          <a:p>
            <a:pPr algn="ctr" indent="0" marL="0">
              <a:buNone/>
            </a:pPr>
            <a:r>
              <a:rPr lang="en-US" sz="1200" b="1" dirty="0">
                <a:solidFill>
                  <a:schemeClr val="tx1"/>
                </a:solidFill>
              </a:rPr>
              <a:t>docker CLI</a:t>
            </a:r>
            <a:endParaRPr lang="en-US" sz="1200" dirty="0"/>
          </a:p>
          <a:p>
            <a:pPr algn="ctr" indent="0" marL="0">
              <a:buNone/>
            </a:pPr>
            <a:r>
              <a:rPr lang="en-US" sz="1200" b="1" dirty="0">
                <a:solidFill>
                  <a:schemeClr val="tx1"/>
                </a:solidFill>
              </a:rPr>
              <a:t>(client)</a:t>
            </a:r>
            <a:endParaRPr lang="en-US" sz="1200" dirty="0"/>
          </a:p>
        </p:txBody>
      </p:sp>
      <p:sp>
        <p:nvSpPr>
          <p:cNvPr id="8" name="arrow"/>
          <p:cNvSpPr/>
          <p:nvPr/>
        </p:nvSpPr>
        <p:spPr>
          <a:xfrm>
            <a:off x="2468880" y="1874520"/>
            <a:ext cx="640080" cy="0"/>
          </a:xfrm>
          <a:prstGeom prst="line">
            <a:avLst/>
          </a:prstGeom>
          <a:noFill/>
          <a:ln w="19050">
            <a:solidFill>
              <a:schemeClr val="accent1"/>
            </a:solidFill>
            <a:prstDash val="solid"/>
            <a:tailEnd type="triangle"/>
          </a:ln>
        </p:spPr>
      </p:sp>
      <p:sp>
        <p:nvSpPr>
          <p:cNvPr id="9" name="Text 6"/>
          <p:cNvSpPr txBox="1"/>
          <p:nvPr/>
        </p:nvSpPr>
        <p:spPr>
          <a:xfrm>
            <a:off x="2240280" y="2011680"/>
            <a:ext cx="1097280" cy="457200"/>
          </a:xfrm>
          <a:prstGeom prst="rect">
            <a:avLst/>
          </a:prstGeom>
          <a:noFill/>
          <a:ln/>
        </p:spPr>
        <p:txBody>
          <a:bodyPr wrap="square" lIns="0" tIns="0" rIns="0" bIns="0" rtlCol="0" anchor="t"/>
          <a:lstStyle/>
          <a:p>
            <a:pPr algn="ctr" indent="0" marL="0">
              <a:buNone/>
            </a:pPr>
            <a:r>
              <a:rPr lang="en-US" sz="800" dirty="0">
                <a:solidFill>
                  <a:schemeClr val="tx2"/>
                </a:solidFill>
              </a:rPr>
              <a:t>REST API over</a:t>
            </a:r>
            <a:endParaRPr lang="en-US" sz="800" dirty="0"/>
          </a:p>
          <a:p>
            <a:pPr algn="ctr" indent="0" marL="0">
              <a:buNone/>
            </a:pPr>
            <a:r>
              <a:rPr lang="en-US" sz="800" dirty="0">
                <a:solidFill>
                  <a:schemeClr val="tx2"/>
                </a:solidFill>
              </a:rPr>
              <a:t>a unix socket</a:t>
            </a:r>
            <a:endParaRPr lang="en-US" sz="800" dirty="0"/>
          </a:p>
        </p:txBody>
      </p:sp>
      <p:sp>
        <p:nvSpPr>
          <p:cNvPr id="10" name="box Docker daemon (dockerd) builds · runs · pulls · networks"/>
          <p:cNvSpPr/>
          <p:nvPr/>
        </p:nvSpPr>
        <p:spPr>
          <a:xfrm>
            <a:off x="3108960" y="1371600"/>
            <a:ext cx="2377440" cy="1005840"/>
          </a:xfrm>
          <a:prstGeom prst="roundRect">
            <a:avLst>
              <a:gd name="adj" fmla="val 7273"/>
            </a:avLst>
          </a:prstGeom>
          <a:solidFill>
            <a:schemeClr val="accent1"/>
          </a:solidFill>
          <a:ln w="12700">
            <a:solidFill>
              <a:schemeClr val="accent1"/>
            </a:solidFill>
            <a:prstDash val="solid"/>
          </a:ln>
        </p:spPr>
      </p:sp>
      <p:sp>
        <p:nvSpPr>
          <p:cNvPr id="11" name="box text Docker daemon (dockerd) builds · runs · pulls · networks"/>
          <p:cNvSpPr txBox="1"/>
          <p:nvPr/>
        </p:nvSpPr>
        <p:spPr>
          <a:xfrm>
            <a:off x="3108960" y="1371600"/>
            <a:ext cx="2377440" cy="1005840"/>
          </a:xfrm>
          <a:prstGeom prst="rect">
            <a:avLst/>
          </a:prstGeom>
          <a:noFill/>
          <a:ln/>
        </p:spPr>
        <p:txBody>
          <a:bodyPr wrap="square" lIns="381" tIns="381" rIns="381" bIns="381" rtlCol="0" anchor="ctr"/>
          <a:lstStyle/>
          <a:p>
            <a:pPr algn="ctr" indent="0" marL="0">
              <a:buNone/>
            </a:pPr>
            <a:r>
              <a:rPr lang="en-US" sz="1200" b="1" dirty="0">
                <a:solidFill>
                  <a:schemeClr val="bg1"/>
                </a:solidFill>
              </a:rPr>
              <a:t>Docker daemon (dockerd)</a:t>
            </a:r>
            <a:endParaRPr lang="en-US" sz="1200" dirty="0"/>
          </a:p>
          <a:p>
            <a:pPr algn="ctr" indent="0" marL="0">
              <a:buNone/>
            </a:pPr>
            <a:r>
              <a:rPr lang="en-US" sz="1200" b="1" dirty="0">
                <a:solidFill>
                  <a:schemeClr val="bg1"/>
                </a:solidFill>
              </a:rPr>
              <a:t>builds · runs · pulls · networks</a:t>
            </a:r>
            <a:endParaRPr lang="en-US" sz="1200" dirty="0"/>
          </a:p>
        </p:txBody>
      </p:sp>
      <p:sp>
        <p:nvSpPr>
          <p:cNvPr id="12" name="arrow"/>
          <p:cNvSpPr/>
          <p:nvPr/>
        </p:nvSpPr>
        <p:spPr>
          <a:xfrm>
            <a:off x="5486400" y="1874520"/>
            <a:ext cx="640080" cy="0"/>
          </a:xfrm>
          <a:prstGeom prst="line">
            <a:avLst/>
          </a:prstGeom>
          <a:noFill/>
          <a:ln w="19050">
            <a:solidFill>
              <a:schemeClr val="accent1"/>
            </a:solidFill>
            <a:prstDash val="solid"/>
            <a:tailEnd type="triangle"/>
          </a:ln>
        </p:spPr>
      </p:sp>
      <p:sp>
        <p:nvSpPr>
          <p:cNvPr id="13" name="box containers (processes)"/>
          <p:cNvSpPr/>
          <p:nvPr/>
        </p:nvSpPr>
        <p:spPr>
          <a:xfrm>
            <a:off x="6126480" y="1188720"/>
            <a:ext cx="2560320" cy="548640"/>
          </a:xfrm>
          <a:prstGeom prst="roundRect">
            <a:avLst>
              <a:gd name="adj" fmla="val 13333"/>
            </a:avLst>
          </a:prstGeom>
          <a:solidFill>
            <a:srgbClr val="E0F2FE"/>
          </a:solidFill>
          <a:ln w="12700">
            <a:solidFill>
              <a:srgbClr val="E0F2FE"/>
            </a:solidFill>
            <a:prstDash val="solid"/>
          </a:ln>
        </p:spPr>
      </p:sp>
      <p:sp>
        <p:nvSpPr>
          <p:cNvPr id="14" name="box text containers (processes)"/>
          <p:cNvSpPr txBox="1"/>
          <p:nvPr/>
        </p:nvSpPr>
        <p:spPr>
          <a:xfrm>
            <a:off x="6126480" y="1188720"/>
            <a:ext cx="2560320" cy="548640"/>
          </a:xfrm>
          <a:prstGeom prst="rect">
            <a:avLst/>
          </a:prstGeom>
          <a:noFill/>
          <a:ln/>
        </p:spPr>
        <p:txBody>
          <a:bodyPr wrap="square" lIns="381" tIns="381" rIns="381" bIns="381" rtlCol="0" anchor="ctr"/>
          <a:lstStyle/>
          <a:p>
            <a:pPr algn="ctr" indent="0" marL="0">
              <a:buNone/>
            </a:pPr>
            <a:r>
              <a:rPr lang="en-US" sz="1100" b="1" dirty="0">
                <a:solidFill>
                  <a:schemeClr val="tx1"/>
                </a:solidFill>
              </a:rPr>
              <a:t>containers (processes)</a:t>
            </a:r>
            <a:endParaRPr lang="en-US" sz="1100" dirty="0"/>
          </a:p>
        </p:txBody>
      </p:sp>
      <p:sp>
        <p:nvSpPr>
          <p:cNvPr id="15" name="box images (local cache)"/>
          <p:cNvSpPr/>
          <p:nvPr/>
        </p:nvSpPr>
        <p:spPr>
          <a:xfrm>
            <a:off x="6126480" y="1828800"/>
            <a:ext cx="2560320" cy="548640"/>
          </a:xfrm>
          <a:prstGeom prst="roundRect">
            <a:avLst>
              <a:gd name="adj" fmla="val 13333"/>
            </a:avLst>
          </a:prstGeom>
          <a:solidFill>
            <a:srgbClr val="E0F2FE"/>
          </a:solidFill>
          <a:ln w="12700">
            <a:solidFill>
              <a:srgbClr val="E0F2FE"/>
            </a:solidFill>
            <a:prstDash val="solid"/>
          </a:ln>
        </p:spPr>
      </p:sp>
      <p:sp>
        <p:nvSpPr>
          <p:cNvPr id="16" name="box text images (local cache)"/>
          <p:cNvSpPr txBox="1"/>
          <p:nvPr/>
        </p:nvSpPr>
        <p:spPr>
          <a:xfrm>
            <a:off x="6126480" y="1828800"/>
            <a:ext cx="2560320" cy="548640"/>
          </a:xfrm>
          <a:prstGeom prst="rect">
            <a:avLst/>
          </a:prstGeom>
          <a:noFill/>
          <a:ln/>
        </p:spPr>
        <p:txBody>
          <a:bodyPr wrap="square" lIns="381" tIns="381" rIns="381" bIns="381" rtlCol="0" anchor="ctr"/>
          <a:lstStyle/>
          <a:p>
            <a:pPr algn="ctr" indent="0" marL="0">
              <a:buNone/>
            </a:pPr>
            <a:r>
              <a:rPr lang="en-US" sz="1100" b="1" dirty="0">
                <a:solidFill>
                  <a:schemeClr val="tx1"/>
                </a:solidFill>
              </a:rPr>
              <a:t>images (local cache)</a:t>
            </a:r>
            <a:endParaRPr lang="en-US" sz="1100" dirty="0"/>
          </a:p>
        </p:txBody>
      </p:sp>
      <p:sp>
        <p:nvSpPr>
          <p:cNvPr id="17" name="arrow"/>
          <p:cNvSpPr/>
          <p:nvPr/>
        </p:nvSpPr>
        <p:spPr>
          <a:xfrm>
            <a:off x="4297680" y="2377440"/>
            <a:ext cx="0" cy="457200"/>
          </a:xfrm>
          <a:prstGeom prst="line">
            <a:avLst/>
          </a:prstGeom>
          <a:noFill/>
          <a:ln w="19050">
            <a:solidFill>
              <a:schemeClr val="accent1"/>
            </a:solidFill>
            <a:prstDash val="solid"/>
            <a:tailEnd type="triangle"/>
          </a:ln>
        </p:spPr>
      </p:sp>
      <p:sp>
        <p:nvSpPr>
          <p:cNvPr id="18" name="box Docker Hub / registries"/>
          <p:cNvSpPr/>
          <p:nvPr/>
        </p:nvSpPr>
        <p:spPr>
          <a:xfrm>
            <a:off x="3108960" y="2834640"/>
            <a:ext cx="2377440" cy="548640"/>
          </a:xfrm>
          <a:prstGeom prst="roundRect">
            <a:avLst>
              <a:gd name="adj" fmla="val 13333"/>
            </a:avLst>
          </a:prstGeom>
          <a:solidFill>
            <a:schemeClr val="tx1"/>
          </a:solidFill>
          <a:ln w="12700">
            <a:solidFill>
              <a:schemeClr val="tx1"/>
            </a:solidFill>
            <a:prstDash val="solid"/>
          </a:ln>
        </p:spPr>
      </p:sp>
      <p:sp>
        <p:nvSpPr>
          <p:cNvPr id="19" name="box text Docker Hub / registries"/>
          <p:cNvSpPr txBox="1"/>
          <p:nvPr/>
        </p:nvSpPr>
        <p:spPr>
          <a:xfrm>
            <a:off x="3108960" y="2834640"/>
            <a:ext cx="2377440" cy="548640"/>
          </a:xfrm>
          <a:prstGeom prst="rect">
            <a:avLst/>
          </a:prstGeom>
          <a:noFill/>
          <a:ln/>
        </p:spPr>
        <p:txBody>
          <a:bodyPr wrap="square" lIns="381" tIns="381" rIns="381" bIns="381" rtlCol="0" anchor="ctr"/>
          <a:lstStyle/>
          <a:p>
            <a:pPr algn="ctr" indent="0" marL="0">
              <a:buNone/>
            </a:pPr>
            <a:r>
              <a:rPr lang="en-US" sz="1100" b="1" dirty="0">
                <a:solidFill>
                  <a:schemeClr val="bg1"/>
                </a:solidFill>
              </a:rPr>
              <a:t>Docker Hub / registries</a:t>
            </a:r>
            <a:endParaRPr lang="en-US" sz="1100" dirty="0"/>
          </a:p>
        </p:txBody>
      </p:sp>
      <p:sp>
        <p:nvSpPr>
          <p:cNvPr id="20" name="Text 17"/>
          <p:cNvSpPr txBox="1"/>
          <p:nvPr/>
        </p:nvSpPr>
        <p:spPr>
          <a:xfrm>
            <a:off x="457200" y="3566160"/>
            <a:ext cx="8229600" cy="10058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Docker Desktop also installs Docker Compose and a dashboard GUI</a:t>
            </a:r>
            <a:endParaRPr lang="en-US" sz="1200" dirty="0"/>
          </a:p>
          <a:p>
            <a:pPr marL="342900" indent="-342900">
              <a:spcAft>
                <a:spcPts val="600"/>
              </a:spcAft>
              <a:buSzPct val="100000"/>
              <a:buChar char="•"/>
            </a:pPr>
            <a:r>
              <a:rPr lang="en-US" sz="1200" dirty="0">
                <a:solidFill>
                  <a:schemeClr val="tx1"/>
                </a:solidFill>
              </a:rPr>
              <a:t>"Cannot connect to the Docker daemon" = the daemon isn't running: start Docker Desktop / systemctl start docker</a:t>
            </a:r>
            <a:endParaRPr lang="en-US" sz="1200" dirty="0"/>
          </a:p>
          <a:p>
            <a:pPr marL="342900" indent="-342900">
              <a:spcAft>
                <a:spcPts val="600"/>
              </a:spcAft>
              <a:buSzPct val="100000"/>
              <a:buChar char="•"/>
            </a:pPr>
            <a:r>
              <a:rPr lang="en-US" sz="1200" dirty="0">
                <a:solidFill>
                  <a:schemeClr val="tx1"/>
                </a:solidFill>
              </a:rPr>
              <a:t>Everything the CLI can do, the GUI can do; we'll use the CLI because it's scriptable</a:t>
            </a:r>
            <a:endParaRPr lang="en-US" sz="12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914400"/>
          </a:xfrm>
          <a:prstGeom prst="rect">
            <a:avLst/>
          </a:prstGeom>
          <a:noFill/>
          <a:ln/>
        </p:spPr>
        <p:txBody>
          <a:bodyPr wrap="square" lIns="0" tIns="0" rIns="0" bIns="0" rtlCol="0" anchor="b"/>
          <a:lstStyle/>
          <a:p>
            <a:pPr algn="l" indent="0" marL="0">
              <a:buNone/>
            </a:pPr>
            <a:r>
              <a:rPr lang="en-US" sz="4000" b="1" dirty="0">
                <a:solidFill>
                  <a:srgbClr val="FFFFFF"/>
                </a:solidFill>
              </a:rPr>
              <a:t>5 · Main Docker commands</a:t>
            </a:r>
            <a:endParaRPr lang="en-US" sz="4000" dirty="0"/>
          </a:p>
        </p:txBody>
      </p:sp>
      <p:sp>
        <p:nvSpPr>
          <p:cNvPr id="3" name="Text 0"/>
          <p:cNvSpPr/>
          <p:nvPr>
            <p:ph idx="101" type="body" hasCustomPrompt="1"/>
          </p:nvPr>
        </p:nvSpPr>
        <p:spPr>
          <a:xfrm>
            <a:off x="548640" y="2834640"/>
            <a:ext cx="8046720" cy="822960"/>
          </a:xfrm>
          <a:prstGeom prst="rect">
            <a:avLst/>
          </a:prstGeom>
          <a:noFill/>
          <a:ln/>
        </p:spPr>
        <p:txBody>
          <a:bodyPr wrap="square" lIns="0" tIns="0" rIns="0" bIns="0" rtlCol="0" anchor="t"/>
          <a:lstStyle/>
          <a:p>
            <a:pPr algn="l" indent="0" marL="0">
              <a:buNone/>
            </a:pPr>
            <a:r>
              <a:rPr lang="en-US" sz="1800" dirty="0">
                <a:solidFill>
                  <a:srgbClr val="CBD5E1"/>
                </a:solidFill>
              </a:rPr>
              <a:t>pull · run · ps · stop · start · -d · -p · --name</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Image commands vs container commands</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accent1"/>
          </a:solidFill>
          <a:ln w="12700">
            <a:solidFill>
              <a:schemeClr val="accent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DOCKER</a:t>
            </a:r>
            <a:endParaRPr lang="en-US" sz="900" dirty="0"/>
          </a:p>
        </p:txBody>
      </p:sp>
      <p:sp>
        <p:nvSpPr>
          <p:cNvPr id="6" name="Images card"/>
          <p:cNvSpPr/>
          <p:nvPr/>
        </p:nvSpPr>
        <p:spPr>
          <a:xfrm>
            <a:off x="457200" y="1097280"/>
            <a:ext cx="4023360" cy="2743200"/>
          </a:xfrm>
          <a:prstGeom prst="roundRect">
            <a:avLst>
              <a:gd name="adj" fmla="val 4000"/>
            </a:avLst>
          </a:prstGeom>
          <a:solidFill>
            <a:schemeClr val="bg2"/>
          </a:solidFill>
          <a:ln w="12700">
            <a:solidFill>
              <a:schemeClr val="bg2"/>
            </a:solidFill>
            <a:prstDash val="solid"/>
          </a:ln>
        </p:spPr>
      </p:sp>
      <p:sp>
        <p:nvSpPr>
          <p:cNvPr id="7" name="Images circle"/>
          <p:cNvSpPr/>
          <p:nvPr/>
        </p:nvSpPr>
        <p:spPr>
          <a:xfrm>
            <a:off x="640080" y="1280160"/>
            <a:ext cx="457200" cy="457200"/>
          </a:xfrm>
          <a:prstGeom prst="ellipse">
            <a:avLst/>
          </a:prstGeom>
          <a:solidFill>
            <a:schemeClr val="accent1"/>
          </a:solidFill>
          <a:ln w="12700">
            <a:solidFill>
              <a:schemeClr val="accent1"/>
            </a:solidFill>
            <a:prstDash val="solid"/>
          </a:ln>
        </p:spPr>
      </p:sp>
      <p:pic>
        <p:nvPicPr>
          <p:cNvPr id="8" name="Images icon" descr="preencoded.png">    </p:cNvPr>
          <p:cNvPicPr>
            <a:picLocks noChangeAspect="1"/>
          </p:cNvPicPr>
          <p:nvPr/>
        </p:nvPicPr>
        <p:blipFill>
          <a:blip r:embed="rId1"/>
          <a:stretch>
            <a:fillRect/>
          </a:stretch>
        </p:blipFill>
        <p:spPr>
          <a:xfrm>
            <a:off x="731520" y="1371600"/>
            <a:ext cx="274320" cy="274320"/>
          </a:xfrm>
          <a:prstGeom prst="rect">
            <a:avLst/>
          </a:prstGeom>
        </p:spPr>
      </p:pic>
      <p:sp>
        <p:nvSpPr>
          <p:cNvPr id="9" name="Text 5"/>
          <p:cNvSpPr txBox="1"/>
          <p:nvPr/>
        </p:nvSpPr>
        <p:spPr>
          <a:xfrm>
            <a:off x="1234440" y="1280160"/>
            <a:ext cx="3063240" cy="457200"/>
          </a:xfrm>
          <a:prstGeom prst="rect">
            <a:avLst/>
          </a:prstGeom>
          <a:noFill/>
          <a:ln/>
        </p:spPr>
        <p:txBody>
          <a:bodyPr wrap="square" lIns="0" tIns="0" rIns="0" bIns="0" rtlCol="0" anchor="ctr"/>
          <a:lstStyle/>
          <a:p>
            <a:pPr indent="0" marL="0">
              <a:buNone/>
            </a:pPr>
            <a:r>
              <a:rPr lang="en-US" sz="1600" b="1" dirty="0">
                <a:solidFill>
                  <a:schemeClr val="tx1"/>
                </a:solidFill>
              </a:rPr>
              <a:t>Images</a:t>
            </a:r>
            <a:endParaRPr lang="en-US" sz="1600" dirty="0"/>
          </a:p>
        </p:txBody>
      </p:sp>
      <p:sp>
        <p:nvSpPr>
          <p:cNvPr id="10" name="Text 6"/>
          <p:cNvSpPr txBox="1"/>
          <p:nvPr/>
        </p:nvSpPr>
        <p:spPr>
          <a:xfrm>
            <a:off x="640080" y="1874520"/>
            <a:ext cx="3657600"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docker pull redis:7     fetch from registry</a:t>
            </a:r>
            <a:endParaRPr lang="en-US" sz="1300" dirty="0"/>
          </a:p>
          <a:p>
            <a:pPr marL="342900" indent="-342900">
              <a:spcAft>
                <a:spcPts val="600"/>
              </a:spcAft>
              <a:buSzPct val="100000"/>
              <a:buChar char="•"/>
            </a:pPr>
            <a:r>
              <a:rPr lang="en-US" sz="1300" dirty="0">
                <a:solidFill>
                  <a:schemeClr val="tx1"/>
                </a:solidFill>
              </a:rPr>
              <a:t>docker images           list local images</a:t>
            </a:r>
            <a:endParaRPr lang="en-US" sz="1300" dirty="0"/>
          </a:p>
          <a:p>
            <a:pPr marL="342900" indent="-342900">
              <a:spcAft>
                <a:spcPts val="600"/>
              </a:spcAft>
              <a:buSzPct val="100000"/>
              <a:buChar char="•"/>
            </a:pPr>
            <a:r>
              <a:rPr lang="en-US" sz="1300" dirty="0">
                <a:solidFill>
                  <a:schemeClr val="tx1"/>
                </a:solidFill>
              </a:rPr>
              <a:t>docker rmi redis:7      delete an image</a:t>
            </a:r>
            <a:endParaRPr lang="en-US" sz="1300" dirty="0"/>
          </a:p>
          <a:p>
            <a:pPr marL="342900" indent="-342900">
              <a:spcAft>
                <a:spcPts val="600"/>
              </a:spcAft>
              <a:buSzPct val="100000"/>
              <a:buChar char="•"/>
            </a:pPr>
            <a:r>
              <a:rPr lang="en-US" sz="1300" dirty="0">
                <a:solidFill>
                  <a:schemeClr val="tx1"/>
                </a:solidFill>
              </a:rPr>
              <a:t>docker build -t …       make one (section 9)</a:t>
            </a:r>
            <a:endParaRPr lang="en-US" sz="1300" dirty="0"/>
          </a:p>
        </p:txBody>
      </p:sp>
      <p:sp>
        <p:nvSpPr>
          <p:cNvPr id="11" name="Containers card"/>
          <p:cNvSpPr/>
          <p:nvPr/>
        </p:nvSpPr>
        <p:spPr>
          <a:xfrm>
            <a:off x="4663440" y="1097280"/>
            <a:ext cx="4023360" cy="2743200"/>
          </a:xfrm>
          <a:prstGeom prst="roundRect">
            <a:avLst>
              <a:gd name="adj" fmla="val 4000"/>
            </a:avLst>
          </a:prstGeom>
          <a:solidFill>
            <a:schemeClr val="bg2"/>
          </a:solidFill>
          <a:ln w="12700">
            <a:solidFill>
              <a:schemeClr val="bg2"/>
            </a:solidFill>
            <a:prstDash val="solid"/>
          </a:ln>
        </p:spPr>
      </p:sp>
      <p:sp>
        <p:nvSpPr>
          <p:cNvPr id="12" name="Containers circle"/>
          <p:cNvSpPr/>
          <p:nvPr/>
        </p:nvSpPr>
        <p:spPr>
          <a:xfrm>
            <a:off x="4846320" y="1280160"/>
            <a:ext cx="457200" cy="457200"/>
          </a:xfrm>
          <a:prstGeom prst="ellipse">
            <a:avLst/>
          </a:prstGeom>
          <a:solidFill>
            <a:schemeClr val="accent1"/>
          </a:solidFill>
          <a:ln w="12700">
            <a:solidFill>
              <a:schemeClr val="accent1"/>
            </a:solidFill>
            <a:prstDash val="solid"/>
          </a:ln>
        </p:spPr>
      </p:sp>
      <p:pic>
        <p:nvPicPr>
          <p:cNvPr id="13" name="Containers icon" descr="preencoded.png">    </p:cNvPr>
          <p:cNvPicPr>
            <a:picLocks noChangeAspect="1"/>
          </p:cNvPicPr>
          <p:nvPr/>
        </p:nvPicPr>
        <p:blipFill>
          <a:blip r:embed="rId2"/>
          <a:stretch>
            <a:fillRect/>
          </a:stretch>
        </p:blipFill>
        <p:spPr>
          <a:xfrm>
            <a:off x="4937760" y="1371600"/>
            <a:ext cx="274320" cy="274320"/>
          </a:xfrm>
          <a:prstGeom prst="rect">
            <a:avLst/>
          </a:prstGeom>
        </p:spPr>
      </p:pic>
      <p:sp>
        <p:nvSpPr>
          <p:cNvPr id="14" name="Text 9"/>
          <p:cNvSpPr txBox="1"/>
          <p:nvPr/>
        </p:nvSpPr>
        <p:spPr>
          <a:xfrm>
            <a:off x="5440680" y="1280160"/>
            <a:ext cx="3063240" cy="457200"/>
          </a:xfrm>
          <a:prstGeom prst="rect">
            <a:avLst/>
          </a:prstGeom>
          <a:noFill/>
          <a:ln/>
        </p:spPr>
        <p:txBody>
          <a:bodyPr wrap="square" lIns="0" tIns="0" rIns="0" bIns="0" rtlCol="0" anchor="ctr"/>
          <a:lstStyle/>
          <a:p>
            <a:pPr indent="0" marL="0">
              <a:buNone/>
            </a:pPr>
            <a:r>
              <a:rPr lang="en-US" sz="1600" b="1" dirty="0">
                <a:solidFill>
                  <a:schemeClr val="tx1"/>
                </a:solidFill>
              </a:rPr>
              <a:t>Containers</a:t>
            </a:r>
            <a:endParaRPr lang="en-US" sz="1600" dirty="0"/>
          </a:p>
        </p:txBody>
      </p:sp>
      <p:sp>
        <p:nvSpPr>
          <p:cNvPr id="15" name="Text 10"/>
          <p:cNvSpPr txBox="1"/>
          <p:nvPr/>
        </p:nvSpPr>
        <p:spPr>
          <a:xfrm>
            <a:off x="4846320" y="1874520"/>
            <a:ext cx="3657600"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docker run redis:7      create + start</a:t>
            </a:r>
            <a:endParaRPr lang="en-US" sz="1300" dirty="0"/>
          </a:p>
          <a:p>
            <a:pPr marL="342900" indent="-342900">
              <a:spcAft>
                <a:spcPts val="600"/>
              </a:spcAft>
              <a:buSzPct val="100000"/>
              <a:buChar char="•"/>
            </a:pPr>
            <a:r>
              <a:rPr lang="en-US" sz="1300" dirty="0">
                <a:solidFill>
                  <a:schemeClr val="tx1"/>
                </a:solidFill>
              </a:rPr>
              <a:t>docker ps  /  ps -a     running / all</a:t>
            </a:r>
            <a:endParaRPr lang="en-US" sz="1300" dirty="0"/>
          </a:p>
          <a:p>
            <a:pPr marL="342900" indent="-342900">
              <a:spcAft>
                <a:spcPts val="600"/>
              </a:spcAft>
              <a:buSzPct val="100000"/>
              <a:buChar char="•"/>
            </a:pPr>
            <a:r>
              <a:rPr lang="en-US" sz="1300" dirty="0">
                <a:solidFill>
                  <a:schemeClr val="tx1"/>
                </a:solidFill>
              </a:rPr>
              <a:t>docker stop &lt;id|name&gt;   graceful stop</a:t>
            </a:r>
            <a:endParaRPr lang="en-US" sz="1300" dirty="0"/>
          </a:p>
          <a:p>
            <a:pPr marL="342900" indent="-342900">
              <a:spcAft>
                <a:spcPts val="600"/>
              </a:spcAft>
              <a:buSzPct val="100000"/>
              <a:buChar char="•"/>
            </a:pPr>
            <a:r>
              <a:rPr lang="en-US" sz="1300" dirty="0">
                <a:solidFill>
                  <a:schemeClr val="tx1"/>
                </a:solidFill>
              </a:rPr>
              <a:t>docker start &lt;id|name&gt;  restart a stopped one</a:t>
            </a:r>
            <a:endParaRPr lang="en-US" sz="1300" dirty="0"/>
          </a:p>
          <a:p>
            <a:pPr marL="342900" indent="-342900">
              <a:spcAft>
                <a:spcPts val="600"/>
              </a:spcAft>
              <a:buSzPct val="100000"/>
              <a:buChar char="•"/>
            </a:pPr>
            <a:r>
              <a:rPr lang="en-US" sz="1300" dirty="0">
                <a:solidFill>
                  <a:schemeClr val="tx1"/>
                </a:solidFill>
              </a:rPr>
              <a:t>docker rm &lt;id|name&gt;     delete a stopped one</a:t>
            </a:r>
            <a:endParaRPr lang="en-US" sz="1300" dirty="0"/>
          </a:p>
        </p:txBody>
      </p:sp>
      <p:sp>
        <p:nvSpPr>
          <p:cNvPr id="16" name="box docker run = (pull if missing) + create + start. Every run makes a NEW container; docker start re-uses an old one."/>
          <p:cNvSpPr/>
          <p:nvPr/>
        </p:nvSpPr>
        <p:spPr>
          <a:xfrm>
            <a:off x="457200" y="4069080"/>
            <a:ext cx="8229600" cy="502920"/>
          </a:xfrm>
          <a:prstGeom prst="roundRect">
            <a:avLst>
              <a:gd name="adj" fmla="val 14545"/>
            </a:avLst>
          </a:prstGeom>
          <a:solidFill>
            <a:schemeClr val="accent1"/>
          </a:solidFill>
          <a:ln w="12700">
            <a:solidFill>
              <a:schemeClr val="accent1"/>
            </a:solidFill>
            <a:prstDash val="solid"/>
          </a:ln>
        </p:spPr>
      </p:sp>
      <p:sp>
        <p:nvSpPr>
          <p:cNvPr id="17" name="box text docker run = (pull if missing) + create + start. Every run makes a NEW container; docker start re-uses an old one."/>
          <p:cNvSpPr txBox="1"/>
          <p:nvPr/>
        </p:nvSpPr>
        <p:spPr>
          <a:xfrm>
            <a:off x="457200" y="4069080"/>
            <a:ext cx="8229600" cy="502920"/>
          </a:xfrm>
          <a:prstGeom prst="rect">
            <a:avLst/>
          </a:prstGeom>
          <a:noFill/>
          <a:ln/>
        </p:spPr>
        <p:txBody>
          <a:bodyPr wrap="square" lIns="381" tIns="381" rIns="381" bIns="381" rtlCol="0" anchor="ctr"/>
          <a:lstStyle/>
          <a:p>
            <a:pPr algn="ctr" indent="0" marL="0">
              <a:buNone/>
            </a:pPr>
            <a:r>
              <a:rPr lang="en-US" sz="1400" b="1" dirty="0">
                <a:solidFill>
                  <a:schemeClr val="bg1"/>
                </a:solidFill>
              </a:rPr>
              <a:t>docker run = (pull if missing) + create + start. Every run makes a NEW container; docker start re-uses an old one.</a:t>
            </a:r>
            <a:endParaRPr lang="en-US" sz="14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The flags you use every day</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accent1"/>
          </a:solidFill>
          <a:ln w="12700">
            <a:solidFill>
              <a:schemeClr val="accent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DOCKER</a:t>
            </a:r>
            <a:endParaRPr lang="en-US" sz="900" dirty="0"/>
          </a:p>
        </p:txBody>
      </p:sp>
      <p:graphicFrame>
        <p:nvGraphicFramePr>
          <p:cNvPr id="20" name="flags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2011680"/>
                <a:gridCol w="6217920"/>
              </a:tblGrid>
              <a:tr h="384048">
                <a:tc>
                  <a:txBody>
                    <a:bodyPr/>
                    <a:lstStyle/>
                    <a:p>
                      <a:pPr indent="0" marL="0">
                        <a:buNone/>
                      </a:pPr>
                      <a:r>
                        <a:rPr lang="en-US" sz="1100" b="1" dirty="0">
                          <a:solidFill>
                            <a:srgbClr val="0F172A"/>
                          </a:solidFill>
                          <a:latin typeface="Courier New" pitchFamily="34" charset="0"/>
                          <a:ea typeface="Courier New" pitchFamily="34" charset="-122"/>
                          <a:cs typeface="Courier New" pitchFamily="34" charset="-120"/>
                        </a:rPr>
                        <a:t>-d</a:t>
                      </a:r>
                      <a:endParaRPr lang="en-US" sz="1100" dirty="0">
                        <a:latin typeface="Courier New" charset="0"/>
                        <a:ea typeface="Courier New" charset="0"/>
                        <a:cs typeface="Courier New" charset="0"/>
                      </a:endParaRPr>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rPr>
                        <a:t>Detached: run in the background, return the container ID</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F172A"/>
                          </a:solidFill>
                          <a:latin typeface="Courier New" pitchFamily="34" charset="0"/>
                          <a:ea typeface="Courier New" pitchFamily="34" charset="-122"/>
                          <a:cs typeface="Courier New" pitchFamily="34" charset="-120"/>
                        </a:rPr>
                        <a:t>-p 6000:6379</a:t>
                      </a:r>
                      <a:endParaRPr lang="en-US" sz="1100" dirty="0">
                        <a:latin typeface="Courier New" charset="0"/>
                        <a:ea typeface="Courier New" charset="0"/>
                        <a:cs typeface="Courier New" charset="0"/>
                      </a:endParaRPr>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rPr>
                        <a:t>Publish: host port 6000 → container port 6379. Left = you, right = app</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F172A"/>
                          </a:solidFill>
                          <a:latin typeface="Courier New" pitchFamily="34" charset="0"/>
                          <a:ea typeface="Courier New" pitchFamily="34" charset="-122"/>
                          <a:cs typeface="Courier New" pitchFamily="34" charset="-120"/>
                        </a:rPr>
                        <a:t>--name my-redis</a:t>
                      </a:r>
                      <a:endParaRPr lang="en-US" sz="1100" dirty="0">
                        <a:latin typeface="Courier New" charset="0"/>
                        <a:ea typeface="Courier New" charset="0"/>
                        <a:cs typeface="Courier New" charset="0"/>
                      </a:endParaRPr>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rPr>
                        <a:t>Human name instead of a random one. Must be unique</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F172A"/>
                          </a:solidFill>
                          <a:latin typeface="Courier New" pitchFamily="34" charset="0"/>
                          <a:ea typeface="Courier New" pitchFamily="34" charset="-122"/>
                          <a:cs typeface="Courier New" pitchFamily="34" charset="-120"/>
                        </a:rPr>
                        <a:t>-e KEY=value</a:t>
                      </a:r>
                      <a:endParaRPr lang="en-US" sz="1100" dirty="0">
                        <a:latin typeface="Courier New" charset="0"/>
                        <a:ea typeface="Courier New" charset="0"/>
                        <a:cs typeface="Courier New" charset="0"/>
                      </a:endParaRPr>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rPr>
                        <a:t>Set an environment variable inside the container</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F172A"/>
                          </a:solidFill>
                          <a:latin typeface="Courier New" pitchFamily="34" charset="0"/>
                          <a:ea typeface="Courier New" pitchFamily="34" charset="-122"/>
                          <a:cs typeface="Courier New" pitchFamily="34" charset="-120"/>
                        </a:rPr>
                        <a:t>-it</a:t>
                      </a:r>
                      <a:endParaRPr lang="en-US" sz="1100" dirty="0">
                        <a:latin typeface="Courier New" charset="0"/>
                        <a:ea typeface="Courier New" charset="0"/>
                        <a:cs typeface="Courier New" charset="0"/>
                      </a:endParaRPr>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rPr>
                        <a:t>Interactive terminal, e.g.  docker run -it ubuntu bash</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F172A"/>
                          </a:solidFill>
                          <a:latin typeface="Courier New" pitchFamily="34" charset="0"/>
                          <a:ea typeface="Courier New" pitchFamily="34" charset="-122"/>
                          <a:cs typeface="Courier New" pitchFamily="34" charset="-120"/>
                        </a:rPr>
                        <a:t>--rm</a:t>
                      </a:r>
                      <a:endParaRPr lang="en-US" sz="1100" dirty="0">
                        <a:latin typeface="Courier New" charset="0"/>
                        <a:ea typeface="Courier New" charset="0"/>
                        <a:cs typeface="Courier New" charset="0"/>
                      </a:endParaRPr>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rPr>
                        <a:t>Delete the container automatically when it exits</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F172A"/>
                          </a:solidFill>
                          <a:latin typeface="Courier New" pitchFamily="34" charset="0"/>
                          <a:ea typeface="Courier New" pitchFamily="34" charset="-122"/>
                          <a:cs typeface="Courier New" pitchFamily="34" charset="-120"/>
                        </a:rPr>
                        <a:t>-v host:container</a:t>
                      </a:r>
                      <a:endParaRPr lang="en-US" sz="1100" dirty="0">
                        <a:latin typeface="Courier New" charset="0"/>
                        <a:ea typeface="Courier New" charset="0"/>
                        <a:cs typeface="Courier New" charset="0"/>
                      </a:endParaRPr>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rPr>
                        <a:t>Mount a volume (section 12)</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F172A"/>
                          </a:solidFill>
                          <a:latin typeface="Courier New" pitchFamily="34" charset="0"/>
                          <a:ea typeface="Courier New" pitchFamily="34" charset="-122"/>
                          <a:cs typeface="Courier New" pitchFamily="34" charset="-120"/>
                        </a:rPr>
                        <a:t>--network name</a:t>
                      </a:r>
                      <a:endParaRPr lang="en-US" sz="1100" dirty="0">
                        <a:latin typeface="Courier New" charset="0"/>
                        <a:ea typeface="Courier New" charset="0"/>
                        <a:cs typeface="Courier New" charset="0"/>
                      </a:endParaRPr>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rPr>
                        <a:t>Attach to a Docker network (section 7)</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Port binding: why two redis containers don't clash</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accent1"/>
          </a:solidFill>
          <a:ln w="12700">
            <a:solidFill>
              <a:schemeClr val="accent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DOCKER</a:t>
            </a:r>
            <a:endParaRPr lang="en-US" sz="900" dirty="0"/>
          </a:p>
        </p:txBody>
      </p:sp>
      <p:sp>
        <p:nvSpPr>
          <p:cNvPr id="6" name="box Your laptop localhost"/>
          <p:cNvSpPr/>
          <p:nvPr/>
        </p:nvSpPr>
        <p:spPr>
          <a:xfrm>
            <a:off x="457200" y="1280160"/>
            <a:ext cx="1737360" cy="914400"/>
          </a:xfrm>
          <a:prstGeom prst="roundRect">
            <a:avLst>
              <a:gd name="adj" fmla="val 8000"/>
            </a:avLst>
          </a:prstGeom>
          <a:solidFill>
            <a:srgbClr val="F1F5F9"/>
          </a:solidFill>
          <a:ln w="12700">
            <a:solidFill>
              <a:srgbClr val="F1F5F9"/>
            </a:solidFill>
            <a:prstDash val="solid"/>
          </a:ln>
        </p:spPr>
      </p:sp>
      <p:sp>
        <p:nvSpPr>
          <p:cNvPr id="7" name="box text Your laptop localhost"/>
          <p:cNvSpPr txBox="1"/>
          <p:nvPr/>
        </p:nvSpPr>
        <p:spPr>
          <a:xfrm>
            <a:off x="457200" y="1280160"/>
            <a:ext cx="1737360" cy="914400"/>
          </a:xfrm>
          <a:prstGeom prst="rect">
            <a:avLst/>
          </a:prstGeom>
          <a:noFill/>
          <a:ln/>
        </p:spPr>
        <p:txBody>
          <a:bodyPr wrap="square" lIns="381" tIns="381" rIns="381" bIns="381" rtlCol="0" anchor="ctr"/>
          <a:lstStyle/>
          <a:p>
            <a:pPr algn="ctr" indent="0" marL="0">
              <a:buNone/>
            </a:pPr>
            <a:r>
              <a:rPr lang="en-US" sz="1200" b="1" dirty="0">
                <a:solidFill>
                  <a:schemeClr val="tx1"/>
                </a:solidFill>
              </a:rPr>
              <a:t>Your laptop</a:t>
            </a:r>
            <a:endParaRPr lang="en-US" sz="1200" dirty="0"/>
          </a:p>
          <a:p>
            <a:pPr algn="ctr" indent="0" marL="0">
              <a:buNone/>
            </a:pPr>
            <a:r>
              <a:rPr lang="en-US" sz="1200" b="1" dirty="0">
                <a:solidFill>
                  <a:schemeClr val="tx1"/>
                </a:solidFill>
              </a:rPr>
              <a:t>localhost</a:t>
            </a:r>
            <a:endParaRPr lang="en-US" sz="1200" dirty="0"/>
          </a:p>
        </p:txBody>
      </p:sp>
      <p:sp>
        <p:nvSpPr>
          <p:cNvPr id="8" name="box host :6000"/>
          <p:cNvSpPr/>
          <p:nvPr/>
        </p:nvSpPr>
        <p:spPr>
          <a:xfrm>
            <a:off x="2834640" y="1097280"/>
            <a:ext cx="1463040" cy="548640"/>
          </a:xfrm>
          <a:prstGeom prst="roundRect">
            <a:avLst>
              <a:gd name="adj" fmla="val 13333"/>
            </a:avLst>
          </a:prstGeom>
          <a:solidFill>
            <a:srgbClr val="E0F2FE"/>
          </a:solidFill>
          <a:ln w="12700">
            <a:solidFill>
              <a:srgbClr val="E0F2FE"/>
            </a:solidFill>
            <a:prstDash val="solid"/>
          </a:ln>
        </p:spPr>
      </p:sp>
      <p:sp>
        <p:nvSpPr>
          <p:cNvPr id="9" name="box text host :6000"/>
          <p:cNvSpPr txBox="1"/>
          <p:nvPr/>
        </p:nvSpPr>
        <p:spPr>
          <a:xfrm>
            <a:off x="2834640" y="1097280"/>
            <a:ext cx="1463040" cy="548640"/>
          </a:xfrm>
          <a:prstGeom prst="rect">
            <a:avLst/>
          </a:prstGeom>
          <a:noFill/>
          <a:ln/>
        </p:spPr>
        <p:txBody>
          <a:bodyPr wrap="square" lIns="381" tIns="381" rIns="381" bIns="381" rtlCol="0" anchor="ctr"/>
          <a:lstStyle/>
          <a:p>
            <a:pPr algn="ctr" indent="0" marL="0">
              <a:buNone/>
            </a:pPr>
            <a:r>
              <a:rPr lang="en-US" sz="1100" b="1" dirty="0">
                <a:solidFill>
                  <a:schemeClr val="tx1"/>
                </a:solidFill>
              </a:rPr>
              <a:t>host :6000</a:t>
            </a:r>
            <a:endParaRPr lang="en-US" sz="1100" dirty="0"/>
          </a:p>
        </p:txBody>
      </p:sp>
      <p:sp>
        <p:nvSpPr>
          <p:cNvPr id="10" name="box host :6001"/>
          <p:cNvSpPr/>
          <p:nvPr/>
        </p:nvSpPr>
        <p:spPr>
          <a:xfrm>
            <a:off x="2834640" y="1828800"/>
            <a:ext cx="1463040" cy="548640"/>
          </a:xfrm>
          <a:prstGeom prst="roundRect">
            <a:avLst>
              <a:gd name="adj" fmla="val 13333"/>
            </a:avLst>
          </a:prstGeom>
          <a:solidFill>
            <a:srgbClr val="E0F2FE"/>
          </a:solidFill>
          <a:ln w="12700">
            <a:solidFill>
              <a:srgbClr val="E0F2FE"/>
            </a:solidFill>
            <a:prstDash val="solid"/>
          </a:ln>
        </p:spPr>
      </p:sp>
      <p:sp>
        <p:nvSpPr>
          <p:cNvPr id="11" name="box text host :6001"/>
          <p:cNvSpPr txBox="1"/>
          <p:nvPr/>
        </p:nvSpPr>
        <p:spPr>
          <a:xfrm>
            <a:off x="2834640" y="1828800"/>
            <a:ext cx="1463040" cy="548640"/>
          </a:xfrm>
          <a:prstGeom prst="rect">
            <a:avLst/>
          </a:prstGeom>
          <a:noFill/>
          <a:ln/>
        </p:spPr>
        <p:txBody>
          <a:bodyPr wrap="square" lIns="381" tIns="381" rIns="381" bIns="381" rtlCol="0" anchor="ctr"/>
          <a:lstStyle/>
          <a:p>
            <a:pPr algn="ctr" indent="0" marL="0">
              <a:buNone/>
            </a:pPr>
            <a:r>
              <a:rPr lang="en-US" sz="1100" b="1" dirty="0">
                <a:solidFill>
                  <a:schemeClr val="tx1"/>
                </a:solidFill>
              </a:rPr>
              <a:t>host :6001</a:t>
            </a:r>
            <a:endParaRPr lang="en-US" sz="1100" dirty="0"/>
          </a:p>
        </p:txBody>
      </p:sp>
      <p:sp>
        <p:nvSpPr>
          <p:cNvPr id="12" name="arrow"/>
          <p:cNvSpPr/>
          <p:nvPr/>
        </p:nvSpPr>
        <p:spPr>
          <a:xfrm flipV="1">
            <a:off x="2194560" y="1371600"/>
            <a:ext cx="640080" cy="91440"/>
          </a:xfrm>
          <a:prstGeom prst="line">
            <a:avLst/>
          </a:prstGeom>
          <a:noFill/>
          <a:ln w="19050">
            <a:solidFill>
              <a:schemeClr val="accent1"/>
            </a:solidFill>
            <a:prstDash val="solid"/>
            <a:tailEnd type="triangle"/>
          </a:ln>
        </p:spPr>
      </p:sp>
      <p:sp>
        <p:nvSpPr>
          <p:cNvPr id="13" name="arrow"/>
          <p:cNvSpPr/>
          <p:nvPr/>
        </p:nvSpPr>
        <p:spPr>
          <a:xfrm>
            <a:off x="2194560" y="2011680"/>
            <a:ext cx="640080" cy="91440"/>
          </a:xfrm>
          <a:prstGeom prst="line">
            <a:avLst/>
          </a:prstGeom>
          <a:noFill/>
          <a:ln w="19050">
            <a:solidFill>
              <a:schemeClr val="accent1"/>
            </a:solidFill>
            <a:prstDash val="solid"/>
            <a:tailEnd type="triangle"/>
          </a:ln>
        </p:spPr>
      </p:sp>
      <p:sp>
        <p:nvSpPr>
          <p:cNvPr id="14" name="box container redis-1 · listening on :6379"/>
          <p:cNvSpPr/>
          <p:nvPr/>
        </p:nvSpPr>
        <p:spPr>
          <a:xfrm>
            <a:off x="4937760" y="1097280"/>
            <a:ext cx="3749040" cy="548640"/>
          </a:xfrm>
          <a:prstGeom prst="roundRect">
            <a:avLst>
              <a:gd name="adj" fmla="val 13333"/>
            </a:avLst>
          </a:prstGeom>
          <a:solidFill>
            <a:schemeClr val="accent1"/>
          </a:solidFill>
          <a:ln w="12700">
            <a:solidFill>
              <a:schemeClr val="accent1"/>
            </a:solidFill>
            <a:prstDash val="solid"/>
          </a:ln>
        </p:spPr>
      </p:sp>
      <p:sp>
        <p:nvSpPr>
          <p:cNvPr id="15" name="box text container redis-1 · listening on :6379"/>
          <p:cNvSpPr txBox="1"/>
          <p:nvPr/>
        </p:nvSpPr>
        <p:spPr>
          <a:xfrm>
            <a:off x="4937760" y="1097280"/>
            <a:ext cx="3749040" cy="548640"/>
          </a:xfrm>
          <a:prstGeom prst="rect">
            <a:avLst/>
          </a:prstGeom>
          <a:noFill/>
          <a:ln/>
        </p:spPr>
        <p:txBody>
          <a:bodyPr wrap="square" lIns="381" tIns="381" rIns="381" bIns="381" rtlCol="0" anchor="ctr"/>
          <a:lstStyle/>
          <a:p>
            <a:pPr algn="ctr" indent="0" marL="0">
              <a:buNone/>
            </a:pPr>
            <a:r>
              <a:rPr lang="en-US" sz="1100" b="1" dirty="0">
                <a:solidFill>
                  <a:schemeClr val="bg1"/>
                </a:solidFill>
              </a:rPr>
              <a:t>container redis-1 · listening on :6379</a:t>
            </a:r>
            <a:endParaRPr lang="en-US" sz="1100" dirty="0"/>
          </a:p>
        </p:txBody>
      </p:sp>
      <p:sp>
        <p:nvSpPr>
          <p:cNvPr id="16" name="box container redis-2 · listening on :6379"/>
          <p:cNvSpPr/>
          <p:nvPr/>
        </p:nvSpPr>
        <p:spPr>
          <a:xfrm>
            <a:off x="4937760" y="1828800"/>
            <a:ext cx="3749040" cy="548640"/>
          </a:xfrm>
          <a:prstGeom prst="roundRect">
            <a:avLst>
              <a:gd name="adj" fmla="val 13333"/>
            </a:avLst>
          </a:prstGeom>
          <a:solidFill>
            <a:schemeClr val="accent1"/>
          </a:solidFill>
          <a:ln w="12700">
            <a:solidFill>
              <a:schemeClr val="accent1"/>
            </a:solidFill>
            <a:prstDash val="solid"/>
          </a:ln>
        </p:spPr>
      </p:sp>
      <p:sp>
        <p:nvSpPr>
          <p:cNvPr id="17" name="box text container redis-2 · listening on :6379"/>
          <p:cNvSpPr txBox="1"/>
          <p:nvPr/>
        </p:nvSpPr>
        <p:spPr>
          <a:xfrm>
            <a:off x="4937760" y="1828800"/>
            <a:ext cx="3749040" cy="548640"/>
          </a:xfrm>
          <a:prstGeom prst="rect">
            <a:avLst/>
          </a:prstGeom>
          <a:noFill/>
          <a:ln/>
        </p:spPr>
        <p:txBody>
          <a:bodyPr wrap="square" lIns="381" tIns="381" rIns="381" bIns="381" rtlCol="0" anchor="ctr"/>
          <a:lstStyle/>
          <a:p>
            <a:pPr algn="ctr" indent="0" marL="0">
              <a:buNone/>
            </a:pPr>
            <a:r>
              <a:rPr lang="en-US" sz="1100" b="1" dirty="0">
                <a:solidFill>
                  <a:schemeClr val="bg1"/>
                </a:solidFill>
              </a:rPr>
              <a:t>container redis-2 · listening on :6379</a:t>
            </a:r>
            <a:endParaRPr lang="en-US" sz="1100" dirty="0"/>
          </a:p>
        </p:txBody>
      </p:sp>
      <p:sp>
        <p:nvSpPr>
          <p:cNvPr id="18" name="arrow"/>
          <p:cNvSpPr/>
          <p:nvPr/>
        </p:nvSpPr>
        <p:spPr>
          <a:xfrm>
            <a:off x="4297680" y="1371600"/>
            <a:ext cx="640080" cy="0"/>
          </a:xfrm>
          <a:prstGeom prst="line">
            <a:avLst/>
          </a:prstGeom>
          <a:noFill/>
          <a:ln w="19050">
            <a:solidFill>
              <a:schemeClr val="accent1"/>
            </a:solidFill>
            <a:prstDash val="solid"/>
            <a:tailEnd type="triangle"/>
          </a:ln>
        </p:spPr>
      </p:sp>
      <p:sp>
        <p:nvSpPr>
          <p:cNvPr id="19" name="arrow"/>
          <p:cNvSpPr/>
          <p:nvPr/>
        </p:nvSpPr>
        <p:spPr>
          <a:xfrm>
            <a:off x="4297680" y="2103120"/>
            <a:ext cx="640080" cy="0"/>
          </a:xfrm>
          <a:prstGeom prst="line">
            <a:avLst/>
          </a:prstGeom>
          <a:noFill/>
          <a:ln w="19050">
            <a:solidFill>
              <a:schemeClr val="accent1"/>
            </a:solidFill>
            <a:prstDash val="solid"/>
            <a:tailEnd type="triangle"/>
          </a:ln>
        </p:spPr>
      </p:sp>
      <p:sp>
        <p:nvSpPr>
          <p:cNvPr id="20" name="code bg"/>
          <p:cNvSpPr/>
          <p:nvPr/>
        </p:nvSpPr>
        <p:spPr>
          <a:xfrm>
            <a:off x="457200" y="2697480"/>
            <a:ext cx="8229600" cy="914400"/>
          </a:xfrm>
          <a:prstGeom prst="roundRect">
            <a:avLst>
              <a:gd name="adj" fmla="val 10000"/>
            </a:avLst>
          </a:prstGeom>
          <a:solidFill>
            <a:schemeClr val="tx1"/>
          </a:solidFill>
          <a:ln w="12700">
            <a:solidFill>
              <a:schemeClr val="tx1"/>
            </a:solidFill>
            <a:prstDash val="solid"/>
          </a:ln>
        </p:spPr>
      </p:sp>
      <p:sp>
        <p:nvSpPr>
          <p:cNvPr id="21" name="code"/>
          <p:cNvSpPr txBox="1"/>
          <p:nvPr/>
        </p:nvSpPr>
        <p:spPr>
          <a:xfrm>
            <a:off x="594360" y="2788920"/>
            <a:ext cx="7955280" cy="731520"/>
          </a:xfrm>
          <a:prstGeom prst="rect">
            <a:avLst/>
          </a:prstGeom>
          <a:noFill/>
          <a:ln/>
        </p:spPr>
        <p:txBody>
          <a:bodyPr wrap="square" lIns="0" tIns="0" rIns="0" bIns="0" rtlCol="0" anchor="t"/>
          <a:lstStyle/>
          <a:p>
            <a:pPr indent="0" marL="0">
              <a:buNone/>
            </a:pPr>
            <a:r>
              <a:rPr lang="en-US" sz="1100" dirty="0">
                <a:solidFill>
                  <a:srgbClr val="E2E8F0"/>
                </a:solidFill>
                <a:latin typeface="Courier New" pitchFamily="34" charset="0"/>
                <a:ea typeface="Courier New" pitchFamily="34" charset="-122"/>
                <a:cs typeface="Courier New" pitchFamily="34" charset="-120"/>
              </a:rPr>
              <a:t>docker run -d --name redis-1 -p 6000:6379 redis:7</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docker run -d --name redis-2 -p 6001:6379 redis:7</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docker ps        # PORTS column: 0.0.0.0:6000-&gt;6379/tcp  and  0.0.0.0:6001-&gt;6379/tcp</a:t>
            </a:r>
            <a:endParaRPr lang="en-US" sz="1100" dirty="0"/>
          </a:p>
        </p:txBody>
      </p:sp>
      <p:sp>
        <p:nvSpPr>
          <p:cNvPr id="22" name="box -p HOST:CONTAINER.  Host ports must be unique; container ports don't care."/>
          <p:cNvSpPr/>
          <p:nvPr/>
        </p:nvSpPr>
        <p:spPr>
          <a:xfrm>
            <a:off x="457200" y="4069080"/>
            <a:ext cx="8229600" cy="502920"/>
          </a:xfrm>
          <a:prstGeom prst="roundRect">
            <a:avLst>
              <a:gd name="adj" fmla="val 14545"/>
            </a:avLst>
          </a:prstGeom>
          <a:solidFill>
            <a:schemeClr val="accent1"/>
          </a:solidFill>
          <a:ln w="12700">
            <a:solidFill>
              <a:schemeClr val="accent1"/>
            </a:solidFill>
            <a:prstDash val="solid"/>
          </a:ln>
        </p:spPr>
      </p:sp>
      <p:sp>
        <p:nvSpPr>
          <p:cNvPr id="23" name="box text -p HOST:CONTAINER.  Host ports must be unique; container ports don&amp;apos;t care."/>
          <p:cNvSpPr txBox="1"/>
          <p:nvPr/>
        </p:nvSpPr>
        <p:spPr>
          <a:xfrm>
            <a:off x="457200" y="4069080"/>
            <a:ext cx="8229600" cy="502920"/>
          </a:xfrm>
          <a:prstGeom prst="rect">
            <a:avLst/>
          </a:prstGeom>
          <a:noFill/>
          <a:ln/>
        </p:spPr>
        <p:txBody>
          <a:bodyPr wrap="square" lIns="381" tIns="381" rIns="381" bIns="381" rtlCol="0" anchor="ctr"/>
          <a:lstStyle/>
          <a:p>
            <a:pPr algn="ctr" indent="0" marL="0">
              <a:buNone/>
            </a:pPr>
            <a:r>
              <a:rPr lang="en-US" sz="1400" b="1" dirty="0">
                <a:solidFill>
                  <a:schemeClr val="bg1"/>
                </a:solidFill>
              </a:rPr>
              <a:t>-p HOST:CONTAINER.  Host ports must be unique; container ports don't care.</a:t>
            </a:r>
            <a:endParaRPr lang="en-US" sz="14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914400"/>
          </a:xfrm>
          <a:prstGeom prst="rect">
            <a:avLst/>
          </a:prstGeom>
          <a:noFill/>
          <a:ln/>
        </p:spPr>
        <p:txBody>
          <a:bodyPr wrap="square" lIns="0" tIns="0" rIns="0" bIns="0" rtlCol="0" anchor="b"/>
          <a:lstStyle/>
          <a:p>
            <a:pPr algn="l" indent="0" marL="0">
              <a:buNone/>
            </a:pPr>
            <a:r>
              <a:rPr lang="en-US" sz="4000" b="1" dirty="0">
                <a:solidFill>
                  <a:srgbClr val="FFFFFF"/>
                </a:solidFill>
              </a:rPr>
              <a:t>6 · Debugging a container</a:t>
            </a:r>
            <a:endParaRPr lang="en-US" sz="4000" dirty="0"/>
          </a:p>
        </p:txBody>
      </p:sp>
      <p:sp>
        <p:nvSpPr>
          <p:cNvPr id="3" name="Text 0"/>
          <p:cNvSpPr/>
          <p:nvPr>
            <p:ph idx="101" type="body" hasCustomPrompt="1"/>
          </p:nvPr>
        </p:nvSpPr>
        <p:spPr>
          <a:xfrm>
            <a:off x="548640" y="2834640"/>
            <a:ext cx="8046720" cy="822960"/>
          </a:xfrm>
          <a:prstGeom prst="rect">
            <a:avLst/>
          </a:prstGeom>
          <a:noFill/>
          <a:ln/>
        </p:spPr>
        <p:txBody>
          <a:bodyPr wrap="square" lIns="0" tIns="0" rIns="0" bIns="0" rtlCol="0" anchor="t"/>
          <a:lstStyle/>
          <a:p>
            <a:pPr algn="l" indent="0" marL="0">
              <a:buNone/>
            </a:pPr>
            <a:r>
              <a:rPr lang="en-US" sz="1800" dirty="0">
                <a:solidFill>
                  <a:srgbClr val="CBD5E1"/>
                </a:solidFill>
              </a:rPr>
              <a:t>logs · exec · inspect</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Three commands that answer 'what is going on in there?'</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accent1"/>
          </a:solidFill>
          <a:ln w="12700">
            <a:solidFill>
              <a:schemeClr val="accent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DOCKER</a:t>
            </a:r>
            <a:endParaRPr lang="en-US" sz="900" dirty="0"/>
          </a:p>
        </p:txBody>
      </p:sp>
      <p:sp>
        <p:nvSpPr>
          <p:cNvPr id="6" name="docker logs card"/>
          <p:cNvSpPr/>
          <p:nvPr/>
        </p:nvSpPr>
        <p:spPr>
          <a:xfrm>
            <a:off x="457200" y="1097280"/>
            <a:ext cx="2606040" cy="2651760"/>
          </a:xfrm>
          <a:prstGeom prst="roundRect">
            <a:avLst>
              <a:gd name="adj" fmla="val 4211"/>
            </a:avLst>
          </a:prstGeom>
          <a:solidFill>
            <a:schemeClr val="bg2"/>
          </a:solidFill>
          <a:ln w="12700">
            <a:solidFill>
              <a:schemeClr val="bg2"/>
            </a:solidFill>
            <a:prstDash val="solid"/>
          </a:ln>
        </p:spPr>
      </p:sp>
      <p:sp>
        <p:nvSpPr>
          <p:cNvPr id="7" name="docker logs circle"/>
          <p:cNvSpPr/>
          <p:nvPr/>
        </p:nvSpPr>
        <p:spPr>
          <a:xfrm>
            <a:off x="640080" y="1280160"/>
            <a:ext cx="457200" cy="457200"/>
          </a:xfrm>
          <a:prstGeom prst="ellipse">
            <a:avLst/>
          </a:prstGeom>
          <a:solidFill>
            <a:schemeClr val="accent1"/>
          </a:solidFill>
          <a:ln w="12700">
            <a:solidFill>
              <a:schemeClr val="accent1"/>
            </a:solidFill>
            <a:prstDash val="solid"/>
          </a:ln>
        </p:spPr>
      </p:sp>
      <p:pic>
        <p:nvPicPr>
          <p:cNvPr id="8" name="docker logs icon" descr="preencoded.png">    </p:cNvPr>
          <p:cNvPicPr>
            <a:picLocks noChangeAspect="1"/>
          </p:cNvPicPr>
          <p:nvPr/>
        </p:nvPicPr>
        <p:blipFill>
          <a:blip r:embed="rId1"/>
          <a:stretch>
            <a:fillRect/>
          </a:stretch>
        </p:blipFill>
        <p:spPr>
          <a:xfrm>
            <a:off x="731520" y="1371600"/>
            <a:ext cx="274320" cy="274320"/>
          </a:xfrm>
          <a:prstGeom prst="rect">
            <a:avLst/>
          </a:prstGeom>
        </p:spPr>
      </p:pic>
      <p:sp>
        <p:nvSpPr>
          <p:cNvPr id="9" name="Text 5"/>
          <p:cNvSpPr txBox="1"/>
          <p:nvPr/>
        </p:nvSpPr>
        <p:spPr>
          <a:xfrm>
            <a:off x="1234440" y="1280160"/>
            <a:ext cx="1645920" cy="457200"/>
          </a:xfrm>
          <a:prstGeom prst="rect">
            <a:avLst/>
          </a:prstGeom>
          <a:noFill/>
          <a:ln/>
        </p:spPr>
        <p:txBody>
          <a:bodyPr wrap="square" lIns="0" tIns="0" rIns="0" bIns="0" rtlCol="0" anchor="ctr"/>
          <a:lstStyle/>
          <a:p>
            <a:pPr indent="0" marL="0">
              <a:buNone/>
            </a:pPr>
            <a:r>
              <a:rPr lang="en-US" sz="1600" b="1" dirty="0">
                <a:solidFill>
                  <a:schemeClr val="tx1"/>
                </a:solidFill>
              </a:rPr>
              <a:t>docker logs</a:t>
            </a:r>
            <a:endParaRPr lang="en-US" sz="1600" dirty="0"/>
          </a:p>
        </p:txBody>
      </p:sp>
      <p:sp>
        <p:nvSpPr>
          <p:cNvPr id="10" name="Text 6"/>
          <p:cNvSpPr txBox="1"/>
          <p:nvPr/>
        </p:nvSpPr>
        <p:spPr>
          <a:xfrm>
            <a:off x="640080" y="1874520"/>
            <a:ext cx="2240280" cy="17373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What the main process printed</a:t>
            </a:r>
            <a:endParaRPr lang="en-US" sz="1300" dirty="0"/>
          </a:p>
          <a:p>
            <a:pPr marL="342900" indent="-342900">
              <a:spcAft>
                <a:spcPts val="600"/>
              </a:spcAft>
              <a:buSzPct val="100000"/>
              <a:buChar char="•"/>
            </a:pPr>
            <a:r>
              <a:rPr lang="en-US" sz="1300" dirty="0">
                <a:solidFill>
                  <a:schemeClr val="tx1"/>
                </a:solidFill>
              </a:rPr>
              <a:t>docker logs -f c  → follow live</a:t>
            </a:r>
            <a:endParaRPr lang="en-US" sz="1300" dirty="0"/>
          </a:p>
          <a:p>
            <a:pPr marL="342900" indent="-342900">
              <a:spcAft>
                <a:spcPts val="600"/>
              </a:spcAft>
              <a:buSzPct val="100000"/>
              <a:buChar char="•"/>
            </a:pPr>
            <a:r>
              <a:rPr lang="en-US" sz="1300" dirty="0">
                <a:solidFill>
                  <a:schemeClr val="tx1"/>
                </a:solidFill>
              </a:rPr>
              <a:t>docker logs --tail 50 c</a:t>
            </a:r>
            <a:endParaRPr lang="en-US" sz="1300" dirty="0"/>
          </a:p>
          <a:p>
            <a:pPr marL="342900" indent="-342900">
              <a:spcAft>
                <a:spcPts val="600"/>
              </a:spcAft>
              <a:buSzPct val="100000"/>
              <a:buChar char="•"/>
            </a:pPr>
            <a:r>
              <a:rPr lang="en-US" sz="1300" dirty="0">
                <a:solidFill>
                  <a:schemeClr val="tx1"/>
                </a:solidFill>
              </a:rPr>
              <a:t>Works on stopped containers too</a:t>
            </a:r>
            <a:endParaRPr lang="en-US" sz="1300" dirty="0"/>
          </a:p>
        </p:txBody>
      </p:sp>
      <p:sp>
        <p:nvSpPr>
          <p:cNvPr id="11" name="docker exec -it card"/>
          <p:cNvSpPr/>
          <p:nvPr/>
        </p:nvSpPr>
        <p:spPr>
          <a:xfrm>
            <a:off x="3264408" y="1097280"/>
            <a:ext cx="2606040" cy="2651760"/>
          </a:xfrm>
          <a:prstGeom prst="roundRect">
            <a:avLst>
              <a:gd name="adj" fmla="val 4211"/>
            </a:avLst>
          </a:prstGeom>
          <a:solidFill>
            <a:schemeClr val="bg2"/>
          </a:solidFill>
          <a:ln w="12700">
            <a:solidFill>
              <a:schemeClr val="bg2"/>
            </a:solidFill>
            <a:prstDash val="solid"/>
          </a:ln>
        </p:spPr>
      </p:sp>
      <p:sp>
        <p:nvSpPr>
          <p:cNvPr id="12" name="docker exec -it circle"/>
          <p:cNvSpPr/>
          <p:nvPr/>
        </p:nvSpPr>
        <p:spPr>
          <a:xfrm>
            <a:off x="3447288" y="1280160"/>
            <a:ext cx="457200" cy="457200"/>
          </a:xfrm>
          <a:prstGeom prst="ellipse">
            <a:avLst/>
          </a:prstGeom>
          <a:solidFill>
            <a:schemeClr val="accent1"/>
          </a:solidFill>
          <a:ln w="12700">
            <a:solidFill>
              <a:schemeClr val="accent1"/>
            </a:solidFill>
            <a:prstDash val="solid"/>
          </a:ln>
        </p:spPr>
      </p:sp>
      <p:pic>
        <p:nvPicPr>
          <p:cNvPr id="13" name="docker exec -it icon" descr="preencoded.png">    </p:cNvPr>
          <p:cNvPicPr>
            <a:picLocks noChangeAspect="1"/>
          </p:cNvPicPr>
          <p:nvPr/>
        </p:nvPicPr>
        <p:blipFill>
          <a:blip r:embed="rId2"/>
          <a:stretch>
            <a:fillRect/>
          </a:stretch>
        </p:blipFill>
        <p:spPr>
          <a:xfrm>
            <a:off x="3538728" y="1371600"/>
            <a:ext cx="274320" cy="274320"/>
          </a:xfrm>
          <a:prstGeom prst="rect">
            <a:avLst/>
          </a:prstGeom>
        </p:spPr>
      </p:pic>
      <p:sp>
        <p:nvSpPr>
          <p:cNvPr id="14" name="Text 9"/>
          <p:cNvSpPr txBox="1"/>
          <p:nvPr/>
        </p:nvSpPr>
        <p:spPr>
          <a:xfrm>
            <a:off x="4041648" y="1280160"/>
            <a:ext cx="1645920" cy="457200"/>
          </a:xfrm>
          <a:prstGeom prst="rect">
            <a:avLst/>
          </a:prstGeom>
          <a:noFill/>
          <a:ln/>
        </p:spPr>
        <p:txBody>
          <a:bodyPr wrap="square" lIns="0" tIns="0" rIns="0" bIns="0" rtlCol="0" anchor="ctr"/>
          <a:lstStyle/>
          <a:p>
            <a:pPr indent="0" marL="0">
              <a:buNone/>
            </a:pPr>
            <a:r>
              <a:rPr lang="en-US" sz="1600" b="1" dirty="0">
                <a:solidFill>
                  <a:schemeClr val="tx1"/>
                </a:solidFill>
              </a:rPr>
              <a:t>docker exec -it</a:t>
            </a:r>
            <a:endParaRPr lang="en-US" sz="1600" dirty="0"/>
          </a:p>
        </p:txBody>
      </p:sp>
      <p:sp>
        <p:nvSpPr>
          <p:cNvPr id="15" name="Text 10"/>
          <p:cNvSpPr txBox="1"/>
          <p:nvPr/>
        </p:nvSpPr>
        <p:spPr>
          <a:xfrm>
            <a:off x="3447288" y="1874520"/>
            <a:ext cx="2240280" cy="17373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docker exec -it c /bin/bash</a:t>
            </a:r>
            <a:endParaRPr lang="en-US" sz="1300" dirty="0"/>
          </a:p>
          <a:p>
            <a:pPr marL="342900" indent="-342900">
              <a:spcAft>
                <a:spcPts val="600"/>
              </a:spcAft>
              <a:buSzPct val="100000"/>
              <a:buChar char="•"/>
            </a:pPr>
            <a:r>
              <a:rPr lang="en-US" sz="1300" dirty="0">
                <a:solidFill>
                  <a:schemeClr val="tx1"/>
                </a:solidFill>
              </a:rPr>
              <a:t>Alpine images: use  sh</a:t>
            </a:r>
            <a:endParaRPr lang="en-US" sz="1300" dirty="0"/>
          </a:p>
          <a:p>
            <a:pPr marL="342900" indent="-342900">
              <a:spcAft>
                <a:spcPts val="600"/>
              </a:spcAft>
              <a:buSzPct val="100000"/>
              <a:buChar char="•"/>
            </a:pPr>
            <a:r>
              <a:rPr lang="en-US" sz="1300" dirty="0">
                <a:solidFill>
                  <a:schemeClr val="tx1"/>
                </a:solidFill>
              </a:rPr>
              <a:t>ls, env, ps, cat config files</a:t>
            </a:r>
            <a:endParaRPr lang="en-US" sz="1300" dirty="0"/>
          </a:p>
          <a:p>
            <a:pPr marL="342900" indent="-342900">
              <a:spcAft>
                <a:spcPts val="600"/>
              </a:spcAft>
              <a:buSzPct val="100000"/>
              <a:buChar char="•"/>
            </a:pPr>
            <a:r>
              <a:rPr lang="en-US" sz="1300" dirty="0">
                <a:solidFill>
                  <a:schemeClr val="tx1"/>
                </a:solidFill>
              </a:rPr>
              <a:t>exit  leaves the shell; the container keeps running</a:t>
            </a:r>
            <a:endParaRPr lang="en-US" sz="1300" dirty="0"/>
          </a:p>
        </p:txBody>
      </p:sp>
      <p:sp>
        <p:nvSpPr>
          <p:cNvPr id="16" name="docker inspect card"/>
          <p:cNvSpPr/>
          <p:nvPr/>
        </p:nvSpPr>
        <p:spPr>
          <a:xfrm>
            <a:off x="6080760" y="1097280"/>
            <a:ext cx="2606040" cy="2651760"/>
          </a:xfrm>
          <a:prstGeom prst="roundRect">
            <a:avLst>
              <a:gd name="adj" fmla="val 4211"/>
            </a:avLst>
          </a:prstGeom>
          <a:solidFill>
            <a:schemeClr val="bg2"/>
          </a:solidFill>
          <a:ln w="12700">
            <a:solidFill>
              <a:schemeClr val="bg2"/>
            </a:solidFill>
            <a:prstDash val="solid"/>
          </a:ln>
        </p:spPr>
      </p:sp>
      <p:sp>
        <p:nvSpPr>
          <p:cNvPr id="17" name="docker inspect circle"/>
          <p:cNvSpPr/>
          <p:nvPr/>
        </p:nvSpPr>
        <p:spPr>
          <a:xfrm>
            <a:off x="6263640" y="1280160"/>
            <a:ext cx="457200" cy="457200"/>
          </a:xfrm>
          <a:prstGeom prst="ellipse">
            <a:avLst/>
          </a:prstGeom>
          <a:solidFill>
            <a:schemeClr val="accent1"/>
          </a:solidFill>
          <a:ln w="12700">
            <a:solidFill>
              <a:schemeClr val="accent1"/>
            </a:solidFill>
            <a:prstDash val="solid"/>
          </a:ln>
        </p:spPr>
      </p:sp>
      <p:pic>
        <p:nvPicPr>
          <p:cNvPr id="18" name="docker inspect icon" descr="preencoded.png">    </p:cNvPr>
          <p:cNvPicPr>
            <a:picLocks noChangeAspect="1"/>
          </p:cNvPicPr>
          <p:nvPr/>
        </p:nvPicPr>
        <p:blipFill>
          <a:blip r:embed="rId3"/>
          <a:stretch>
            <a:fillRect/>
          </a:stretch>
        </p:blipFill>
        <p:spPr>
          <a:xfrm>
            <a:off x="6355080" y="1371600"/>
            <a:ext cx="274320" cy="274320"/>
          </a:xfrm>
          <a:prstGeom prst="rect">
            <a:avLst/>
          </a:prstGeom>
        </p:spPr>
      </p:pic>
      <p:sp>
        <p:nvSpPr>
          <p:cNvPr id="19" name="Text 13"/>
          <p:cNvSpPr txBox="1"/>
          <p:nvPr/>
        </p:nvSpPr>
        <p:spPr>
          <a:xfrm>
            <a:off x="6858000" y="1280160"/>
            <a:ext cx="1645920" cy="457200"/>
          </a:xfrm>
          <a:prstGeom prst="rect">
            <a:avLst/>
          </a:prstGeom>
          <a:noFill/>
          <a:ln/>
        </p:spPr>
        <p:txBody>
          <a:bodyPr wrap="square" lIns="0" tIns="0" rIns="0" bIns="0" rtlCol="0" anchor="ctr"/>
          <a:lstStyle/>
          <a:p>
            <a:pPr indent="0" marL="0">
              <a:buNone/>
            </a:pPr>
            <a:r>
              <a:rPr lang="en-US" sz="1600" b="1" dirty="0">
                <a:solidFill>
                  <a:schemeClr val="tx1"/>
                </a:solidFill>
              </a:rPr>
              <a:t>docker inspect</a:t>
            </a:r>
            <a:endParaRPr lang="en-US" sz="1600" dirty="0"/>
          </a:p>
        </p:txBody>
      </p:sp>
      <p:sp>
        <p:nvSpPr>
          <p:cNvPr id="20" name="Text 14"/>
          <p:cNvSpPr txBox="1"/>
          <p:nvPr/>
        </p:nvSpPr>
        <p:spPr>
          <a:xfrm>
            <a:off x="6263640" y="1874520"/>
            <a:ext cx="2240280" cy="17373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Full JSON of the container</a:t>
            </a:r>
            <a:endParaRPr lang="en-US" sz="1300" dirty="0"/>
          </a:p>
          <a:p>
            <a:pPr marL="342900" indent="-342900">
              <a:spcAft>
                <a:spcPts val="600"/>
              </a:spcAft>
              <a:buSzPct val="100000"/>
              <a:buChar char="•"/>
            </a:pPr>
            <a:r>
              <a:rPr lang="en-US" sz="1300" dirty="0">
                <a:solidFill>
                  <a:schemeClr val="tx1"/>
                </a:solidFill>
              </a:rPr>
              <a:t>IP address, mounts, env, ports</a:t>
            </a:r>
            <a:endParaRPr lang="en-US" sz="1300" dirty="0"/>
          </a:p>
          <a:p>
            <a:pPr marL="342900" indent="-342900">
              <a:spcAft>
                <a:spcPts val="600"/>
              </a:spcAft>
              <a:buSzPct val="100000"/>
              <a:buChar char="•"/>
            </a:pPr>
            <a:r>
              <a:rPr lang="en-US" sz="1300" dirty="0">
                <a:solidFill>
                  <a:schemeClr val="tx1"/>
                </a:solidFill>
              </a:rPr>
              <a:t>docker inspect c | grep IPAddress</a:t>
            </a:r>
            <a:endParaRPr lang="en-US" sz="1300" dirty="0"/>
          </a:p>
          <a:p>
            <a:pPr marL="342900" indent="-342900">
              <a:spcAft>
                <a:spcPts val="600"/>
              </a:spcAft>
              <a:buSzPct val="100000"/>
              <a:buChar char="•"/>
            </a:pPr>
            <a:r>
              <a:rPr lang="en-US" sz="1300" dirty="0">
                <a:solidFill>
                  <a:schemeClr val="tx1"/>
                </a:solidFill>
              </a:rPr>
              <a:t>docker stats  for CPU / memory live</a:t>
            </a:r>
            <a:endParaRPr lang="en-US" sz="1300" dirty="0"/>
          </a:p>
        </p:txBody>
      </p:sp>
      <p:sp>
        <p:nvSpPr>
          <p:cNvPr id="21" name="box A container is a tiny Linux you can walk into. Nothing is hidden; there's just no SSH, because you don't need it."/>
          <p:cNvSpPr/>
          <p:nvPr/>
        </p:nvSpPr>
        <p:spPr>
          <a:xfrm>
            <a:off x="457200" y="4069080"/>
            <a:ext cx="8229600" cy="502920"/>
          </a:xfrm>
          <a:prstGeom prst="roundRect">
            <a:avLst>
              <a:gd name="adj" fmla="val 14545"/>
            </a:avLst>
          </a:prstGeom>
          <a:solidFill>
            <a:schemeClr val="accent1"/>
          </a:solidFill>
          <a:ln w="12700">
            <a:solidFill>
              <a:schemeClr val="accent1"/>
            </a:solidFill>
            <a:prstDash val="solid"/>
          </a:ln>
        </p:spPr>
      </p:sp>
      <p:sp>
        <p:nvSpPr>
          <p:cNvPr id="22" name="box text A container is a tiny Linux you can walk into. Nothing is hidden; there&amp;apos;s just no SSH, because you don&amp;apos;t need it."/>
          <p:cNvSpPr txBox="1"/>
          <p:nvPr/>
        </p:nvSpPr>
        <p:spPr>
          <a:xfrm>
            <a:off x="457200" y="4069080"/>
            <a:ext cx="8229600" cy="502920"/>
          </a:xfrm>
          <a:prstGeom prst="rect">
            <a:avLst/>
          </a:prstGeom>
          <a:noFill/>
          <a:ln/>
        </p:spPr>
        <p:txBody>
          <a:bodyPr wrap="square" lIns="381" tIns="381" rIns="381" bIns="381" rtlCol="0" anchor="ctr"/>
          <a:lstStyle/>
          <a:p>
            <a:pPr algn="ctr" indent="0" marL="0">
              <a:buNone/>
            </a:pPr>
            <a:r>
              <a:rPr lang="en-US" sz="1400" b="1" dirty="0">
                <a:solidFill>
                  <a:schemeClr val="bg1"/>
                </a:solidFill>
              </a:rPr>
              <a:t>A container is a tiny Linux you can walk into. Nothing is hidden; there's just no SSH, because you don't need it.</a:t>
            </a:r>
            <a:endParaRPr lang="en-US" sz="14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Container names, IDs and cleanup</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accent1"/>
          </a:solidFill>
          <a:ln w="12700">
            <a:solidFill>
              <a:schemeClr val="accent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DOCKER</a:t>
            </a:r>
            <a:endParaRPr lang="en-US" sz="900" dirty="0"/>
          </a:p>
        </p:txBody>
      </p:sp>
      <p:sp>
        <p:nvSpPr>
          <p:cNvPr id="6" name="code bg"/>
          <p:cNvSpPr/>
          <p:nvPr/>
        </p:nvSpPr>
        <p:spPr>
          <a:xfrm>
            <a:off x="457200" y="1097280"/>
            <a:ext cx="8229600" cy="2377440"/>
          </a:xfrm>
          <a:prstGeom prst="roundRect">
            <a:avLst>
              <a:gd name="adj" fmla="val 3846"/>
            </a:avLst>
          </a:prstGeom>
          <a:solidFill>
            <a:schemeClr val="tx1"/>
          </a:solidFill>
          <a:ln w="12700">
            <a:solidFill>
              <a:schemeClr val="tx1"/>
            </a:solidFill>
            <a:prstDash val="solid"/>
          </a:ln>
        </p:spPr>
      </p:sp>
      <p:sp>
        <p:nvSpPr>
          <p:cNvPr id="7" name="code"/>
          <p:cNvSpPr txBox="1"/>
          <p:nvPr/>
        </p:nvSpPr>
        <p:spPr>
          <a:xfrm>
            <a:off x="594360" y="1188720"/>
            <a:ext cx="7955280" cy="2194560"/>
          </a:xfrm>
          <a:prstGeom prst="rect">
            <a:avLst/>
          </a:prstGeom>
          <a:noFill/>
          <a:ln/>
        </p:spPr>
        <p:txBody>
          <a:bodyPr wrap="square" lIns="0" tIns="0" rIns="0" bIns="0" rtlCol="0" anchor="t"/>
          <a:lstStyle/>
          <a:p>
            <a:pPr indent="0" marL="0">
              <a:buNone/>
            </a:pPr>
            <a:r>
              <a:rPr lang="en-US" sz="1000" dirty="0">
                <a:solidFill>
                  <a:srgbClr val="E2E8F0"/>
                </a:solidFill>
                <a:latin typeface="Courier New" pitchFamily="34" charset="0"/>
                <a:ea typeface="Courier New" pitchFamily="34" charset="-122"/>
                <a:cs typeface="Courier New" pitchFamily="34" charset="-120"/>
              </a:rPr>
              <a:t>$ docker ps -a</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CONTAINER ID   IMAGE     COMMAND                  STATUS                    PORTS                    NAMES</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3f1a9c2b7d6e   redis:7   "docker-entrypoint.s…"   Up 2 minutes              0.0.0.0:6000-&gt;6379/tcp   redis-1</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8b2c4d1e9f0a   redis:7   "docker-entrypoint.s…"   Exited (0) 10 minutes ago                          brave_lamport</a:t>
            </a:r>
            <a:endParaRPr lang="en-US" sz="1000" dirty="0"/>
          </a:p>
          <a:p>
            <a:pPr indent="0" marL="0">
              <a:buNone/>
            </a:pP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 docker rm 8b2c                       # first chars of the ID are enough</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 docker container prune               # remove ALL stopped containers</a:t>
            </a:r>
            <a:endParaRPr lang="en-US" sz="1000" dirty="0"/>
          </a:p>
          <a:p>
            <a:pPr indent="0" marL="0">
              <a:buNone/>
            </a:pPr>
            <a:r>
              <a:rPr lang="en-US" sz="1000" dirty="0">
                <a:solidFill>
                  <a:srgbClr val="E2E8F0"/>
                </a:solidFill>
                <a:latin typeface="Courier New" pitchFamily="34" charset="0"/>
                <a:ea typeface="Courier New" pitchFamily="34" charset="-122"/>
                <a:cs typeface="Courier New" pitchFamily="34" charset="-120"/>
              </a:rPr>
              <a:t>$ docker system prune                  # also unused images, networks, build cache</a:t>
            </a:r>
            <a:endParaRPr lang="en-US" sz="1000" dirty="0"/>
          </a:p>
        </p:txBody>
      </p:sp>
      <p:sp>
        <p:nvSpPr>
          <p:cNvPr id="8" name="Text 5"/>
          <p:cNvSpPr txBox="1"/>
          <p:nvPr/>
        </p:nvSpPr>
        <p:spPr>
          <a:xfrm>
            <a:off x="457200" y="3657600"/>
            <a:ext cx="8229600" cy="914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Random names (brave_lamport) are what you get without --name</a:t>
            </a:r>
            <a:endParaRPr lang="en-US" sz="1200" dirty="0"/>
          </a:p>
          <a:p>
            <a:pPr marL="342900" indent="-342900">
              <a:spcAft>
                <a:spcPts val="600"/>
              </a:spcAft>
              <a:buSzPct val="100000"/>
              <a:buChar char="•"/>
            </a:pPr>
            <a:r>
              <a:rPr lang="en-US" sz="1200" dirty="0">
                <a:solidFill>
                  <a:schemeClr val="tx1"/>
                </a:solidFill>
              </a:rPr>
              <a:t>STATUS tells you whether it's up or how it exited: Exited (1) = the process failed, read its logs</a:t>
            </a:r>
            <a:endParaRPr lang="en-US" sz="1200" dirty="0"/>
          </a:p>
          <a:p>
            <a:pPr marL="342900" indent="-342900">
              <a:spcAft>
                <a:spcPts val="600"/>
              </a:spcAft>
              <a:buSzPct val="100000"/>
              <a:buChar char="•"/>
            </a:pPr>
            <a:r>
              <a:rPr lang="en-US" sz="1200" dirty="0">
                <a:solidFill>
                  <a:schemeClr val="tx1"/>
                </a:solidFill>
              </a:rPr>
              <a:t>Use --rm for throw-away containers so they clean up after themselves</a:t>
            </a:r>
            <a:endParaRPr lang="en-US" sz="12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914400"/>
          </a:xfrm>
          <a:prstGeom prst="rect">
            <a:avLst/>
          </a:prstGeom>
          <a:noFill/>
          <a:ln/>
        </p:spPr>
        <p:txBody>
          <a:bodyPr wrap="square" lIns="0" tIns="0" rIns="0" bIns="0" rtlCol="0" anchor="b"/>
          <a:lstStyle/>
          <a:p>
            <a:pPr algn="l" indent="0" marL="0">
              <a:buNone/>
            </a:pPr>
            <a:r>
              <a:rPr lang="en-US" sz="4000" b="1" dirty="0">
                <a:solidFill>
                  <a:srgbClr val="FFFFFF"/>
                </a:solidFill>
              </a:rPr>
              <a:t>7 · The demo project: Docker in practice</a:t>
            </a:r>
            <a:endParaRPr lang="en-US" sz="4000" dirty="0"/>
          </a:p>
        </p:txBody>
      </p:sp>
      <p:sp>
        <p:nvSpPr>
          <p:cNvPr id="3" name="Text 0"/>
          <p:cNvSpPr/>
          <p:nvPr>
            <p:ph idx="101" type="body" hasCustomPrompt="1"/>
          </p:nvPr>
        </p:nvSpPr>
        <p:spPr>
          <a:xfrm>
            <a:off x="548640" y="2834640"/>
            <a:ext cx="8046720" cy="822960"/>
          </a:xfrm>
          <a:prstGeom prst="rect">
            <a:avLst/>
          </a:prstGeom>
          <a:noFill/>
          <a:ln/>
        </p:spPr>
        <p:txBody>
          <a:bodyPr wrap="square" lIns="0" tIns="0" rIns="0" bIns="0" rtlCol="0" anchor="t"/>
          <a:lstStyle/>
          <a:p>
            <a:pPr algn="l" indent="0" marL="0">
              <a:buNone/>
            </a:pPr>
            <a:r>
              <a:rPr lang="en-US" sz="1800" dirty="0">
                <a:solidFill>
                  <a:srgbClr val="CBD5E1"/>
                </a:solidFill>
              </a:rPr>
              <a:t>A Node.js app · MongoDB · Mongo Express</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The workflow we'll build, end to end</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accent1"/>
          </a:solidFill>
          <a:ln w="12700">
            <a:solidFill>
              <a:schemeClr val="accent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DOCKER</a:t>
            </a:r>
            <a:endParaRPr lang="en-US" sz="900" dirty="0"/>
          </a:p>
        </p:txBody>
      </p:sp>
      <p:sp>
        <p:nvSpPr>
          <p:cNvPr id="6" name="box Develop locally app runs with node; Mongo + Mongo Express in containers"/>
          <p:cNvSpPr/>
          <p:nvPr/>
        </p:nvSpPr>
        <p:spPr>
          <a:xfrm>
            <a:off x="457200" y="1280160"/>
            <a:ext cx="1484986" cy="1371600"/>
          </a:xfrm>
          <a:prstGeom prst="roundRect">
            <a:avLst>
              <a:gd name="adj" fmla="val 5333"/>
            </a:avLst>
          </a:prstGeom>
          <a:solidFill>
            <a:schemeClr val="accent1"/>
          </a:solidFill>
          <a:ln w="12700">
            <a:solidFill>
              <a:schemeClr val="accent1"/>
            </a:solidFill>
            <a:prstDash val="solid"/>
          </a:ln>
        </p:spPr>
      </p:sp>
      <p:sp>
        <p:nvSpPr>
          <p:cNvPr id="7" name="box text Develop locally app runs with node; Mongo + Mongo Express in containers"/>
          <p:cNvSpPr txBox="1"/>
          <p:nvPr/>
        </p:nvSpPr>
        <p:spPr>
          <a:xfrm>
            <a:off x="457200" y="1280160"/>
            <a:ext cx="1484986" cy="1371600"/>
          </a:xfrm>
          <a:prstGeom prst="rect">
            <a:avLst/>
          </a:prstGeom>
          <a:noFill/>
          <a:ln/>
        </p:spPr>
        <p:txBody>
          <a:bodyPr wrap="square" lIns="381" tIns="381" rIns="381" bIns="381" rtlCol="0" anchor="ctr"/>
          <a:lstStyle/>
          <a:p>
            <a:pPr algn="ctr" indent="0" marL="0">
              <a:buNone/>
            </a:pPr>
            <a:r>
              <a:rPr lang="en-US" sz="1100" b="1" dirty="0">
                <a:solidFill>
                  <a:schemeClr val="bg1"/>
                </a:solidFill>
              </a:rPr>
              <a:t>Develop locally</a:t>
            </a:r>
            <a:endParaRPr lang="en-US" sz="1100" dirty="0"/>
          </a:p>
          <a:p>
            <a:pPr algn="ctr" indent="0" marL="0">
              <a:buNone/>
            </a:pPr>
            <a:r>
              <a:rPr lang="en-US" sz="1100" b="1" dirty="0">
                <a:solidFill>
                  <a:schemeClr val="bg1"/>
                </a:solidFill>
              </a:rPr>
              <a:t>app runs with node;</a:t>
            </a:r>
            <a:endParaRPr lang="en-US" sz="1100" dirty="0"/>
          </a:p>
          <a:p>
            <a:pPr algn="ctr" indent="0" marL="0">
              <a:buNone/>
            </a:pPr>
            <a:r>
              <a:rPr lang="en-US" sz="1100" b="1" dirty="0">
                <a:solidFill>
                  <a:schemeClr val="bg1"/>
                </a:solidFill>
              </a:rPr>
              <a:t>Mongo + Mongo Express</a:t>
            </a:r>
            <a:endParaRPr lang="en-US" sz="1100" dirty="0"/>
          </a:p>
          <a:p>
            <a:pPr algn="ctr" indent="0" marL="0">
              <a:buNone/>
            </a:pPr>
            <a:r>
              <a:rPr lang="en-US" sz="1100" b="1" dirty="0">
                <a:solidFill>
                  <a:schemeClr val="bg1"/>
                </a:solidFill>
              </a:rPr>
              <a:t>in containers</a:t>
            </a:r>
            <a:endParaRPr lang="en-US" sz="1100" dirty="0"/>
          </a:p>
        </p:txBody>
      </p:sp>
      <p:sp>
        <p:nvSpPr>
          <p:cNvPr id="8" name="arrow"/>
          <p:cNvSpPr/>
          <p:nvPr/>
        </p:nvSpPr>
        <p:spPr>
          <a:xfrm>
            <a:off x="1942186" y="1965960"/>
            <a:ext cx="201168" cy="0"/>
          </a:xfrm>
          <a:prstGeom prst="line">
            <a:avLst/>
          </a:prstGeom>
          <a:noFill/>
          <a:ln w="19050">
            <a:solidFill>
              <a:schemeClr val="accent1"/>
            </a:solidFill>
            <a:prstDash val="solid"/>
            <a:tailEnd type="triangle"/>
          </a:ln>
        </p:spPr>
      </p:sp>
      <p:sp>
        <p:nvSpPr>
          <p:cNvPr id="9" name="box Commit to git CI (Jenkins) builds a Docker image"/>
          <p:cNvSpPr/>
          <p:nvPr/>
        </p:nvSpPr>
        <p:spPr>
          <a:xfrm>
            <a:off x="2143354" y="1280160"/>
            <a:ext cx="1484986" cy="1371600"/>
          </a:xfrm>
          <a:prstGeom prst="roundRect">
            <a:avLst>
              <a:gd name="adj" fmla="val 5333"/>
            </a:avLst>
          </a:prstGeom>
          <a:solidFill>
            <a:srgbClr val="E0F2FE"/>
          </a:solidFill>
          <a:ln w="12700">
            <a:solidFill>
              <a:srgbClr val="E0F2FE"/>
            </a:solidFill>
            <a:prstDash val="solid"/>
          </a:ln>
        </p:spPr>
      </p:sp>
      <p:sp>
        <p:nvSpPr>
          <p:cNvPr id="10" name="box text Commit to git CI (Jenkins) builds a Docker image"/>
          <p:cNvSpPr txBox="1"/>
          <p:nvPr/>
        </p:nvSpPr>
        <p:spPr>
          <a:xfrm>
            <a:off x="2143354" y="1280160"/>
            <a:ext cx="1484986" cy="1371600"/>
          </a:xfrm>
          <a:prstGeom prst="rect">
            <a:avLst/>
          </a:prstGeom>
          <a:noFill/>
          <a:ln/>
        </p:spPr>
        <p:txBody>
          <a:bodyPr wrap="square" lIns="381" tIns="381" rIns="381" bIns="381" rtlCol="0" anchor="ctr"/>
          <a:lstStyle/>
          <a:p>
            <a:pPr algn="ctr" indent="0" marL="0">
              <a:buNone/>
            </a:pPr>
            <a:r>
              <a:rPr lang="en-US" sz="1100" b="1" dirty="0">
                <a:solidFill>
                  <a:schemeClr val="tx1"/>
                </a:solidFill>
              </a:rPr>
              <a:t>Commit to git</a:t>
            </a:r>
            <a:endParaRPr lang="en-US" sz="1100" dirty="0"/>
          </a:p>
          <a:p>
            <a:pPr algn="ctr" indent="0" marL="0">
              <a:buNone/>
            </a:pPr>
            <a:r>
              <a:rPr lang="en-US" sz="1100" b="1" dirty="0">
                <a:solidFill>
                  <a:schemeClr val="tx1"/>
                </a:solidFill>
              </a:rPr>
              <a:t>CI (Jenkins) builds</a:t>
            </a:r>
            <a:endParaRPr lang="en-US" sz="1100" dirty="0"/>
          </a:p>
          <a:p>
            <a:pPr algn="ctr" indent="0" marL="0">
              <a:buNone/>
            </a:pPr>
            <a:r>
              <a:rPr lang="en-US" sz="1100" b="1" dirty="0">
                <a:solidFill>
                  <a:schemeClr val="tx1"/>
                </a:solidFill>
              </a:rPr>
              <a:t>a Docker image</a:t>
            </a:r>
            <a:endParaRPr lang="en-US" sz="1100" dirty="0"/>
          </a:p>
        </p:txBody>
      </p:sp>
      <p:sp>
        <p:nvSpPr>
          <p:cNvPr id="11" name="arrow"/>
          <p:cNvSpPr/>
          <p:nvPr/>
        </p:nvSpPr>
        <p:spPr>
          <a:xfrm>
            <a:off x="3628339" y="1965960"/>
            <a:ext cx="201168" cy="0"/>
          </a:xfrm>
          <a:prstGeom prst="line">
            <a:avLst/>
          </a:prstGeom>
          <a:noFill/>
          <a:ln w="19050">
            <a:solidFill>
              <a:schemeClr val="accent1"/>
            </a:solidFill>
            <a:prstDash val="solid"/>
            <a:tailEnd type="triangle"/>
          </a:ln>
        </p:spPr>
      </p:sp>
      <p:sp>
        <p:nvSpPr>
          <p:cNvPr id="12" name="box Push the image to a private registry (AWS ECR)"/>
          <p:cNvSpPr/>
          <p:nvPr/>
        </p:nvSpPr>
        <p:spPr>
          <a:xfrm>
            <a:off x="3829507" y="1280160"/>
            <a:ext cx="1484986" cy="1371600"/>
          </a:xfrm>
          <a:prstGeom prst="roundRect">
            <a:avLst>
              <a:gd name="adj" fmla="val 5333"/>
            </a:avLst>
          </a:prstGeom>
          <a:solidFill>
            <a:srgbClr val="E0F2FE"/>
          </a:solidFill>
          <a:ln w="12700">
            <a:solidFill>
              <a:srgbClr val="E0F2FE"/>
            </a:solidFill>
            <a:prstDash val="solid"/>
          </a:ln>
        </p:spPr>
      </p:sp>
      <p:sp>
        <p:nvSpPr>
          <p:cNvPr id="13" name="box text Push the image to a private registry (AWS ECR)"/>
          <p:cNvSpPr txBox="1"/>
          <p:nvPr/>
        </p:nvSpPr>
        <p:spPr>
          <a:xfrm>
            <a:off x="3829507" y="1280160"/>
            <a:ext cx="1484986" cy="1371600"/>
          </a:xfrm>
          <a:prstGeom prst="rect">
            <a:avLst/>
          </a:prstGeom>
          <a:noFill/>
          <a:ln/>
        </p:spPr>
        <p:txBody>
          <a:bodyPr wrap="square" lIns="381" tIns="381" rIns="381" bIns="381" rtlCol="0" anchor="ctr"/>
          <a:lstStyle/>
          <a:p>
            <a:pPr algn="ctr" indent="0" marL="0">
              <a:buNone/>
            </a:pPr>
            <a:r>
              <a:rPr lang="en-US" sz="1100" b="1" dirty="0">
                <a:solidFill>
                  <a:schemeClr val="tx1"/>
                </a:solidFill>
              </a:rPr>
              <a:t>Push the image</a:t>
            </a:r>
            <a:endParaRPr lang="en-US" sz="1100" dirty="0"/>
          </a:p>
          <a:p>
            <a:pPr algn="ctr" indent="0" marL="0">
              <a:buNone/>
            </a:pPr>
            <a:r>
              <a:rPr lang="en-US" sz="1100" b="1" dirty="0">
                <a:solidFill>
                  <a:schemeClr val="tx1"/>
                </a:solidFill>
              </a:rPr>
              <a:t>to a private</a:t>
            </a:r>
            <a:endParaRPr lang="en-US" sz="1100" dirty="0"/>
          </a:p>
          <a:p>
            <a:pPr algn="ctr" indent="0" marL="0">
              <a:buNone/>
            </a:pPr>
            <a:r>
              <a:rPr lang="en-US" sz="1100" b="1" dirty="0">
                <a:solidFill>
                  <a:schemeClr val="tx1"/>
                </a:solidFill>
              </a:rPr>
              <a:t>registry (AWS ECR)</a:t>
            </a:r>
            <a:endParaRPr lang="en-US" sz="1100" dirty="0"/>
          </a:p>
        </p:txBody>
      </p:sp>
      <p:sp>
        <p:nvSpPr>
          <p:cNvPr id="14" name="arrow"/>
          <p:cNvSpPr/>
          <p:nvPr/>
        </p:nvSpPr>
        <p:spPr>
          <a:xfrm>
            <a:off x="5314493" y="1965960"/>
            <a:ext cx="201168" cy="0"/>
          </a:xfrm>
          <a:prstGeom prst="line">
            <a:avLst/>
          </a:prstGeom>
          <a:noFill/>
          <a:ln w="19050">
            <a:solidFill>
              <a:schemeClr val="accent1"/>
            </a:solidFill>
            <a:prstDash val="solid"/>
            <a:tailEnd type="triangle"/>
          </a:ln>
        </p:spPr>
      </p:sp>
      <p:sp>
        <p:nvSpPr>
          <p:cNvPr id="15" name="box Deploy server pulls image, docker compose up"/>
          <p:cNvSpPr/>
          <p:nvPr/>
        </p:nvSpPr>
        <p:spPr>
          <a:xfrm>
            <a:off x="5515661" y="1280160"/>
            <a:ext cx="1484986" cy="1371600"/>
          </a:xfrm>
          <a:prstGeom prst="roundRect">
            <a:avLst>
              <a:gd name="adj" fmla="val 5333"/>
            </a:avLst>
          </a:prstGeom>
          <a:solidFill>
            <a:srgbClr val="E0F2FE"/>
          </a:solidFill>
          <a:ln w="12700">
            <a:solidFill>
              <a:srgbClr val="E0F2FE"/>
            </a:solidFill>
            <a:prstDash val="solid"/>
          </a:ln>
        </p:spPr>
      </p:sp>
      <p:sp>
        <p:nvSpPr>
          <p:cNvPr id="16" name="box text Deploy server pulls image, docker compose up"/>
          <p:cNvSpPr txBox="1"/>
          <p:nvPr/>
        </p:nvSpPr>
        <p:spPr>
          <a:xfrm>
            <a:off x="5515661" y="1280160"/>
            <a:ext cx="1484986" cy="1371600"/>
          </a:xfrm>
          <a:prstGeom prst="rect">
            <a:avLst/>
          </a:prstGeom>
          <a:noFill/>
          <a:ln/>
        </p:spPr>
        <p:txBody>
          <a:bodyPr wrap="square" lIns="381" tIns="381" rIns="381" bIns="381" rtlCol="0" anchor="ctr"/>
          <a:lstStyle/>
          <a:p>
            <a:pPr algn="ctr" indent="0" marL="0">
              <a:buNone/>
            </a:pPr>
            <a:r>
              <a:rPr lang="en-US" sz="1100" b="1" dirty="0">
                <a:solidFill>
                  <a:schemeClr val="tx1"/>
                </a:solidFill>
              </a:rPr>
              <a:t>Deploy</a:t>
            </a:r>
            <a:endParaRPr lang="en-US" sz="1100" dirty="0"/>
          </a:p>
          <a:p>
            <a:pPr algn="ctr" indent="0" marL="0">
              <a:buNone/>
            </a:pPr>
            <a:r>
              <a:rPr lang="en-US" sz="1100" b="1" dirty="0">
                <a:solidFill>
                  <a:schemeClr val="tx1"/>
                </a:solidFill>
              </a:rPr>
              <a:t>server pulls image,</a:t>
            </a:r>
            <a:endParaRPr lang="en-US" sz="1100" dirty="0"/>
          </a:p>
          <a:p>
            <a:pPr algn="ctr" indent="0" marL="0">
              <a:buNone/>
            </a:pPr>
            <a:r>
              <a:rPr lang="en-US" sz="1100" b="1" dirty="0">
                <a:solidFill>
                  <a:schemeClr val="tx1"/>
                </a:solidFill>
              </a:rPr>
              <a:t>docker compose up</a:t>
            </a:r>
            <a:endParaRPr lang="en-US" sz="1100" dirty="0"/>
          </a:p>
        </p:txBody>
      </p:sp>
      <p:sp>
        <p:nvSpPr>
          <p:cNvPr id="17" name="arrow"/>
          <p:cNvSpPr/>
          <p:nvPr/>
        </p:nvSpPr>
        <p:spPr>
          <a:xfrm>
            <a:off x="7000646" y="1965960"/>
            <a:ext cx="201168" cy="0"/>
          </a:xfrm>
          <a:prstGeom prst="line">
            <a:avLst/>
          </a:prstGeom>
          <a:noFill/>
          <a:ln w="19050">
            <a:solidFill>
              <a:schemeClr val="accent1"/>
            </a:solidFill>
            <a:prstDash val="solid"/>
            <a:tailEnd type="triangle"/>
          </a:ln>
        </p:spPr>
      </p:sp>
      <p:sp>
        <p:nvSpPr>
          <p:cNvPr id="18" name="box Persist volume for Mongo data"/>
          <p:cNvSpPr/>
          <p:nvPr/>
        </p:nvSpPr>
        <p:spPr>
          <a:xfrm>
            <a:off x="7201814" y="1280160"/>
            <a:ext cx="1484986" cy="1371600"/>
          </a:xfrm>
          <a:prstGeom prst="roundRect">
            <a:avLst>
              <a:gd name="adj" fmla="val 5333"/>
            </a:avLst>
          </a:prstGeom>
          <a:solidFill>
            <a:srgbClr val="E0F2FE"/>
          </a:solidFill>
          <a:ln w="12700">
            <a:solidFill>
              <a:srgbClr val="E0F2FE"/>
            </a:solidFill>
            <a:prstDash val="solid"/>
          </a:ln>
        </p:spPr>
      </p:sp>
      <p:sp>
        <p:nvSpPr>
          <p:cNvPr id="19" name="box text Persist volume for Mongo data"/>
          <p:cNvSpPr txBox="1"/>
          <p:nvPr/>
        </p:nvSpPr>
        <p:spPr>
          <a:xfrm>
            <a:off x="7201814" y="1280160"/>
            <a:ext cx="1484986" cy="1371600"/>
          </a:xfrm>
          <a:prstGeom prst="rect">
            <a:avLst/>
          </a:prstGeom>
          <a:noFill/>
          <a:ln/>
        </p:spPr>
        <p:txBody>
          <a:bodyPr wrap="square" lIns="381" tIns="381" rIns="381" bIns="381" rtlCol="0" anchor="ctr"/>
          <a:lstStyle/>
          <a:p>
            <a:pPr algn="ctr" indent="0" marL="0">
              <a:buNone/>
            </a:pPr>
            <a:r>
              <a:rPr lang="en-US" sz="1100" b="1" dirty="0">
                <a:solidFill>
                  <a:schemeClr val="tx1"/>
                </a:solidFill>
              </a:rPr>
              <a:t>Persist</a:t>
            </a:r>
            <a:endParaRPr lang="en-US" sz="1100" dirty="0"/>
          </a:p>
          <a:p>
            <a:pPr algn="ctr" indent="0" marL="0">
              <a:buNone/>
            </a:pPr>
            <a:r>
              <a:rPr lang="en-US" sz="1100" b="1" dirty="0">
                <a:solidFill>
                  <a:schemeClr val="tx1"/>
                </a:solidFill>
              </a:rPr>
              <a:t>volume for</a:t>
            </a:r>
            <a:endParaRPr lang="en-US" sz="1100" dirty="0"/>
          </a:p>
          <a:p>
            <a:pPr algn="ctr" indent="0" marL="0">
              <a:buNone/>
            </a:pPr>
            <a:r>
              <a:rPr lang="en-US" sz="1100" b="1" dirty="0">
                <a:solidFill>
                  <a:schemeClr val="tx1"/>
                </a:solidFill>
              </a:rPr>
              <a:t>Mongo data</a:t>
            </a:r>
            <a:endParaRPr lang="en-US" sz="1100" dirty="0"/>
          </a:p>
        </p:txBody>
      </p:sp>
      <p:sp>
        <p:nvSpPr>
          <p:cNvPr id="20" name="Text 17"/>
          <p:cNvSpPr txBox="1"/>
          <p:nvPr/>
        </p:nvSpPr>
        <p:spPr>
          <a:xfrm>
            <a:off x="457200" y="2697480"/>
            <a:ext cx="1554480" cy="274320"/>
          </a:xfrm>
          <a:prstGeom prst="rect">
            <a:avLst/>
          </a:prstGeom>
          <a:noFill/>
          <a:ln/>
        </p:spPr>
        <p:txBody>
          <a:bodyPr wrap="square" lIns="0" tIns="0" rIns="0" bIns="0" rtlCol="0" anchor="t"/>
          <a:lstStyle/>
          <a:p>
            <a:pPr algn="ctr" indent="0" marL="0">
              <a:buNone/>
            </a:pPr>
            <a:r>
              <a:rPr lang="en-US" sz="1000" dirty="0">
                <a:solidFill>
                  <a:schemeClr val="tx2"/>
                </a:solidFill>
              </a:rPr>
              <a:t>sections 7–8</a:t>
            </a:r>
            <a:endParaRPr lang="en-US" sz="1000" dirty="0"/>
          </a:p>
        </p:txBody>
      </p:sp>
      <p:sp>
        <p:nvSpPr>
          <p:cNvPr id="21" name="Text 18"/>
          <p:cNvSpPr txBox="1"/>
          <p:nvPr/>
        </p:nvSpPr>
        <p:spPr>
          <a:xfrm>
            <a:off x="2148840" y="2697480"/>
            <a:ext cx="1554480" cy="274320"/>
          </a:xfrm>
          <a:prstGeom prst="rect">
            <a:avLst/>
          </a:prstGeom>
          <a:noFill/>
          <a:ln/>
        </p:spPr>
        <p:txBody>
          <a:bodyPr wrap="square" lIns="0" tIns="0" rIns="0" bIns="0" rtlCol="0" anchor="t"/>
          <a:lstStyle/>
          <a:p>
            <a:pPr algn="ctr" indent="0" marL="0">
              <a:buNone/>
            </a:pPr>
            <a:r>
              <a:rPr lang="en-US" sz="1000" dirty="0">
                <a:solidFill>
                  <a:schemeClr val="tx2"/>
                </a:solidFill>
              </a:rPr>
              <a:t>section 9</a:t>
            </a:r>
            <a:endParaRPr lang="en-US" sz="1000" dirty="0"/>
          </a:p>
        </p:txBody>
      </p:sp>
      <p:sp>
        <p:nvSpPr>
          <p:cNvPr id="22" name="Text 19"/>
          <p:cNvSpPr txBox="1"/>
          <p:nvPr/>
        </p:nvSpPr>
        <p:spPr>
          <a:xfrm>
            <a:off x="3840480" y="2697480"/>
            <a:ext cx="1554480" cy="274320"/>
          </a:xfrm>
          <a:prstGeom prst="rect">
            <a:avLst/>
          </a:prstGeom>
          <a:noFill/>
          <a:ln/>
        </p:spPr>
        <p:txBody>
          <a:bodyPr wrap="square" lIns="0" tIns="0" rIns="0" bIns="0" rtlCol="0" anchor="t"/>
          <a:lstStyle/>
          <a:p>
            <a:pPr algn="ctr" indent="0" marL="0">
              <a:buNone/>
            </a:pPr>
            <a:r>
              <a:rPr lang="en-US" sz="1000" dirty="0">
                <a:solidFill>
                  <a:schemeClr val="tx2"/>
                </a:solidFill>
              </a:rPr>
              <a:t>section 10</a:t>
            </a:r>
            <a:endParaRPr lang="en-US" sz="1000" dirty="0"/>
          </a:p>
        </p:txBody>
      </p:sp>
      <p:sp>
        <p:nvSpPr>
          <p:cNvPr id="23" name="Text 20"/>
          <p:cNvSpPr txBox="1"/>
          <p:nvPr/>
        </p:nvSpPr>
        <p:spPr>
          <a:xfrm>
            <a:off x="5532120" y="2697480"/>
            <a:ext cx="1554480" cy="274320"/>
          </a:xfrm>
          <a:prstGeom prst="rect">
            <a:avLst/>
          </a:prstGeom>
          <a:noFill/>
          <a:ln/>
        </p:spPr>
        <p:txBody>
          <a:bodyPr wrap="square" lIns="0" tIns="0" rIns="0" bIns="0" rtlCol="0" anchor="t"/>
          <a:lstStyle/>
          <a:p>
            <a:pPr algn="ctr" indent="0" marL="0">
              <a:buNone/>
            </a:pPr>
            <a:r>
              <a:rPr lang="en-US" sz="1000" dirty="0">
                <a:solidFill>
                  <a:schemeClr val="tx2"/>
                </a:solidFill>
              </a:rPr>
              <a:t>section 11</a:t>
            </a:r>
            <a:endParaRPr lang="en-US" sz="1000" dirty="0"/>
          </a:p>
        </p:txBody>
      </p:sp>
      <p:sp>
        <p:nvSpPr>
          <p:cNvPr id="24" name="Text 21"/>
          <p:cNvSpPr txBox="1"/>
          <p:nvPr/>
        </p:nvSpPr>
        <p:spPr>
          <a:xfrm>
            <a:off x="7223760" y="2697480"/>
            <a:ext cx="1463040" cy="274320"/>
          </a:xfrm>
          <a:prstGeom prst="rect">
            <a:avLst/>
          </a:prstGeom>
          <a:noFill/>
          <a:ln/>
        </p:spPr>
        <p:txBody>
          <a:bodyPr wrap="square" lIns="0" tIns="0" rIns="0" bIns="0" rtlCol="0" anchor="t"/>
          <a:lstStyle/>
          <a:p>
            <a:pPr algn="ctr" indent="0" marL="0">
              <a:buNone/>
            </a:pPr>
            <a:r>
              <a:rPr lang="en-US" sz="1000" dirty="0">
                <a:solidFill>
                  <a:schemeClr val="tx2"/>
                </a:solidFill>
              </a:rPr>
              <a:t>section 12</a:t>
            </a:r>
            <a:endParaRPr lang="en-US" sz="1000" dirty="0"/>
          </a:p>
        </p:txBody>
      </p:sp>
      <p:sp>
        <p:nvSpPr>
          <p:cNvPr id="25" name="The app card"/>
          <p:cNvSpPr/>
          <p:nvPr/>
        </p:nvSpPr>
        <p:spPr>
          <a:xfrm>
            <a:off x="457200" y="3108960"/>
            <a:ext cx="8229600" cy="1371600"/>
          </a:xfrm>
          <a:prstGeom prst="roundRect">
            <a:avLst>
              <a:gd name="adj" fmla="val 8000"/>
            </a:avLst>
          </a:prstGeom>
          <a:solidFill>
            <a:schemeClr val="bg2"/>
          </a:solidFill>
          <a:ln w="12700">
            <a:solidFill>
              <a:schemeClr val="bg2"/>
            </a:solidFill>
            <a:prstDash val="solid"/>
          </a:ln>
        </p:spPr>
      </p:sp>
      <p:sp>
        <p:nvSpPr>
          <p:cNvPr id="26" name="The app circle"/>
          <p:cNvSpPr/>
          <p:nvPr/>
        </p:nvSpPr>
        <p:spPr>
          <a:xfrm>
            <a:off x="640080" y="3291840"/>
            <a:ext cx="457200" cy="457200"/>
          </a:xfrm>
          <a:prstGeom prst="ellipse">
            <a:avLst/>
          </a:prstGeom>
          <a:solidFill>
            <a:schemeClr val="accent1"/>
          </a:solidFill>
          <a:ln w="12700">
            <a:solidFill>
              <a:schemeClr val="accent1"/>
            </a:solidFill>
            <a:prstDash val="solid"/>
          </a:ln>
        </p:spPr>
      </p:sp>
      <p:pic>
        <p:nvPicPr>
          <p:cNvPr id="27" name="The app icon" descr="preencoded.png">    </p:cNvPr>
          <p:cNvPicPr>
            <a:picLocks noChangeAspect="1"/>
          </p:cNvPicPr>
          <p:nvPr/>
        </p:nvPicPr>
        <p:blipFill>
          <a:blip r:embed="rId1"/>
          <a:stretch>
            <a:fillRect/>
          </a:stretch>
        </p:blipFill>
        <p:spPr>
          <a:xfrm>
            <a:off x="731520" y="3383280"/>
            <a:ext cx="274320" cy="274320"/>
          </a:xfrm>
          <a:prstGeom prst="rect">
            <a:avLst/>
          </a:prstGeom>
        </p:spPr>
      </p:pic>
      <p:sp>
        <p:nvSpPr>
          <p:cNvPr id="28" name="Text 24"/>
          <p:cNvSpPr txBox="1"/>
          <p:nvPr/>
        </p:nvSpPr>
        <p:spPr>
          <a:xfrm>
            <a:off x="1234440" y="3291840"/>
            <a:ext cx="7269480" cy="457200"/>
          </a:xfrm>
          <a:prstGeom prst="rect">
            <a:avLst/>
          </a:prstGeom>
          <a:noFill/>
          <a:ln/>
        </p:spPr>
        <p:txBody>
          <a:bodyPr wrap="square" lIns="0" tIns="0" rIns="0" bIns="0" rtlCol="0" anchor="ctr"/>
          <a:lstStyle/>
          <a:p>
            <a:pPr indent="0" marL="0">
              <a:buNone/>
            </a:pPr>
            <a:r>
              <a:rPr lang="en-US" sz="1600" b="1" dirty="0">
                <a:solidFill>
                  <a:schemeClr val="tx1"/>
                </a:solidFill>
              </a:rPr>
              <a:t>The app</a:t>
            </a:r>
            <a:endParaRPr lang="en-US" sz="1600" dirty="0"/>
          </a:p>
        </p:txBody>
      </p:sp>
      <p:sp>
        <p:nvSpPr>
          <p:cNvPr id="29" name="Text 25"/>
          <p:cNvSpPr txBox="1"/>
          <p:nvPr/>
        </p:nvSpPr>
        <p:spPr>
          <a:xfrm>
            <a:off x="640080" y="3886200"/>
            <a:ext cx="7863840" cy="457200"/>
          </a:xfrm>
          <a:prstGeom prst="rect">
            <a:avLst/>
          </a:prstGeom>
          <a:noFill/>
          <a:ln/>
        </p:spPr>
        <p:txBody>
          <a:bodyPr wrap="square" lIns="0" tIns="0" rIns="0" bIns="0" rtlCol="0" anchor="t"/>
          <a:lstStyle/>
          <a:p>
            <a:pPr indent="0" marL="0">
              <a:buNone/>
            </a:pPr>
            <a:r>
              <a:rPr lang="en-US" sz="1300" dirty="0">
                <a:solidFill>
                  <a:schemeClr val="tx1"/>
                </a:solidFill>
              </a:rPr>
              <a:t>Express server on port 3000 serving an HTML profile page. Saving the form writes a document to MongoDB (database user-account, collection users). Mongo Express on port 8081 lets you browse that data in the browser.</a:t>
            </a:r>
            <a:endParaRPr lang="en-US" sz="13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Docker network: containers find each other by name</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accent1"/>
          </a:solidFill>
          <a:ln w="12700">
            <a:solidFill>
              <a:schemeClr val="accent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DOCKER</a:t>
            </a:r>
            <a:endParaRPr lang="en-US" sz="900" dirty="0"/>
          </a:p>
        </p:txBody>
      </p:sp>
      <p:sp>
        <p:nvSpPr>
          <p:cNvPr id="6" name="network box"/>
          <p:cNvSpPr/>
          <p:nvPr/>
        </p:nvSpPr>
        <p:spPr>
          <a:xfrm>
            <a:off x="3108960" y="1097280"/>
            <a:ext cx="5577840" cy="2103120"/>
          </a:xfrm>
          <a:prstGeom prst="roundRect">
            <a:avLst>
              <a:gd name="adj" fmla="val 4348"/>
            </a:avLst>
          </a:prstGeom>
          <a:solidFill>
            <a:srgbClr val="E0F2FE"/>
          </a:solidFill>
          <a:ln w="12700">
            <a:solidFill>
              <a:srgbClr val="E0F2FE"/>
            </a:solidFill>
            <a:prstDash val="solid"/>
          </a:ln>
        </p:spPr>
      </p:sp>
      <p:sp>
        <p:nvSpPr>
          <p:cNvPr id="7" name="Text 4"/>
          <p:cNvSpPr txBox="1"/>
          <p:nvPr/>
        </p:nvSpPr>
        <p:spPr>
          <a:xfrm>
            <a:off x="3246120" y="1161288"/>
            <a:ext cx="5303520" cy="274320"/>
          </a:xfrm>
          <a:prstGeom prst="rect">
            <a:avLst/>
          </a:prstGeom>
          <a:noFill/>
          <a:ln/>
        </p:spPr>
        <p:txBody>
          <a:bodyPr wrap="square" lIns="0" tIns="0" rIns="0" bIns="0" rtlCol="0" anchor="t"/>
          <a:lstStyle/>
          <a:p>
            <a:pPr indent="0" marL="0">
              <a:buNone/>
            </a:pPr>
            <a:r>
              <a:rPr lang="en-US" sz="1200" b="1" dirty="0">
                <a:solidFill>
                  <a:schemeClr val="accent1"/>
                </a:solidFill>
              </a:rPr>
              <a:t>docker network: mongo-network</a:t>
            </a:r>
            <a:endParaRPr lang="en-US" sz="1200" dirty="0"/>
          </a:p>
        </p:txBody>
      </p:sp>
      <p:sp>
        <p:nvSpPr>
          <p:cNvPr id="8" name="box mongodb mongo:7 :27017"/>
          <p:cNvSpPr/>
          <p:nvPr/>
        </p:nvSpPr>
        <p:spPr>
          <a:xfrm>
            <a:off x="3291840" y="1554480"/>
            <a:ext cx="2468880" cy="1097280"/>
          </a:xfrm>
          <a:prstGeom prst="roundRect">
            <a:avLst>
              <a:gd name="adj" fmla="val 6667"/>
            </a:avLst>
          </a:prstGeom>
          <a:solidFill>
            <a:schemeClr val="accent1"/>
          </a:solidFill>
          <a:ln w="12700">
            <a:solidFill>
              <a:schemeClr val="accent1"/>
            </a:solidFill>
            <a:prstDash val="solid"/>
          </a:ln>
        </p:spPr>
      </p:sp>
      <p:sp>
        <p:nvSpPr>
          <p:cNvPr id="9" name="box text mongodb mongo:7 :27017"/>
          <p:cNvSpPr txBox="1"/>
          <p:nvPr/>
        </p:nvSpPr>
        <p:spPr>
          <a:xfrm>
            <a:off x="3291840" y="1554480"/>
            <a:ext cx="2468880" cy="1097280"/>
          </a:xfrm>
          <a:prstGeom prst="rect">
            <a:avLst/>
          </a:prstGeom>
          <a:noFill/>
          <a:ln/>
        </p:spPr>
        <p:txBody>
          <a:bodyPr wrap="square" lIns="381" tIns="381" rIns="381" bIns="381" rtlCol="0" anchor="ctr"/>
          <a:lstStyle/>
          <a:p>
            <a:pPr algn="ctr" indent="0" marL="0">
              <a:buNone/>
            </a:pPr>
            <a:r>
              <a:rPr lang="en-US" sz="1200" b="1" dirty="0">
                <a:solidFill>
                  <a:schemeClr val="bg1"/>
                </a:solidFill>
              </a:rPr>
              <a:t>mongodb</a:t>
            </a:r>
            <a:endParaRPr lang="en-US" sz="1200" dirty="0"/>
          </a:p>
          <a:p>
            <a:pPr algn="ctr" indent="0" marL="0">
              <a:buNone/>
            </a:pPr>
            <a:r>
              <a:rPr lang="en-US" sz="1200" b="1" dirty="0">
                <a:solidFill>
                  <a:schemeClr val="bg1"/>
                </a:solidFill>
              </a:rPr>
              <a:t>mongo:7</a:t>
            </a:r>
            <a:endParaRPr lang="en-US" sz="1200" dirty="0"/>
          </a:p>
          <a:p>
            <a:pPr algn="ctr" indent="0" marL="0">
              <a:buNone/>
            </a:pPr>
            <a:r>
              <a:rPr lang="en-US" sz="1200" b="1" dirty="0">
                <a:solidFill>
                  <a:schemeClr val="bg1"/>
                </a:solidFill>
              </a:rPr>
              <a:t>:27017</a:t>
            </a:r>
            <a:endParaRPr lang="en-US" sz="1200" dirty="0"/>
          </a:p>
        </p:txBody>
      </p:sp>
      <p:sp>
        <p:nvSpPr>
          <p:cNvPr id="10" name="box mongo-express mongo-express :8081"/>
          <p:cNvSpPr/>
          <p:nvPr/>
        </p:nvSpPr>
        <p:spPr>
          <a:xfrm>
            <a:off x="6035040" y="1554480"/>
            <a:ext cx="2468880" cy="1097280"/>
          </a:xfrm>
          <a:prstGeom prst="roundRect">
            <a:avLst>
              <a:gd name="adj" fmla="val 6667"/>
            </a:avLst>
          </a:prstGeom>
          <a:solidFill>
            <a:schemeClr val="accent1"/>
          </a:solidFill>
          <a:ln w="12700">
            <a:solidFill>
              <a:schemeClr val="accent1"/>
            </a:solidFill>
            <a:prstDash val="solid"/>
          </a:ln>
        </p:spPr>
      </p:sp>
      <p:sp>
        <p:nvSpPr>
          <p:cNvPr id="11" name="box text mongo-express mongo-express :8081"/>
          <p:cNvSpPr txBox="1"/>
          <p:nvPr/>
        </p:nvSpPr>
        <p:spPr>
          <a:xfrm>
            <a:off x="6035040" y="1554480"/>
            <a:ext cx="2468880" cy="1097280"/>
          </a:xfrm>
          <a:prstGeom prst="rect">
            <a:avLst/>
          </a:prstGeom>
          <a:noFill/>
          <a:ln/>
        </p:spPr>
        <p:txBody>
          <a:bodyPr wrap="square" lIns="381" tIns="381" rIns="381" bIns="381" rtlCol="0" anchor="ctr"/>
          <a:lstStyle/>
          <a:p>
            <a:pPr algn="ctr" indent="0" marL="0">
              <a:buNone/>
            </a:pPr>
            <a:r>
              <a:rPr lang="en-US" sz="1200" b="1" dirty="0">
                <a:solidFill>
                  <a:schemeClr val="bg1"/>
                </a:solidFill>
              </a:rPr>
              <a:t>mongo-express</a:t>
            </a:r>
            <a:endParaRPr lang="en-US" sz="1200" dirty="0"/>
          </a:p>
          <a:p>
            <a:pPr algn="ctr" indent="0" marL="0">
              <a:buNone/>
            </a:pPr>
            <a:r>
              <a:rPr lang="en-US" sz="1200" b="1" dirty="0">
                <a:solidFill>
                  <a:schemeClr val="bg1"/>
                </a:solidFill>
              </a:rPr>
              <a:t>mongo-express</a:t>
            </a:r>
            <a:endParaRPr lang="en-US" sz="1200" dirty="0"/>
          </a:p>
          <a:p>
            <a:pPr algn="ctr" indent="0" marL="0">
              <a:buNone/>
            </a:pPr>
            <a:r>
              <a:rPr lang="en-US" sz="1200" b="1" dirty="0">
                <a:solidFill>
                  <a:schemeClr val="bg1"/>
                </a:solidFill>
              </a:rPr>
              <a:t>:8081</a:t>
            </a:r>
            <a:endParaRPr lang="en-US" sz="1200" dirty="0"/>
          </a:p>
        </p:txBody>
      </p:sp>
      <p:sp>
        <p:nvSpPr>
          <p:cNvPr id="12" name="arrow"/>
          <p:cNvSpPr/>
          <p:nvPr/>
        </p:nvSpPr>
        <p:spPr>
          <a:xfrm flipH="1">
            <a:off x="5760720" y="2103120"/>
            <a:ext cx="274320" cy="0"/>
          </a:xfrm>
          <a:prstGeom prst="line">
            <a:avLst/>
          </a:prstGeom>
          <a:noFill/>
          <a:ln w="19050">
            <a:solidFill>
              <a:schemeClr val="accent1"/>
            </a:solidFill>
            <a:prstDash val="solid"/>
            <a:tailEnd type="triangle"/>
          </a:ln>
        </p:spPr>
      </p:sp>
      <p:sp>
        <p:nvSpPr>
          <p:cNvPr id="13" name="Text 10"/>
          <p:cNvSpPr txBox="1"/>
          <p:nvPr/>
        </p:nvSpPr>
        <p:spPr>
          <a:xfrm>
            <a:off x="3291840" y="2743200"/>
            <a:ext cx="5212080" cy="274320"/>
          </a:xfrm>
          <a:prstGeom prst="rect">
            <a:avLst/>
          </a:prstGeom>
          <a:noFill/>
          <a:ln/>
        </p:spPr>
        <p:txBody>
          <a:bodyPr wrap="square" lIns="0" tIns="0" rIns="0" bIns="0" rtlCol="0" anchor="t"/>
          <a:lstStyle/>
          <a:p>
            <a:pPr algn="ctr" indent="0" marL="0">
              <a:buNone/>
            </a:pPr>
            <a:r>
              <a:rPr lang="en-US" sz="1000" dirty="0">
                <a:solidFill>
                  <a:schemeClr val="accent1"/>
                </a:solidFill>
                <a:latin typeface="Courier New" pitchFamily="34" charset="0"/>
                <a:ea typeface="Courier New" pitchFamily="34" charset="-122"/>
                <a:cs typeface="Courier New" pitchFamily="34" charset="-120"/>
              </a:rPr>
              <a:t>ME_CONFIG_MONGODB_SERVER=mongodb  (by name!)</a:t>
            </a:r>
            <a:endParaRPr lang="en-US" sz="1000" dirty="0"/>
          </a:p>
        </p:txBody>
      </p:sp>
      <p:sp>
        <p:nvSpPr>
          <p:cNvPr id="14" name="box Node app node server.js on the host :3000"/>
          <p:cNvSpPr/>
          <p:nvPr/>
        </p:nvSpPr>
        <p:spPr>
          <a:xfrm>
            <a:off x="457200" y="1280160"/>
            <a:ext cx="2194560" cy="914400"/>
          </a:xfrm>
          <a:prstGeom prst="roundRect">
            <a:avLst>
              <a:gd name="adj" fmla="val 8000"/>
            </a:avLst>
          </a:prstGeom>
          <a:solidFill>
            <a:srgbClr val="F1F5F9"/>
          </a:solidFill>
          <a:ln w="12700">
            <a:solidFill>
              <a:srgbClr val="F1F5F9"/>
            </a:solidFill>
            <a:prstDash val="solid"/>
          </a:ln>
        </p:spPr>
      </p:sp>
      <p:sp>
        <p:nvSpPr>
          <p:cNvPr id="15" name="box text Node app node server.js on the host :3000"/>
          <p:cNvSpPr txBox="1"/>
          <p:nvPr/>
        </p:nvSpPr>
        <p:spPr>
          <a:xfrm>
            <a:off x="457200" y="1280160"/>
            <a:ext cx="2194560" cy="914400"/>
          </a:xfrm>
          <a:prstGeom prst="rect">
            <a:avLst/>
          </a:prstGeom>
          <a:noFill/>
          <a:ln/>
        </p:spPr>
        <p:txBody>
          <a:bodyPr wrap="square" lIns="381" tIns="381" rIns="381" bIns="381" rtlCol="0" anchor="ctr"/>
          <a:lstStyle/>
          <a:p>
            <a:pPr algn="ctr" indent="0" marL="0">
              <a:buNone/>
            </a:pPr>
            <a:r>
              <a:rPr lang="en-US" sz="1100" b="1" dirty="0">
                <a:solidFill>
                  <a:schemeClr val="tx1"/>
                </a:solidFill>
              </a:rPr>
              <a:t>Node app</a:t>
            </a:r>
            <a:endParaRPr lang="en-US" sz="1100" dirty="0"/>
          </a:p>
          <a:p>
            <a:pPr algn="ctr" indent="0" marL="0">
              <a:buNone/>
            </a:pPr>
            <a:r>
              <a:rPr lang="en-US" sz="1100" b="1" dirty="0">
                <a:solidFill>
                  <a:schemeClr val="tx1"/>
                </a:solidFill>
              </a:rPr>
              <a:t>node server.js</a:t>
            </a:r>
            <a:endParaRPr lang="en-US" sz="1100" dirty="0"/>
          </a:p>
          <a:p>
            <a:pPr algn="ctr" indent="0" marL="0">
              <a:buNone/>
            </a:pPr>
            <a:r>
              <a:rPr lang="en-US" sz="1100" b="1" dirty="0">
                <a:solidFill>
                  <a:schemeClr val="tx1"/>
                </a:solidFill>
              </a:rPr>
              <a:t>on the host :3000</a:t>
            </a:r>
            <a:endParaRPr lang="en-US" sz="1100" dirty="0"/>
          </a:p>
        </p:txBody>
      </p:sp>
      <p:sp>
        <p:nvSpPr>
          <p:cNvPr id="16" name="arrow"/>
          <p:cNvSpPr/>
          <p:nvPr/>
        </p:nvSpPr>
        <p:spPr>
          <a:xfrm>
            <a:off x="2651760" y="1737360"/>
            <a:ext cx="640080" cy="182880"/>
          </a:xfrm>
          <a:prstGeom prst="line">
            <a:avLst/>
          </a:prstGeom>
          <a:noFill/>
          <a:ln w="19050">
            <a:solidFill>
              <a:schemeClr val="accent1"/>
            </a:solidFill>
            <a:prstDash val="solid"/>
            <a:tailEnd type="triangle"/>
          </a:ln>
        </p:spPr>
      </p:sp>
      <p:sp>
        <p:nvSpPr>
          <p:cNvPr id="17" name="Text 14"/>
          <p:cNvSpPr txBox="1"/>
          <p:nvPr/>
        </p:nvSpPr>
        <p:spPr>
          <a:xfrm>
            <a:off x="2377440" y="2194560"/>
            <a:ext cx="1097280" cy="457200"/>
          </a:xfrm>
          <a:prstGeom prst="rect">
            <a:avLst/>
          </a:prstGeom>
          <a:noFill/>
          <a:ln/>
        </p:spPr>
        <p:txBody>
          <a:bodyPr wrap="square" lIns="0" tIns="0" rIns="0" bIns="0" rtlCol="0" anchor="t"/>
          <a:lstStyle/>
          <a:p>
            <a:pPr algn="ctr" indent="0" marL="0">
              <a:buNone/>
            </a:pPr>
            <a:r>
              <a:rPr lang="en-US" sz="800" dirty="0">
                <a:solidFill>
                  <a:schemeClr val="tx2"/>
                </a:solidFill>
              </a:rPr>
              <a:t>localhost:27017</a:t>
            </a:r>
            <a:endParaRPr lang="en-US" sz="800" dirty="0"/>
          </a:p>
          <a:p>
            <a:pPr algn="ctr" indent="0" marL="0">
              <a:buNone/>
            </a:pPr>
            <a:r>
              <a:rPr lang="en-US" sz="800" dirty="0">
                <a:solidFill>
                  <a:schemeClr val="tx2"/>
                </a:solidFill>
              </a:rPr>
              <a:t>(via -p)</a:t>
            </a:r>
            <a:endParaRPr lang="en-US" sz="800" dirty="0"/>
          </a:p>
        </p:txBody>
      </p:sp>
      <p:sp>
        <p:nvSpPr>
          <p:cNvPr id="18" name="box Browser :3000 app · :8081 admin"/>
          <p:cNvSpPr/>
          <p:nvPr/>
        </p:nvSpPr>
        <p:spPr>
          <a:xfrm>
            <a:off x="457200" y="2468880"/>
            <a:ext cx="2194560" cy="731520"/>
          </a:xfrm>
          <a:prstGeom prst="roundRect">
            <a:avLst>
              <a:gd name="adj" fmla="val 10000"/>
            </a:avLst>
          </a:prstGeom>
          <a:solidFill>
            <a:srgbClr val="F1F5F9"/>
          </a:solidFill>
          <a:ln w="12700">
            <a:solidFill>
              <a:srgbClr val="F1F5F9"/>
            </a:solidFill>
            <a:prstDash val="solid"/>
          </a:ln>
        </p:spPr>
      </p:sp>
      <p:sp>
        <p:nvSpPr>
          <p:cNvPr id="19" name="box text Browser :3000 app · :8081 admin"/>
          <p:cNvSpPr txBox="1"/>
          <p:nvPr/>
        </p:nvSpPr>
        <p:spPr>
          <a:xfrm>
            <a:off x="457200" y="2468880"/>
            <a:ext cx="2194560" cy="731520"/>
          </a:xfrm>
          <a:prstGeom prst="rect">
            <a:avLst/>
          </a:prstGeom>
          <a:noFill/>
          <a:ln/>
        </p:spPr>
        <p:txBody>
          <a:bodyPr wrap="square" lIns="381" tIns="381" rIns="381" bIns="381" rtlCol="0" anchor="ctr"/>
          <a:lstStyle/>
          <a:p>
            <a:pPr algn="ctr" indent="0" marL="0">
              <a:buNone/>
            </a:pPr>
            <a:r>
              <a:rPr lang="en-US" sz="1100" b="1" dirty="0">
                <a:solidFill>
                  <a:schemeClr val="tx1"/>
                </a:solidFill>
              </a:rPr>
              <a:t>Browser</a:t>
            </a:r>
            <a:endParaRPr lang="en-US" sz="1100" dirty="0"/>
          </a:p>
          <a:p>
            <a:pPr algn="ctr" indent="0" marL="0">
              <a:buNone/>
            </a:pPr>
            <a:r>
              <a:rPr lang="en-US" sz="1100" b="1" dirty="0">
                <a:solidFill>
                  <a:schemeClr val="tx1"/>
                </a:solidFill>
              </a:rPr>
              <a:t>:3000 app · :8081 admin</a:t>
            </a:r>
            <a:endParaRPr lang="en-US" sz="1100" dirty="0"/>
          </a:p>
        </p:txBody>
      </p:sp>
      <p:sp>
        <p:nvSpPr>
          <p:cNvPr id="20" name="code bg"/>
          <p:cNvSpPr/>
          <p:nvPr/>
        </p:nvSpPr>
        <p:spPr>
          <a:xfrm>
            <a:off x="457200" y="3337560"/>
            <a:ext cx="8229600" cy="1234440"/>
          </a:xfrm>
          <a:prstGeom prst="roundRect">
            <a:avLst>
              <a:gd name="adj" fmla="val 7407"/>
            </a:avLst>
          </a:prstGeom>
          <a:solidFill>
            <a:schemeClr val="tx1"/>
          </a:solidFill>
          <a:ln w="12700">
            <a:solidFill>
              <a:schemeClr val="tx1"/>
            </a:solidFill>
            <a:prstDash val="solid"/>
          </a:ln>
        </p:spPr>
      </p:sp>
      <p:sp>
        <p:nvSpPr>
          <p:cNvPr id="21" name="code"/>
          <p:cNvSpPr txBox="1"/>
          <p:nvPr/>
        </p:nvSpPr>
        <p:spPr>
          <a:xfrm>
            <a:off x="594360" y="3429000"/>
            <a:ext cx="7955280" cy="1051560"/>
          </a:xfrm>
          <a:prstGeom prst="rect">
            <a:avLst/>
          </a:prstGeom>
          <a:noFill/>
          <a:ln/>
        </p:spPr>
        <p:txBody>
          <a:bodyPr wrap="square" lIns="0" tIns="0" rIns="0" bIns="0" rtlCol="0" anchor="t"/>
          <a:lstStyle/>
          <a:p>
            <a:pPr indent="0" marL="0">
              <a:buNone/>
            </a:pPr>
            <a:r>
              <a:rPr lang="en-US" sz="850" dirty="0">
                <a:solidFill>
                  <a:srgbClr val="E2E8F0"/>
                </a:solidFill>
                <a:latin typeface="Courier New" pitchFamily="34" charset="0"/>
                <a:ea typeface="Courier New" pitchFamily="34" charset="-122"/>
                <a:cs typeface="Courier New" pitchFamily="34" charset="-120"/>
              </a:rPr>
              <a:t>docker network create mongo-network</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docker run -d --name mongodb --network mongo-network -p 27017:27017 \</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  -e MONGO_INITDB_ROOT_USERNAME=admin -e MONGO_INITDB_ROOT_PASSWORD=password mongo:7</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docker run -d --name mongo-express --network mongo-network -p 8081:8081 \</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  -e ME_CONFIG_MONGODB_SERVER=mongodb \</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  -e ME_CONFIG_MONGODB_ADMINUSERNAME=admin -e ME_CONFIG_MONGODB_ADMINPASSWORD=password mongo-express</a:t>
            </a:r>
            <a:endParaRPr lang="en-US" sz="85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Connecting the app: the connection string</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accent1"/>
          </a:solidFill>
          <a:ln w="12700">
            <a:solidFill>
              <a:schemeClr val="accent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DOCKER</a:t>
            </a:r>
            <a:endParaRPr lang="en-US" sz="900" dirty="0"/>
          </a:p>
        </p:txBody>
      </p:sp>
      <p:sp>
        <p:nvSpPr>
          <p:cNvPr id="6" name="code bg"/>
          <p:cNvSpPr/>
          <p:nvPr/>
        </p:nvSpPr>
        <p:spPr>
          <a:xfrm>
            <a:off x="457200" y="1097280"/>
            <a:ext cx="5120640" cy="2743200"/>
          </a:xfrm>
          <a:prstGeom prst="roundRect">
            <a:avLst>
              <a:gd name="adj" fmla="val 3333"/>
            </a:avLst>
          </a:prstGeom>
          <a:solidFill>
            <a:schemeClr val="tx1"/>
          </a:solidFill>
          <a:ln w="12700">
            <a:solidFill>
              <a:schemeClr val="tx1"/>
            </a:solidFill>
            <a:prstDash val="solid"/>
          </a:ln>
        </p:spPr>
      </p:sp>
      <p:sp>
        <p:nvSpPr>
          <p:cNvPr id="7" name="code"/>
          <p:cNvSpPr txBox="1"/>
          <p:nvPr/>
        </p:nvSpPr>
        <p:spPr>
          <a:xfrm>
            <a:off x="594360" y="1188720"/>
            <a:ext cx="4846320" cy="2560320"/>
          </a:xfrm>
          <a:prstGeom prst="rect">
            <a:avLst/>
          </a:prstGeom>
          <a:noFill/>
          <a:ln/>
        </p:spPr>
        <p:txBody>
          <a:bodyPr wrap="square" lIns="0" tIns="0" rIns="0" bIns="0" rtlCol="0" anchor="t"/>
          <a:lstStyle/>
          <a:p>
            <a:pPr indent="0" marL="0">
              <a:buNone/>
            </a:pPr>
            <a:r>
              <a:rPr lang="en-US" sz="900" dirty="0">
                <a:solidFill>
                  <a:srgbClr val="E2E8F0"/>
                </a:solidFill>
                <a:latin typeface="Courier New" pitchFamily="34" charset="0"/>
                <a:ea typeface="Courier New" pitchFamily="34" charset="-122"/>
                <a:cs typeface="Courier New" pitchFamily="34" charset="-120"/>
              </a:rPr>
              <a:t>// server.js (running on the host during development)</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const MongoClient = require("mongodb").MongoClient;</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const mongoUrl = "mongodb://admin:password@localhost:27017";</a:t>
            </a:r>
            <a:endParaRPr lang="en-US" sz="900" dirty="0"/>
          </a:p>
          <a:p>
            <a:pPr indent="0" marL="0">
              <a:buNone/>
            </a:pP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app.post("/update-profile", async (req, res) =&gt; {</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const client = await MongoClient.connect(mongoUrl);</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const db = client.db("user-account");</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await db.collection("users").updateOne({ userid: 1 }, { $set: req.body }, { upsert: true });</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res.send(req.body);</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a:t>
            </a:r>
            <a:endParaRPr lang="en-US" sz="900" dirty="0"/>
          </a:p>
        </p:txBody>
      </p:sp>
      <p:sp>
        <p:nvSpPr>
          <p:cNvPr id="8" name="Where is 'localhost'? card"/>
          <p:cNvSpPr/>
          <p:nvPr/>
        </p:nvSpPr>
        <p:spPr>
          <a:xfrm>
            <a:off x="5760720" y="1097280"/>
            <a:ext cx="2926080" cy="2743200"/>
          </a:xfrm>
          <a:prstGeom prst="roundRect">
            <a:avLst>
              <a:gd name="adj" fmla="val 4000"/>
            </a:avLst>
          </a:prstGeom>
          <a:solidFill>
            <a:srgbClr val="FEE2E2"/>
          </a:solidFill>
          <a:ln w="12700">
            <a:solidFill>
              <a:srgbClr val="FEE2E2"/>
            </a:solidFill>
            <a:prstDash val="solid"/>
          </a:ln>
        </p:spPr>
      </p:sp>
      <p:sp>
        <p:nvSpPr>
          <p:cNvPr id="9" name="Where is 'localhost'? circle"/>
          <p:cNvSpPr/>
          <p:nvPr/>
        </p:nvSpPr>
        <p:spPr>
          <a:xfrm>
            <a:off x="5943600" y="1280160"/>
            <a:ext cx="457200" cy="457200"/>
          </a:xfrm>
          <a:prstGeom prst="ellipse">
            <a:avLst/>
          </a:prstGeom>
          <a:solidFill>
            <a:schemeClr val="accent5"/>
          </a:solidFill>
          <a:ln w="12700">
            <a:solidFill>
              <a:schemeClr val="accent5"/>
            </a:solidFill>
            <a:prstDash val="solid"/>
          </a:ln>
        </p:spPr>
      </p:sp>
      <p:pic>
        <p:nvPicPr>
          <p:cNvPr id="10" name="Where is 'localhost'? icon" descr="preencoded.png">    </p:cNvPr>
          <p:cNvPicPr>
            <a:picLocks noChangeAspect="1"/>
          </p:cNvPicPr>
          <p:nvPr/>
        </p:nvPicPr>
        <p:blipFill>
          <a:blip r:embed="rId1"/>
          <a:stretch>
            <a:fillRect/>
          </a:stretch>
        </p:blipFill>
        <p:spPr>
          <a:xfrm>
            <a:off x="6035040" y="1371600"/>
            <a:ext cx="274320" cy="274320"/>
          </a:xfrm>
          <a:prstGeom prst="rect">
            <a:avLst/>
          </a:prstGeom>
        </p:spPr>
      </p:pic>
      <p:sp>
        <p:nvSpPr>
          <p:cNvPr id="11" name="Text 7"/>
          <p:cNvSpPr txBox="1"/>
          <p:nvPr/>
        </p:nvSpPr>
        <p:spPr>
          <a:xfrm>
            <a:off x="6537960" y="1280160"/>
            <a:ext cx="1965960" cy="457200"/>
          </a:xfrm>
          <a:prstGeom prst="rect">
            <a:avLst/>
          </a:prstGeom>
          <a:noFill/>
          <a:ln/>
        </p:spPr>
        <p:txBody>
          <a:bodyPr wrap="square" lIns="0" tIns="0" rIns="0" bIns="0" rtlCol="0" anchor="ctr"/>
          <a:lstStyle/>
          <a:p>
            <a:pPr indent="0" marL="0">
              <a:buNone/>
            </a:pPr>
            <a:r>
              <a:rPr lang="en-US" sz="1600" b="1" dirty="0">
                <a:solidFill>
                  <a:schemeClr val="tx1"/>
                </a:solidFill>
              </a:rPr>
              <a:t>Where is 'localhost'?</a:t>
            </a:r>
            <a:endParaRPr lang="en-US" sz="1600" dirty="0"/>
          </a:p>
        </p:txBody>
      </p:sp>
      <p:sp>
        <p:nvSpPr>
          <p:cNvPr id="12" name="Text 8"/>
          <p:cNvSpPr txBox="1"/>
          <p:nvPr/>
        </p:nvSpPr>
        <p:spPr>
          <a:xfrm>
            <a:off x="5943600" y="1874520"/>
            <a:ext cx="2560320"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App on host → localhost = your machine → Mongo via -p 27017</a:t>
            </a:r>
            <a:endParaRPr lang="en-US" sz="1300" dirty="0"/>
          </a:p>
          <a:p>
            <a:pPr marL="342900" indent="-342900">
              <a:spcAft>
                <a:spcPts val="600"/>
              </a:spcAft>
              <a:buSzPct val="100000"/>
              <a:buChar char="•"/>
            </a:pPr>
            <a:r>
              <a:rPr lang="en-US" sz="1300" dirty="0">
                <a:solidFill>
                  <a:schemeClr val="tx1"/>
                </a:solidFill>
              </a:rPr>
              <a:t>App in a container → localhost = that container → Mongo NOT there</a:t>
            </a:r>
            <a:endParaRPr lang="en-US" sz="1300" dirty="0"/>
          </a:p>
          <a:p>
            <a:pPr marL="342900" indent="-342900">
              <a:spcAft>
                <a:spcPts val="600"/>
              </a:spcAft>
              <a:buSzPct val="100000"/>
              <a:buChar char="•"/>
            </a:pPr>
            <a:r>
              <a:rPr lang="en-US" sz="1300" dirty="0">
                <a:solidFill>
                  <a:schemeClr val="tx1"/>
                </a:solidFill>
              </a:rPr>
              <a:t>Fix: use the container name on a shared network: mongodb:27017</a:t>
            </a:r>
            <a:endParaRPr lang="en-US" sz="1300" dirty="0"/>
          </a:p>
          <a:p>
            <a:pPr marL="342900" indent="-342900">
              <a:spcAft>
                <a:spcPts val="600"/>
              </a:spcAft>
              <a:buSzPct val="100000"/>
              <a:buChar char="•"/>
            </a:pPr>
            <a:r>
              <a:rPr lang="en-US" sz="1300" dirty="0">
                <a:solidFill>
                  <a:schemeClr val="tx1"/>
                </a:solidFill>
              </a:rPr>
              <a:t>Better: read the host from an env var</a:t>
            </a:r>
            <a:endParaRPr lang="en-US" sz="1300" dirty="0"/>
          </a:p>
        </p:txBody>
      </p:sp>
      <p:sp>
        <p:nvSpPr>
          <p:cNvPr id="13" name="box Rule: inside a container, 'localhost' is the container itself. Use service names."/>
          <p:cNvSpPr/>
          <p:nvPr/>
        </p:nvSpPr>
        <p:spPr>
          <a:xfrm>
            <a:off x="457200" y="4069080"/>
            <a:ext cx="8229600" cy="502920"/>
          </a:xfrm>
          <a:prstGeom prst="roundRect">
            <a:avLst>
              <a:gd name="adj" fmla="val 14545"/>
            </a:avLst>
          </a:prstGeom>
          <a:solidFill>
            <a:schemeClr val="accent1"/>
          </a:solidFill>
          <a:ln w="12700">
            <a:solidFill>
              <a:schemeClr val="accent1"/>
            </a:solidFill>
            <a:prstDash val="solid"/>
          </a:ln>
        </p:spPr>
      </p:sp>
      <p:sp>
        <p:nvSpPr>
          <p:cNvPr id="14" name="box text Rule: inside a container, &amp;apos;localhost&amp;apos; is the container itself. Use service names."/>
          <p:cNvSpPr txBox="1"/>
          <p:nvPr/>
        </p:nvSpPr>
        <p:spPr>
          <a:xfrm>
            <a:off x="457200" y="4069080"/>
            <a:ext cx="8229600" cy="502920"/>
          </a:xfrm>
          <a:prstGeom prst="rect">
            <a:avLst/>
          </a:prstGeom>
          <a:noFill/>
          <a:ln/>
        </p:spPr>
        <p:txBody>
          <a:bodyPr wrap="square" lIns="381" tIns="381" rIns="381" bIns="381" rtlCol="0" anchor="ctr"/>
          <a:lstStyle/>
          <a:p>
            <a:pPr algn="ctr" indent="0" marL="0">
              <a:buNone/>
            </a:pPr>
            <a:r>
              <a:rPr lang="en-US" sz="1400" b="1" dirty="0">
                <a:solidFill>
                  <a:schemeClr val="bg1"/>
                </a:solidFill>
              </a:rPr>
              <a:t>Rule: inside a container, 'localhost' is the container itself. Use service names.</a:t>
            </a:r>
            <a:endParaRPr lang="en-US" sz="14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914400"/>
          </a:xfrm>
          <a:prstGeom prst="rect">
            <a:avLst/>
          </a:prstGeom>
          <a:noFill/>
          <a:ln/>
        </p:spPr>
        <p:txBody>
          <a:bodyPr wrap="square" lIns="0" tIns="0" rIns="0" bIns="0" rtlCol="0" anchor="b"/>
          <a:lstStyle/>
          <a:p>
            <a:pPr algn="l" indent="0" marL="0">
              <a:buNone/>
            </a:pPr>
            <a:r>
              <a:rPr lang="en-US" sz="4000" b="1" dirty="0">
                <a:solidFill>
                  <a:srgbClr val="FFFFFF"/>
                </a:solidFill>
              </a:rPr>
              <a:t>8 · Docker Compose: running multiple services</a:t>
            </a:r>
            <a:endParaRPr lang="en-US" sz="4000" dirty="0"/>
          </a:p>
        </p:txBody>
      </p:sp>
      <p:sp>
        <p:nvSpPr>
          <p:cNvPr id="3" name="Text 0"/>
          <p:cNvSpPr/>
          <p:nvPr>
            <p:ph idx="101" type="body" hasCustomPrompt="1"/>
          </p:nvPr>
        </p:nvSpPr>
        <p:spPr>
          <a:xfrm>
            <a:off x="548640" y="2834640"/>
            <a:ext cx="8046720" cy="822960"/>
          </a:xfrm>
          <a:prstGeom prst="rect">
            <a:avLst/>
          </a:prstGeom>
          <a:noFill/>
          <a:ln/>
        </p:spPr>
        <p:txBody>
          <a:bodyPr wrap="square" lIns="0" tIns="0" rIns="0" bIns="0" rtlCol="0" anchor="t"/>
          <a:lstStyle/>
          <a:p>
            <a:pPr algn="l" indent="0" marL="0">
              <a:buNone/>
            </a:pPr>
            <a:r>
              <a:rPr lang="en-US" sz="1800" dirty="0">
                <a:solidFill>
                  <a:srgbClr val="CBD5E1"/>
                </a:solidFill>
              </a:rPr>
              <a:t>One YAML file instead of many docker run commands</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From docker run to docker-compose.yaml</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accent1"/>
          </a:solidFill>
          <a:ln w="12700">
            <a:solidFill>
              <a:schemeClr val="accent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DOCKER</a:t>
            </a:r>
            <a:endParaRPr lang="en-US" sz="900" dirty="0"/>
          </a:p>
        </p:txBody>
      </p:sp>
      <p:sp>
        <p:nvSpPr>
          <p:cNvPr id="6" name="code bg"/>
          <p:cNvSpPr/>
          <p:nvPr/>
        </p:nvSpPr>
        <p:spPr>
          <a:xfrm>
            <a:off x="457200" y="1051560"/>
            <a:ext cx="4206240" cy="3566160"/>
          </a:xfrm>
          <a:prstGeom prst="roundRect">
            <a:avLst>
              <a:gd name="adj" fmla="val 2564"/>
            </a:avLst>
          </a:prstGeom>
          <a:solidFill>
            <a:schemeClr val="tx1"/>
          </a:solidFill>
          <a:ln w="12700">
            <a:solidFill>
              <a:schemeClr val="tx1"/>
            </a:solidFill>
            <a:prstDash val="solid"/>
          </a:ln>
        </p:spPr>
      </p:sp>
      <p:sp>
        <p:nvSpPr>
          <p:cNvPr id="7" name="code"/>
          <p:cNvSpPr txBox="1"/>
          <p:nvPr/>
        </p:nvSpPr>
        <p:spPr>
          <a:xfrm>
            <a:off x="594360" y="1143000"/>
            <a:ext cx="3931920" cy="3383280"/>
          </a:xfrm>
          <a:prstGeom prst="rect">
            <a:avLst/>
          </a:prstGeom>
          <a:noFill/>
          <a:ln/>
        </p:spPr>
        <p:txBody>
          <a:bodyPr wrap="square" lIns="0" tIns="0" rIns="0" bIns="0" rtlCol="0" anchor="t"/>
          <a:lstStyle/>
          <a:p>
            <a:pPr indent="0" marL="0">
              <a:buNone/>
            </a:pPr>
            <a:r>
              <a:rPr lang="en-US" sz="900" dirty="0">
                <a:solidFill>
                  <a:srgbClr val="E2E8F0"/>
                </a:solidFill>
                <a:latin typeface="Courier New" pitchFamily="34" charset="0"/>
                <a:ea typeface="Courier New" pitchFamily="34" charset="-122"/>
                <a:cs typeface="Courier New" pitchFamily="34" charset="-120"/>
              </a:rPr>
              <a:t># docker-compose.yaml</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services:</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mongodb:</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image: mongo:7</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ports:</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- 27017:27017</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environment:</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 MONGO_INITDB_ROOT_USERNAME=admin</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 MONGO_INITDB_ROOT_PASSWORD=password</a:t>
            </a:r>
            <a:endParaRPr lang="en-US" sz="900" dirty="0"/>
          </a:p>
          <a:p>
            <a:pPr indent="0" marL="0">
              <a:buNone/>
            </a:pP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mongo-express:</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image: mongo-express</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ports:</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- 8081:8081</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environment:</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 ME_CONFIG_MONGODB_SERVER=mongodb</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 ME_CONFIG_MONGODB_ADMINUSERNAME=admin</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 ME_CONFIG_MONGODB_ADMINPASSWORD=password</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depends_on:</a:t>
            </a:r>
            <a:endParaRPr lang="en-US" sz="900" dirty="0"/>
          </a:p>
          <a:p>
            <a:pPr indent="0" marL="0">
              <a:buNone/>
            </a:pPr>
            <a:r>
              <a:rPr lang="en-US" sz="900" dirty="0">
                <a:solidFill>
                  <a:srgbClr val="E2E8F0"/>
                </a:solidFill>
                <a:latin typeface="Courier New" pitchFamily="34" charset="0"/>
                <a:ea typeface="Courier New" pitchFamily="34" charset="-122"/>
                <a:cs typeface="Courier New" pitchFamily="34" charset="-120"/>
              </a:rPr>
              <a:t>      - mongodb</a:t>
            </a:r>
            <a:endParaRPr lang="en-US" sz="900" dirty="0"/>
          </a:p>
        </p:txBody>
      </p:sp>
      <p:sp>
        <p:nvSpPr>
          <p:cNvPr id="8" name="box services"/>
          <p:cNvSpPr/>
          <p:nvPr/>
        </p:nvSpPr>
        <p:spPr>
          <a:xfrm>
            <a:off x="4892040" y="1051560"/>
            <a:ext cx="1371600" cy="475488"/>
          </a:xfrm>
          <a:prstGeom prst="roundRect">
            <a:avLst>
              <a:gd name="adj" fmla="val 15385"/>
            </a:avLst>
          </a:prstGeom>
          <a:solidFill>
            <a:schemeClr val="accent1"/>
          </a:solidFill>
          <a:ln w="12700">
            <a:solidFill>
              <a:schemeClr val="accent1"/>
            </a:solidFill>
            <a:prstDash val="solid"/>
          </a:ln>
        </p:spPr>
      </p:sp>
      <p:sp>
        <p:nvSpPr>
          <p:cNvPr id="9" name="box text services"/>
          <p:cNvSpPr txBox="1"/>
          <p:nvPr/>
        </p:nvSpPr>
        <p:spPr>
          <a:xfrm>
            <a:off x="4892040" y="1051560"/>
            <a:ext cx="1371600" cy="475488"/>
          </a:xfrm>
          <a:prstGeom prst="rect">
            <a:avLst/>
          </a:prstGeom>
          <a:noFill/>
          <a:ln/>
        </p:spPr>
        <p:txBody>
          <a:bodyPr wrap="square" lIns="381" tIns="381" rIns="381" bIns="381"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services</a:t>
            </a:r>
            <a:endParaRPr lang="en-US" sz="1000" dirty="0"/>
          </a:p>
        </p:txBody>
      </p:sp>
      <p:sp>
        <p:nvSpPr>
          <p:cNvPr id="10" name="Text 7"/>
          <p:cNvSpPr txBox="1"/>
          <p:nvPr/>
        </p:nvSpPr>
        <p:spPr>
          <a:xfrm>
            <a:off x="6355080" y="1051560"/>
            <a:ext cx="2331720" cy="475488"/>
          </a:xfrm>
          <a:prstGeom prst="rect">
            <a:avLst/>
          </a:prstGeom>
          <a:noFill/>
          <a:ln/>
        </p:spPr>
        <p:txBody>
          <a:bodyPr wrap="square" lIns="0" tIns="0" rIns="0" bIns="0" rtlCol="0" anchor="ctr"/>
          <a:lstStyle/>
          <a:p>
            <a:pPr indent="0" marL="0">
              <a:buNone/>
            </a:pPr>
            <a:r>
              <a:rPr lang="en-US" sz="1100" dirty="0">
                <a:solidFill>
                  <a:schemeClr val="tx1"/>
                </a:solidFill>
              </a:rPr>
              <a:t>One entry per container. The key is the service name = DNS name</a:t>
            </a:r>
            <a:endParaRPr lang="en-US" sz="1100" dirty="0"/>
          </a:p>
        </p:txBody>
      </p:sp>
      <p:sp>
        <p:nvSpPr>
          <p:cNvPr id="11" name="box image"/>
          <p:cNvSpPr/>
          <p:nvPr/>
        </p:nvSpPr>
        <p:spPr>
          <a:xfrm>
            <a:off x="4892040" y="1645920"/>
            <a:ext cx="1371600" cy="475488"/>
          </a:xfrm>
          <a:prstGeom prst="roundRect">
            <a:avLst>
              <a:gd name="adj" fmla="val 15385"/>
            </a:avLst>
          </a:prstGeom>
          <a:solidFill>
            <a:schemeClr val="accent1"/>
          </a:solidFill>
          <a:ln w="12700">
            <a:solidFill>
              <a:schemeClr val="accent1"/>
            </a:solidFill>
            <a:prstDash val="solid"/>
          </a:ln>
        </p:spPr>
      </p:sp>
      <p:sp>
        <p:nvSpPr>
          <p:cNvPr id="12" name="box text image"/>
          <p:cNvSpPr txBox="1"/>
          <p:nvPr/>
        </p:nvSpPr>
        <p:spPr>
          <a:xfrm>
            <a:off x="4892040" y="1645920"/>
            <a:ext cx="1371600" cy="475488"/>
          </a:xfrm>
          <a:prstGeom prst="rect">
            <a:avLst/>
          </a:prstGeom>
          <a:noFill/>
          <a:ln/>
        </p:spPr>
        <p:txBody>
          <a:bodyPr wrap="square" lIns="381" tIns="381" rIns="381" bIns="381"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image</a:t>
            </a:r>
            <a:endParaRPr lang="en-US" sz="1000" dirty="0"/>
          </a:p>
        </p:txBody>
      </p:sp>
      <p:sp>
        <p:nvSpPr>
          <p:cNvPr id="13" name="Text 10"/>
          <p:cNvSpPr txBox="1"/>
          <p:nvPr/>
        </p:nvSpPr>
        <p:spPr>
          <a:xfrm>
            <a:off x="6355080" y="1645920"/>
            <a:ext cx="2331720" cy="475488"/>
          </a:xfrm>
          <a:prstGeom prst="rect">
            <a:avLst/>
          </a:prstGeom>
          <a:noFill/>
          <a:ln/>
        </p:spPr>
        <p:txBody>
          <a:bodyPr wrap="square" lIns="0" tIns="0" rIns="0" bIns="0" rtlCol="0" anchor="ctr"/>
          <a:lstStyle/>
          <a:p>
            <a:pPr indent="0" marL="0">
              <a:buNone/>
            </a:pPr>
            <a:r>
              <a:rPr lang="en-US" sz="1100" dirty="0">
                <a:solidFill>
                  <a:schemeClr val="tx1"/>
                </a:solidFill>
              </a:rPr>
              <a:t>Same as the docker run image argument</a:t>
            </a:r>
            <a:endParaRPr lang="en-US" sz="1100" dirty="0"/>
          </a:p>
        </p:txBody>
      </p:sp>
      <p:sp>
        <p:nvSpPr>
          <p:cNvPr id="14" name="box ports"/>
          <p:cNvSpPr/>
          <p:nvPr/>
        </p:nvSpPr>
        <p:spPr>
          <a:xfrm>
            <a:off x="4892040" y="2240280"/>
            <a:ext cx="1371600" cy="475488"/>
          </a:xfrm>
          <a:prstGeom prst="roundRect">
            <a:avLst>
              <a:gd name="adj" fmla="val 15385"/>
            </a:avLst>
          </a:prstGeom>
          <a:solidFill>
            <a:schemeClr val="accent1"/>
          </a:solidFill>
          <a:ln w="12700">
            <a:solidFill>
              <a:schemeClr val="accent1"/>
            </a:solidFill>
            <a:prstDash val="solid"/>
          </a:ln>
        </p:spPr>
      </p:sp>
      <p:sp>
        <p:nvSpPr>
          <p:cNvPr id="15" name="box text ports"/>
          <p:cNvSpPr txBox="1"/>
          <p:nvPr/>
        </p:nvSpPr>
        <p:spPr>
          <a:xfrm>
            <a:off x="4892040" y="2240280"/>
            <a:ext cx="1371600" cy="475488"/>
          </a:xfrm>
          <a:prstGeom prst="rect">
            <a:avLst/>
          </a:prstGeom>
          <a:noFill/>
          <a:ln/>
        </p:spPr>
        <p:txBody>
          <a:bodyPr wrap="square" lIns="381" tIns="381" rIns="381" bIns="381"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ports</a:t>
            </a:r>
            <a:endParaRPr lang="en-US" sz="1000" dirty="0"/>
          </a:p>
        </p:txBody>
      </p:sp>
      <p:sp>
        <p:nvSpPr>
          <p:cNvPr id="16" name="Text 13"/>
          <p:cNvSpPr txBox="1"/>
          <p:nvPr/>
        </p:nvSpPr>
        <p:spPr>
          <a:xfrm>
            <a:off x="6355080" y="2240280"/>
            <a:ext cx="2331720" cy="475488"/>
          </a:xfrm>
          <a:prstGeom prst="rect">
            <a:avLst/>
          </a:prstGeom>
          <a:noFill/>
          <a:ln/>
        </p:spPr>
        <p:txBody>
          <a:bodyPr wrap="square" lIns="0" tIns="0" rIns="0" bIns="0" rtlCol="0" anchor="ctr"/>
          <a:lstStyle/>
          <a:p>
            <a:pPr indent="0" marL="0">
              <a:buNone/>
            </a:pPr>
            <a:r>
              <a:rPr lang="en-US" sz="1100" dirty="0">
                <a:solidFill>
                  <a:schemeClr val="tx1"/>
                </a:solidFill>
              </a:rPr>
              <a:t>Same as -p host:container (a list)</a:t>
            </a:r>
            <a:endParaRPr lang="en-US" sz="1100" dirty="0"/>
          </a:p>
        </p:txBody>
      </p:sp>
      <p:sp>
        <p:nvSpPr>
          <p:cNvPr id="17" name="box environment"/>
          <p:cNvSpPr/>
          <p:nvPr/>
        </p:nvSpPr>
        <p:spPr>
          <a:xfrm>
            <a:off x="4892040" y="2834640"/>
            <a:ext cx="1371600" cy="475488"/>
          </a:xfrm>
          <a:prstGeom prst="roundRect">
            <a:avLst>
              <a:gd name="adj" fmla="val 15385"/>
            </a:avLst>
          </a:prstGeom>
          <a:solidFill>
            <a:schemeClr val="accent1"/>
          </a:solidFill>
          <a:ln w="12700">
            <a:solidFill>
              <a:schemeClr val="accent1"/>
            </a:solidFill>
            <a:prstDash val="solid"/>
          </a:ln>
        </p:spPr>
      </p:sp>
      <p:sp>
        <p:nvSpPr>
          <p:cNvPr id="18" name="box text environment"/>
          <p:cNvSpPr txBox="1"/>
          <p:nvPr/>
        </p:nvSpPr>
        <p:spPr>
          <a:xfrm>
            <a:off x="4892040" y="2834640"/>
            <a:ext cx="1371600" cy="475488"/>
          </a:xfrm>
          <a:prstGeom prst="rect">
            <a:avLst/>
          </a:prstGeom>
          <a:noFill/>
          <a:ln/>
        </p:spPr>
        <p:txBody>
          <a:bodyPr wrap="square" lIns="381" tIns="381" rIns="381" bIns="381"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environment</a:t>
            </a:r>
            <a:endParaRPr lang="en-US" sz="1000" dirty="0"/>
          </a:p>
        </p:txBody>
      </p:sp>
      <p:sp>
        <p:nvSpPr>
          <p:cNvPr id="19" name="Text 16"/>
          <p:cNvSpPr txBox="1"/>
          <p:nvPr/>
        </p:nvSpPr>
        <p:spPr>
          <a:xfrm>
            <a:off x="6355080" y="2834640"/>
            <a:ext cx="2331720" cy="475488"/>
          </a:xfrm>
          <a:prstGeom prst="rect">
            <a:avLst/>
          </a:prstGeom>
          <a:noFill/>
          <a:ln/>
        </p:spPr>
        <p:txBody>
          <a:bodyPr wrap="square" lIns="0" tIns="0" rIns="0" bIns="0" rtlCol="0" anchor="ctr"/>
          <a:lstStyle/>
          <a:p>
            <a:pPr indent="0" marL="0">
              <a:buNone/>
            </a:pPr>
            <a:r>
              <a:rPr lang="en-US" sz="1100" dirty="0">
                <a:solidFill>
                  <a:schemeClr val="tx1"/>
                </a:solidFill>
              </a:rPr>
              <a:t>Same as -e (a list of KEY=value)</a:t>
            </a:r>
            <a:endParaRPr lang="en-US" sz="1100" dirty="0"/>
          </a:p>
        </p:txBody>
      </p:sp>
      <p:sp>
        <p:nvSpPr>
          <p:cNvPr id="20" name="box depends_on"/>
          <p:cNvSpPr/>
          <p:nvPr/>
        </p:nvSpPr>
        <p:spPr>
          <a:xfrm>
            <a:off x="4892040" y="3429000"/>
            <a:ext cx="1371600" cy="475488"/>
          </a:xfrm>
          <a:prstGeom prst="roundRect">
            <a:avLst>
              <a:gd name="adj" fmla="val 15385"/>
            </a:avLst>
          </a:prstGeom>
          <a:solidFill>
            <a:schemeClr val="accent1"/>
          </a:solidFill>
          <a:ln w="12700">
            <a:solidFill>
              <a:schemeClr val="accent1"/>
            </a:solidFill>
            <a:prstDash val="solid"/>
          </a:ln>
        </p:spPr>
      </p:sp>
      <p:sp>
        <p:nvSpPr>
          <p:cNvPr id="21" name="box text depends_on"/>
          <p:cNvSpPr txBox="1"/>
          <p:nvPr/>
        </p:nvSpPr>
        <p:spPr>
          <a:xfrm>
            <a:off x="4892040" y="3429000"/>
            <a:ext cx="1371600" cy="475488"/>
          </a:xfrm>
          <a:prstGeom prst="rect">
            <a:avLst/>
          </a:prstGeom>
          <a:noFill/>
          <a:ln/>
        </p:spPr>
        <p:txBody>
          <a:bodyPr wrap="square" lIns="381" tIns="381" rIns="381" bIns="381"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depends_on</a:t>
            </a:r>
            <a:endParaRPr lang="en-US" sz="1000" dirty="0"/>
          </a:p>
        </p:txBody>
      </p:sp>
      <p:sp>
        <p:nvSpPr>
          <p:cNvPr id="22" name="Text 19"/>
          <p:cNvSpPr txBox="1"/>
          <p:nvPr/>
        </p:nvSpPr>
        <p:spPr>
          <a:xfrm>
            <a:off x="6355080" y="3429000"/>
            <a:ext cx="2331720" cy="475488"/>
          </a:xfrm>
          <a:prstGeom prst="rect">
            <a:avLst/>
          </a:prstGeom>
          <a:noFill/>
          <a:ln/>
        </p:spPr>
        <p:txBody>
          <a:bodyPr wrap="square" lIns="0" tIns="0" rIns="0" bIns="0" rtlCol="0" anchor="ctr"/>
          <a:lstStyle/>
          <a:p>
            <a:pPr indent="0" marL="0">
              <a:buNone/>
            </a:pPr>
            <a:r>
              <a:rPr lang="en-US" sz="1100" dirty="0">
                <a:solidFill>
                  <a:schemeClr val="tx1"/>
                </a:solidFill>
              </a:rPr>
              <a:t>Start order only; doesn't wait until Mongo is ready</a:t>
            </a:r>
            <a:endParaRPr lang="en-US" sz="1100" dirty="0"/>
          </a:p>
        </p:txBody>
      </p:sp>
      <p:sp>
        <p:nvSpPr>
          <p:cNvPr id="23" name="box network"/>
          <p:cNvSpPr/>
          <p:nvPr/>
        </p:nvSpPr>
        <p:spPr>
          <a:xfrm>
            <a:off x="4892040" y="4023360"/>
            <a:ext cx="1371600" cy="475488"/>
          </a:xfrm>
          <a:prstGeom prst="roundRect">
            <a:avLst>
              <a:gd name="adj" fmla="val 15385"/>
            </a:avLst>
          </a:prstGeom>
          <a:solidFill>
            <a:schemeClr val="accent1"/>
          </a:solidFill>
          <a:ln w="12700">
            <a:solidFill>
              <a:schemeClr val="accent1"/>
            </a:solidFill>
            <a:prstDash val="solid"/>
          </a:ln>
        </p:spPr>
      </p:sp>
      <p:sp>
        <p:nvSpPr>
          <p:cNvPr id="24" name="box text network"/>
          <p:cNvSpPr txBox="1"/>
          <p:nvPr/>
        </p:nvSpPr>
        <p:spPr>
          <a:xfrm>
            <a:off x="4892040" y="4023360"/>
            <a:ext cx="1371600" cy="475488"/>
          </a:xfrm>
          <a:prstGeom prst="rect">
            <a:avLst/>
          </a:prstGeom>
          <a:noFill/>
          <a:ln/>
        </p:spPr>
        <p:txBody>
          <a:bodyPr wrap="square" lIns="381" tIns="381" rIns="381" bIns="381"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network</a:t>
            </a:r>
            <a:endParaRPr lang="en-US" sz="1000" dirty="0"/>
          </a:p>
        </p:txBody>
      </p:sp>
      <p:sp>
        <p:nvSpPr>
          <p:cNvPr id="25" name="Text 22"/>
          <p:cNvSpPr txBox="1"/>
          <p:nvPr/>
        </p:nvSpPr>
        <p:spPr>
          <a:xfrm>
            <a:off x="6355080" y="4023360"/>
            <a:ext cx="2331720" cy="475488"/>
          </a:xfrm>
          <a:prstGeom prst="rect">
            <a:avLst/>
          </a:prstGeom>
          <a:noFill/>
          <a:ln/>
        </p:spPr>
        <p:txBody>
          <a:bodyPr wrap="square" lIns="0" tIns="0" rIns="0" bIns="0" rtlCol="0" anchor="ctr"/>
          <a:lstStyle/>
          <a:p>
            <a:pPr indent="0" marL="0">
              <a:buNone/>
            </a:pPr>
            <a:r>
              <a:rPr lang="en-US" sz="1100" dirty="0">
                <a:solidFill>
                  <a:schemeClr val="tx1"/>
                </a:solidFill>
              </a:rPr>
              <a:t>Not written: Compose makes one per project automatically</a:t>
            </a:r>
            <a:endParaRPr lang="en-US" sz="11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Compose commands</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accent1"/>
          </a:solidFill>
          <a:ln w="12700">
            <a:solidFill>
              <a:schemeClr val="accent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DOCKER</a:t>
            </a:r>
            <a:endParaRPr lang="en-US" sz="900" dirty="0"/>
          </a:p>
        </p:txBody>
      </p:sp>
      <p:graphicFrame>
        <p:nvGraphicFramePr>
          <p:cNvPr id="31" name="compose table"/>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3566160"/>
                <a:gridCol w="4663440"/>
              </a:tblGrid>
              <a:tr h="384048">
                <a:tc>
                  <a:txBody>
                    <a:bodyPr/>
                    <a:lstStyle/>
                    <a:p>
                      <a:pPr indent="0" marL="0">
                        <a:buNone/>
                      </a:pPr>
                      <a:r>
                        <a:rPr lang="en-US" sz="1100" b="1" dirty="0">
                          <a:solidFill>
                            <a:srgbClr val="0F172A"/>
                          </a:solidFill>
                          <a:latin typeface="Courier New" pitchFamily="34" charset="0"/>
                          <a:ea typeface="Courier New" pitchFamily="34" charset="-122"/>
                          <a:cs typeface="Courier New" pitchFamily="34" charset="-120"/>
                        </a:rPr>
                        <a:t>docker compose up -d</a:t>
                      </a:r>
                      <a:endParaRPr lang="en-US" sz="1100" dirty="0">
                        <a:latin typeface="Courier New" charset="0"/>
                        <a:ea typeface="Courier New" charset="0"/>
                        <a:cs typeface="Courier New" charset="0"/>
                      </a:endParaRPr>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rPr>
                        <a:t>Create the network, start every service in the background</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F172A"/>
                          </a:solidFill>
                          <a:latin typeface="Courier New" pitchFamily="34" charset="0"/>
                          <a:ea typeface="Courier New" pitchFamily="34" charset="-122"/>
                          <a:cs typeface="Courier New" pitchFamily="34" charset="-120"/>
                        </a:rPr>
                        <a:t>docker compose ps</a:t>
                      </a:r>
                      <a:endParaRPr lang="en-US" sz="1100" dirty="0">
                        <a:latin typeface="Courier New" charset="0"/>
                        <a:ea typeface="Courier New" charset="0"/>
                        <a:cs typeface="Courier New" charset="0"/>
                      </a:endParaRPr>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rPr>
                        <a:t>Status of this project's containers</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F172A"/>
                          </a:solidFill>
                          <a:latin typeface="Courier New" pitchFamily="34" charset="0"/>
                          <a:ea typeface="Courier New" pitchFamily="34" charset="-122"/>
                          <a:cs typeface="Courier New" pitchFamily="34" charset="-120"/>
                        </a:rPr>
                        <a:t>docker compose logs -f</a:t>
                      </a:r>
                      <a:endParaRPr lang="en-US" sz="1100" dirty="0">
                        <a:latin typeface="Courier New" charset="0"/>
                        <a:ea typeface="Courier New" charset="0"/>
                        <a:cs typeface="Courier New" charset="0"/>
                      </a:endParaRPr>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rPr>
                        <a:t>Follow logs of all services (or name one)</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F172A"/>
                          </a:solidFill>
                          <a:latin typeface="Courier New" pitchFamily="34" charset="0"/>
                          <a:ea typeface="Courier New" pitchFamily="34" charset="-122"/>
                          <a:cs typeface="Courier New" pitchFamily="34" charset="-120"/>
                        </a:rPr>
                        <a:t>docker compose exec mongodb mongosh</a:t>
                      </a:r>
                      <a:endParaRPr lang="en-US" sz="1100" dirty="0">
                        <a:latin typeface="Courier New" charset="0"/>
                        <a:ea typeface="Courier New" charset="0"/>
                        <a:cs typeface="Courier New" charset="0"/>
                      </a:endParaRPr>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rPr>
                        <a:t>Run a command inside a service's container</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F172A"/>
                          </a:solidFill>
                          <a:latin typeface="Courier New" pitchFamily="34" charset="0"/>
                          <a:ea typeface="Courier New" pitchFamily="34" charset="-122"/>
                          <a:cs typeface="Courier New" pitchFamily="34" charset="-120"/>
                        </a:rPr>
                        <a:t>docker compose down</a:t>
                      </a:r>
                      <a:endParaRPr lang="en-US" sz="1100" dirty="0">
                        <a:latin typeface="Courier New" charset="0"/>
                        <a:ea typeface="Courier New" charset="0"/>
                        <a:cs typeface="Courier New" charset="0"/>
                      </a:endParaRPr>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rPr>
                        <a:t>Stop and remove containers + network (keeps volumes)</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F172A"/>
                          </a:solidFill>
                          <a:latin typeface="Courier New" pitchFamily="34" charset="0"/>
                          <a:ea typeface="Courier New" pitchFamily="34" charset="-122"/>
                          <a:cs typeface="Courier New" pitchFamily="34" charset="-120"/>
                        </a:rPr>
                        <a:t>docker compose down -v</a:t>
                      </a:r>
                      <a:endParaRPr lang="en-US" sz="1100" dirty="0">
                        <a:latin typeface="Courier New" charset="0"/>
                        <a:ea typeface="Courier New" charset="0"/>
                        <a:cs typeface="Courier New" charset="0"/>
                      </a:endParaRPr>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rPr>
                        <a:t>…and remove named volumes too (data gone!)</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0F172A"/>
                          </a:solidFill>
                          <a:latin typeface="Courier New" pitchFamily="34" charset="0"/>
                          <a:ea typeface="Courier New" pitchFamily="34" charset="-122"/>
                          <a:cs typeface="Courier New" pitchFamily="34" charset="-120"/>
                        </a:rPr>
                        <a:t>docker compose up -d --build</a:t>
                      </a:r>
                      <a:endParaRPr lang="en-US" sz="1100" dirty="0">
                        <a:latin typeface="Courier New" charset="0"/>
                        <a:ea typeface="Courier New" charset="0"/>
                        <a:cs typeface="Courier New" charset="0"/>
                      </a:endParaRPr>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rPr>
                        <a:t>Rebuild images from Dockerfiles first (section 9)</a:t>
                      </a:r>
                      <a:endParaRPr lang="en-US" sz="1200" dirty="0"/>
                    </a:p>
                  </a:txBody>
                  <a:tcPr marL="54864" marR="54864" marT="54864" marB="54864"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7" name="box docker compose up  is the whole dev environment in one command. Commit the YAML; new teammates run it on day one."/>
          <p:cNvSpPr/>
          <p:nvPr/>
        </p:nvSpPr>
        <p:spPr>
          <a:xfrm>
            <a:off x="457200" y="4069080"/>
            <a:ext cx="8229600" cy="502920"/>
          </a:xfrm>
          <a:prstGeom prst="roundRect">
            <a:avLst>
              <a:gd name="adj" fmla="val 14545"/>
            </a:avLst>
          </a:prstGeom>
          <a:solidFill>
            <a:schemeClr val="accent1"/>
          </a:solidFill>
          <a:ln w="12700">
            <a:solidFill>
              <a:schemeClr val="accent1"/>
            </a:solidFill>
            <a:prstDash val="solid"/>
          </a:ln>
        </p:spPr>
      </p:sp>
      <p:sp>
        <p:nvSpPr>
          <p:cNvPr id="8" name="box text docker compose up  is the whole dev environment in one command. Commit the YAML; new teammates run it on day one."/>
          <p:cNvSpPr txBox="1"/>
          <p:nvPr/>
        </p:nvSpPr>
        <p:spPr>
          <a:xfrm>
            <a:off x="457200" y="4069080"/>
            <a:ext cx="8229600" cy="502920"/>
          </a:xfrm>
          <a:prstGeom prst="rect">
            <a:avLst/>
          </a:prstGeom>
          <a:noFill/>
          <a:ln/>
        </p:spPr>
        <p:txBody>
          <a:bodyPr wrap="square" lIns="381" tIns="381" rIns="381" bIns="381" rtlCol="0" anchor="ctr"/>
          <a:lstStyle/>
          <a:p>
            <a:pPr algn="ctr" indent="0" marL="0">
              <a:buNone/>
            </a:pPr>
            <a:r>
              <a:rPr lang="en-US" sz="1400" b="1" dirty="0">
                <a:solidFill>
                  <a:schemeClr val="bg1"/>
                </a:solidFill>
              </a:rPr>
              <a:t>docker compose up  is the whole dev environment in one command. Commit the YAML; new teammates run it on day one.</a:t>
            </a:r>
            <a:endParaRPr lang="en-US" sz="14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914400"/>
          </a:xfrm>
          <a:prstGeom prst="rect">
            <a:avLst/>
          </a:prstGeom>
          <a:noFill/>
          <a:ln/>
        </p:spPr>
        <p:txBody>
          <a:bodyPr wrap="square" lIns="0" tIns="0" rIns="0" bIns="0" rtlCol="0" anchor="b"/>
          <a:lstStyle/>
          <a:p>
            <a:pPr algn="l" indent="0" marL="0">
              <a:buNone/>
            </a:pPr>
            <a:r>
              <a:rPr lang="en-US" sz="4000" b="1" dirty="0">
                <a:solidFill>
                  <a:srgbClr val="FFFFFF"/>
                </a:solidFill>
              </a:rPr>
              <a:t>9 · Dockerfile: building our own image</a:t>
            </a:r>
            <a:endParaRPr lang="en-US" sz="4000" dirty="0"/>
          </a:p>
        </p:txBody>
      </p:sp>
      <p:sp>
        <p:nvSpPr>
          <p:cNvPr id="3" name="Text 0"/>
          <p:cNvSpPr/>
          <p:nvPr>
            <p:ph idx="101" type="body" hasCustomPrompt="1"/>
          </p:nvPr>
        </p:nvSpPr>
        <p:spPr>
          <a:xfrm>
            <a:off x="548640" y="2834640"/>
            <a:ext cx="8046720" cy="822960"/>
          </a:xfrm>
          <a:prstGeom prst="rect">
            <a:avLst/>
          </a:prstGeom>
          <a:noFill/>
          <a:ln/>
        </p:spPr>
        <p:txBody>
          <a:bodyPr wrap="square" lIns="0" tIns="0" rIns="0" bIns="0" rtlCol="0" anchor="t"/>
          <a:lstStyle/>
          <a:p>
            <a:pPr algn="l" indent="0" marL="0">
              <a:buNone/>
            </a:pPr>
            <a:r>
              <a:rPr lang="en-US" sz="1800" dirty="0">
                <a:solidFill>
                  <a:srgbClr val="CBD5E1"/>
                </a:solidFill>
              </a:rPr>
              <a:t>A blueprint for building images</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The Dockerfile for the Node app</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accent1"/>
          </a:solidFill>
          <a:ln w="12700">
            <a:solidFill>
              <a:schemeClr val="accent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DOCKER</a:t>
            </a:r>
            <a:endParaRPr lang="en-US" sz="900" dirty="0"/>
          </a:p>
        </p:txBody>
      </p:sp>
      <p:sp>
        <p:nvSpPr>
          <p:cNvPr id="6" name="code bg"/>
          <p:cNvSpPr/>
          <p:nvPr/>
        </p:nvSpPr>
        <p:spPr>
          <a:xfrm>
            <a:off x="457200" y="1051560"/>
            <a:ext cx="3931920" cy="3566160"/>
          </a:xfrm>
          <a:prstGeom prst="roundRect">
            <a:avLst>
              <a:gd name="adj" fmla="val 2564"/>
            </a:avLst>
          </a:prstGeom>
          <a:solidFill>
            <a:schemeClr val="tx1"/>
          </a:solidFill>
          <a:ln w="12700">
            <a:solidFill>
              <a:schemeClr val="tx1"/>
            </a:solidFill>
            <a:prstDash val="solid"/>
          </a:ln>
        </p:spPr>
      </p:sp>
      <p:sp>
        <p:nvSpPr>
          <p:cNvPr id="7" name="code"/>
          <p:cNvSpPr txBox="1"/>
          <p:nvPr/>
        </p:nvSpPr>
        <p:spPr>
          <a:xfrm>
            <a:off x="594360" y="1143000"/>
            <a:ext cx="3657600" cy="3383280"/>
          </a:xfrm>
          <a:prstGeom prst="rect">
            <a:avLst/>
          </a:prstGeom>
          <a:noFill/>
          <a:ln/>
        </p:spPr>
        <p:txBody>
          <a:bodyPr wrap="square" lIns="0" tIns="0" rIns="0" bIns="0" rtlCol="0" anchor="t"/>
          <a:lstStyle/>
          <a:p>
            <a:pPr indent="0" marL="0">
              <a:buNone/>
            </a:pPr>
            <a:r>
              <a:rPr lang="en-US" sz="1200" dirty="0">
                <a:solidFill>
                  <a:srgbClr val="E2E8F0"/>
                </a:solidFill>
                <a:latin typeface="Courier New" pitchFamily="34" charset="0"/>
                <a:ea typeface="Courier New" pitchFamily="34" charset="-122"/>
                <a:cs typeface="Courier New" pitchFamily="34" charset="-120"/>
              </a:rPr>
              <a:t>FROM node:20-alpine</a:t>
            </a:r>
            <a:endParaRPr lang="en-US" sz="1200" dirty="0"/>
          </a:p>
          <a:p>
            <a:pPr indent="0" marL="0">
              <a:buNone/>
            </a:pP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ENV MONGO_DB_USERNAME=admin \</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MONGO_DB_PWD=password</a:t>
            </a:r>
            <a:endParaRPr lang="en-US" sz="1200" dirty="0"/>
          </a:p>
          <a:p>
            <a:pPr indent="0" marL="0">
              <a:buNone/>
            </a:pP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RUN mkdir -p /home/app</a:t>
            </a:r>
            <a:endParaRPr lang="en-US" sz="1200" dirty="0"/>
          </a:p>
          <a:p>
            <a:pPr indent="0" marL="0">
              <a:buNone/>
            </a:pP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COPY ./app /home/app</a:t>
            </a:r>
            <a:endParaRPr lang="en-US" sz="1200" dirty="0"/>
          </a:p>
          <a:p>
            <a:pPr indent="0" marL="0">
              <a:buNone/>
            </a:pP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WORKDIR /home/app</a:t>
            </a:r>
            <a:endParaRPr lang="en-US" sz="1200" dirty="0"/>
          </a:p>
          <a:p>
            <a:pPr indent="0" marL="0">
              <a:buNone/>
            </a:pP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RUN npm install</a:t>
            </a:r>
            <a:endParaRPr lang="en-US" sz="1200" dirty="0"/>
          </a:p>
          <a:p>
            <a:pPr indent="0" marL="0">
              <a:buNone/>
            </a:pP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CMD ["node", "server.js"]</a:t>
            </a:r>
            <a:endParaRPr lang="en-US" sz="1200" dirty="0"/>
          </a:p>
        </p:txBody>
      </p:sp>
      <p:sp>
        <p:nvSpPr>
          <p:cNvPr id="8" name="box FROM"/>
          <p:cNvSpPr/>
          <p:nvPr/>
        </p:nvSpPr>
        <p:spPr>
          <a:xfrm>
            <a:off x="4663440" y="1051560"/>
            <a:ext cx="1097280" cy="475488"/>
          </a:xfrm>
          <a:prstGeom prst="roundRect">
            <a:avLst>
              <a:gd name="adj" fmla="val 15385"/>
            </a:avLst>
          </a:prstGeom>
          <a:solidFill>
            <a:schemeClr val="accent1"/>
          </a:solidFill>
          <a:ln w="12700">
            <a:solidFill>
              <a:schemeClr val="accent1"/>
            </a:solidFill>
            <a:prstDash val="solid"/>
          </a:ln>
        </p:spPr>
      </p:sp>
      <p:sp>
        <p:nvSpPr>
          <p:cNvPr id="9" name="box text FROM"/>
          <p:cNvSpPr txBox="1"/>
          <p:nvPr/>
        </p:nvSpPr>
        <p:spPr>
          <a:xfrm>
            <a:off x="4663440" y="1051560"/>
            <a:ext cx="1097280" cy="475488"/>
          </a:xfrm>
          <a:prstGeom prst="rect">
            <a:avLst/>
          </a:prstGeom>
          <a:noFill/>
          <a:ln/>
        </p:spPr>
        <p:txBody>
          <a:bodyPr wrap="square" lIns="381" tIns="381" rIns="381" bIns="381"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FROM</a:t>
            </a:r>
            <a:endParaRPr lang="en-US" sz="1100" dirty="0"/>
          </a:p>
        </p:txBody>
      </p:sp>
      <p:sp>
        <p:nvSpPr>
          <p:cNvPr id="10" name="Text 7"/>
          <p:cNvSpPr txBox="1"/>
          <p:nvPr/>
        </p:nvSpPr>
        <p:spPr>
          <a:xfrm>
            <a:off x="5852160" y="1051560"/>
            <a:ext cx="2834640" cy="475488"/>
          </a:xfrm>
          <a:prstGeom prst="rect">
            <a:avLst/>
          </a:prstGeom>
          <a:noFill/>
          <a:ln/>
        </p:spPr>
        <p:txBody>
          <a:bodyPr wrap="square" lIns="0" tIns="0" rIns="0" bIns="0" rtlCol="0" anchor="ctr"/>
          <a:lstStyle/>
          <a:p>
            <a:pPr indent="0" marL="0">
              <a:buNone/>
            </a:pPr>
            <a:r>
              <a:rPr lang="en-US" sz="1000" dirty="0">
                <a:solidFill>
                  <a:schemeClr val="tx1"/>
                </a:solidFill>
              </a:rPr>
              <a:t>Base image. Every Dockerfile starts here. node:20-alpine = Linux + Node preinstalled</a:t>
            </a:r>
            <a:endParaRPr lang="en-US" sz="1000" dirty="0"/>
          </a:p>
        </p:txBody>
      </p:sp>
      <p:sp>
        <p:nvSpPr>
          <p:cNvPr id="11" name="box ENV"/>
          <p:cNvSpPr/>
          <p:nvPr/>
        </p:nvSpPr>
        <p:spPr>
          <a:xfrm>
            <a:off x="4663440" y="1645920"/>
            <a:ext cx="1097280" cy="475488"/>
          </a:xfrm>
          <a:prstGeom prst="roundRect">
            <a:avLst>
              <a:gd name="adj" fmla="val 15385"/>
            </a:avLst>
          </a:prstGeom>
          <a:solidFill>
            <a:schemeClr val="accent1"/>
          </a:solidFill>
          <a:ln w="12700">
            <a:solidFill>
              <a:schemeClr val="accent1"/>
            </a:solidFill>
            <a:prstDash val="solid"/>
          </a:ln>
        </p:spPr>
      </p:sp>
      <p:sp>
        <p:nvSpPr>
          <p:cNvPr id="12" name="box text ENV"/>
          <p:cNvSpPr txBox="1"/>
          <p:nvPr/>
        </p:nvSpPr>
        <p:spPr>
          <a:xfrm>
            <a:off x="4663440" y="1645920"/>
            <a:ext cx="1097280" cy="475488"/>
          </a:xfrm>
          <a:prstGeom prst="rect">
            <a:avLst/>
          </a:prstGeom>
          <a:noFill/>
          <a:ln/>
        </p:spPr>
        <p:txBody>
          <a:bodyPr wrap="square" lIns="381" tIns="381" rIns="381" bIns="381"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ENV</a:t>
            </a:r>
            <a:endParaRPr lang="en-US" sz="1100" dirty="0"/>
          </a:p>
        </p:txBody>
      </p:sp>
      <p:sp>
        <p:nvSpPr>
          <p:cNvPr id="13" name="Text 10"/>
          <p:cNvSpPr txBox="1"/>
          <p:nvPr/>
        </p:nvSpPr>
        <p:spPr>
          <a:xfrm>
            <a:off x="5852160" y="1645920"/>
            <a:ext cx="2834640" cy="475488"/>
          </a:xfrm>
          <a:prstGeom prst="rect">
            <a:avLst/>
          </a:prstGeom>
          <a:noFill/>
          <a:ln/>
        </p:spPr>
        <p:txBody>
          <a:bodyPr wrap="square" lIns="0" tIns="0" rIns="0" bIns="0" rtlCol="0" anchor="ctr"/>
          <a:lstStyle/>
          <a:p>
            <a:pPr indent="0" marL="0">
              <a:buNone/>
            </a:pPr>
            <a:r>
              <a:rPr lang="en-US" sz="1000" dirty="0">
                <a:solidFill>
                  <a:schemeClr val="tx1"/>
                </a:solidFill>
              </a:rPr>
              <a:t>Environment variables baked into the image. Fine for defaults; never for real secrets</a:t>
            </a:r>
            <a:endParaRPr lang="en-US" sz="1000" dirty="0"/>
          </a:p>
        </p:txBody>
      </p:sp>
      <p:sp>
        <p:nvSpPr>
          <p:cNvPr id="14" name="box RUN"/>
          <p:cNvSpPr/>
          <p:nvPr/>
        </p:nvSpPr>
        <p:spPr>
          <a:xfrm>
            <a:off x="4663440" y="2240280"/>
            <a:ext cx="1097280" cy="475488"/>
          </a:xfrm>
          <a:prstGeom prst="roundRect">
            <a:avLst>
              <a:gd name="adj" fmla="val 15385"/>
            </a:avLst>
          </a:prstGeom>
          <a:solidFill>
            <a:schemeClr val="accent1"/>
          </a:solidFill>
          <a:ln w="12700">
            <a:solidFill>
              <a:schemeClr val="accent1"/>
            </a:solidFill>
            <a:prstDash val="solid"/>
          </a:ln>
        </p:spPr>
      </p:sp>
      <p:sp>
        <p:nvSpPr>
          <p:cNvPr id="15" name="box text RUN"/>
          <p:cNvSpPr txBox="1"/>
          <p:nvPr/>
        </p:nvSpPr>
        <p:spPr>
          <a:xfrm>
            <a:off x="4663440" y="2240280"/>
            <a:ext cx="1097280" cy="475488"/>
          </a:xfrm>
          <a:prstGeom prst="rect">
            <a:avLst/>
          </a:prstGeom>
          <a:noFill/>
          <a:ln/>
        </p:spPr>
        <p:txBody>
          <a:bodyPr wrap="square" lIns="381" tIns="381" rIns="381" bIns="381"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RUN</a:t>
            </a:r>
            <a:endParaRPr lang="en-US" sz="1100" dirty="0"/>
          </a:p>
        </p:txBody>
      </p:sp>
      <p:sp>
        <p:nvSpPr>
          <p:cNvPr id="16" name="Text 13"/>
          <p:cNvSpPr txBox="1"/>
          <p:nvPr/>
        </p:nvSpPr>
        <p:spPr>
          <a:xfrm>
            <a:off x="5852160" y="2240280"/>
            <a:ext cx="2834640" cy="475488"/>
          </a:xfrm>
          <a:prstGeom prst="rect">
            <a:avLst/>
          </a:prstGeom>
          <a:noFill/>
          <a:ln/>
        </p:spPr>
        <p:txBody>
          <a:bodyPr wrap="square" lIns="0" tIns="0" rIns="0" bIns="0" rtlCol="0" anchor="ctr"/>
          <a:lstStyle/>
          <a:p>
            <a:pPr indent="0" marL="0">
              <a:buNone/>
            </a:pPr>
            <a:r>
              <a:rPr lang="en-US" sz="1000" dirty="0">
                <a:solidFill>
                  <a:schemeClr val="tx1"/>
                </a:solidFill>
              </a:rPr>
              <a:t>Execute a shell command at BUILD time, inside the image. Result becomes a layer</a:t>
            </a:r>
            <a:endParaRPr lang="en-US" sz="1000" dirty="0"/>
          </a:p>
        </p:txBody>
      </p:sp>
      <p:sp>
        <p:nvSpPr>
          <p:cNvPr id="17" name="box COPY"/>
          <p:cNvSpPr/>
          <p:nvPr/>
        </p:nvSpPr>
        <p:spPr>
          <a:xfrm>
            <a:off x="4663440" y="2834640"/>
            <a:ext cx="1097280" cy="475488"/>
          </a:xfrm>
          <a:prstGeom prst="roundRect">
            <a:avLst>
              <a:gd name="adj" fmla="val 15385"/>
            </a:avLst>
          </a:prstGeom>
          <a:solidFill>
            <a:schemeClr val="accent1"/>
          </a:solidFill>
          <a:ln w="12700">
            <a:solidFill>
              <a:schemeClr val="accent1"/>
            </a:solidFill>
            <a:prstDash val="solid"/>
          </a:ln>
        </p:spPr>
      </p:sp>
      <p:sp>
        <p:nvSpPr>
          <p:cNvPr id="18" name="box text COPY"/>
          <p:cNvSpPr txBox="1"/>
          <p:nvPr/>
        </p:nvSpPr>
        <p:spPr>
          <a:xfrm>
            <a:off x="4663440" y="2834640"/>
            <a:ext cx="1097280" cy="475488"/>
          </a:xfrm>
          <a:prstGeom prst="rect">
            <a:avLst/>
          </a:prstGeom>
          <a:noFill/>
          <a:ln/>
        </p:spPr>
        <p:txBody>
          <a:bodyPr wrap="square" lIns="381" tIns="381" rIns="381" bIns="381"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COPY</a:t>
            </a:r>
            <a:endParaRPr lang="en-US" sz="1100" dirty="0"/>
          </a:p>
        </p:txBody>
      </p:sp>
      <p:sp>
        <p:nvSpPr>
          <p:cNvPr id="19" name="Text 16"/>
          <p:cNvSpPr txBox="1"/>
          <p:nvPr/>
        </p:nvSpPr>
        <p:spPr>
          <a:xfrm>
            <a:off x="5852160" y="2834640"/>
            <a:ext cx="2834640" cy="475488"/>
          </a:xfrm>
          <a:prstGeom prst="rect">
            <a:avLst/>
          </a:prstGeom>
          <a:noFill/>
          <a:ln/>
        </p:spPr>
        <p:txBody>
          <a:bodyPr wrap="square" lIns="0" tIns="0" rIns="0" bIns="0" rtlCol="0" anchor="ctr"/>
          <a:lstStyle/>
          <a:p>
            <a:pPr indent="0" marL="0">
              <a:buNone/>
            </a:pPr>
            <a:r>
              <a:rPr lang="en-US" sz="1000" dirty="0">
                <a:solidFill>
                  <a:schemeClr val="tx1"/>
                </a:solidFill>
              </a:rPr>
              <a:t>Copy files from the host (build context) into the image. Host → image</a:t>
            </a:r>
            <a:endParaRPr lang="en-US" sz="1000" dirty="0"/>
          </a:p>
        </p:txBody>
      </p:sp>
      <p:sp>
        <p:nvSpPr>
          <p:cNvPr id="20" name="box WORKDIR"/>
          <p:cNvSpPr/>
          <p:nvPr/>
        </p:nvSpPr>
        <p:spPr>
          <a:xfrm>
            <a:off x="4663440" y="3429000"/>
            <a:ext cx="1097280" cy="475488"/>
          </a:xfrm>
          <a:prstGeom prst="roundRect">
            <a:avLst>
              <a:gd name="adj" fmla="val 15385"/>
            </a:avLst>
          </a:prstGeom>
          <a:solidFill>
            <a:schemeClr val="accent1"/>
          </a:solidFill>
          <a:ln w="12700">
            <a:solidFill>
              <a:schemeClr val="accent1"/>
            </a:solidFill>
            <a:prstDash val="solid"/>
          </a:ln>
        </p:spPr>
      </p:sp>
      <p:sp>
        <p:nvSpPr>
          <p:cNvPr id="21" name="box text WORKDIR"/>
          <p:cNvSpPr txBox="1"/>
          <p:nvPr/>
        </p:nvSpPr>
        <p:spPr>
          <a:xfrm>
            <a:off x="4663440" y="3429000"/>
            <a:ext cx="1097280" cy="475488"/>
          </a:xfrm>
          <a:prstGeom prst="rect">
            <a:avLst/>
          </a:prstGeom>
          <a:noFill/>
          <a:ln/>
        </p:spPr>
        <p:txBody>
          <a:bodyPr wrap="square" lIns="381" tIns="381" rIns="381" bIns="381"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WORKDIR</a:t>
            </a:r>
            <a:endParaRPr lang="en-US" sz="1100" dirty="0"/>
          </a:p>
        </p:txBody>
      </p:sp>
      <p:sp>
        <p:nvSpPr>
          <p:cNvPr id="22" name="Text 19"/>
          <p:cNvSpPr txBox="1"/>
          <p:nvPr/>
        </p:nvSpPr>
        <p:spPr>
          <a:xfrm>
            <a:off x="5852160" y="3429000"/>
            <a:ext cx="2834640" cy="475488"/>
          </a:xfrm>
          <a:prstGeom prst="rect">
            <a:avLst/>
          </a:prstGeom>
          <a:noFill/>
          <a:ln/>
        </p:spPr>
        <p:txBody>
          <a:bodyPr wrap="square" lIns="0" tIns="0" rIns="0" bIns="0" rtlCol="0" anchor="ctr"/>
          <a:lstStyle/>
          <a:p>
            <a:pPr indent="0" marL="0">
              <a:buNone/>
            </a:pPr>
            <a:r>
              <a:rPr lang="en-US" sz="1000" dirty="0">
                <a:solidFill>
                  <a:schemeClr val="tx1"/>
                </a:solidFill>
              </a:rPr>
              <a:t>Set the working directory for the following instructions and for CMD</a:t>
            </a:r>
            <a:endParaRPr lang="en-US" sz="1000" dirty="0"/>
          </a:p>
        </p:txBody>
      </p:sp>
      <p:sp>
        <p:nvSpPr>
          <p:cNvPr id="23" name="box CMD"/>
          <p:cNvSpPr/>
          <p:nvPr/>
        </p:nvSpPr>
        <p:spPr>
          <a:xfrm>
            <a:off x="4663440" y="4023360"/>
            <a:ext cx="1097280" cy="475488"/>
          </a:xfrm>
          <a:prstGeom prst="roundRect">
            <a:avLst>
              <a:gd name="adj" fmla="val 15385"/>
            </a:avLst>
          </a:prstGeom>
          <a:solidFill>
            <a:schemeClr val="accent1"/>
          </a:solidFill>
          <a:ln w="12700">
            <a:solidFill>
              <a:schemeClr val="accent1"/>
            </a:solidFill>
            <a:prstDash val="solid"/>
          </a:ln>
        </p:spPr>
      </p:sp>
      <p:sp>
        <p:nvSpPr>
          <p:cNvPr id="24" name="box text CMD"/>
          <p:cNvSpPr txBox="1"/>
          <p:nvPr/>
        </p:nvSpPr>
        <p:spPr>
          <a:xfrm>
            <a:off x="4663440" y="4023360"/>
            <a:ext cx="1097280" cy="475488"/>
          </a:xfrm>
          <a:prstGeom prst="rect">
            <a:avLst/>
          </a:prstGeom>
          <a:noFill/>
          <a:ln/>
        </p:spPr>
        <p:txBody>
          <a:bodyPr wrap="square" lIns="381" tIns="381" rIns="381" bIns="381"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CMD</a:t>
            </a:r>
            <a:endParaRPr lang="en-US" sz="1100" dirty="0"/>
          </a:p>
        </p:txBody>
      </p:sp>
      <p:sp>
        <p:nvSpPr>
          <p:cNvPr id="25" name="Text 22"/>
          <p:cNvSpPr txBox="1"/>
          <p:nvPr/>
        </p:nvSpPr>
        <p:spPr>
          <a:xfrm>
            <a:off x="5852160" y="4023360"/>
            <a:ext cx="2834640" cy="475488"/>
          </a:xfrm>
          <a:prstGeom prst="rect">
            <a:avLst/>
          </a:prstGeom>
          <a:noFill/>
          <a:ln/>
        </p:spPr>
        <p:txBody>
          <a:bodyPr wrap="square" lIns="0" tIns="0" rIns="0" bIns="0" rtlCol="0" anchor="ctr"/>
          <a:lstStyle/>
          <a:p>
            <a:pPr indent="0" marL="0">
              <a:buNone/>
            </a:pPr>
            <a:r>
              <a:rPr lang="en-US" sz="1000" dirty="0">
                <a:solidFill>
                  <a:schemeClr val="tx1"/>
                </a:solidFill>
              </a:rPr>
              <a:t>The command to run when a container STARTS. Only one; last wins</a:t>
            </a:r>
            <a:endParaRPr lang="en-US" sz="10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RUN vs CMD, and build vs run time</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accent1"/>
          </a:solidFill>
          <a:ln w="12700">
            <a:solidFill>
              <a:schemeClr val="accent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DOCKER</a:t>
            </a:r>
            <a:endParaRPr lang="en-US" sz="900" dirty="0"/>
          </a:p>
        </p:txBody>
      </p:sp>
      <p:sp>
        <p:nvSpPr>
          <p:cNvPr id="6" name="Text 3"/>
          <p:cNvSpPr txBox="1"/>
          <p:nvPr/>
        </p:nvSpPr>
        <p:spPr>
          <a:xfrm>
            <a:off x="457200" y="1097280"/>
            <a:ext cx="4023360" cy="320040"/>
          </a:xfrm>
          <a:prstGeom prst="rect">
            <a:avLst/>
          </a:prstGeom>
          <a:noFill/>
          <a:ln/>
        </p:spPr>
        <p:txBody>
          <a:bodyPr wrap="square" lIns="0" tIns="0" rIns="0" bIns="0" rtlCol="0" anchor="t"/>
          <a:lstStyle/>
          <a:p>
            <a:pPr indent="0" marL="0">
              <a:buNone/>
            </a:pPr>
            <a:r>
              <a:rPr lang="en-US" sz="1500" b="1" dirty="0">
                <a:solidFill>
                  <a:schemeClr val="accent1"/>
                </a:solidFill>
              </a:rPr>
              <a:t>docker build</a:t>
            </a:r>
            <a:endParaRPr lang="en-US" sz="1500" dirty="0"/>
          </a:p>
        </p:txBody>
      </p:sp>
      <p:sp>
        <p:nvSpPr>
          <p:cNvPr id="7" name="build box"/>
          <p:cNvSpPr/>
          <p:nvPr/>
        </p:nvSpPr>
        <p:spPr>
          <a:xfrm>
            <a:off x="457200" y="1463040"/>
            <a:ext cx="4023360" cy="2103120"/>
          </a:xfrm>
          <a:prstGeom prst="roundRect">
            <a:avLst>
              <a:gd name="adj" fmla="val 4348"/>
            </a:avLst>
          </a:prstGeom>
          <a:solidFill>
            <a:srgbClr val="E0F2FE"/>
          </a:solidFill>
          <a:ln w="12700">
            <a:solidFill>
              <a:srgbClr val="E0F2FE"/>
            </a:solidFill>
            <a:prstDash val="solid"/>
          </a:ln>
        </p:spPr>
      </p:sp>
      <p:sp>
        <p:nvSpPr>
          <p:cNvPr id="8" name="Text 5"/>
          <p:cNvSpPr txBox="1"/>
          <p:nvPr/>
        </p:nvSpPr>
        <p:spPr>
          <a:xfrm>
            <a:off x="640080" y="1600200"/>
            <a:ext cx="3657600" cy="19202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FROM pulls the base</a:t>
            </a:r>
            <a:endParaRPr lang="en-US" sz="1200" dirty="0"/>
          </a:p>
          <a:p>
            <a:pPr marL="342900" indent="-342900">
              <a:spcAft>
                <a:spcPts val="600"/>
              </a:spcAft>
              <a:buSzPct val="100000"/>
              <a:buChar char="•"/>
            </a:pPr>
            <a:r>
              <a:rPr lang="en-US" sz="1200" dirty="0">
                <a:solidFill>
                  <a:schemeClr val="tx1"/>
                </a:solidFill>
              </a:rPr>
              <a:t>COPY adds your files</a:t>
            </a:r>
            <a:endParaRPr lang="en-US" sz="1200" dirty="0"/>
          </a:p>
          <a:p>
            <a:pPr marL="342900" indent="-342900">
              <a:spcAft>
                <a:spcPts val="600"/>
              </a:spcAft>
              <a:buSzPct val="100000"/>
              <a:buChar char="•"/>
            </a:pPr>
            <a:r>
              <a:rPr lang="en-US" sz="1200" dirty="0">
                <a:solidFill>
                  <a:schemeClr val="tx1"/>
                </a:solidFill>
              </a:rPr>
              <a:t>RUN npm install executes now, inside the image</a:t>
            </a:r>
            <a:endParaRPr lang="en-US" sz="1200" dirty="0"/>
          </a:p>
          <a:p>
            <a:pPr marL="342900" indent="-342900">
              <a:spcAft>
                <a:spcPts val="600"/>
              </a:spcAft>
              <a:buSzPct val="100000"/>
              <a:buChar char="•"/>
            </a:pPr>
            <a:r>
              <a:rPr lang="en-US" sz="1200" dirty="0">
                <a:solidFill>
                  <a:schemeClr val="tx1"/>
                </a:solidFill>
              </a:rPr>
              <a:t>Result: a new image with N layers</a:t>
            </a:r>
            <a:endParaRPr lang="en-US" sz="1200" dirty="0"/>
          </a:p>
          <a:p>
            <a:pPr marL="342900" indent="-342900">
              <a:spcAft>
                <a:spcPts val="600"/>
              </a:spcAft>
              <a:buSzPct val="100000"/>
              <a:buChar char="•"/>
            </a:pPr>
            <a:r>
              <a:rPr lang="en-US" sz="1200" dirty="0">
                <a:solidFill>
                  <a:schemeClr val="tx1"/>
                </a:solidFill>
              </a:rPr>
              <a:t>CMD is only recorded, not executed</a:t>
            </a:r>
            <a:endParaRPr lang="en-US" sz="1200" dirty="0"/>
          </a:p>
        </p:txBody>
      </p:sp>
      <p:sp>
        <p:nvSpPr>
          <p:cNvPr id="9" name="Text 6"/>
          <p:cNvSpPr txBox="1"/>
          <p:nvPr/>
        </p:nvSpPr>
        <p:spPr>
          <a:xfrm>
            <a:off x="4663440" y="1097280"/>
            <a:ext cx="4023360" cy="320040"/>
          </a:xfrm>
          <a:prstGeom prst="rect">
            <a:avLst/>
          </a:prstGeom>
          <a:noFill/>
          <a:ln/>
        </p:spPr>
        <p:txBody>
          <a:bodyPr wrap="square" lIns="0" tIns="0" rIns="0" bIns="0" rtlCol="0" anchor="t"/>
          <a:lstStyle/>
          <a:p>
            <a:pPr indent="0" marL="0">
              <a:buNone/>
            </a:pPr>
            <a:r>
              <a:rPr lang="en-US" sz="1500" b="1" dirty="0">
                <a:solidFill>
                  <a:schemeClr val="accent1"/>
                </a:solidFill>
              </a:rPr>
              <a:t>docker run</a:t>
            </a:r>
            <a:endParaRPr lang="en-US" sz="1500" dirty="0"/>
          </a:p>
        </p:txBody>
      </p:sp>
      <p:sp>
        <p:nvSpPr>
          <p:cNvPr id="10" name="run box"/>
          <p:cNvSpPr/>
          <p:nvPr/>
        </p:nvSpPr>
        <p:spPr>
          <a:xfrm>
            <a:off x="4663440" y="1463040"/>
            <a:ext cx="4023360" cy="2103120"/>
          </a:xfrm>
          <a:prstGeom prst="roundRect">
            <a:avLst>
              <a:gd name="adj" fmla="val 4348"/>
            </a:avLst>
          </a:prstGeom>
          <a:solidFill>
            <a:srgbClr val="E0F2FE"/>
          </a:solidFill>
          <a:ln w="12700">
            <a:solidFill>
              <a:srgbClr val="E0F2FE"/>
            </a:solidFill>
            <a:prstDash val="solid"/>
          </a:ln>
        </p:spPr>
      </p:sp>
      <p:sp>
        <p:nvSpPr>
          <p:cNvPr id="11" name="Text 8"/>
          <p:cNvSpPr txBox="1"/>
          <p:nvPr/>
        </p:nvSpPr>
        <p:spPr>
          <a:xfrm>
            <a:off x="4846320" y="1600200"/>
            <a:ext cx="3657600" cy="192024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Image layers mounted read-only + a writable layer</a:t>
            </a:r>
            <a:endParaRPr lang="en-US" sz="1200" dirty="0"/>
          </a:p>
          <a:p>
            <a:pPr marL="342900" indent="-342900">
              <a:spcAft>
                <a:spcPts val="600"/>
              </a:spcAft>
              <a:buSzPct val="100000"/>
              <a:buChar char="•"/>
            </a:pPr>
            <a:r>
              <a:rPr lang="en-US" sz="1200" dirty="0">
                <a:solidFill>
                  <a:schemeClr val="tx1"/>
                </a:solidFill>
              </a:rPr>
              <a:t>WORKDIR applied, ENV set</a:t>
            </a:r>
            <a:endParaRPr lang="en-US" sz="1200" dirty="0"/>
          </a:p>
          <a:p>
            <a:pPr marL="342900" indent="-342900">
              <a:spcAft>
                <a:spcPts val="600"/>
              </a:spcAft>
              <a:buSzPct val="100000"/>
              <a:buChar char="•"/>
            </a:pPr>
            <a:r>
              <a:rPr lang="en-US" sz="1200" dirty="0">
                <a:solidFill>
                  <a:schemeClr val="tx1"/>
                </a:solidFill>
              </a:rPr>
              <a:t>CMD executes: node server.js becomes PID 1</a:t>
            </a:r>
            <a:endParaRPr lang="en-US" sz="1200" dirty="0"/>
          </a:p>
          <a:p>
            <a:pPr marL="342900" indent="-342900">
              <a:spcAft>
                <a:spcPts val="600"/>
              </a:spcAft>
              <a:buSzPct val="100000"/>
              <a:buChar char="•"/>
            </a:pPr>
            <a:r>
              <a:rPr lang="en-US" sz="1200" dirty="0">
                <a:solidFill>
                  <a:schemeClr val="tx1"/>
                </a:solidFill>
              </a:rPr>
              <a:t>Container lives while that process lives</a:t>
            </a:r>
            <a:endParaRPr lang="en-US" sz="1200" dirty="0"/>
          </a:p>
          <a:p>
            <a:pPr marL="342900" indent="-342900">
              <a:spcAft>
                <a:spcPts val="600"/>
              </a:spcAft>
              <a:buSzPct val="100000"/>
              <a:buChar char="•"/>
            </a:pPr>
            <a:r>
              <a:rPr lang="en-US" sz="1200" dirty="0">
                <a:solidFill>
                  <a:schemeClr val="tx1"/>
                </a:solidFill>
              </a:rPr>
              <a:t>docker run image &lt;other cmd&gt; overrides CMD</a:t>
            </a:r>
            <a:endParaRPr lang="en-US" sz="1200" dirty="0"/>
          </a:p>
        </p:txBody>
      </p:sp>
      <p:sp>
        <p:nvSpPr>
          <p:cNvPr id="12" name="box RUN = build-time shell command (many).   CMD = the start command stored in the image (one)."/>
          <p:cNvSpPr/>
          <p:nvPr/>
        </p:nvSpPr>
        <p:spPr>
          <a:xfrm>
            <a:off x="457200" y="4069080"/>
            <a:ext cx="8229600" cy="502920"/>
          </a:xfrm>
          <a:prstGeom prst="roundRect">
            <a:avLst>
              <a:gd name="adj" fmla="val 14545"/>
            </a:avLst>
          </a:prstGeom>
          <a:solidFill>
            <a:schemeClr val="accent1"/>
          </a:solidFill>
          <a:ln w="12700">
            <a:solidFill>
              <a:schemeClr val="accent1"/>
            </a:solidFill>
            <a:prstDash val="solid"/>
          </a:ln>
        </p:spPr>
      </p:sp>
      <p:sp>
        <p:nvSpPr>
          <p:cNvPr id="13" name="box text RUN = build-time shell command (many).   CMD = the start command stored in the image (one)."/>
          <p:cNvSpPr txBox="1"/>
          <p:nvPr/>
        </p:nvSpPr>
        <p:spPr>
          <a:xfrm>
            <a:off x="457200" y="4069080"/>
            <a:ext cx="8229600" cy="502920"/>
          </a:xfrm>
          <a:prstGeom prst="rect">
            <a:avLst/>
          </a:prstGeom>
          <a:noFill/>
          <a:ln/>
        </p:spPr>
        <p:txBody>
          <a:bodyPr wrap="square" lIns="381" tIns="381" rIns="381" bIns="381" rtlCol="0" anchor="ctr"/>
          <a:lstStyle/>
          <a:p>
            <a:pPr algn="ctr" indent="0" marL="0">
              <a:buNone/>
            </a:pPr>
            <a:r>
              <a:rPr lang="en-US" sz="1400" b="1" dirty="0">
                <a:solidFill>
                  <a:schemeClr val="bg1"/>
                </a:solidFill>
              </a:rPr>
              <a:t>RUN = build-time shell command (many).   CMD = the start command stored in the image (one).</a:t>
            </a:r>
            <a:endParaRPr lang="en-US" sz="14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Build, tag, run, iterate</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accent1"/>
          </a:solidFill>
          <a:ln w="12700">
            <a:solidFill>
              <a:schemeClr val="accent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DOCKER</a:t>
            </a:r>
            <a:endParaRPr lang="en-US" sz="900" dirty="0"/>
          </a:p>
        </p:txBody>
      </p:sp>
      <p:sp>
        <p:nvSpPr>
          <p:cNvPr id="6" name="code bg"/>
          <p:cNvSpPr/>
          <p:nvPr/>
        </p:nvSpPr>
        <p:spPr>
          <a:xfrm>
            <a:off x="457200" y="1097280"/>
            <a:ext cx="5120640" cy="2834640"/>
          </a:xfrm>
          <a:prstGeom prst="roundRect">
            <a:avLst>
              <a:gd name="adj" fmla="val 3226"/>
            </a:avLst>
          </a:prstGeom>
          <a:solidFill>
            <a:schemeClr val="tx1"/>
          </a:solidFill>
          <a:ln w="12700">
            <a:solidFill>
              <a:schemeClr val="tx1"/>
            </a:solidFill>
            <a:prstDash val="solid"/>
          </a:ln>
        </p:spPr>
      </p:sp>
      <p:sp>
        <p:nvSpPr>
          <p:cNvPr id="7" name="code"/>
          <p:cNvSpPr txBox="1"/>
          <p:nvPr/>
        </p:nvSpPr>
        <p:spPr>
          <a:xfrm>
            <a:off x="594360" y="1188720"/>
            <a:ext cx="4846320" cy="2651760"/>
          </a:xfrm>
          <a:prstGeom prst="rect">
            <a:avLst/>
          </a:prstGeom>
          <a:noFill/>
          <a:ln/>
        </p:spPr>
        <p:txBody>
          <a:bodyPr wrap="square" lIns="0" tIns="0" rIns="0" bIns="0" rtlCol="0" anchor="t"/>
          <a:lstStyle/>
          <a:p>
            <a:pPr indent="0" marL="0">
              <a:buNone/>
            </a:pPr>
            <a:r>
              <a:rPr lang="en-US" sz="850" dirty="0">
                <a:solidFill>
                  <a:srgbClr val="E2E8F0"/>
                </a:solidFill>
                <a:latin typeface="Courier New" pitchFamily="34" charset="0"/>
                <a:ea typeface="Courier New" pitchFamily="34" charset="-122"/>
                <a:cs typeface="Courier New" pitchFamily="34" charset="-120"/>
              </a:rPr>
              <a:t>$ docker build -t my-app:1.0 .</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 Building 14.2s</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 =&gt; [1/5] FROM node:20-alpine</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 =&gt; [2/5] RUN mkdir -p /home/app</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 =&gt; [3/5] COPY ./app /home/app</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 =&gt; [4/5] WORKDIR /home/app</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 =&gt; [5/5] RUN npm install</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 =&gt; exporting to image  →  my-app:1.0</a:t>
            </a:r>
            <a:endParaRPr lang="en-US" sz="850" dirty="0"/>
          </a:p>
          <a:p>
            <a:pPr indent="0" marL="0">
              <a:buNone/>
            </a:pP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 docker images                      # my-app  1.0  …  148MB</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 docker run -d --name my-app --network mongo-network -p 3000:3000 my-app:1.0</a:t>
            </a:r>
            <a:endParaRPr lang="en-US" sz="850" dirty="0"/>
          </a:p>
          <a:p>
            <a:pPr indent="0" marL="0">
              <a:buNone/>
            </a:pPr>
            <a:r>
              <a:rPr lang="en-US" sz="850" dirty="0">
                <a:solidFill>
                  <a:srgbClr val="E2E8F0"/>
                </a:solidFill>
                <a:latin typeface="Courier New" pitchFamily="34" charset="0"/>
                <a:ea typeface="Courier New" pitchFamily="34" charset="-122"/>
                <a:cs typeface="Courier New" pitchFamily="34" charset="-120"/>
              </a:rPr>
              <a:t>$ docker logs my-app                 # app listening on port 3000</a:t>
            </a:r>
            <a:endParaRPr lang="en-US" sz="850" dirty="0"/>
          </a:p>
        </p:txBody>
      </p:sp>
      <p:sp>
        <p:nvSpPr>
          <p:cNvPr id="8" name="When code changes card"/>
          <p:cNvSpPr/>
          <p:nvPr/>
        </p:nvSpPr>
        <p:spPr>
          <a:xfrm>
            <a:off x="5760720" y="1097280"/>
            <a:ext cx="2926080" cy="2834640"/>
          </a:xfrm>
          <a:prstGeom prst="roundRect">
            <a:avLst>
              <a:gd name="adj" fmla="val 3871"/>
            </a:avLst>
          </a:prstGeom>
          <a:solidFill>
            <a:schemeClr val="bg2"/>
          </a:solidFill>
          <a:ln w="12700">
            <a:solidFill>
              <a:schemeClr val="bg2"/>
            </a:solidFill>
            <a:prstDash val="solid"/>
          </a:ln>
        </p:spPr>
      </p:sp>
      <p:sp>
        <p:nvSpPr>
          <p:cNvPr id="9" name="When code changes circle"/>
          <p:cNvSpPr/>
          <p:nvPr/>
        </p:nvSpPr>
        <p:spPr>
          <a:xfrm>
            <a:off x="5943600" y="1280160"/>
            <a:ext cx="457200" cy="457200"/>
          </a:xfrm>
          <a:prstGeom prst="ellipse">
            <a:avLst/>
          </a:prstGeom>
          <a:solidFill>
            <a:schemeClr val="accent1"/>
          </a:solidFill>
          <a:ln w="12700">
            <a:solidFill>
              <a:schemeClr val="accent1"/>
            </a:solidFill>
            <a:prstDash val="solid"/>
          </a:ln>
        </p:spPr>
      </p:sp>
      <p:pic>
        <p:nvPicPr>
          <p:cNvPr id="10" name="When code changes icon" descr="preencoded.png">    </p:cNvPr>
          <p:cNvPicPr>
            <a:picLocks noChangeAspect="1"/>
          </p:cNvPicPr>
          <p:nvPr/>
        </p:nvPicPr>
        <p:blipFill>
          <a:blip r:embed="rId1"/>
          <a:stretch>
            <a:fillRect/>
          </a:stretch>
        </p:blipFill>
        <p:spPr>
          <a:xfrm>
            <a:off x="6035040" y="1371600"/>
            <a:ext cx="274320" cy="274320"/>
          </a:xfrm>
          <a:prstGeom prst="rect">
            <a:avLst/>
          </a:prstGeom>
        </p:spPr>
      </p:pic>
      <p:sp>
        <p:nvSpPr>
          <p:cNvPr id="11" name="Text 7"/>
          <p:cNvSpPr txBox="1"/>
          <p:nvPr/>
        </p:nvSpPr>
        <p:spPr>
          <a:xfrm>
            <a:off x="6537960" y="1280160"/>
            <a:ext cx="1965960" cy="457200"/>
          </a:xfrm>
          <a:prstGeom prst="rect">
            <a:avLst/>
          </a:prstGeom>
          <a:noFill/>
          <a:ln/>
        </p:spPr>
        <p:txBody>
          <a:bodyPr wrap="square" lIns="0" tIns="0" rIns="0" bIns="0" rtlCol="0" anchor="ctr"/>
          <a:lstStyle/>
          <a:p>
            <a:pPr indent="0" marL="0">
              <a:buNone/>
            </a:pPr>
            <a:r>
              <a:rPr lang="en-US" sz="1600" b="1" dirty="0">
                <a:solidFill>
                  <a:schemeClr val="tx1"/>
                </a:solidFill>
              </a:rPr>
              <a:t>When code changes</a:t>
            </a:r>
            <a:endParaRPr lang="en-US" sz="1600" dirty="0"/>
          </a:p>
        </p:txBody>
      </p:sp>
      <p:sp>
        <p:nvSpPr>
          <p:cNvPr id="12" name="Text 8"/>
          <p:cNvSpPr txBox="1"/>
          <p:nvPr/>
        </p:nvSpPr>
        <p:spPr>
          <a:xfrm>
            <a:off x="5943600" y="1874520"/>
            <a:ext cx="2560320" cy="19202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Images are immutable: edit → rebuild</a:t>
            </a:r>
            <a:endParaRPr lang="en-US" sz="1300" dirty="0"/>
          </a:p>
          <a:p>
            <a:pPr marL="342900" indent="-342900">
              <a:spcAft>
                <a:spcPts val="600"/>
              </a:spcAft>
              <a:buSzPct val="100000"/>
              <a:buChar char="•"/>
            </a:pPr>
            <a:r>
              <a:rPr lang="en-US" sz="1300" dirty="0">
                <a:solidFill>
                  <a:schemeClr val="tx1"/>
                </a:solidFill>
              </a:rPr>
              <a:t>docker build -t my-app:1.1 .</a:t>
            </a:r>
            <a:endParaRPr lang="en-US" sz="1300" dirty="0"/>
          </a:p>
          <a:p>
            <a:pPr marL="342900" indent="-342900">
              <a:spcAft>
                <a:spcPts val="600"/>
              </a:spcAft>
              <a:buSzPct val="100000"/>
              <a:buChar char="•"/>
            </a:pPr>
            <a:r>
              <a:rPr lang="en-US" sz="1300" dirty="0">
                <a:solidFill>
                  <a:schemeClr val="tx1"/>
                </a:solidFill>
              </a:rPr>
              <a:t>docker rm -f my-app, run the new tag</a:t>
            </a:r>
            <a:endParaRPr lang="en-US" sz="1300" dirty="0"/>
          </a:p>
          <a:p>
            <a:pPr marL="342900" indent="-342900">
              <a:spcAft>
                <a:spcPts val="600"/>
              </a:spcAft>
              <a:buSzPct val="100000"/>
              <a:buChar char="•"/>
            </a:pPr>
            <a:r>
              <a:rPr lang="en-US" sz="1300" dirty="0">
                <a:solidFill>
                  <a:schemeClr val="tx1"/>
                </a:solidFill>
              </a:rPr>
              <a:t>Unchanged layers are cached: fast</a:t>
            </a:r>
            <a:endParaRPr lang="en-US" sz="1300" dirty="0"/>
          </a:p>
          <a:p>
            <a:pPr marL="342900" indent="-342900">
              <a:spcAft>
                <a:spcPts val="600"/>
              </a:spcAft>
              <a:buSzPct val="100000"/>
              <a:buChar char="•"/>
            </a:pPr>
            <a:r>
              <a:rPr lang="en-US" sz="1300" dirty="0">
                <a:solidFill>
                  <a:schemeClr val="tx1"/>
                </a:solidFill>
              </a:rPr>
              <a:t>Put npm install before COPY of source to cache it (see notes)</a:t>
            </a:r>
            <a:endParaRPr lang="en-US" sz="1300" dirty="0"/>
          </a:p>
        </p:txBody>
      </p:sp>
      <p:sp>
        <p:nvSpPr>
          <p:cNvPr id="13" name="box Now the app is an image too. It can be shipped exactly like mongo:7 was."/>
          <p:cNvSpPr/>
          <p:nvPr/>
        </p:nvSpPr>
        <p:spPr>
          <a:xfrm>
            <a:off x="457200" y="4069080"/>
            <a:ext cx="8229600" cy="502920"/>
          </a:xfrm>
          <a:prstGeom prst="roundRect">
            <a:avLst>
              <a:gd name="adj" fmla="val 14545"/>
            </a:avLst>
          </a:prstGeom>
          <a:solidFill>
            <a:schemeClr val="accent1"/>
          </a:solidFill>
          <a:ln w="12700">
            <a:solidFill>
              <a:schemeClr val="accent1"/>
            </a:solidFill>
            <a:prstDash val="solid"/>
          </a:ln>
        </p:spPr>
      </p:sp>
      <p:sp>
        <p:nvSpPr>
          <p:cNvPr id="14" name="box text Now the app is an image too. It can be shipped exactly like mongo:7 was."/>
          <p:cNvSpPr txBox="1"/>
          <p:nvPr/>
        </p:nvSpPr>
        <p:spPr>
          <a:xfrm>
            <a:off x="457200" y="4069080"/>
            <a:ext cx="8229600" cy="502920"/>
          </a:xfrm>
          <a:prstGeom prst="rect">
            <a:avLst/>
          </a:prstGeom>
          <a:noFill/>
          <a:ln/>
        </p:spPr>
        <p:txBody>
          <a:bodyPr wrap="square" lIns="381" tIns="381" rIns="381" bIns="381" rtlCol="0" anchor="ctr"/>
          <a:lstStyle/>
          <a:p>
            <a:pPr algn="ctr" indent="0" marL="0">
              <a:buNone/>
            </a:pPr>
            <a:r>
              <a:rPr lang="en-US" sz="1400" b="1" dirty="0">
                <a:solidFill>
                  <a:schemeClr val="bg1"/>
                </a:solidFill>
              </a:rPr>
              <a:t>Now the app is an image too. It can be shipped exactly like mongo:7 was.</a:t>
            </a:r>
            <a:endParaRPr lang="en-US" sz="14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914400"/>
          </a:xfrm>
          <a:prstGeom prst="rect">
            <a:avLst/>
          </a:prstGeom>
          <a:noFill/>
          <a:ln/>
        </p:spPr>
        <p:txBody>
          <a:bodyPr wrap="square" lIns="0" tIns="0" rIns="0" bIns="0" rtlCol="0" anchor="b"/>
          <a:lstStyle/>
          <a:p>
            <a:pPr algn="l" indent="0" marL="0">
              <a:buNone/>
            </a:pPr>
            <a:r>
              <a:rPr lang="en-US" sz="4000" b="1" dirty="0">
                <a:solidFill>
                  <a:srgbClr val="FFFFFF"/>
                </a:solidFill>
              </a:rPr>
              <a:t>10 · Private registry: pushing the image to AWS ECR</a:t>
            </a:r>
            <a:endParaRPr lang="en-US" sz="4000" dirty="0"/>
          </a:p>
        </p:txBody>
      </p:sp>
      <p:sp>
        <p:nvSpPr>
          <p:cNvPr id="3" name="Text 0"/>
          <p:cNvSpPr/>
          <p:nvPr>
            <p:ph idx="101" type="body" hasCustomPrompt="1"/>
          </p:nvPr>
        </p:nvSpPr>
        <p:spPr>
          <a:xfrm>
            <a:off x="548640" y="2834640"/>
            <a:ext cx="8046720" cy="822960"/>
          </a:xfrm>
          <a:prstGeom prst="rect">
            <a:avLst/>
          </a:prstGeom>
          <a:noFill/>
          <a:ln/>
        </p:spPr>
        <p:txBody>
          <a:bodyPr wrap="square" lIns="0" tIns="0" rIns="0" bIns="0" rtlCol="0" anchor="t"/>
          <a:lstStyle/>
          <a:p>
            <a:pPr algn="l" indent="0" marL="0">
              <a:buNone/>
            </a:pPr>
            <a:r>
              <a:rPr lang="en-US" sz="1800" dirty="0">
                <a:solidFill>
                  <a:srgbClr val="CBD5E1"/>
                </a:solidFill>
              </a:rPr>
              <a:t>Where your built images live so servers can pull them</a:t>
            </a:r>
            <a:endParaRPr lang="en-US" sz="1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Registry, repository, tag</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accent1"/>
          </a:solidFill>
          <a:ln w="12700">
            <a:solidFill>
              <a:schemeClr val="accent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DOCKER</a:t>
            </a:r>
            <a:endParaRPr lang="en-US" sz="900" dirty="0"/>
          </a:p>
        </p:txBody>
      </p:sp>
      <p:sp>
        <p:nvSpPr>
          <p:cNvPr id="6" name="box 123456789012.dkr.ecr.eu-central-1.amazonaws.com / my-app : 1.0"/>
          <p:cNvSpPr/>
          <p:nvPr/>
        </p:nvSpPr>
        <p:spPr>
          <a:xfrm>
            <a:off x="457200" y="1188720"/>
            <a:ext cx="8229600" cy="640080"/>
          </a:xfrm>
          <a:prstGeom prst="roundRect">
            <a:avLst>
              <a:gd name="adj" fmla="val 11429"/>
            </a:avLst>
          </a:prstGeom>
          <a:solidFill>
            <a:schemeClr val="tx1"/>
          </a:solidFill>
          <a:ln w="12700">
            <a:solidFill>
              <a:schemeClr val="tx1"/>
            </a:solidFill>
            <a:prstDash val="solid"/>
          </a:ln>
        </p:spPr>
      </p:sp>
      <p:sp>
        <p:nvSpPr>
          <p:cNvPr id="7" name="box text 123456789012.dkr.ecr.eu-central-1.amazonaws.com / my-app : 1.0"/>
          <p:cNvSpPr txBox="1"/>
          <p:nvPr/>
        </p:nvSpPr>
        <p:spPr>
          <a:xfrm>
            <a:off x="457200" y="1188720"/>
            <a:ext cx="8229600" cy="640080"/>
          </a:xfrm>
          <a:prstGeom prst="rect">
            <a:avLst/>
          </a:prstGeom>
          <a:noFill/>
          <a:ln/>
        </p:spPr>
        <p:txBody>
          <a:bodyPr wrap="square" lIns="381" tIns="381" rIns="381" bIns="381" rtlCol="0" anchor="ctr"/>
          <a:lstStyle/>
          <a:p>
            <a:pPr algn="ctr" indent="0" marL="0">
              <a:buNone/>
            </a:pPr>
            <a:r>
              <a:rPr lang="en-US" sz="1500" b="1" dirty="0">
                <a:solidFill>
                  <a:srgbClr val="E2E8F0"/>
                </a:solidFill>
                <a:latin typeface="Courier New" pitchFamily="34" charset="0"/>
                <a:ea typeface="Courier New" pitchFamily="34" charset="-122"/>
                <a:cs typeface="Courier New" pitchFamily="34" charset="-120"/>
              </a:rPr>
              <a:t>123456789012.dkr.ecr.eu-central-1.amazonaws.com / my-app : 1.0</a:t>
            </a:r>
            <a:endParaRPr lang="en-US" sz="1500" dirty="0"/>
          </a:p>
        </p:txBody>
      </p:sp>
      <p:sp>
        <p:nvSpPr>
          <p:cNvPr id="8" name="box registry host"/>
          <p:cNvSpPr/>
          <p:nvPr/>
        </p:nvSpPr>
        <p:spPr>
          <a:xfrm>
            <a:off x="457200" y="1965960"/>
            <a:ext cx="3566160" cy="411480"/>
          </a:xfrm>
          <a:prstGeom prst="roundRect">
            <a:avLst>
              <a:gd name="adj" fmla="val 17778"/>
            </a:avLst>
          </a:prstGeom>
          <a:solidFill>
            <a:schemeClr val="accent1"/>
          </a:solidFill>
          <a:ln w="12700">
            <a:solidFill>
              <a:schemeClr val="accent1"/>
            </a:solidFill>
            <a:prstDash val="solid"/>
          </a:ln>
        </p:spPr>
      </p:sp>
      <p:sp>
        <p:nvSpPr>
          <p:cNvPr id="9" name="box text registry host"/>
          <p:cNvSpPr txBox="1"/>
          <p:nvPr/>
        </p:nvSpPr>
        <p:spPr>
          <a:xfrm>
            <a:off x="457200" y="1965960"/>
            <a:ext cx="3566160" cy="411480"/>
          </a:xfrm>
          <a:prstGeom prst="rect">
            <a:avLst/>
          </a:prstGeom>
          <a:noFill/>
          <a:ln/>
        </p:spPr>
        <p:txBody>
          <a:bodyPr wrap="square" lIns="381" tIns="381" rIns="381" bIns="381" rtlCol="0" anchor="ctr"/>
          <a:lstStyle/>
          <a:p>
            <a:pPr algn="ctr" indent="0" marL="0">
              <a:buNone/>
            </a:pPr>
            <a:r>
              <a:rPr lang="en-US" sz="1100" b="1" dirty="0">
                <a:solidFill>
                  <a:schemeClr val="bg1"/>
                </a:solidFill>
              </a:rPr>
              <a:t>registry host</a:t>
            </a:r>
            <a:endParaRPr lang="en-US" sz="1100" dirty="0"/>
          </a:p>
        </p:txBody>
      </p:sp>
      <p:sp>
        <p:nvSpPr>
          <p:cNvPr id="10" name="Text 7"/>
          <p:cNvSpPr txBox="1"/>
          <p:nvPr/>
        </p:nvSpPr>
        <p:spPr>
          <a:xfrm>
            <a:off x="457200" y="2423160"/>
            <a:ext cx="3566160" cy="457200"/>
          </a:xfrm>
          <a:prstGeom prst="rect">
            <a:avLst/>
          </a:prstGeom>
          <a:noFill/>
          <a:ln/>
        </p:spPr>
        <p:txBody>
          <a:bodyPr wrap="square" lIns="0" tIns="0" rIns="0" bIns="0" rtlCol="0" anchor="t"/>
          <a:lstStyle/>
          <a:p>
            <a:pPr algn="ctr" indent="0" marL="0">
              <a:buNone/>
            </a:pPr>
            <a:r>
              <a:rPr lang="en-US" sz="1000" dirty="0">
                <a:solidFill>
                  <a:schemeClr val="tx2"/>
                </a:solidFill>
              </a:rPr>
              <a:t>the ECR service in one AWS account + region</a:t>
            </a:r>
            <a:endParaRPr lang="en-US" sz="1000" dirty="0"/>
          </a:p>
        </p:txBody>
      </p:sp>
      <p:sp>
        <p:nvSpPr>
          <p:cNvPr id="11" name="box repository"/>
          <p:cNvSpPr/>
          <p:nvPr/>
        </p:nvSpPr>
        <p:spPr>
          <a:xfrm>
            <a:off x="4251960" y="1965960"/>
            <a:ext cx="1371600" cy="411480"/>
          </a:xfrm>
          <a:prstGeom prst="roundRect">
            <a:avLst>
              <a:gd name="adj" fmla="val 17778"/>
            </a:avLst>
          </a:prstGeom>
          <a:solidFill>
            <a:schemeClr val="accent1"/>
          </a:solidFill>
          <a:ln w="12700">
            <a:solidFill>
              <a:schemeClr val="accent1"/>
            </a:solidFill>
            <a:prstDash val="solid"/>
          </a:ln>
        </p:spPr>
      </p:sp>
      <p:sp>
        <p:nvSpPr>
          <p:cNvPr id="12" name="box text repository"/>
          <p:cNvSpPr txBox="1"/>
          <p:nvPr/>
        </p:nvSpPr>
        <p:spPr>
          <a:xfrm>
            <a:off x="4251960" y="1965960"/>
            <a:ext cx="1371600" cy="411480"/>
          </a:xfrm>
          <a:prstGeom prst="rect">
            <a:avLst/>
          </a:prstGeom>
          <a:noFill/>
          <a:ln/>
        </p:spPr>
        <p:txBody>
          <a:bodyPr wrap="square" lIns="381" tIns="381" rIns="381" bIns="381" rtlCol="0" anchor="ctr"/>
          <a:lstStyle/>
          <a:p>
            <a:pPr algn="ctr" indent="0" marL="0">
              <a:buNone/>
            </a:pPr>
            <a:r>
              <a:rPr lang="en-US" sz="1100" b="1" dirty="0">
                <a:solidFill>
                  <a:schemeClr val="bg1"/>
                </a:solidFill>
              </a:rPr>
              <a:t>repository</a:t>
            </a:r>
            <a:endParaRPr lang="en-US" sz="1100" dirty="0"/>
          </a:p>
        </p:txBody>
      </p:sp>
      <p:sp>
        <p:nvSpPr>
          <p:cNvPr id="13" name="Text 10"/>
          <p:cNvSpPr txBox="1"/>
          <p:nvPr/>
        </p:nvSpPr>
        <p:spPr>
          <a:xfrm>
            <a:off x="4251960" y="2423160"/>
            <a:ext cx="1371600" cy="457200"/>
          </a:xfrm>
          <a:prstGeom prst="rect">
            <a:avLst/>
          </a:prstGeom>
          <a:noFill/>
          <a:ln/>
        </p:spPr>
        <p:txBody>
          <a:bodyPr wrap="square" lIns="0" tIns="0" rIns="0" bIns="0" rtlCol="0" anchor="t"/>
          <a:lstStyle/>
          <a:p>
            <a:pPr algn="ctr" indent="0" marL="0">
              <a:buNone/>
            </a:pPr>
            <a:r>
              <a:rPr lang="en-US" sz="1000" dirty="0">
                <a:solidFill>
                  <a:schemeClr val="tx2"/>
                </a:solidFill>
              </a:rPr>
              <a:t>one per app</a:t>
            </a:r>
            <a:endParaRPr lang="en-US" sz="1000" dirty="0"/>
          </a:p>
        </p:txBody>
      </p:sp>
      <p:sp>
        <p:nvSpPr>
          <p:cNvPr id="14" name="box tag"/>
          <p:cNvSpPr/>
          <p:nvPr/>
        </p:nvSpPr>
        <p:spPr>
          <a:xfrm>
            <a:off x="5852160" y="1965960"/>
            <a:ext cx="914400" cy="411480"/>
          </a:xfrm>
          <a:prstGeom prst="roundRect">
            <a:avLst>
              <a:gd name="adj" fmla="val 17778"/>
            </a:avLst>
          </a:prstGeom>
          <a:solidFill>
            <a:schemeClr val="accent1"/>
          </a:solidFill>
          <a:ln w="12700">
            <a:solidFill>
              <a:schemeClr val="accent1"/>
            </a:solidFill>
            <a:prstDash val="solid"/>
          </a:ln>
        </p:spPr>
      </p:sp>
      <p:sp>
        <p:nvSpPr>
          <p:cNvPr id="15" name="box text tag"/>
          <p:cNvSpPr txBox="1"/>
          <p:nvPr/>
        </p:nvSpPr>
        <p:spPr>
          <a:xfrm>
            <a:off x="5852160" y="1965960"/>
            <a:ext cx="914400" cy="411480"/>
          </a:xfrm>
          <a:prstGeom prst="rect">
            <a:avLst/>
          </a:prstGeom>
          <a:noFill/>
          <a:ln/>
        </p:spPr>
        <p:txBody>
          <a:bodyPr wrap="square" lIns="381" tIns="381" rIns="381" bIns="381" rtlCol="0" anchor="ctr"/>
          <a:lstStyle/>
          <a:p>
            <a:pPr algn="ctr" indent="0" marL="0">
              <a:buNone/>
            </a:pPr>
            <a:r>
              <a:rPr lang="en-US" sz="1100" b="1" dirty="0">
                <a:solidFill>
                  <a:schemeClr val="bg1"/>
                </a:solidFill>
              </a:rPr>
              <a:t>tag</a:t>
            </a:r>
            <a:endParaRPr lang="en-US" sz="1100" dirty="0"/>
          </a:p>
        </p:txBody>
      </p:sp>
      <p:sp>
        <p:nvSpPr>
          <p:cNvPr id="16" name="Text 13"/>
          <p:cNvSpPr txBox="1"/>
          <p:nvPr/>
        </p:nvSpPr>
        <p:spPr>
          <a:xfrm>
            <a:off x="5852160" y="2423160"/>
            <a:ext cx="914400" cy="457200"/>
          </a:xfrm>
          <a:prstGeom prst="rect">
            <a:avLst/>
          </a:prstGeom>
          <a:noFill/>
          <a:ln/>
        </p:spPr>
        <p:txBody>
          <a:bodyPr wrap="square" lIns="0" tIns="0" rIns="0" bIns="0" rtlCol="0" anchor="t"/>
          <a:lstStyle/>
          <a:p>
            <a:pPr algn="ctr" indent="0" marL="0">
              <a:buNone/>
            </a:pPr>
            <a:r>
              <a:rPr lang="en-US" sz="1000" dirty="0">
                <a:solidFill>
                  <a:schemeClr val="tx2"/>
                </a:solidFill>
              </a:rPr>
              <a:t>the version</a:t>
            </a:r>
            <a:endParaRPr lang="en-US" sz="1000" dirty="0"/>
          </a:p>
        </p:txBody>
      </p:sp>
      <p:sp>
        <p:nvSpPr>
          <p:cNvPr id="17" name="Docker Hub card"/>
          <p:cNvSpPr/>
          <p:nvPr/>
        </p:nvSpPr>
        <p:spPr>
          <a:xfrm>
            <a:off x="457200" y="3017520"/>
            <a:ext cx="4023360" cy="1463040"/>
          </a:xfrm>
          <a:prstGeom prst="roundRect">
            <a:avLst>
              <a:gd name="adj" fmla="val 7500"/>
            </a:avLst>
          </a:prstGeom>
          <a:solidFill>
            <a:schemeClr val="bg2"/>
          </a:solidFill>
          <a:ln w="12700">
            <a:solidFill>
              <a:schemeClr val="bg2"/>
            </a:solidFill>
            <a:prstDash val="solid"/>
          </a:ln>
        </p:spPr>
      </p:sp>
      <p:sp>
        <p:nvSpPr>
          <p:cNvPr id="18" name="Docker Hub circle"/>
          <p:cNvSpPr/>
          <p:nvPr/>
        </p:nvSpPr>
        <p:spPr>
          <a:xfrm>
            <a:off x="640080" y="3200400"/>
            <a:ext cx="457200" cy="457200"/>
          </a:xfrm>
          <a:prstGeom prst="ellipse">
            <a:avLst/>
          </a:prstGeom>
          <a:solidFill>
            <a:schemeClr val="accent1"/>
          </a:solidFill>
          <a:ln w="12700">
            <a:solidFill>
              <a:schemeClr val="accent1"/>
            </a:solidFill>
            <a:prstDash val="solid"/>
          </a:ln>
        </p:spPr>
      </p:sp>
      <p:pic>
        <p:nvPicPr>
          <p:cNvPr id="19" name="Docker Hub icon" descr="preencoded.png">    </p:cNvPr>
          <p:cNvPicPr>
            <a:picLocks noChangeAspect="1"/>
          </p:cNvPicPr>
          <p:nvPr/>
        </p:nvPicPr>
        <p:blipFill>
          <a:blip r:embed="rId1"/>
          <a:stretch>
            <a:fillRect/>
          </a:stretch>
        </p:blipFill>
        <p:spPr>
          <a:xfrm>
            <a:off x="731520" y="3291840"/>
            <a:ext cx="274320" cy="274320"/>
          </a:xfrm>
          <a:prstGeom prst="rect">
            <a:avLst/>
          </a:prstGeom>
        </p:spPr>
      </p:pic>
      <p:sp>
        <p:nvSpPr>
          <p:cNvPr id="20" name="Text 16"/>
          <p:cNvSpPr txBox="1"/>
          <p:nvPr/>
        </p:nvSpPr>
        <p:spPr>
          <a:xfrm>
            <a:off x="1234440" y="3200400"/>
            <a:ext cx="3063240" cy="457200"/>
          </a:xfrm>
          <a:prstGeom prst="rect">
            <a:avLst/>
          </a:prstGeom>
          <a:noFill/>
          <a:ln/>
        </p:spPr>
        <p:txBody>
          <a:bodyPr wrap="square" lIns="0" tIns="0" rIns="0" bIns="0" rtlCol="0" anchor="ctr"/>
          <a:lstStyle/>
          <a:p>
            <a:pPr indent="0" marL="0">
              <a:buNone/>
            </a:pPr>
            <a:r>
              <a:rPr lang="en-US" sz="1600" b="1" dirty="0">
                <a:solidFill>
                  <a:schemeClr val="tx1"/>
                </a:solidFill>
              </a:rPr>
              <a:t>Docker Hub</a:t>
            </a:r>
            <a:endParaRPr lang="en-US" sz="1600" dirty="0"/>
          </a:p>
        </p:txBody>
      </p:sp>
      <p:sp>
        <p:nvSpPr>
          <p:cNvPr id="21" name="Text 17"/>
          <p:cNvSpPr txBox="1"/>
          <p:nvPr/>
        </p:nvSpPr>
        <p:spPr>
          <a:xfrm>
            <a:off x="640080" y="3794760"/>
            <a:ext cx="3657600" cy="5486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Default when no host is given: node:20 = docker.io/library/node:20</a:t>
            </a:r>
            <a:endParaRPr lang="en-US" sz="1300" dirty="0"/>
          </a:p>
          <a:p>
            <a:pPr marL="342900" indent="-342900">
              <a:spcAft>
                <a:spcPts val="600"/>
              </a:spcAft>
              <a:buSzPct val="100000"/>
              <a:buChar char="•"/>
            </a:pPr>
            <a:r>
              <a:rPr lang="en-US" sz="1300" dirty="0">
                <a:solidFill>
                  <a:schemeClr val="tx1"/>
                </a:solidFill>
              </a:rPr>
              <a:t>Public images free; private repos on paid plans</a:t>
            </a:r>
            <a:endParaRPr lang="en-US" sz="1300" dirty="0"/>
          </a:p>
        </p:txBody>
      </p:sp>
      <p:sp>
        <p:nvSpPr>
          <p:cNvPr id="22" name="Private registries card"/>
          <p:cNvSpPr/>
          <p:nvPr/>
        </p:nvSpPr>
        <p:spPr>
          <a:xfrm>
            <a:off x="4663440" y="3017520"/>
            <a:ext cx="4023360" cy="1463040"/>
          </a:xfrm>
          <a:prstGeom prst="roundRect">
            <a:avLst>
              <a:gd name="adj" fmla="val 7500"/>
            </a:avLst>
          </a:prstGeom>
          <a:solidFill>
            <a:schemeClr val="bg2"/>
          </a:solidFill>
          <a:ln w="12700">
            <a:solidFill>
              <a:schemeClr val="bg2"/>
            </a:solidFill>
            <a:prstDash val="solid"/>
          </a:ln>
        </p:spPr>
      </p:sp>
      <p:sp>
        <p:nvSpPr>
          <p:cNvPr id="23" name="Private registries circle"/>
          <p:cNvSpPr/>
          <p:nvPr/>
        </p:nvSpPr>
        <p:spPr>
          <a:xfrm>
            <a:off x="4846320" y="3200400"/>
            <a:ext cx="457200" cy="457200"/>
          </a:xfrm>
          <a:prstGeom prst="ellipse">
            <a:avLst/>
          </a:prstGeom>
          <a:solidFill>
            <a:schemeClr val="accent1"/>
          </a:solidFill>
          <a:ln w="12700">
            <a:solidFill>
              <a:schemeClr val="accent1"/>
            </a:solidFill>
            <a:prstDash val="solid"/>
          </a:ln>
        </p:spPr>
      </p:sp>
      <p:pic>
        <p:nvPicPr>
          <p:cNvPr id="24" name="Private registries icon" descr="preencoded.png">    </p:cNvPr>
          <p:cNvPicPr>
            <a:picLocks noChangeAspect="1"/>
          </p:cNvPicPr>
          <p:nvPr/>
        </p:nvPicPr>
        <p:blipFill>
          <a:blip r:embed="rId2"/>
          <a:stretch>
            <a:fillRect/>
          </a:stretch>
        </p:blipFill>
        <p:spPr>
          <a:xfrm>
            <a:off x="4937760" y="3291840"/>
            <a:ext cx="274320" cy="274320"/>
          </a:xfrm>
          <a:prstGeom prst="rect">
            <a:avLst/>
          </a:prstGeom>
        </p:spPr>
      </p:pic>
      <p:sp>
        <p:nvSpPr>
          <p:cNvPr id="25" name="Text 20"/>
          <p:cNvSpPr txBox="1"/>
          <p:nvPr/>
        </p:nvSpPr>
        <p:spPr>
          <a:xfrm>
            <a:off x="5440680" y="3200400"/>
            <a:ext cx="3063240" cy="457200"/>
          </a:xfrm>
          <a:prstGeom prst="rect">
            <a:avLst/>
          </a:prstGeom>
          <a:noFill/>
          <a:ln/>
        </p:spPr>
        <p:txBody>
          <a:bodyPr wrap="square" lIns="0" tIns="0" rIns="0" bIns="0" rtlCol="0" anchor="ctr"/>
          <a:lstStyle/>
          <a:p>
            <a:pPr indent="0" marL="0">
              <a:buNone/>
            </a:pPr>
            <a:r>
              <a:rPr lang="en-US" sz="1600" b="1" dirty="0">
                <a:solidFill>
                  <a:schemeClr val="tx1"/>
                </a:solidFill>
              </a:rPr>
              <a:t>Private registries</a:t>
            </a:r>
            <a:endParaRPr lang="en-US" sz="1600" dirty="0"/>
          </a:p>
        </p:txBody>
      </p:sp>
      <p:sp>
        <p:nvSpPr>
          <p:cNvPr id="26" name="Text 21"/>
          <p:cNvSpPr txBox="1"/>
          <p:nvPr/>
        </p:nvSpPr>
        <p:spPr>
          <a:xfrm>
            <a:off x="4846320" y="3794760"/>
            <a:ext cx="3657600" cy="5486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AWS ECR, Google Artifact Registry, Azure ACR</a:t>
            </a:r>
            <a:endParaRPr lang="en-US" sz="1300" dirty="0"/>
          </a:p>
          <a:p>
            <a:pPr marL="342900" indent="-342900">
              <a:spcAft>
                <a:spcPts val="600"/>
              </a:spcAft>
              <a:buSzPct val="100000"/>
              <a:buChar char="•"/>
            </a:pPr>
            <a:r>
              <a:rPr lang="en-US" sz="1300" dirty="0">
                <a:solidFill>
                  <a:schemeClr val="tx1"/>
                </a:solidFill>
              </a:rPr>
              <a:t>Self-hosted: Harbor, Nexus, GitLab registry</a:t>
            </a:r>
            <a:endParaRPr lang="en-US" sz="13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Push to ECR in four steps</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accent1"/>
          </a:solidFill>
          <a:ln w="12700">
            <a:solidFill>
              <a:schemeClr val="accent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DOCKER</a:t>
            </a:r>
            <a:endParaRPr lang="en-US" sz="900" dirty="0"/>
          </a:p>
        </p:txBody>
      </p:sp>
      <p:sp>
        <p:nvSpPr>
          <p:cNvPr id="6" name="box 1 · Create repo in ECR console: my-app"/>
          <p:cNvSpPr/>
          <p:nvPr/>
        </p:nvSpPr>
        <p:spPr>
          <a:xfrm>
            <a:off x="457200" y="1188720"/>
            <a:ext cx="1906524" cy="1097280"/>
          </a:xfrm>
          <a:prstGeom prst="roundRect">
            <a:avLst>
              <a:gd name="adj" fmla="val 6667"/>
            </a:avLst>
          </a:prstGeom>
          <a:solidFill>
            <a:schemeClr val="accent1"/>
          </a:solidFill>
          <a:ln w="12700">
            <a:solidFill>
              <a:schemeClr val="accent1"/>
            </a:solidFill>
            <a:prstDash val="solid"/>
          </a:ln>
        </p:spPr>
      </p:sp>
      <p:sp>
        <p:nvSpPr>
          <p:cNvPr id="7" name="box text 1 · Create repo in ECR console: my-app"/>
          <p:cNvSpPr txBox="1"/>
          <p:nvPr/>
        </p:nvSpPr>
        <p:spPr>
          <a:xfrm>
            <a:off x="457200" y="1188720"/>
            <a:ext cx="1906524" cy="1097280"/>
          </a:xfrm>
          <a:prstGeom prst="rect">
            <a:avLst/>
          </a:prstGeom>
          <a:noFill/>
          <a:ln/>
        </p:spPr>
        <p:txBody>
          <a:bodyPr wrap="square" lIns="381" tIns="381" rIns="381" bIns="381" rtlCol="0" anchor="ctr"/>
          <a:lstStyle/>
          <a:p>
            <a:pPr algn="ctr" indent="0" marL="0">
              <a:buNone/>
            </a:pPr>
            <a:r>
              <a:rPr lang="en-US" sz="1000" b="1" dirty="0">
                <a:solidFill>
                  <a:schemeClr val="bg1"/>
                </a:solidFill>
              </a:rPr>
              <a:t>1 · Create repo</a:t>
            </a:r>
            <a:endParaRPr lang="en-US" sz="1000" dirty="0"/>
          </a:p>
          <a:p>
            <a:pPr algn="ctr" indent="0" marL="0">
              <a:buNone/>
            </a:pPr>
            <a:r>
              <a:rPr lang="en-US" sz="1000" b="1" dirty="0">
                <a:solidFill>
                  <a:schemeClr val="bg1"/>
                </a:solidFill>
              </a:rPr>
              <a:t>in ECR console:</a:t>
            </a:r>
            <a:endParaRPr lang="en-US" sz="1000" dirty="0"/>
          </a:p>
          <a:p>
            <a:pPr algn="ctr" indent="0" marL="0">
              <a:buNone/>
            </a:pPr>
            <a:r>
              <a:rPr lang="en-US" sz="1000" b="1" dirty="0">
                <a:solidFill>
                  <a:schemeClr val="bg1"/>
                </a:solidFill>
              </a:rPr>
              <a:t>my-app</a:t>
            </a:r>
            <a:endParaRPr lang="en-US" sz="1000" dirty="0"/>
          </a:p>
        </p:txBody>
      </p:sp>
      <p:sp>
        <p:nvSpPr>
          <p:cNvPr id="8" name="arrow"/>
          <p:cNvSpPr/>
          <p:nvPr/>
        </p:nvSpPr>
        <p:spPr>
          <a:xfrm>
            <a:off x="2363724" y="1737360"/>
            <a:ext cx="201168" cy="0"/>
          </a:xfrm>
          <a:prstGeom prst="line">
            <a:avLst/>
          </a:prstGeom>
          <a:noFill/>
          <a:ln w="19050">
            <a:solidFill>
              <a:schemeClr val="accent1"/>
            </a:solidFill>
            <a:prstDash val="solid"/>
            <a:tailEnd type="triangle"/>
          </a:ln>
        </p:spPr>
      </p:sp>
      <p:sp>
        <p:nvSpPr>
          <p:cNvPr id="9" name="box 2 · Log in aws ecr get-login-password | docker login"/>
          <p:cNvSpPr/>
          <p:nvPr/>
        </p:nvSpPr>
        <p:spPr>
          <a:xfrm>
            <a:off x="2564892" y="1188720"/>
            <a:ext cx="1906524" cy="1097280"/>
          </a:xfrm>
          <a:prstGeom prst="roundRect">
            <a:avLst>
              <a:gd name="adj" fmla="val 6667"/>
            </a:avLst>
          </a:prstGeom>
          <a:solidFill>
            <a:srgbClr val="E0F2FE"/>
          </a:solidFill>
          <a:ln w="12700">
            <a:solidFill>
              <a:srgbClr val="E0F2FE"/>
            </a:solidFill>
            <a:prstDash val="solid"/>
          </a:ln>
        </p:spPr>
      </p:sp>
      <p:sp>
        <p:nvSpPr>
          <p:cNvPr id="10" name="box text 2 · Log in aws ecr get-login-password | docker login"/>
          <p:cNvSpPr txBox="1"/>
          <p:nvPr/>
        </p:nvSpPr>
        <p:spPr>
          <a:xfrm>
            <a:off x="2564892" y="1188720"/>
            <a:ext cx="1906524" cy="1097280"/>
          </a:xfrm>
          <a:prstGeom prst="rect">
            <a:avLst/>
          </a:prstGeom>
          <a:noFill/>
          <a:ln/>
        </p:spPr>
        <p:txBody>
          <a:bodyPr wrap="square" lIns="381" tIns="381" rIns="381" bIns="381" rtlCol="0" anchor="ctr"/>
          <a:lstStyle/>
          <a:p>
            <a:pPr algn="ctr" indent="0" marL="0">
              <a:buNone/>
            </a:pPr>
            <a:r>
              <a:rPr lang="en-US" sz="1000" b="1" dirty="0">
                <a:solidFill>
                  <a:schemeClr val="tx1"/>
                </a:solidFill>
              </a:rPr>
              <a:t>2 · Log in</a:t>
            </a:r>
            <a:endParaRPr lang="en-US" sz="1000" dirty="0"/>
          </a:p>
          <a:p>
            <a:pPr algn="ctr" indent="0" marL="0">
              <a:buNone/>
            </a:pPr>
            <a:r>
              <a:rPr lang="en-US" sz="1000" b="1" dirty="0">
                <a:solidFill>
                  <a:schemeClr val="tx1"/>
                </a:solidFill>
              </a:rPr>
              <a:t>aws ecr get-login-password</a:t>
            </a:r>
            <a:endParaRPr lang="en-US" sz="1000" dirty="0"/>
          </a:p>
          <a:p>
            <a:pPr algn="ctr" indent="0" marL="0">
              <a:buNone/>
            </a:pPr>
            <a:r>
              <a:rPr lang="en-US" sz="1000" b="1" dirty="0">
                <a:solidFill>
                  <a:schemeClr val="tx1"/>
                </a:solidFill>
              </a:rPr>
              <a:t>| docker login</a:t>
            </a:r>
            <a:endParaRPr lang="en-US" sz="1000" dirty="0"/>
          </a:p>
        </p:txBody>
      </p:sp>
      <p:sp>
        <p:nvSpPr>
          <p:cNvPr id="11" name="arrow"/>
          <p:cNvSpPr/>
          <p:nvPr/>
        </p:nvSpPr>
        <p:spPr>
          <a:xfrm>
            <a:off x="4471416" y="1737360"/>
            <a:ext cx="201168" cy="0"/>
          </a:xfrm>
          <a:prstGeom prst="line">
            <a:avLst/>
          </a:prstGeom>
          <a:noFill/>
          <a:ln w="19050">
            <a:solidFill>
              <a:schemeClr val="accent1"/>
            </a:solidFill>
            <a:prstDash val="solid"/>
            <a:tailEnd type="triangle"/>
          </a:ln>
        </p:spPr>
      </p:sp>
      <p:sp>
        <p:nvSpPr>
          <p:cNvPr id="12" name="box 3 · Tag docker tag my-app:1.0 &lt;registry&gt;/my-app:1.0"/>
          <p:cNvSpPr/>
          <p:nvPr/>
        </p:nvSpPr>
        <p:spPr>
          <a:xfrm>
            <a:off x="4672584" y="1188720"/>
            <a:ext cx="1906524" cy="1097280"/>
          </a:xfrm>
          <a:prstGeom prst="roundRect">
            <a:avLst>
              <a:gd name="adj" fmla="val 6667"/>
            </a:avLst>
          </a:prstGeom>
          <a:solidFill>
            <a:srgbClr val="E0F2FE"/>
          </a:solidFill>
          <a:ln w="12700">
            <a:solidFill>
              <a:srgbClr val="E0F2FE"/>
            </a:solidFill>
            <a:prstDash val="solid"/>
          </a:ln>
        </p:spPr>
      </p:sp>
      <p:sp>
        <p:nvSpPr>
          <p:cNvPr id="13" name="box text 3 · Tag docker tag my-app:1.0 &amp;lt;registry&amp;gt;/my-app:1.0"/>
          <p:cNvSpPr txBox="1"/>
          <p:nvPr/>
        </p:nvSpPr>
        <p:spPr>
          <a:xfrm>
            <a:off x="4672584" y="1188720"/>
            <a:ext cx="1906524" cy="1097280"/>
          </a:xfrm>
          <a:prstGeom prst="rect">
            <a:avLst/>
          </a:prstGeom>
          <a:noFill/>
          <a:ln/>
        </p:spPr>
        <p:txBody>
          <a:bodyPr wrap="square" lIns="381" tIns="381" rIns="381" bIns="381" rtlCol="0" anchor="ctr"/>
          <a:lstStyle/>
          <a:p>
            <a:pPr algn="ctr" indent="0" marL="0">
              <a:buNone/>
            </a:pPr>
            <a:r>
              <a:rPr lang="en-US" sz="1000" b="1" dirty="0">
                <a:solidFill>
                  <a:schemeClr val="tx1"/>
                </a:solidFill>
              </a:rPr>
              <a:t>3 · Tag</a:t>
            </a:r>
            <a:endParaRPr lang="en-US" sz="1000" dirty="0"/>
          </a:p>
          <a:p>
            <a:pPr algn="ctr" indent="0" marL="0">
              <a:buNone/>
            </a:pPr>
            <a:r>
              <a:rPr lang="en-US" sz="1000" b="1" dirty="0">
                <a:solidFill>
                  <a:schemeClr val="tx1"/>
                </a:solidFill>
              </a:rPr>
              <a:t>docker tag my-app:1.0</a:t>
            </a:r>
            <a:endParaRPr lang="en-US" sz="1000" dirty="0"/>
          </a:p>
          <a:p>
            <a:pPr algn="ctr" indent="0" marL="0">
              <a:buNone/>
            </a:pPr>
            <a:r>
              <a:rPr lang="en-US" sz="1000" b="1" dirty="0">
                <a:solidFill>
                  <a:schemeClr val="tx1"/>
                </a:solidFill>
              </a:rPr>
              <a:t>&lt;registry&gt;/my-app:1.0</a:t>
            </a:r>
            <a:endParaRPr lang="en-US" sz="1000" dirty="0"/>
          </a:p>
        </p:txBody>
      </p:sp>
      <p:sp>
        <p:nvSpPr>
          <p:cNvPr id="14" name="arrow"/>
          <p:cNvSpPr/>
          <p:nvPr/>
        </p:nvSpPr>
        <p:spPr>
          <a:xfrm>
            <a:off x="6579108" y="1737360"/>
            <a:ext cx="201168" cy="0"/>
          </a:xfrm>
          <a:prstGeom prst="line">
            <a:avLst/>
          </a:prstGeom>
          <a:noFill/>
          <a:ln w="19050">
            <a:solidFill>
              <a:schemeClr val="accent1"/>
            </a:solidFill>
            <a:prstDash val="solid"/>
            <a:tailEnd type="triangle"/>
          </a:ln>
        </p:spPr>
      </p:sp>
      <p:sp>
        <p:nvSpPr>
          <p:cNvPr id="15" name="box 4 · Push docker push &lt;registry&gt;/my-app:1.0"/>
          <p:cNvSpPr/>
          <p:nvPr/>
        </p:nvSpPr>
        <p:spPr>
          <a:xfrm>
            <a:off x="6780276" y="1188720"/>
            <a:ext cx="1906524" cy="1097280"/>
          </a:xfrm>
          <a:prstGeom prst="roundRect">
            <a:avLst>
              <a:gd name="adj" fmla="val 6667"/>
            </a:avLst>
          </a:prstGeom>
          <a:solidFill>
            <a:srgbClr val="E0F2FE"/>
          </a:solidFill>
          <a:ln w="12700">
            <a:solidFill>
              <a:srgbClr val="E0F2FE"/>
            </a:solidFill>
            <a:prstDash val="solid"/>
          </a:ln>
        </p:spPr>
      </p:sp>
      <p:sp>
        <p:nvSpPr>
          <p:cNvPr id="16" name="box text 4 · Push docker push &amp;lt;registry&amp;gt;/my-app:1.0"/>
          <p:cNvSpPr txBox="1"/>
          <p:nvPr/>
        </p:nvSpPr>
        <p:spPr>
          <a:xfrm>
            <a:off x="6780276" y="1188720"/>
            <a:ext cx="1906524" cy="1097280"/>
          </a:xfrm>
          <a:prstGeom prst="rect">
            <a:avLst/>
          </a:prstGeom>
          <a:noFill/>
          <a:ln/>
        </p:spPr>
        <p:txBody>
          <a:bodyPr wrap="square" lIns="381" tIns="381" rIns="381" bIns="381" rtlCol="0" anchor="ctr"/>
          <a:lstStyle/>
          <a:p>
            <a:pPr algn="ctr" indent="0" marL="0">
              <a:buNone/>
            </a:pPr>
            <a:r>
              <a:rPr lang="en-US" sz="1000" b="1" dirty="0">
                <a:solidFill>
                  <a:schemeClr val="tx1"/>
                </a:solidFill>
              </a:rPr>
              <a:t>4 · Push</a:t>
            </a:r>
            <a:endParaRPr lang="en-US" sz="1000" dirty="0"/>
          </a:p>
          <a:p>
            <a:pPr algn="ctr" indent="0" marL="0">
              <a:buNone/>
            </a:pPr>
            <a:r>
              <a:rPr lang="en-US" sz="1000" b="1" dirty="0">
                <a:solidFill>
                  <a:schemeClr val="tx1"/>
                </a:solidFill>
              </a:rPr>
              <a:t>docker push</a:t>
            </a:r>
            <a:endParaRPr lang="en-US" sz="1000" dirty="0"/>
          </a:p>
          <a:p>
            <a:pPr algn="ctr" indent="0" marL="0">
              <a:buNone/>
            </a:pPr>
            <a:r>
              <a:rPr lang="en-US" sz="1000" b="1" dirty="0">
                <a:solidFill>
                  <a:schemeClr val="tx1"/>
                </a:solidFill>
              </a:rPr>
              <a:t>&lt;registry&gt;/my-app:1.0</a:t>
            </a:r>
            <a:endParaRPr lang="en-US" sz="1000" dirty="0"/>
          </a:p>
        </p:txBody>
      </p:sp>
      <p:sp>
        <p:nvSpPr>
          <p:cNvPr id="17" name="code bg"/>
          <p:cNvSpPr/>
          <p:nvPr/>
        </p:nvSpPr>
        <p:spPr>
          <a:xfrm>
            <a:off x="457200" y="2514600"/>
            <a:ext cx="8229600" cy="1188720"/>
          </a:xfrm>
          <a:prstGeom prst="roundRect">
            <a:avLst>
              <a:gd name="adj" fmla="val 7692"/>
            </a:avLst>
          </a:prstGeom>
          <a:solidFill>
            <a:schemeClr val="tx1"/>
          </a:solidFill>
          <a:ln w="12700">
            <a:solidFill>
              <a:schemeClr val="tx1"/>
            </a:solidFill>
            <a:prstDash val="solid"/>
          </a:ln>
        </p:spPr>
      </p:sp>
      <p:sp>
        <p:nvSpPr>
          <p:cNvPr id="18" name="code"/>
          <p:cNvSpPr txBox="1"/>
          <p:nvPr/>
        </p:nvSpPr>
        <p:spPr>
          <a:xfrm>
            <a:off x="594360" y="2606040"/>
            <a:ext cx="7955280" cy="1005840"/>
          </a:xfrm>
          <a:prstGeom prst="rect">
            <a:avLst/>
          </a:prstGeom>
          <a:noFill/>
          <a:ln/>
        </p:spPr>
        <p:txBody>
          <a:bodyPr wrap="square" lIns="0" tIns="0" rIns="0" bIns="0" rtlCol="0" anchor="t"/>
          <a:lstStyle/>
          <a:p>
            <a:pPr indent="0" marL="0">
              <a:buNone/>
            </a:pPr>
            <a:r>
              <a:rPr lang="en-US" sz="950" dirty="0">
                <a:solidFill>
                  <a:srgbClr val="E2E8F0"/>
                </a:solidFill>
                <a:latin typeface="Courier New" pitchFamily="34" charset="0"/>
                <a:ea typeface="Courier New" pitchFamily="34" charset="-122"/>
                <a:cs typeface="Courier New" pitchFamily="34" charset="-120"/>
              </a:rPr>
              <a:t>aws ecr get-login-password --region eu-central-1 \</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 docker login --username AWS --password-stdin 123456789012.dkr.ecr.eu-central-1.amazonaws.com</a:t>
            </a:r>
            <a:endParaRPr lang="en-US" sz="950" dirty="0"/>
          </a:p>
          <a:p>
            <a:pPr indent="0" marL="0">
              <a:buNone/>
            </a:pP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docker tag  my-app:1.0  123456789012.dkr.ecr.eu-central-1.amazonaws.com/my-app:1.0</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docker push 123456789012.dkr.ecr.eu-central-1.amazonaws.com/my-app:1.0</a:t>
            </a:r>
            <a:endParaRPr lang="en-US" sz="950" dirty="0"/>
          </a:p>
        </p:txBody>
      </p:sp>
      <p:sp>
        <p:nvSpPr>
          <p:cNvPr id="19" name="Text 16"/>
          <p:cNvSpPr txBox="1"/>
          <p:nvPr/>
        </p:nvSpPr>
        <p:spPr>
          <a:xfrm>
            <a:off x="457200" y="3840480"/>
            <a:ext cx="8229600" cy="822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docker tag doesn't copy: it adds another name to the same image ID</a:t>
            </a:r>
            <a:endParaRPr lang="en-US" sz="1200" dirty="0"/>
          </a:p>
          <a:p>
            <a:pPr marL="342900" indent="-342900">
              <a:spcAft>
                <a:spcPts val="600"/>
              </a:spcAft>
              <a:buSzPct val="100000"/>
              <a:buChar char="•"/>
            </a:pPr>
            <a:r>
              <a:rPr lang="en-US" sz="1200" dirty="0">
                <a:solidFill>
                  <a:schemeClr val="tx1"/>
                </a:solidFill>
              </a:rPr>
              <a:t>docker push uploads only layers the registry doesn't have yet</a:t>
            </a:r>
            <a:endParaRPr lang="en-US" sz="1200" dirty="0"/>
          </a:p>
          <a:p>
            <a:pPr marL="342900" indent="-342900">
              <a:spcAft>
                <a:spcPts val="600"/>
              </a:spcAft>
              <a:buSzPct val="100000"/>
              <a:buChar char="•"/>
            </a:pPr>
            <a:r>
              <a:rPr lang="en-US" sz="1200" dirty="0">
                <a:solidFill>
                  <a:schemeClr val="tx1"/>
                </a:solidFill>
              </a:rPr>
              <a:t>In real projects CI (Jenkins / GitHub Actions) runs these four steps on every merge</a:t>
            </a:r>
            <a:endParaRPr lang="en-US" sz="12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914400"/>
          </a:xfrm>
          <a:prstGeom prst="rect">
            <a:avLst/>
          </a:prstGeom>
          <a:noFill/>
          <a:ln/>
        </p:spPr>
        <p:txBody>
          <a:bodyPr wrap="square" lIns="0" tIns="0" rIns="0" bIns="0" rtlCol="0" anchor="b"/>
          <a:lstStyle/>
          <a:p>
            <a:pPr algn="l" indent="0" marL="0">
              <a:buNone/>
            </a:pPr>
            <a:r>
              <a:rPr lang="en-US" sz="4000" b="1" dirty="0">
                <a:solidFill>
                  <a:srgbClr val="FFFFFF"/>
                </a:solidFill>
              </a:rPr>
              <a:t>11 · Deploy the containerised app</a:t>
            </a:r>
            <a:endParaRPr lang="en-US" sz="4000" dirty="0"/>
          </a:p>
        </p:txBody>
      </p:sp>
      <p:sp>
        <p:nvSpPr>
          <p:cNvPr id="3" name="Text 0"/>
          <p:cNvSpPr/>
          <p:nvPr>
            <p:ph idx="101" type="body" hasCustomPrompt="1"/>
          </p:nvPr>
        </p:nvSpPr>
        <p:spPr>
          <a:xfrm>
            <a:off x="548640" y="2834640"/>
            <a:ext cx="8046720" cy="822960"/>
          </a:xfrm>
          <a:prstGeom prst="rect">
            <a:avLst/>
          </a:prstGeom>
          <a:noFill/>
          <a:ln/>
        </p:spPr>
        <p:txBody>
          <a:bodyPr wrap="square" lIns="0" tIns="0" rIns="0" bIns="0" rtlCol="0" anchor="t"/>
          <a:lstStyle/>
          <a:p>
            <a:pPr algn="l" indent="0" marL="0">
              <a:buNone/>
            </a:pPr>
            <a:r>
              <a:rPr lang="en-US" sz="1800" dirty="0">
                <a:solidFill>
                  <a:srgbClr val="CBD5E1"/>
                </a:solidFill>
              </a:rPr>
              <a:t>The server pulls from the registry and runs docker compose up</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Deployment with Compose: add the app as a third service</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accent1"/>
          </a:solidFill>
          <a:ln w="12700">
            <a:solidFill>
              <a:schemeClr val="accent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DOCKER</a:t>
            </a:r>
            <a:endParaRPr lang="en-US" sz="900" dirty="0"/>
          </a:p>
        </p:txBody>
      </p:sp>
      <p:sp>
        <p:nvSpPr>
          <p:cNvPr id="6" name="code bg"/>
          <p:cNvSpPr/>
          <p:nvPr/>
        </p:nvSpPr>
        <p:spPr>
          <a:xfrm>
            <a:off x="457200" y="1051560"/>
            <a:ext cx="4206240" cy="3566160"/>
          </a:xfrm>
          <a:prstGeom prst="roundRect">
            <a:avLst>
              <a:gd name="adj" fmla="val 2564"/>
            </a:avLst>
          </a:prstGeom>
          <a:solidFill>
            <a:schemeClr val="tx1"/>
          </a:solidFill>
          <a:ln w="12700">
            <a:solidFill>
              <a:schemeClr val="tx1"/>
            </a:solidFill>
            <a:prstDash val="solid"/>
          </a:ln>
        </p:spPr>
      </p:sp>
      <p:sp>
        <p:nvSpPr>
          <p:cNvPr id="7" name="code"/>
          <p:cNvSpPr txBox="1"/>
          <p:nvPr/>
        </p:nvSpPr>
        <p:spPr>
          <a:xfrm>
            <a:off x="594360" y="1143000"/>
            <a:ext cx="3931920" cy="3383280"/>
          </a:xfrm>
          <a:prstGeom prst="rect">
            <a:avLst/>
          </a:prstGeom>
          <a:noFill/>
          <a:ln/>
        </p:spPr>
        <p:txBody>
          <a:bodyPr wrap="square" lIns="0" tIns="0" rIns="0" bIns="0" rtlCol="0" anchor="t"/>
          <a:lstStyle/>
          <a:p>
            <a:pPr indent="0" marL="0">
              <a:buNone/>
            </a:pPr>
            <a:r>
              <a:rPr lang="en-US" sz="800" dirty="0">
                <a:solidFill>
                  <a:srgbClr val="E2E8F0"/>
                </a:solidFill>
                <a:latin typeface="Courier New" pitchFamily="34" charset="0"/>
                <a:ea typeface="Courier New" pitchFamily="34" charset="-122"/>
                <a:cs typeface="Courier New" pitchFamily="34" charset="-120"/>
              </a:rPr>
              <a:t>services:</a:t>
            </a:r>
            <a:endParaRPr lang="en-US" sz="800" dirty="0"/>
          </a:p>
          <a:p>
            <a:pPr indent="0" marL="0">
              <a:buNone/>
            </a:pPr>
            <a:r>
              <a:rPr lang="en-US" sz="800" dirty="0">
                <a:solidFill>
                  <a:srgbClr val="E2E8F0"/>
                </a:solidFill>
                <a:latin typeface="Courier New" pitchFamily="34" charset="0"/>
                <a:ea typeface="Courier New" pitchFamily="34" charset="-122"/>
                <a:cs typeface="Courier New" pitchFamily="34" charset="-120"/>
              </a:rPr>
              <a:t>  my-app:</a:t>
            </a:r>
            <a:endParaRPr lang="en-US" sz="800" dirty="0"/>
          </a:p>
          <a:p>
            <a:pPr indent="0" marL="0">
              <a:buNone/>
            </a:pPr>
            <a:r>
              <a:rPr lang="en-US" sz="800" dirty="0">
                <a:solidFill>
                  <a:srgbClr val="E2E8F0"/>
                </a:solidFill>
                <a:latin typeface="Courier New" pitchFamily="34" charset="0"/>
                <a:ea typeface="Courier New" pitchFamily="34" charset="-122"/>
                <a:cs typeface="Courier New" pitchFamily="34" charset="-120"/>
              </a:rPr>
              <a:t>    image: 1234.dkr.ecr.eu-central-1.amazonaws.com/my-app:1.0</a:t>
            </a:r>
            <a:endParaRPr lang="en-US" sz="800" dirty="0"/>
          </a:p>
          <a:p>
            <a:pPr indent="0" marL="0">
              <a:buNone/>
            </a:pPr>
            <a:r>
              <a:rPr lang="en-US" sz="800" dirty="0">
                <a:solidFill>
                  <a:srgbClr val="E2E8F0"/>
                </a:solidFill>
                <a:latin typeface="Courier New" pitchFamily="34" charset="0"/>
                <a:ea typeface="Courier New" pitchFamily="34" charset="-122"/>
                <a:cs typeface="Courier New" pitchFamily="34" charset="-120"/>
              </a:rPr>
              <a:t>    ports:</a:t>
            </a:r>
            <a:endParaRPr lang="en-US" sz="800" dirty="0"/>
          </a:p>
          <a:p>
            <a:pPr indent="0" marL="0">
              <a:buNone/>
            </a:pPr>
            <a:r>
              <a:rPr lang="en-US" sz="800" dirty="0">
                <a:solidFill>
                  <a:srgbClr val="E2E8F0"/>
                </a:solidFill>
                <a:latin typeface="Courier New" pitchFamily="34" charset="0"/>
                <a:ea typeface="Courier New" pitchFamily="34" charset="-122"/>
                <a:cs typeface="Courier New" pitchFamily="34" charset="-120"/>
              </a:rPr>
              <a:t>      - 3000:3000</a:t>
            </a:r>
            <a:endParaRPr lang="en-US" sz="800" dirty="0"/>
          </a:p>
          <a:p>
            <a:pPr indent="0" marL="0">
              <a:buNone/>
            </a:pPr>
            <a:r>
              <a:rPr lang="en-US" sz="800" dirty="0">
                <a:solidFill>
                  <a:srgbClr val="E2E8F0"/>
                </a:solidFill>
                <a:latin typeface="Courier New" pitchFamily="34" charset="0"/>
                <a:ea typeface="Courier New" pitchFamily="34" charset="-122"/>
                <a:cs typeface="Courier New" pitchFamily="34" charset="-120"/>
              </a:rPr>
              <a:t>    environment:</a:t>
            </a:r>
            <a:endParaRPr lang="en-US" sz="800" dirty="0"/>
          </a:p>
          <a:p>
            <a:pPr indent="0" marL="0">
              <a:buNone/>
            </a:pPr>
            <a:r>
              <a:rPr lang="en-US" sz="800" dirty="0">
                <a:solidFill>
                  <a:srgbClr val="E2E8F0"/>
                </a:solidFill>
                <a:latin typeface="Courier New" pitchFamily="34" charset="0"/>
                <a:ea typeface="Courier New" pitchFamily="34" charset="-122"/>
                <a:cs typeface="Courier New" pitchFamily="34" charset="-120"/>
              </a:rPr>
              <a:t>      - MONGO_DB_USERNAME=admin</a:t>
            </a:r>
            <a:endParaRPr lang="en-US" sz="800" dirty="0"/>
          </a:p>
          <a:p>
            <a:pPr indent="0" marL="0">
              <a:buNone/>
            </a:pPr>
            <a:r>
              <a:rPr lang="en-US" sz="800" dirty="0">
                <a:solidFill>
                  <a:srgbClr val="E2E8F0"/>
                </a:solidFill>
                <a:latin typeface="Courier New" pitchFamily="34" charset="0"/>
                <a:ea typeface="Courier New" pitchFamily="34" charset="-122"/>
                <a:cs typeface="Courier New" pitchFamily="34" charset="-120"/>
              </a:rPr>
              <a:t>      - MONGO_DB_PWD=password</a:t>
            </a:r>
            <a:endParaRPr lang="en-US" sz="800" dirty="0"/>
          </a:p>
          <a:p>
            <a:pPr indent="0" marL="0">
              <a:buNone/>
            </a:pPr>
            <a:r>
              <a:rPr lang="en-US" sz="800" dirty="0">
                <a:solidFill>
                  <a:srgbClr val="E2E8F0"/>
                </a:solidFill>
                <a:latin typeface="Courier New" pitchFamily="34" charset="0"/>
                <a:ea typeface="Courier New" pitchFamily="34" charset="-122"/>
                <a:cs typeface="Courier New" pitchFamily="34" charset="-120"/>
              </a:rPr>
              <a:t>    depends_on:</a:t>
            </a:r>
            <a:endParaRPr lang="en-US" sz="800" dirty="0"/>
          </a:p>
          <a:p>
            <a:pPr indent="0" marL="0">
              <a:buNone/>
            </a:pPr>
            <a:r>
              <a:rPr lang="en-US" sz="800" dirty="0">
                <a:solidFill>
                  <a:srgbClr val="E2E8F0"/>
                </a:solidFill>
                <a:latin typeface="Courier New" pitchFamily="34" charset="0"/>
                <a:ea typeface="Courier New" pitchFamily="34" charset="-122"/>
                <a:cs typeface="Courier New" pitchFamily="34" charset="-120"/>
              </a:rPr>
              <a:t>      - mongodb</a:t>
            </a:r>
            <a:endParaRPr lang="en-US" sz="800" dirty="0"/>
          </a:p>
          <a:p>
            <a:pPr indent="0" marL="0">
              <a:buNone/>
            </a:pPr>
            <a:endParaRPr lang="en-US" sz="800" dirty="0"/>
          </a:p>
          <a:p>
            <a:pPr indent="0" marL="0">
              <a:buNone/>
            </a:pPr>
            <a:r>
              <a:rPr lang="en-US" sz="800" dirty="0">
                <a:solidFill>
                  <a:srgbClr val="E2E8F0"/>
                </a:solidFill>
                <a:latin typeface="Courier New" pitchFamily="34" charset="0"/>
                <a:ea typeface="Courier New" pitchFamily="34" charset="-122"/>
                <a:cs typeface="Courier New" pitchFamily="34" charset="-120"/>
              </a:rPr>
              <a:t>  mongodb:</a:t>
            </a:r>
            <a:endParaRPr lang="en-US" sz="800" dirty="0"/>
          </a:p>
          <a:p>
            <a:pPr indent="0" marL="0">
              <a:buNone/>
            </a:pPr>
            <a:r>
              <a:rPr lang="en-US" sz="800" dirty="0">
                <a:solidFill>
                  <a:srgbClr val="E2E8F0"/>
                </a:solidFill>
                <a:latin typeface="Courier New" pitchFamily="34" charset="0"/>
                <a:ea typeface="Courier New" pitchFamily="34" charset="-122"/>
                <a:cs typeface="Courier New" pitchFamily="34" charset="-120"/>
              </a:rPr>
              <a:t>    image: mongo:7</a:t>
            </a:r>
            <a:endParaRPr lang="en-US" sz="800" dirty="0"/>
          </a:p>
          <a:p>
            <a:pPr indent="0" marL="0">
              <a:buNone/>
            </a:pPr>
            <a:r>
              <a:rPr lang="en-US" sz="800" dirty="0">
                <a:solidFill>
                  <a:srgbClr val="E2E8F0"/>
                </a:solidFill>
                <a:latin typeface="Courier New" pitchFamily="34" charset="0"/>
                <a:ea typeface="Courier New" pitchFamily="34" charset="-122"/>
                <a:cs typeface="Courier New" pitchFamily="34" charset="-120"/>
              </a:rPr>
              <a:t>    ports: ["27017:27017"]</a:t>
            </a:r>
            <a:endParaRPr lang="en-US" sz="800" dirty="0"/>
          </a:p>
          <a:p>
            <a:pPr indent="0" marL="0">
              <a:buNone/>
            </a:pPr>
            <a:r>
              <a:rPr lang="en-US" sz="800" dirty="0">
                <a:solidFill>
                  <a:srgbClr val="E2E8F0"/>
                </a:solidFill>
                <a:latin typeface="Courier New" pitchFamily="34" charset="0"/>
                <a:ea typeface="Courier New" pitchFamily="34" charset="-122"/>
                <a:cs typeface="Courier New" pitchFamily="34" charset="-120"/>
              </a:rPr>
              <a:t>    environment:</a:t>
            </a:r>
            <a:endParaRPr lang="en-US" sz="800" dirty="0"/>
          </a:p>
          <a:p>
            <a:pPr indent="0" marL="0">
              <a:buNone/>
            </a:pPr>
            <a:r>
              <a:rPr lang="en-US" sz="800" dirty="0">
                <a:solidFill>
                  <a:srgbClr val="E2E8F0"/>
                </a:solidFill>
                <a:latin typeface="Courier New" pitchFamily="34" charset="0"/>
                <a:ea typeface="Courier New" pitchFamily="34" charset="-122"/>
                <a:cs typeface="Courier New" pitchFamily="34" charset="-120"/>
              </a:rPr>
              <a:t>      - MONGO_INITDB_ROOT_USERNAME=admin</a:t>
            </a:r>
            <a:endParaRPr lang="en-US" sz="800" dirty="0"/>
          </a:p>
          <a:p>
            <a:pPr indent="0" marL="0">
              <a:buNone/>
            </a:pPr>
            <a:r>
              <a:rPr lang="en-US" sz="800" dirty="0">
                <a:solidFill>
                  <a:srgbClr val="E2E8F0"/>
                </a:solidFill>
                <a:latin typeface="Courier New" pitchFamily="34" charset="0"/>
                <a:ea typeface="Courier New" pitchFamily="34" charset="-122"/>
                <a:cs typeface="Courier New" pitchFamily="34" charset="-120"/>
              </a:rPr>
              <a:t>      - MONGO_INITDB_ROOT_PASSWORD=password</a:t>
            </a:r>
            <a:endParaRPr lang="en-US" sz="800" dirty="0"/>
          </a:p>
          <a:p>
            <a:pPr indent="0" marL="0">
              <a:buNone/>
            </a:pPr>
            <a:endParaRPr lang="en-US" sz="800" dirty="0"/>
          </a:p>
          <a:p>
            <a:pPr indent="0" marL="0">
              <a:buNone/>
            </a:pPr>
            <a:r>
              <a:rPr lang="en-US" sz="800" dirty="0">
                <a:solidFill>
                  <a:srgbClr val="E2E8F0"/>
                </a:solidFill>
                <a:latin typeface="Courier New" pitchFamily="34" charset="0"/>
                <a:ea typeface="Courier New" pitchFamily="34" charset="-122"/>
                <a:cs typeface="Courier New" pitchFamily="34" charset="-120"/>
              </a:rPr>
              <a:t>  mongo-express:</a:t>
            </a:r>
            <a:endParaRPr lang="en-US" sz="800" dirty="0"/>
          </a:p>
          <a:p>
            <a:pPr indent="0" marL="0">
              <a:buNone/>
            </a:pPr>
            <a:r>
              <a:rPr lang="en-US" sz="800" dirty="0">
                <a:solidFill>
                  <a:srgbClr val="E2E8F0"/>
                </a:solidFill>
                <a:latin typeface="Courier New" pitchFamily="34" charset="0"/>
                <a:ea typeface="Courier New" pitchFamily="34" charset="-122"/>
                <a:cs typeface="Courier New" pitchFamily="34" charset="-120"/>
              </a:rPr>
              <a:t>    image: mongo-express</a:t>
            </a:r>
            <a:endParaRPr lang="en-US" sz="800" dirty="0"/>
          </a:p>
          <a:p>
            <a:pPr indent="0" marL="0">
              <a:buNone/>
            </a:pPr>
            <a:r>
              <a:rPr lang="en-US" sz="800" dirty="0">
                <a:solidFill>
                  <a:srgbClr val="E2E8F0"/>
                </a:solidFill>
                <a:latin typeface="Courier New" pitchFamily="34" charset="0"/>
                <a:ea typeface="Courier New" pitchFamily="34" charset="-122"/>
                <a:cs typeface="Courier New" pitchFamily="34" charset="-120"/>
              </a:rPr>
              <a:t>    ports: ["8081:8081"]</a:t>
            </a:r>
            <a:endParaRPr lang="en-US" sz="800" dirty="0"/>
          </a:p>
          <a:p>
            <a:pPr indent="0" marL="0">
              <a:buNone/>
            </a:pPr>
            <a:r>
              <a:rPr lang="en-US" sz="800" dirty="0">
                <a:solidFill>
                  <a:srgbClr val="E2E8F0"/>
                </a:solidFill>
                <a:latin typeface="Courier New" pitchFamily="34" charset="0"/>
                <a:ea typeface="Courier New" pitchFamily="34" charset="-122"/>
                <a:cs typeface="Courier New" pitchFamily="34" charset="-120"/>
              </a:rPr>
              <a:t>    environment:</a:t>
            </a:r>
            <a:endParaRPr lang="en-US" sz="800" dirty="0"/>
          </a:p>
          <a:p>
            <a:pPr indent="0" marL="0">
              <a:buNone/>
            </a:pPr>
            <a:r>
              <a:rPr lang="en-US" sz="800" dirty="0">
                <a:solidFill>
                  <a:srgbClr val="E2E8F0"/>
                </a:solidFill>
                <a:latin typeface="Courier New" pitchFamily="34" charset="0"/>
                <a:ea typeface="Courier New" pitchFamily="34" charset="-122"/>
                <a:cs typeface="Courier New" pitchFamily="34" charset="-120"/>
              </a:rPr>
              <a:t>      - ME_CONFIG_MONGODB_SERVER=mongodb</a:t>
            </a:r>
            <a:endParaRPr lang="en-US" sz="800" dirty="0"/>
          </a:p>
          <a:p>
            <a:pPr indent="0" marL="0">
              <a:buNone/>
            </a:pPr>
            <a:r>
              <a:rPr lang="en-US" sz="800" dirty="0">
                <a:solidFill>
                  <a:srgbClr val="E2E8F0"/>
                </a:solidFill>
                <a:latin typeface="Courier New" pitchFamily="34" charset="0"/>
                <a:ea typeface="Courier New" pitchFamily="34" charset="-122"/>
                <a:cs typeface="Courier New" pitchFamily="34" charset="-120"/>
              </a:rPr>
              <a:t>    depends_on: [mongodb]</a:t>
            </a:r>
            <a:endParaRPr lang="en-US" sz="800" dirty="0"/>
          </a:p>
        </p:txBody>
      </p:sp>
      <p:sp>
        <p:nvSpPr>
          <p:cNvPr id="8" name="server box"/>
          <p:cNvSpPr/>
          <p:nvPr/>
        </p:nvSpPr>
        <p:spPr>
          <a:xfrm>
            <a:off x="4892040" y="1051560"/>
            <a:ext cx="3794760" cy="1920240"/>
          </a:xfrm>
          <a:prstGeom prst="roundRect">
            <a:avLst>
              <a:gd name="adj" fmla="val 4762"/>
            </a:avLst>
          </a:prstGeom>
          <a:solidFill>
            <a:srgbClr val="F1F5F9"/>
          </a:solidFill>
          <a:ln w="12700">
            <a:solidFill>
              <a:srgbClr val="F1F5F9"/>
            </a:solidFill>
            <a:prstDash val="solid"/>
          </a:ln>
        </p:spPr>
      </p:sp>
      <p:sp>
        <p:nvSpPr>
          <p:cNvPr id="9" name="Text 6"/>
          <p:cNvSpPr txBox="1"/>
          <p:nvPr/>
        </p:nvSpPr>
        <p:spPr>
          <a:xfrm>
            <a:off x="5029200" y="1097280"/>
            <a:ext cx="3566160" cy="274320"/>
          </a:xfrm>
          <a:prstGeom prst="rect">
            <a:avLst/>
          </a:prstGeom>
          <a:noFill/>
          <a:ln/>
        </p:spPr>
        <p:txBody>
          <a:bodyPr wrap="square" lIns="0" tIns="0" rIns="0" bIns="0" rtlCol="0" anchor="t"/>
          <a:lstStyle/>
          <a:p>
            <a:pPr indent="0" marL="0">
              <a:buNone/>
            </a:pPr>
            <a:r>
              <a:rPr lang="en-US" sz="1100" b="1" dirty="0">
                <a:solidFill>
                  <a:schemeClr val="tx2"/>
                </a:solidFill>
              </a:rPr>
              <a:t>Production server (Docker installed)</a:t>
            </a:r>
            <a:endParaRPr lang="en-US" sz="1100" dirty="0"/>
          </a:p>
        </p:txBody>
      </p:sp>
      <p:sp>
        <p:nvSpPr>
          <p:cNvPr id="10" name="box my-app :3000"/>
          <p:cNvSpPr/>
          <p:nvPr/>
        </p:nvSpPr>
        <p:spPr>
          <a:xfrm>
            <a:off x="5029200" y="1417320"/>
            <a:ext cx="1097280" cy="640080"/>
          </a:xfrm>
          <a:prstGeom prst="roundRect">
            <a:avLst>
              <a:gd name="adj" fmla="val 11429"/>
            </a:avLst>
          </a:prstGeom>
          <a:solidFill>
            <a:schemeClr val="accent1"/>
          </a:solidFill>
          <a:ln w="12700">
            <a:solidFill>
              <a:schemeClr val="accent1"/>
            </a:solidFill>
            <a:prstDash val="solid"/>
          </a:ln>
        </p:spPr>
      </p:sp>
      <p:sp>
        <p:nvSpPr>
          <p:cNvPr id="11" name="box text my-app :3000"/>
          <p:cNvSpPr txBox="1"/>
          <p:nvPr/>
        </p:nvSpPr>
        <p:spPr>
          <a:xfrm>
            <a:off x="5029200" y="1417320"/>
            <a:ext cx="1097280" cy="640080"/>
          </a:xfrm>
          <a:prstGeom prst="rect">
            <a:avLst/>
          </a:prstGeom>
          <a:noFill/>
          <a:ln/>
        </p:spPr>
        <p:txBody>
          <a:bodyPr wrap="square" lIns="381" tIns="381" rIns="381" bIns="381" rtlCol="0" anchor="ctr"/>
          <a:lstStyle/>
          <a:p>
            <a:pPr algn="ctr" indent="0" marL="0">
              <a:buNone/>
            </a:pPr>
            <a:r>
              <a:rPr lang="en-US" sz="1000" b="1" dirty="0">
                <a:solidFill>
                  <a:schemeClr val="bg1"/>
                </a:solidFill>
              </a:rPr>
              <a:t>my-app</a:t>
            </a:r>
            <a:endParaRPr lang="en-US" sz="1000" dirty="0"/>
          </a:p>
          <a:p>
            <a:pPr algn="ctr" indent="0" marL="0">
              <a:buNone/>
            </a:pPr>
            <a:r>
              <a:rPr lang="en-US" sz="1000" b="1" dirty="0">
                <a:solidFill>
                  <a:schemeClr val="bg1"/>
                </a:solidFill>
              </a:rPr>
              <a:t>:3000</a:t>
            </a:r>
            <a:endParaRPr lang="en-US" sz="1000" dirty="0"/>
          </a:p>
        </p:txBody>
      </p:sp>
      <p:sp>
        <p:nvSpPr>
          <p:cNvPr id="12" name="box mongodb :27017"/>
          <p:cNvSpPr/>
          <p:nvPr/>
        </p:nvSpPr>
        <p:spPr>
          <a:xfrm>
            <a:off x="6263640" y="1417320"/>
            <a:ext cx="1097280" cy="640080"/>
          </a:xfrm>
          <a:prstGeom prst="roundRect">
            <a:avLst>
              <a:gd name="adj" fmla="val 11429"/>
            </a:avLst>
          </a:prstGeom>
          <a:solidFill>
            <a:schemeClr val="accent1"/>
          </a:solidFill>
          <a:ln w="12700">
            <a:solidFill>
              <a:schemeClr val="accent1"/>
            </a:solidFill>
            <a:prstDash val="solid"/>
          </a:ln>
        </p:spPr>
      </p:sp>
      <p:sp>
        <p:nvSpPr>
          <p:cNvPr id="13" name="box text mongodb :27017"/>
          <p:cNvSpPr txBox="1"/>
          <p:nvPr/>
        </p:nvSpPr>
        <p:spPr>
          <a:xfrm>
            <a:off x="6263640" y="1417320"/>
            <a:ext cx="1097280" cy="640080"/>
          </a:xfrm>
          <a:prstGeom prst="rect">
            <a:avLst/>
          </a:prstGeom>
          <a:noFill/>
          <a:ln/>
        </p:spPr>
        <p:txBody>
          <a:bodyPr wrap="square" lIns="381" tIns="381" rIns="381" bIns="381" rtlCol="0" anchor="ctr"/>
          <a:lstStyle/>
          <a:p>
            <a:pPr algn="ctr" indent="0" marL="0">
              <a:buNone/>
            </a:pPr>
            <a:r>
              <a:rPr lang="en-US" sz="1000" b="1" dirty="0">
                <a:solidFill>
                  <a:schemeClr val="bg1"/>
                </a:solidFill>
              </a:rPr>
              <a:t>mongodb</a:t>
            </a:r>
            <a:endParaRPr lang="en-US" sz="1000" dirty="0"/>
          </a:p>
          <a:p>
            <a:pPr algn="ctr" indent="0" marL="0">
              <a:buNone/>
            </a:pPr>
            <a:r>
              <a:rPr lang="en-US" sz="1000" b="1" dirty="0">
                <a:solidFill>
                  <a:schemeClr val="bg1"/>
                </a:solidFill>
              </a:rPr>
              <a:t>:27017</a:t>
            </a:r>
            <a:endParaRPr lang="en-US" sz="1000" dirty="0"/>
          </a:p>
        </p:txBody>
      </p:sp>
      <p:sp>
        <p:nvSpPr>
          <p:cNvPr id="14" name="box mongo- express"/>
          <p:cNvSpPr/>
          <p:nvPr/>
        </p:nvSpPr>
        <p:spPr>
          <a:xfrm>
            <a:off x="7498080" y="1417320"/>
            <a:ext cx="1097280" cy="640080"/>
          </a:xfrm>
          <a:prstGeom prst="roundRect">
            <a:avLst>
              <a:gd name="adj" fmla="val 11429"/>
            </a:avLst>
          </a:prstGeom>
          <a:solidFill>
            <a:srgbClr val="E0F2FE"/>
          </a:solidFill>
          <a:ln w="12700">
            <a:solidFill>
              <a:srgbClr val="E0F2FE"/>
            </a:solidFill>
            <a:prstDash val="solid"/>
          </a:ln>
        </p:spPr>
      </p:sp>
      <p:sp>
        <p:nvSpPr>
          <p:cNvPr id="15" name="box text mongo- express"/>
          <p:cNvSpPr txBox="1"/>
          <p:nvPr/>
        </p:nvSpPr>
        <p:spPr>
          <a:xfrm>
            <a:off x="7498080" y="1417320"/>
            <a:ext cx="1097280" cy="640080"/>
          </a:xfrm>
          <a:prstGeom prst="rect">
            <a:avLst/>
          </a:prstGeom>
          <a:noFill/>
          <a:ln/>
        </p:spPr>
        <p:txBody>
          <a:bodyPr wrap="square" lIns="381" tIns="381" rIns="381" bIns="381" rtlCol="0" anchor="ctr"/>
          <a:lstStyle/>
          <a:p>
            <a:pPr algn="ctr" indent="0" marL="0">
              <a:buNone/>
            </a:pPr>
            <a:r>
              <a:rPr lang="en-US" sz="1000" b="1" dirty="0">
                <a:solidFill>
                  <a:schemeClr val="tx1"/>
                </a:solidFill>
              </a:rPr>
              <a:t>mongo-</a:t>
            </a:r>
            <a:endParaRPr lang="en-US" sz="1000" dirty="0"/>
          </a:p>
          <a:p>
            <a:pPr algn="ctr" indent="0" marL="0">
              <a:buNone/>
            </a:pPr>
            <a:r>
              <a:rPr lang="en-US" sz="1000" b="1" dirty="0">
                <a:solidFill>
                  <a:schemeClr val="tx1"/>
                </a:solidFill>
              </a:rPr>
              <a:t>express</a:t>
            </a:r>
            <a:endParaRPr lang="en-US" sz="1000" dirty="0"/>
          </a:p>
        </p:txBody>
      </p:sp>
      <p:sp>
        <p:nvSpPr>
          <p:cNvPr id="16" name="Text 13"/>
          <p:cNvSpPr txBox="1"/>
          <p:nvPr/>
        </p:nvSpPr>
        <p:spPr>
          <a:xfrm>
            <a:off x="5029200" y="2103120"/>
            <a:ext cx="3566160" cy="274320"/>
          </a:xfrm>
          <a:prstGeom prst="rect">
            <a:avLst/>
          </a:prstGeom>
          <a:noFill/>
          <a:ln/>
        </p:spPr>
        <p:txBody>
          <a:bodyPr wrap="square" lIns="0" tIns="0" rIns="0" bIns="0" rtlCol="0" anchor="t"/>
          <a:lstStyle/>
          <a:p>
            <a:pPr algn="ctr" indent="0" marL="0">
              <a:buNone/>
            </a:pPr>
            <a:r>
              <a:rPr lang="en-US" sz="1000" i="1" dirty="0">
                <a:solidFill>
                  <a:schemeClr val="tx2"/>
                </a:solidFill>
              </a:rPr>
              <a:t>one Compose network · services talk by name</a:t>
            </a:r>
            <a:endParaRPr lang="en-US" sz="1000" dirty="0"/>
          </a:p>
        </p:txBody>
      </p:sp>
      <p:sp>
        <p:nvSpPr>
          <p:cNvPr id="17" name="box docker login (ECR)  →  docker compose up -d"/>
          <p:cNvSpPr/>
          <p:nvPr/>
        </p:nvSpPr>
        <p:spPr>
          <a:xfrm>
            <a:off x="5029200" y="2423160"/>
            <a:ext cx="3566160" cy="411480"/>
          </a:xfrm>
          <a:prstGeom prst="roundRect">
            <a:avLst>
              <a:gd name="adj" fmla="val 17778"/>
            </a:avLst>
          </a:prstGeom>
          <a:solidFill>
            <a:schemeClr val="tx1"/>
          </a:solidFill>
          <a:ln w="12700">
            <a:solidFill>
              <a:schemeClr val="tx1"/>
            </a:solidFill>
            <a:prstDash val="solid"/>
          </a:ln>
        </p:spPr>
      </p:sp>
      <p:sp>
        <p:nvSpPr>
          <p:cNvPr id="18" name="box text docker login (ECR)  →  docker compose up -d"/>
          <p:cNvSpPr txBox="1"/>
          <p:nvPr/>
        </p:nvSpPr>
        <p:spPr>
          <a:xfrm>
            <a:off x="5029200" y="2423160"/>
            <a:ext cx="3566160" cy="411480"/>
          </a:xfrm>
          <a:prstGeom prst="rect">
            <a:avLst/>
          </a:prstGeom>
          <a:noFill/>
          <a:ln/>
        </p:spPr>
        <p:txBody>
          <a:bodyPr wrap="square" lIns="381" tIns="381" rIns="381" bIns="381" rtlCol="0" anchor="ctr"/>
          <a:lstStyle/>
          <a:p>
            <a:pPr algn="ctr" indent="0" marL="0">
              <a:buNone/>
            </a:pPr>
            <a:r>
              <a:rPr lang="en-US" sz="1000" b="1" dirty="0">
                <a:solidFill>
                  <a:srgbClr val="E2E8F0"/>
                </a:solidFill>
                <a:latin typeface="Courier New" pitchFamily="34" charset="0"/>
                <a:ea typeface="Courier New" pitchFamily="34" charset="-122"/>
                <a:cs typeface="Courier New" pitchFamily="34" charset="-120"/>
              </a:rPr>
              <a:t>docker login (ECR)  →  docker compose up -d</a:t>
            </a:r>
            <a:endParaRPr lang="en-US" sz="1000" dirty="0"/>
          </a:p>
        </p:txBody>
      </p:sp>
      <p:sp>
        <p:nvSpPr>
          <p:cNvPr id="19" name="Text 16"/>
          <p:cNvSpPr txBox="1"/>
          <p:nvPr/>
        </p:nvSpPr>
        <p:spPr>
          <a:xfrm>
            <a:off x="4892040" y="3108960"/>
            <a:ext cx="3794760" cy="146304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chemeClr val="tx1"/>
                </a:solidFill>
              </a:rPr>
              <a:t>In server.js the Mongo host becomes  mongodb  (the service name)</a:t>
            </a:r>
            <a:endParaRPr lang="en-US" sz="1100" dirty="0"/>
          </a:p>
          <a:p>
            <a:pPr marL="342900" indent="-342900">
              <a:spcAft>
                <a:spcPts val="600"/>
              </a:spcAft>
              <a:buSzPct val="100000"/>
              <a:buChar char="•"/>
            </a:pPr>
            <a:r>
              <a:rPr lang="en-US" sz="1100" dirty="0">
                <a:solidFill>
                  <a:schemeClr val="tx1"/>
                </a:solidFill>
              </a:rPr>
              <a:t>Secrets should come from env files or a secrets manager, not the YAML</a:t>
            </a:r>
            <a:endParaRPr lang="en-US" sz="1100" dirty="0"/>
          </a:p>
          <a:p>
            <a:pPr marL="342900" indent="-342900">
              <a:spcAft>
                <a:spcPts val="600"/>
              </a:spcAft>
              <a:buSzPct val="100000"/>
              <a:buChar char="•"/>
            </a:pPr>
            <a:r>
              <a:rPr lang="en-US" sz="1100" dirty="0">
                <a:solidFill>
                  <a:schemeClr val="tx1"/>
                </a:solidFill>
              </a:rPr>
              <a:t>Same file works on a laptop and the server: that's the point</a:t>
            </a:r>
            <a:endParaRPr lang="en-US" sz="11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8046720" cy="914400"/>
          </a:xfrm>
          <a:prstGeom prst="rect">
            <a:avLst/>
          </a:prstGeom>
          <a:noFill/>
          <a:ln/>
        </p:spPr>
        <p:txBody>
          <a:bodyPr wrap="square" lIns="0" tIns="0" rIns="0" bIns="0" rtlCol="0" anchor="b"/>
          <a:lstStyle/>
          <a:p>
            <a:pPr algn="l" indent="0" marL="0">
              <a:buNone/>
            </a:pPr>
            <a:r>
              <a:rPr lang="en-US" sz="4000" b="1" dirty="0">
                <a:solidFill>
                  <a:srgbClr val="FFFFFF"/>
                </a:solidFill>
              </a:rPr>
              <a:t>12 · Docker volumes: persisting data</a:t>
            </a:r>
            <a:endParaRPr lang="en-US" sz="4000" dirty="0"/>
          </a:p>
        </p:txBody>
      </p:sp>
      <p:sp>
        <p:nvSpPr>
          <p:cNvPr id="3" name="Text 0"/>
          <p:cNvSpPr/>
          <p:nvPr>
            <p:ph idx="101" type="body" hasCustomPrompt="1"/>
          </p:nvPr>
        </p:nvSpPr>
        <p:spPr>
          <a:xfrm>
            <a:off x="548640" y="2834640"/>
            <a:ext cx="8046720" cy="822960"/>
          </a:xfrm>
          <a:prstGeom prst="rect">
            <a:avLst/>
          </a:prstGeom>
          <a:noFill/>
          <a:ln/>
        </p:spPr>
        <p:txBody>
          <a:bodyPr wrap="square" lIns="0" tIns="0" rIns="0" bIns="0" rtlCol="0" anchor="t"/>
          <a:lstStyle/>
          <a:p>
            <a:pPr algn="l" indent="0" marL="0">
              <a:buNone/>
            </a:pPr>
            <a:r>
              <a:rPr lang="en-US" sz="1800" dirty="0">
                <a:solidFill>
                  <a:srgbClr val="CBD5E1"/>
                </a:solidFill>
              </a:rPr>
              <a:t>Data that outlives the container</a:t>
            </a:r>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Why data disappears, and the fix</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accent1"/>
          </a:solidFill>
          <a:ln w="12700">
            <a:solidFill>
              <a:schemeClr val="accent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DOCKER</a:t>
            </a:r>
            <a:endParaRPr lang="en-US" sz="900" dirty="0"/>
          </a:p>
        </p:txBody>
      </p:sp>
      <p:sp>
        <p:nvSpPr>
          <p:cNvPr id="6" name="Text 3"/>
          <p:cNvSpPr txBox="1"/>
          <p:nvPr/>
        </p:nvSpPr>
        <p:spPr>
          <a:xfrm>
            <a:off x="457200" y="1051560"/>
            <a:ext cx="3931920" cy="274320"/>
          </a:xfrm>
          <a:prstGeom prst="rect">
            <a:avLst/>
          </a:prstGeom>
          <a:noFill/>
          <a:ln/>
        </p:spPr>
        <p:txBody>
          <a:bodyPr wrap="square" lIns="0" tIns="0" rIns="0" bIns="0" rtlCol="0" anchor="t"/>
          <a:lstStyle/>
          <a:p>
            <a:pPr indent="0" marL="0">
              <a:buNone/>
            </a:pPr>
            <a:r>
              <a:rPr lang="en-US" sz="1400" b="1" dirty="0">
                <a:solidFill>
                  <a:schemeClr val="accent5"/>
                </a:solidFill>
              </a:rPr>
              <a:t>Without a volume</a:t>
            </a:r>
            <a:endParaRPr lang="en-US" sz="1400" dirty="0"/>
          </a:p>
        </p:txBody>
      </p:sp>
      <p:sp>
        <p:nvSpPr>
          <p:cNvPr id="7" name="box container writable layer  ←  /data/db writes here"/>
          <p:cNvSpPr/>
          <p:nvPr/>
        </p:nvSpPr>
        <p:spPr>
          <a:xfrm>
            <a:off x="548640" y="1371600"/>
            <a:ext cx="3749040" cy="457200"/>
          </a:xfrm>
          <a:prstGeom prst="roundRect">
            <a:avLst>
              <a:gd name="adj" fmla="val 16000"/>
            </a:avLst>
          </a:prstGeom>
          <a:solidFill>
            <a:srgbClr val="FEE2E2"/>
          </a:solidFill>
          <a:ln w="12700">
            <a:solidFill>
              <a:srgbClr val="FEE2E2"/>
            </a:solidFill>
            <a:prstDash val="solid"/>
          </a:ln>
        </p:spPr>
      </p:sp>
      <p:sp>
        <p:nvSpPr>
          <p:cNvPr id="8" name="box text container writable layer  ←  /data/db writes here"/>
          <p:cNvSpPr txBox="1"/>
          <p:nvPr/>
        </p:nvSpPr>
        <p:spPr>
          <a:xfrm>
            <a:off x="548640" y="1371600"/>
            <a:ext cx="3749040" cy="457200"/>
          </a:xfrm>
          <a:prstGeom prst="rect">
            <a:avLst/>
          </a:prstGeom>
          <a:noFill/>
          <a:ln/>
        </p:spPr>
        <p:txBody>
          <a:bodyPr wrap="square" lIns="381" tIns="381" rIns="381" bIns="381" rtlCol="0" anchor="ctr"/>
          <a:lstStyle/>
          <a:p>
            <a:pPr algn="ctr" indent="0" marL="0">
              <a:buNone/>
            </a:pPr>
            <a:r>
              <a:rPr lang="en-US" sz="1100" b="1" dirty="0">
                <a:solidFill>
                  <a:schemeClr val="tx1"/>
                </a:solidFill>
              </a:rPr>
              <a:t>container writable layer  ←  /data/db writes here</a:t>
            </a:r>
            <a:endParaRPr lang="en-US" sz="1100" dirty="0"/>
          </a:p>
        </p:txBody>
      </p:sp>
      <p:sp>
        <p:nvSpPr>
          <p:cNvPr id="9" name="box mongo:7 image layers (read-only)"/>
          <p:cNvSpPr/>
          <p:nvPr/>
        </p:nvSpPr>
        <p:spPr>
          <a:xfrm>
            <a:off x="548640" y="1874520"/>
            <a:ext cx="3749040" cy="457200"/>
          </a:xfrm>
          <a:prstGeom prst="roundRect">
            <a:avLst>
              <a:gd name="adj" fmla="val 16000"/>
            </a:avLst>
          </a:prstGeom>
          <a:solidFill>
            <a:srgbClr val="CBD5E1"/>
          </a:solidFill>
          <a:ln w="12700">
            <a:solidFill>
              <a:srgbClr val="CBD5E1"/>
            </a:solidFill>
            <a:prstDash val="solid"/>
          </a:ln>
        </p:spPr>
      </p:sp>
      <p:sp>
        <p:nvSpPr>
          <p:cNvPr id="10" name="box text mongo:7 image layers (read-only)"/>
          <p:cNvSpPr txBox="1"/>
          <p:nvPr/>
        </p:nvSpPr>
        <p:spPr>
          <a:xfrm>
            <a:off x="548640" y="1874520"/>
            <a:ext cx="3749040" cy="457200"/>
          </a:xfrm>
          <a:prstGeom prst="rect">
            <a:avLst/>
          </a:prstGeom>
          <a:noFill/>
          <a:ln/>
        </p:spPr>
        <p:txBody>
          <a:bodyPr wrap="square" lIns="381" tIns="381" rIns="381" bIns="381" rtlCol="0" anchor="ctr"/>
          <a:lstStyle/>
          <a:p>
            <a:pPr algn="ctr" indent="0" marL="0">
              <a:buNone/>
            </a:pPr>
            <a:r>
              <a:rPr lang="en-US" sz="1100" dirty="0">
                <a:solidFill>
                  <a:schemeClr val="tx1"/>
                </a:solidFill>
              </a:rPr>
              <a:t>mongo:7 image layers (read-only)</a:t>
            </a:r>
            <a:endParaRPr lang="en-US" sz="1100" dirty="0"/>
          </a:p>
        </p:txBody>
      </p:sp>
      <p:sp>
        <p:nvSpPr>
          <p:cNvPr id="11" name="Text 8"/>
          <p:cNvSpPr txBox="1"/>
          <p:nvPr/>
        </p:nvSpPr>
        <p:spPr>
          <a:xfrm>
            <a:off x="548640" y="2468880"/>
            <a:ext cx="3749040" cy="118872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docker compose down / docker rm → writable layer deleted</a:t>
            </a:r>
            <a:endParaRPr lang="en-US" sz="1200" dirty="0"/>
          </a:p>
          <a:p>
            <a:pPr marL="342900" indent="-342900">
              <a:spcAft>
                <a:spcPts val="600"/>
              </a:spcAft>
              <a:buSzPct val="100000"/>
              <a:buChar char="•"/>
            </a:pPr>
            <a:r>
              <a:rPr lang="en-US" sz="1200" dirty="0">
                <a:solidFill>
                  <a:schemeClr val="tx1"/>
                </a:solidFill>
              </a:rPr>
              <a:t>Next start: empty database</a:t>
            </a:r>
            <a:endParaRPr lang="en-US" sz="1200" dirty="0"/>
          </a:p>
          <a:p>
            <a:pPr marL="342900" indent="-342900">
              <a:spcAft>
                <a:spcPts val="600"/>
              </a:spcAft>
              <a:buSzPct val="100000"/>
              <a:buChar char="•"/>
            </a:pPr>
            <a:r>
              <a:rPr lang="en-US" sz="1200" dirty="0">
                <a:solidFill>
                  <a:schemeClr val="tx1"/>
                </a:solidFill>
              </a:rPr>
              <a:t>Also lost on image upgrade (new container)</a:t>
            </a:r>
            <a:endParaRPr lang="en-US" sz="1200" dirty="0"/>
          </a:p>
        </p:txBody>
      </p:sp>
      <p:sp>
        <p:nvSpPr>
          <p:cNvPr id="12" name="Text 9"/>
          <p:cNvSpPr txBox="1"/>
          <p:nvPr/>
        </p:nvSpPr>
        <p:spPr>
          <a:xfrm>
            <a:off x="4846320" y="1051560"/>
            <a:ext cx="3931920" cy="274320"/>
          </a:xfrm>
          <a:prstGeom prst="rect">
            <a:avLst/>
          </a:prstGeom>
          <a:noFill/>
          <a:ln/>
        </p:spPr>
        <p:txBody>
          <a:bodyPr wrap="square" lIns="0" tIns="0" rIns="0" bIns="0" rtlCol="0" anchor="t"/>
          <a:lstStyle/>
          <a:p>
            <a:pPr indent="0" marL="0">
              <a:buNone/>
            </a:pPr>
            <a:r>
              <a:rPr lang="en-US" sz="1400" b="1" dirty="0">
                <a:solidFill>
                  <a:schemeClr val="accent1"/>
                </a:solidFill>
              </a:rPr>
              <a:t>With a volume</a:t>
            </a:r>
            <a:endParaRPr lang="en-US" sz="1400" dirty="0"/>
          </a:p>
        </p:txBody>
      </p:sp>
      <p:sp>
        <p:nvSpPr>
          <p:cNvPr id="13" name="box /data/db  →  mounted from the host"/>
          <p:cNvSpPr/>
          <p:nvPr/>
        </p:nvSpPr>
        <p:spPr>
          <a:xfrm>
            <a:off x="4937760" y="1371600"/>
            <a:ext cx="3749040" cy="457200"/>
          </a:xfrm>
          <a:prstGeom prst="roundRect">
            <a:avLst>
              <a:gd name="adj" fmla="val 16000"/>
            </a:avLst>
          </a:prstGeom>
          <a:solidFill>
            <a:schemeClr val="accent1"/>
          </a:solidFill>
          <a:ln w="12700">
            <a:solidFill>
              <a:schemeClr val="accent1"/>
            </a:solidFill>
            <a:prstDash val="solid"/>
          </a:ln>
        </p:spPr>
      </p:sp>
      <p:sp>
        <p:nvSpPr>
          <p:cNvPr id="14" name="box text /data/db  →  mounted from the host"/>
          <p:cNvSpPr txBox="1"/>
          <p:nvPr/>
        </p:nvSpPr>
        <p:spPr>
          <a:xfrm>
            <a:off x="4937760" y="1371600"/>
            <a:ext cx="3749040" cy="457200"/>
          </a:xfrm>
          <a:prstGeom prst="rect">
            <a:avLst/>
          </a:prstGeom>
          <a:noFill/>
          <a:ln/>
        </p:spPr>
        <p:txBody>
          <a:bodyPr wrap="square" lIns="381" tIns="381" rIns="381" bIns="381" rtlCol="0" anchor="ctr"/>
          <a:lstStyle/>
          <a:p>
            <a:pPr algn="ctr" indent="0" marL="0">
              <a:buNone/>
            </a:pPr>
            <a:r>
              <a:rPr lang="en-US" sz="1100" b="1" dirty="0">
                <a:solidFill>
                  <a:schemeClr val="bg1"/>
                </a:solidFill>
              </a:rPr>
              <a:t>/data/db  →  mounted from the host</a:t>
            </a:r>
            <a:endParaRPr lang="en-US" sz="1100" dirty="0"/>
          </a:p>
        </p:txBody>
      </p:sp>
      <p:sp>
        <p:nvSpPr>
          <p:cNvPr id="15" name="box mongo:7 image layers (read-only)"/>
          <p:cNvSpPr/>
          <p:nvPr/>
        </p:nvSpPr>
        <p:spPr>
          <a:xfrm>
            <a:off x="4937760" y="1874520"/>
            <a:ext cx="3749040" cy="457200"/>
          </a:xfrm>
          <a:prstGeom prst="roundRect">
            <a:avLst>
              <a:gd name="adj" fmla="val 16000"/>
            </a:avLst>
          </a:prstGeom>
          <a:solidFill>
            <a:srgbClr val="CBD5E1"/>
          </a:solidFill>
          <a:ln w="12700">
            <a:solidFill>
              <a:srgbClr val="CBD5E1"/>
            </a:solidFill>
            <a:prstDash val="solid"/>
          </a:ln>
        </p:spPr>
      </p:sp>
      <p:sp>
        <p:nvSpPr>
          <p:cNvPr id="16" name="box text mongo:7 image layers (read-only)"/>
          <p:cNvSpPr txBox="1"/>
          <p:nvPr/>
        </p:nvSpPr>
        <p:spPr>
          <a:xfrm>
            <a:off x="4937760" y="1874520"/>
            <a:ext cx="3749040" cy="457200"/>
          </a:xfrm>
          <a:prstGeom prst="rect">
            <a:avLst/>
          </a:prstGeom>
          <a:noFill/>
          <a:ln/>
        </p:spPr>
        <p:txBody>
          <a:bodyPr wrap="square" lIns="381" tIns="381" rIns="381" bIns="381" rtlCol="0" anchor="ctr"/>
          <a:lstStyle/>
          <a:p>
            <a:pPr algn="ctr" indent="0" marL="0">
              <a:buNone/>
            </a:pPr>
            <a:r>
              <a:rPr lang="en-US" sz="1100" dirty="0">
                <a:solidFill>
                  <a:schemeClr val="tx1"/>
                </a:solidFill>
              </a:rPr>
              <a:t>mongo:7 image layers (read-only)</a:t>
            </a:r>
            <a:endParaRPr lang="en-US" sz="1100" dirty="0"/>
          </a:p>
        </p:txBody>
      </p:sp>
      <p:sp>
        <p:nvSpPr>
          <p:cNvPr id="17" name="box host: /var/lib/docker/volumes/mongo-data/_data"/>
          <p:cNvSpPr/>
          <p:nvPr/>
        </p:nvSpPr>
        <p:spPr>
          <a:xfrm>
            <a:off x="4937760" y="2468880"/>
            <a:ext cx="3749040" cy="457200"/>
          </a:xfrm>
          <a:prstGeom prst="roundRect">
            <a:avLst>
              <a:gd name="adj" fmla="val 16000"/>
            </a:avLst>
          </a:prstGeom>
          <a:solidFill>
            <a:srgbClr val="E0F2FE"/>
          </a:solidFill>
          <a:ln w="12700">
            <a:solidFill>
              <a:srgbClr val="E0F2FE"/>
            </a:solidFill>
            <a:prstDash val="solid"/>
          </a:ln>
        </p:spPr>
      </p:sp>
      <p:sp>
        <p:nvSpPr>
          <p:cNvPr id="18" name="box text host: /var/lib/docker/volumes/mongo-data/_data"/>
          <p:cNvSpPr txBox="1"/>
          <p:nvPr/>
        </p:nvSpPr>
        <p:spPr>
          <a:xfrm>
            <a:off x="4937760" y="2468880"/>
            <a:ext cx="3749040" cy="457200"/>
          </a:xfrm>
          <a:prstGeom prst="rect">
            <a:avLst/>
          </a:prstGeom>
          <a:noFill/>
          <a:ln/>
        </p:spPr>
        <p:txBody>
          <a:bodyPr wrap="square" lIns="381" tIns="381" rIns="381" bIns="381" rtlCol="0" anchor="ctr"/>
          <a:lstStyle/>
          <a:p>
            <a:pPr algn="ctr" indent="0" marL="0">
              <a:buNone/>
            </a:pPr>
            <a:r>
              <a:rPr lang="en-US" sz="1000" b="1" dirty="0">
                <a:solidFill>
                  <a:schemeClr val="tx1"/>
                </a:solidFill>
                <a:latin typeface="Courier New" pitchFamily="34" charset="0"/>
                <a:ea typeface="Courier New" pitchFamily="34" charset="-122"/>
                <a:cs typeface="Courier New" pitchFamily="34" charset="-120"/>
              </a:rPr>
              <a:t>host: /var/lib/docker/volumes/mongo-data/_data</a:t>
            </a:r>
            <a:endParaRPr lang="en-US" sz="1000" dirty="0"/>
          </a:p>
        </p:txBody>
      </p:sp>
      <p:sp>
        <p:nvSpPr>
          <p:cNvPr id="19" name="Text 16"/>
          <p:cNvSpPr txBox="1"/>
          <p:nvPr/>
        </p:nvSpPr>
        <p:spPr>
          <a:xfrm>
            <a:off x="4937760" y="3017520"/>
            <a:ext cx="3749040" cy="9144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Container removed → data still on the host</a:t>
            </a:r>
            <a:endParaRPr lang="en-US" sz="1200" dirty="0"/>
          </a:p>
          <a:p>
            <a:pPr marL="342900" indent="-342900">
              <a:spcAft>
                <a:spcPts val="600"/>
              </a:spcAft>
              <a:buSzPct val="100000"/>
              <a:buChar char="•"/>
            </a:pPr>
            <a:r>
              <a:rPr lang="en-US" sz="1200" dirty="0">
                <a:solidFill>
                  <a:schemeClr val="tx1"/>
                </a:solidFill>
              </a:rPr>
              <a:t>New container mounts the same volume → data back</a:t>
            </a:r>
            <a:endParaRPr lang="en-US" sz="1200" dirty="0"/>
          </a:p>
          <a:p>
            <a:pPr marL="342900" indent="-342900">
              <a:spcAft>
                <a:spcPts val="600"/>
              </a:spcAft>
              <a:buSzPct val="100000"/>
              <a:buChar char="•"/>
            </a:pPr>
            <a:r>
              <a:rPr lang="en-US" sz="1200" dirty="0">
                <a:solidFill>
                  <a:schemeClr val="tx1"/>
                </a:solidFill>
              </a:rPr>
              <a:t>Volumes are the unit of backup</a:t>
            </a:r>
            <a:endParaRPr lang="en-US" sz="1200" dirty="0"/>
          </a:p>
        </p:txBody>
      </p:sp>
      <p:sp>
        <p:nvSpPr>
          <p:cNvPr id="20" name="box Containers are disposable. Data must live somewhere that isn't."/>
          <p:cNvSpPr/>
          <p:nvPr/>
        </p:nvSpPr>
        <p:spPr>
          <a:xfrm>
            <a:off x="457200" y="4069080"/>
            <a:ext cx="8229600" cy="502920"/>
          </a:xfrm>
          <a:prstGeom prst="roundRect">
            <a:avLst>
              <a:gd name="adj" fmla="val 14545"/>
            </a:avLst>
          </a:prstGeom>
          <a:solidFill>
            <a:schemeClr val="accent1"/>
          </a:solidFill>
          <a:ln w="12700">
            <a:solidFill>
              <a:schemeClr val="accent1"/>
            </a:solidFill>
            <a:prstDash val="solid"/>
          </a:ln>
        </p:spPr>
      </p:sp>
      <p:sp>
        <p:nvSpPr>
          <p:cNvPr id="21" name="box text Containers are disposable. Data must live somewhere that isn&amp;apos;t."/>
          <p:cNvSpPr txBox="1"/>
          <p:nvPr/>
        </p:nvSpPr>
        <p:spPr>
          <a:xfrm>
            <a:off x="457200" y="4069080"/>
            <a:ext cx="8229600" cy="502920"/>
          </a:xfrm>
          <a:prstGeom prst="rect">
            <a:avLst/>
          </a:prstGeom>
          <a:noFill/>
          <a:ln/>
        </p:spPr>
        <p:txBody>
          <a:bodyPr wrap="square" lIns="381" tIns="381" rIns="381" bIns="381" rtlCol="0" anchor="ctr"/>
          <a:lstStyle/>
          <a:p>
            <a:pPr algn="ctr" indent="0" marL="0">
              <a:buNone/>
            </a:pPr>
            <a:r>
              <a:rPr lang="en-US" sz="1400" b="1" dirty="0">
                <a:solidFill>
                  <a:schemeClr val="bg1"/>
                </a:solidFill>
              </a:rPr>
              <a:t>Containers are disposable. Data must live somewhere that isn't.</a:t>
            </a:r>
            <a:endParaRPr lang="en-US" sz="14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Three kinds of volume</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accent1"/>
          </a:solidFill>
          <a:ln w="12700">
            <a:solidFill>
              <a:schemeClr val="accent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DOCKER</a:t>
            </a:r>
            <a:endParaRPr lang="en-US" sz="900" dirty="0"/>
          </a:p>
        </p:txBody>
      </p:sp>
      <p:sp>
        <p:nvSpPr>
          <p:cNvPr id="6" name="Host / bind mount card"/>
          <p:cNvSpPr/>
          <p:nvPr/>
        </p:nvSpPr>
        <p:spPr>
          <a:xfrm>
            <a:off x="457200" y="1097280"/>
            <a:ext cx="8229600" cy="1005840"/>
          </a:xfrm>
          <a:prstGeom prst="roundRect">
            <a:avLst>
              <a:gd name="adj" fmla="val 10909"/>
            </a:avLst>
          </a:prstGeom>
          <a:solidFill>
            <a:schemeClr val="bg2"/>
          </a:solidFill>
          <a:ln w="12700">
            <a:solidFill>
              <a:schemeClr val="bg2"/>
            </a:solidFill>
            <a:prstDash val="solid"/>
          </a:ln>
        </p:spPr>
      </p:sp>
      <p:sp>
        <p:nvSpPr>
          <p:cNvPr id="7" name="Host / bind mount circle"/>
          <p:cNvSpPr/>
          <p:nvPr/>
        </p:nvSpPr>
        <p:spPr>
          <a:xfrm>
            <a:off x="640080" y="1280160"/>
            <a:ext cx="457200" cy="457200"/>
          </a:xfrm>
          <a:prstGeom prst="ellipse">
            <a:avLst/>
          </a:prstGeom>
          <a:solidFill>
            <a:schemeClr val="accent1"/>
          </a:solidFill>
          <a:ln w="12700">
            <a:solidFill>
              <a:schemeClr val="accent1"/>
            </a:solidFill>
            <a:prstDash val="solid"/>
          </a:ln>
        </p:spPr>
      </p:sp>
      <p:pic>
        <p:nvPicPr>
          <p:cNvPr id="8" name="Host / bind mount icon" descr="preencoded.png">    </p:cNvPr>
          <p:cNvPicPr>
            <a:picLocks noChangeAspect="1"/>
          </p:cNvPicPr>
          <p:nvPr/>
        </p:nvPicPr>
        <p:blipFill>
          <a:blip r:embed="rId1"/>
          <a:stretch>
            <a:fillRect/>
          </a:stretch>
        </p:blipFill>
        <p:spPr>
          <a:xfrm>
            <a:off x="731520" y="1371600"/>
            <a:ext cx="274320" cy="274320"/>
          </a:xfrm>
          <a:prstGeom prst="rect">
            <a:avLst/>
          </a:prstGeom>
        </p:spPr>
      </p:pic>
      <p:sp>
        <p:nvSpPr>
          <p:cNvPr id="9" name="Text 5"/>
          <p:cNvSpPr txBox="1"/>
          <p:nvPr/>
        </p:nvSpPr>
        <p:spPr>
          <a:xfrm>
            <a:off x="1234440" y="1280160"/>
            <a:ext cx="7269480" cy="457200"/>
          </a:xfrm>
          <a:prstGeom prst="rect">
            <a:avLst/>
          </a:prstGeom>
          <a:noFill/>
          <a:ln/>
        </p:spPr>
        <p:txBody>
          <a:bodyPr wrap="square" lIns="0" tIns="0" rIns="0" bIns="0" rtlCol="0" anchor="ctr"/>
          <a:lstStyle/>
          <a:p>
            <a:pPr indent="0" marL="0">
              <a:buNone/>
            </a:pPr>
            <a:r>
              <a:rPr lang="en-US" sz="1600" b="1" dirty="0">
                <a:solidFill>
                  <a:schemeClr val="tx1"/>
                </a:solidFill>
              </a:rPr>
              <a:t>Host / bind mount</a:t>
            </a:r>
            <a:endParaRPr lang="en-US" sz="1600" dirty="0"/>
          </a:p>
        </p:txBody>
      </p:sp>
      <p:sp>
        <p:nvSpPr>
          <p:cNvPr id="10" name="Text 6"/>
          <p:cNvSpPr txBox="1"/>
          <p:nvPr/>
        </p:nvSpPr>
        <p:spPr>
          <a:xfrm>
            <a:off x="640080" y="1874520"/>
            <a:ext cx="7863840" cy="91440"/>
          </a:xfrm>
          <a:prstGeom prst="rect">
            <a:avLst/>
          </a:prstGeom>
          <a:noFill/>
          <a:ln/>
        </p:spPr>
        <p:txBody>
          <a:bodyPr wrap="square" lIns="0" tIns="0" rIns="0" bIns="0" rtlCol="0" anchor="t"/>
          <a:lstStyle/>
          <a:p>
            <a:pPr indent="0" marL="0">
              <a:buNone/>
            </a:pPr>
            <a:r>
              <a:rPr lang="en-US" sz="1200" dirty="0">
                <a:solidFill>
                  <a:schemeClr val="tx1"/>
                </a:solidFill>
              </a:rPr>
              <a:t>You pick the host folder. Great for dev: edit code on the host, container sees it live</a:t>
            </a:r>
            <a:endParaRPr lang="en-US" sz="1200" dirty="0"/>
          </a:p>
        </p:txBody>
      </p:sp>
      <p:sp>
        <p:nvSpPr>
          <p:cNvPr id="11" name="box -v /home/me/mongo:/data/db"/>
          <p:cNvSpPr/>
          <p:nvPr/>
        </p:nvSpPr>
        <p:spPr>
          <a:xfrm>
            <a:off x="5669280" y="1280160"/>
            <a:ext cx="2834640" cy="411480"/>
          </a:xfrm>
          <a:prstGeom prst="roundRect">
            <a:avLst>
              <a:gd name="adj" fmla="val 17778"/>
            </a:avLst>
          </a:prstGeom>
          <a:solidFill>
            <a:schemeClr val="tx1"/>
          </a:solidFill>
          <a:ln w="12700">
            <a:solidFill>
              <a:schemeClr val="tx1"/>
            </a:solidFill>
            <a:prstDash val="solid"/>
          </a:ln>
        </p:spPr>
      </p:sp>
      <p:sp>
        <p:nvSpPr>
          <p:cNvPr id="12" name="box text -v /home/me/mongo:/data/db"/>
          <p:cNvSpPr txBox="1"/>
          <p:nvPr/>
        </p:nvSpPr>
        <p:spPr>
          <a:xfrm>
            <a:off x="5669280" y="1280160"/>
            <a:ext cx="2834640" cy="411480"/>
          </a:xfrm>
          <a:prstGeom prst="rect">
            <a:avLst/>
          </a:prstGeom>
          <a:noFill/>
          <a:ln/>
        </p:spPr>
        <p:txBody>
          <a:bodyPr wrap="square" lIns="381" tIns="381" rIns="381" bIns="381" rtlCol="0" anchor="ctr"/>
          <a:lstStyle/>
          <a:p>
            <a:pPr algn="ctr" indent="0" marL="0">
              <a:buNone/>
            </a:pPr>
            <a:r>
              <a:rPr lang="en-US" sz="1000" b="1" dirty="0">
                <a:solidFill>
                  <a:srgbClr val="E2E8F0"/>
                </a:solidFill>
                <a:latin typeface="Courier New" pitchFamily="34" charset="0"/>
                <a:ea typeface="Courier New" pitchFamily="34" charset="-122"/>
                <a:cs typeface="Courier New" pitchFamily="34" charset="-120"/>
              </a:rPr>
              <a:t>-v /home/me/mongo:/data/db</a:t>
            </a:r>
            <a:endParaRPr lang="en-US" sz="1000" dirty="0"/>
          </a:p>
        </p:txBody>
      </p:sp>
      <p:sp>
        <p:nvSpPr>
          <p:cNvPr id="13" name="Anonymous card"/>
          <p:cNvSpPr/>
          <p:nvPr/>
        </p:nvSpPr>
        <p:spPr>
          <a:xfrm>
            <a:off x="457200" y="2194560"/>
            <a:ext cx="8229600" cy="1005840"/>
          </a:xfrm>
          <a:prstGeom prst="roundRect">
            <a:avLst>
              <a:gd name="adj" fmla="val 10909"/>
            </a:avLst>
          </a:prstGeom>
          <a:solidFill>
            <a:schemeClr val="bg2"/>
          </a:solidFill>
          <a:ln w="12700">
            <a:solidFill>
              <a:schemeClr val="bg2"/>
            </a:solidFill>
            <a:prstDash val="solid"/>
          </a:ln>
        </p:spPr>
      </p:sp>
      <p:sp>
        <p:nvSpPr>
          <p:cNvPr id="14" name="Anonymous circle"/>
          <p:cNvSpPr/>
          <p:nvPr/>
        </p:nvSpPr>
        <p:spPr>
          <a:xfrm>
            <a:off x="640080" y="2377440"/>
            <a:ext cx="457200" cy="457200"/>
          </a:xfrm>
          <a:prstGeom prst="ellipse">
            <a:avLst/>
          </a:prstGeom>
          <a:solidFill>
            <a:schemeClr val="accent1"/>
          </a:solidFill>
          <a:ln w="12700">
            <a:solidFill>
              <a:schemeClr val="accent1"/>
            </a:solidFill>
            <a:prstDash val="solid"/>
          </a:ln>
        </p:spPr>
      </p:sp>
      <p:pic>
        <p:nvPicPr>
          <p:cNvPr id="15" name="Anonymous icon" descr="preencoded.png">    </p:cNvPr>
          <p:cNvPicPr>
            <a:picLocks noChangeAspect="1"/>
          </p:cNvPicPr>
          <p:nvPr/>
        </p:nvPicPr>
        <p:blipFill>
          <a:blip r:embed="rId2"/>
          <a:stretch>
            <a:fillRect/>
          </a:stretch>
        </p:blipFill>
        <p:spPr>
          <a:xfrm>
            <a:off x="731520" y="2468880"/>
            <a:ext cx="274320" cy="274320"/>
          </a:xfrm>
          <a:prstGeom prst="rect">
            <a:avLst/>
          </a:prstGeom>
        </p:spPr>
      </p:pic>
      <p:sp>
        <p:nvSpPr>
          <p:cNvPr id="16" name="Text 11"/>
          <p:cNvSpPr txBox="1"/>
          <p:nvPr/>
        </p:nvSpPr>
        <p:spPr>
          <a:xfrm>
            <a:off x="1234440" y="2377440"/>
            <a:ext cx="7269480" cy="457200"/>
          </a:xfrm>
          <a:prstGeom prst="rect">
            <a:avLst/>
          </a:prstGeom>
          <a:noFill/>
          <a:ln/>
        </p:spPr>
        <p:txBody>
          <a:bodyPr wrap="square" lIns="0" tIns="0" rIns="0" bIns="0" rtlCol="0" anchor="ctr"/>
          <a:lstStyle/>
          <a:p>
            <a:pPr indent="0" marL="0">
              <a:buNone/>
            </a:pPr>
            <a:r>
              <a:rPr lang="en-US" sz="1600" b="1" dirty="0">
                <a:solidFill>
                  <a:schemeClr val="tx1"/>
                </a:solidFill>
              </a:rPr>
              <a:t>Anonymous</a:t>
            </a:r>
            <a:endParaRPr lang="en-US" sz="1600" dirty="0"/>
          </a:p>
        </p:txBody>
      </p:sp>
      <p:sp>
        <p:nvSpPr>
          <p:cNvPr id="17" name="Text 12"/>
          <p:cNvSpPr txBox="1"/>
          <p:nvPr/>
        </p:nvSpPr>
        <p:spPr>
          <a:xfrm>
            <a:off x="640080" y="2971800"/>
            <a:ext cx="7863840" cy="91440"/>
          </a:xfrm>
          <a:prstGeom prst="rect">
            <a:avLst/>
          </a:prstGeom>
          <a:noFill/>
          <a:ln/>
        </p:spPr>
        <p:txBody>
          <a:bodyPr wrap="square" lIns="0" tIns="0" rIns="0" bIns="0" rtlCol="0" anchor="t"/>
          <a:lstStyle/>
          <a:p>
            <a:pPr indent="0" marL="0">
              <a:buNone/>
            </a:pPr>
            <a:r>
              <a:rPr lang="en-US" sz="1200" dirty="0">
                <a:solidFill>
                  <a:schemeClr val="tx1"/>
                </a:solidFill>
              </a:rPr>
              <a:t>Docker picks a random folder. Hard to find and reuse. Avoid</a:t>
            </a:r>
            <a:endParaRPr lang="en-US" sz="1200" dirty="0"/>
          </a:p>
        </p:txBody>
      </p:sp>
      <p:sp>
        <p:nvSpPr>
          <p:cNvPr id="18" name="box -v /data/db"/>
          <p:cNvSpPr/>
          <p:nvPr/>
        </p:nvSpPr>
        <p:spPr>
          <a:xfrm>
            <a:off x="5669280" y="2377440"/>
            <a:ext cx="2834640" cy="411480"/>
          </a:xfrm>
          <a:prstGeom prst="roundRect">
            <a:avLst>
              <a:gd name="adj" fmla="val 17778"/>
            </a:avLst>
          </a:prstGeom>
          <a:solidFill>
            <a:schemeClr val="tx1"/>
          </a:solidFill>
          <a:ln w="12700">
            <a:solidFill>
              <a:schemeClr val="tx1"/>
            </a:solidFill>
            <a:prstDash val="solid"/>
          </a:ln>
        </p:spPr>
      </p:sp>
      <p:sp>
        <p:nvSpPr>
          <p:cNvPr id="19" name="box text -v /data/db"/>
          <p:cNvSpPr txBox="1"/>
          <p:nvPr/>
        </p:nvSpPr>
        <p:spPr>
          <a:xfrm>
            <a:off x="5669280" y="2377440"/>
            <a:ext cx="2834640" cy="411480"/>
          </a:xfrm>
          <a:prstGeom prst="rect">
            <a:avLst/>
          </a:prstGeom>
          <a:noFill/>
          <a:ln/>
        </p:spPr>
        <p:txBody>
          <a:bodyPr wrap="square" lIns="381" tIns="381" rIns="381" bIns="381" rtlCol="0" anchor="ctr"/>
          <a:lstStyle/>
          <a:p>
            <a:pPr algn="ctr" indent="0" marL="0">
              <a:buNone/>
            </a:pPr>
            <a:r>
              <a:rPr lang="en-US" sz="1000" b="1" dirty="0">
                <a:solidFill>
                  <a:srgbClr val="E2E8F0"/>
                </a:solidFill>
                <a:latin typeface="Courier New" pitchFamily="34" charset="0"/>
                <a:ea typeface="Courier New" pitchFamily="34" charset="-122"/>
                <a:cs typeface="Courier New" pitchFamily="34" charset="-120"/>
              </a:rPr>
              <a:t>-v /data/db</a:t>
            </a:r>
            <a:endParaRPr lang="en-US" sz="1000" dirty="0"/>
          </a:p>
        </p:txBody>
      </p:sp>
      <p:sp>
        <p:nvSpPr>
          <p:cNvPr id="20" name="Named (recommended) card"/>
          <p:cNvSpPr/>
          <p:nvPr/>
        </p:nvSpPr>
        <p:spPr>
          <a:xfrm>
            <a:off x="457200" y="3291840"/>
            <a:ext cx="8229600" cy="1005840"/>
          </a:xfrm>
          <a:prstGeom prst="roundRect">
            <a:avLst>
              <a:gd name="adj" fmla="val 10909"/>
            </a:avLst>
          </a:prstGeom>
          <a:solidFill>
            <a:schemeClr val="bg2"/>
          </a:solidFill>
          <a:ln w="12700">
            <a:solidFill>
              <a:schemeClr val="bg2"/>
            </a:solidFill>
            <a:prstDash val="solid"/>
          </a:ln>
        </p:spPr>
      </p:sp>
      <p:sp>
        <p:nvSpPr>
          <p:cNvPr id="21" name="Named (recommended) circle"/>
          <p:cNvSpPr/>
          <p:nvPr/>
        </p:nvSpPr>
        <p:spPr>
          <a:xfrm>
            <a:off x="640080" y="3474720"/>
            <a:ext cx="457200" cy="457200"/>
          </a:xfrm>
          <a:prstGeom prst="ellipse">
            <a:avLst/>
          </a:prstGeom>
          <a:solidFill>
            <a:schemeClr val="accent1"/>
          </a:solidFill>
          <a:ln w="12700">
            <a:solidFill>
              <a:schemeClr val="accent1"/>
            </a:solidFill>
            <a:prstDash val="solid"/>
          </a:ln>
        </p:spPr>
      </p:sp>
      <p:pic>
        <p:nvPicPr>
          <p:cNvPr id="22" name="Named (recommended) icon" descr="preencoded.png">    </p:cNvPr>
          <p:cNvPicPr>
            <a:picLocks noChangeAspect="1"/>
          </p:cNvPicPr>
          <p:nvPr/>
        </p:nvPicPr>
        <p:blipFill>
          <a:blip r:embed="rId3"/>
          <a:stretch>
            <a:fillRect/>
          </a:stretch>
        </p:blipFill>
        <p:spPr>
          <a:xfrm>
            <a:off x="731520" y="3566160"/>
            <a:ext cx="274320" cy="274320"/>
          </a:xfrm>
          <a:prstGeom prst="rect">
            <a:avLst/>
          </a:prstGeom>
        </p:spPr>
      </p:pic>
      <p:sp>
        <p:nvSpPr>
          <p:cNvPr id="23" name="Text 17"/>
          <p:cNvSpPr txBox="1"/>
          <p:nvPr/>
        </p:nvSpPr>
        <p:spPr>
          <a:xfrm>
            <a:off x="1234440" y="3474720"/>
            <a:ext cx="7269480" cy="457200"/>
          </a:xfrm>
          <a:prstGeom prst="rect">
            <a:avLst/>
          </a:prstGeom>
          <a:noFill/>
          <a:ln/>
        </p:spPr>
        <p:txBody>
          <a:bodyPr wrap="square" lIns="0" tIns="0" rIns="0" bIns="0" rtlCol="0" anchor="ctr"/>
          <a:lstStyle/>
          <a:p>
            <a:pPr indent="0" marL="0">
              <a:buNone/>
            </a:pPr>
            <a:r>
              <a:rPr lang="en-US" sz="1600" b="1" dirty="0">
                <a:solidFill>
                  <a:schemeClr val="tx1"/>
                </a:solidFill>
              </a:rPr>
              <a:t>Named (recommended)</a:t>
            </a:r>
            <a:endParaRPr lang="en-US" sz="1600" dirty="0"/>
          </a:p>
        </p:txBody>
      </p:sp>
      <p:sp>
        <p:nvSpPr>
          <p:cNvPr id="24" name="Text 18"/>
          <p:cNvSpPr txBox="1"/>
          <p:nvPr/>
        </p:nvSpPr>
        <p:spPr>
          <a:xfrm>
            <a:off x="640080" y="4069080"/>
            <a:ext cx="7863840" cy="91440"/>
          </a:xfrm>
          <a:prstGeom prst="rect">
            <a:avLst/>
          </a:prstGeom>
          <a:noFill/>
          <a:ln/>
        </p:spPr>
        <p:txBody>
          <a:bodyPr wrap="square" lIns="0" tIns="0" rIns="0" bIns="0" rtlCol="0" anchor="t"/>
          <a:lstStyle/>
          <a:p>
            <a:pPr indent="0" marL="0">
              <a:buNone/>
            </a:pPr>
            <a:r>
              <a:rPr lang="en-US" sz="1200" dirty="0">
                <a:solidFill>
                  <a:schemeClr val="tx1"/>
                </a:solidFill>
              </a:rPr>
              <a:t>Docker manages the location; you use the name. Listed by docker volume ls. Use in compose</a:t>
            </a:r>
            <a:endParaRPr lang="en-US" sz="1200" dirty="0"/>
          </a:p>
        </p:txBody>
      </p:sp>
      <p:sp>
        <p:nvSpPr>
          <p:cNvPr id="25" name="box -v mongo-data:/data/db"/>
          <p:cNvSpPr/>
          <p:nvPr/>
        </p:nvSpPr>
        <p:spPr>
          <a:xfrm>
            <a:off x="5669280" y="3474720"/>
            <a:ext cx="2834640" cy="411480"/>
          </a:xfrm>
          <a:prstGeom prst="roundRect">
            <a:avLst>
              <a:gd name="adj" fmla="val 17778"/>
            </a:avLst>
          </a:prstGeom>
          <a:solidFill>
            <a:schemeClr val="tx1"/>
          </a:solidFill>
          <a:ln w="12700">
            <a:solidFill>
              <a:schemeClr val="tx1"/>
            </a:solidFill>
            <a:prstDash val="solid"/>
          </a:ln>
        </p:spPr>
      </p:sp>
      <p:sp>
        <p:nvSpPr>
          <p:cNvPr id="26" name="box text -v mongo-data:/data/db"/>
          <p:cNvSpPr txBox="1"/>
          <p:nvPr/>
        </p:nvSpPr>
        <p:spPr>
          <a:xfrm>
            <a:off x="5669280" y="3474720"/>
            <a:ext cx="2834640" cy="411480"/>
          </a:xfrm>
          <a:prstGeom prst="rect">
            <a:avLst/>
          </a:prstGeom>
          <a:noFill/>
          <a:ln/>
        </p:spPr>
        <p:txBody>
          <a:bodyPr wrap="square" lIns="381" tIns="381" rIns="381" bIns="381" rtlCol="0" anchor="ctr"/>
          <a:lstStyle/>
          <a:p>
            <a:pPr algn="ctr" indent="0" marL="0">
              <a:buNone/>
            </a:pPr>
            <a:r>
              <a:rPr lang="en-US" sz="1000" b="1" dirty="0">
                <a:solidFill>
                  <a:srgbClr val="E2E8F0"/>
                </a:solidFill>
                <a:latin typeface="Courier New" pitchFamily="34" charset="0"/>
                <a:ea typeface="Courier New" pitchFamily="34" charset="-122"/>
                <a:cs typeface="Courier New" pitchFamily="34" charset="-120"/>
              </a:rPr>
              <a:t>-v mongo-data:/data/db</a:t>
            </a:r>
            <a:endParaRPr lang="en-US" sz="1000" dirty="0"/>
          </a:p>
        </p:txBody>
      </p:sp>
      <p:sp>
        <p:nvSpPr>
          <p:cNvPr id="27" name="box Where named volumes live: Mac  ~/Library/Containers/com.docker.docker/…   Linux  /var/lib/docker/volumes/&lt;name&gt;/_data"/>
          <p:cNvSpPr/>
          <p:nvPr/>
        </p:nvSpPr>
        <p:spPr>
          <a:xfrm>
            <a:off x="457200" y="4069080"/>
            <a:ext cx="8229600" cy="502920"/>
          </a:xfrm>
          <a:prstGeom prst="roundRect">
            <a:avLst>
              <a:gd name="adj" fmla="val 14545"/>
            </a:avLst>
          </a:prstGeom>
          <a:solidFill>
            <a:schemeClr val="accent1"/>
          </a:solidFill>
          <a:ln w="12700">
            <a:solidFill>
              <a:schemeClr val="accent1"/>
            </a:solidFill>
            <a:prstDash val="solid"/>
          </a:ln>
        </p:spPr>
      </p:sp>
      <p:sp>
        <p:nvSpPr>
          <p:cNvPr id="28" name="box text Where named volumes live: Mac  ~/Library/Containers/com.docker.docker/…   Linux  /var/lib/docker/volumes/&amp;lt;name&amp;gt;/_data"/>
          <p:cNvSpPr txBox="1"/>
          <p:nvPr/>
        </p:nvSpPr>
        <p:spPr>
          <a:xfrm>
            <a:off x="457200" y="4069080"/>
            <a:ext cx="8229600" cy="502920"/>
          </a:xfrm>
          <a:prstGeom prst="rect">
            <a:avLst/>
          </a:prstGeom>
          <a:noFill/>
          <a:ln/>
        </p:spPr>
        <p:txBody>
          <a:bodyPr wrap="square" lIns="381" tIns="381" rIns="381" bIns="381" rtlCol="0" anchor="ctr"/>
          <a:lstStyle/>
          <a:p>
            <a:pPr algn="ctr" indent="0" marL="0">
              <a:buNone/>
            </a:pPr>
            <a:r>
              <a:rPr lang="en-US" sz="1400" b="1" dirty="0">
                <a:solidFill>
                  <a:schemeClr val="bg1"/>
                </a:solidFill>
              </a:rPr>
              <a:t>Where named volumes live: Mac  ~/Library/Containers/com.docker.docker/…   Linux  /var/lib/docker/volumes/&lt;name&gt;/_data</a:t>
            </a:r>
            <a:endParaRPr lang="en-US" sz="14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Volumes demo: persistence for the demo project</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accent1"/>
          </a:solidFill>
          <a:ln w="12700">
            <a:solidFill>
              <a:schemeClr val="accent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DOCKER</a:t>
            </a:r>
            <a:endParaRPr lang="en-US" sz="900" dirty="0"/>
          </a:p>
        </p:txBody>
      </p:sp>
      <p:sp>
        <p:nvSpPr>
          <p:cNvPr id="6" name="code bg"/>
          <p:cNvSpPr/>
          <p:nvPr/>
        </p:nvSpPr>
        <p:spPr>
          <a:xfrm>
            <a:off x="457200" y="1051560"/>
            <a:ext cx="4389120" cy="3566160"/>
          </a:xfrm>
          <a:prstGeom prst="roundRect">
            <a:avLst>
              <a:gd name="adj" fmla="val 2564"/>
            </a:avLst>
          </a:prstGeom>
          <a:solidFill>
            <a:schemeClr val="tx1"/>
          </a:solidFill>
          <a:ln w="12700">
            <a:solidFill>
              <a:schemeClr val="tx1"/>
            </a:solidFill>
            <a:prstDash val="solid"/>
          </a:ln>
        </p:spPr>
      </p:sp>
      <p:sp>
        <p:nvSpPr>
          <p:cNvPr id="7" name="code"/>
          <p:cNvSpPr txBox="1"/>
          <p:nvPr/>
        </p:nvSpPr>
        <p:spPr>
          <a:xfrm>
            <a:off x="594360" y="1143000"/>
            <a:ext cx="4114800" cy="3383280"/>
          </a:xfrm>
          <a:prstGeom prst="rect">
            <a:avLst/>
          </a:prstGeom>
          <a:noFill/>
          <a:ln/>
        </p:spPr>
        <p:txBody>
          <a:bodyPr wrap="square" lIns="0" tIns="0" rIns="0" bIns="0" rtlCol="0" anchor="t"/>
          <a:lstStyle/>
          <a:p>
            <a:pPr indent="0" marL="0">
              <a:buNone/>
            </a:pPr>
            <a:r>
              <a:rPr lang="en-US" sz="950" dirty="0">
                <a:solidFill>
                  <a:srgbClr val="E2E8F0"/>
                </a:solidFill>
                <a:latin typeface="Courier New" pitchFamily="34" charset="0"/>
                <a:ea typeface="Courier New" pitchFamily="34" charset="-122"/>
                <a:cs typeface="Courier New" pitchFamily="34" charset="-120"/>
              </a:rPr>
              <a:t>services:</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mongodb:</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image: mongo:7</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ports:</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- 27017:27017</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environment:</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 MONGO_INITDB_ROOT_USERNAME=admin</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 MONGO_INITDB_ROOT_PASSWORD=password</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volumes:</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 mongo-data:/data/db      # volume-name : path-in-container</a:t>
            </a:r>
            <a:endParaRPr lang="en-US" sz="950" dirty="0"/>
          </a:p>
          <a:p>
            <a:pPr indent="0" marL="0">
              <a:buNone/>
            </a:pP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mongo-express:</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a:t>
            </a:r>
            <a:endParaRPr lang="en-US" sz="950" dirty="0"/>
          </a:p>
          <a:p>
            <a:pPr indent="0" marL="0">
              <a:buNone/>
            </a:pP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volumes:</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mongo-data:                    # declare it once here</a:t>
            </a:r>
            <a:endParaRPr lang="en-US" sz="950" dirty="0"/>
          </a:p>
          <a:p>
            <a:pPr indent="0" marL="0">
              <a:buNone/>
            </a:pPr>
            <a:r>
              <a:rPr lang="en-US" sz="950" dirty="0">
                <a:solidFill>
                  <a:srgbClr val="E2E8F0"/>
                </a:solidFill>
                <a:latin typeface="Courier New" pitchFamily="34" charset="0"/>
                <a:ea typeface="Courier New" pitchFamily="34" charset="-122"/>
                <a:cs typeface="Courier New" pitchFamily="34" charset="-120"/>
              </a:rPr>
              <a:t>    driver: local</a:t>
            </a:r>
            <a:endParaRPr lang="en-US" sz="950" dirty="0"/>
          </a:p>
        </p:txBody>
      </p:sp>
      <p:sp>
        <p:nvSpPr>
          <p:cNvPr id="8" name="box 1 · docker compose up -d"/>
          <p:cNvSpPr/>
          <p:nvPr/>
        </p:nvSpPr>
        <p:spPr>
          <a:xfrm>
            <a:off x="5029200" y="1097280"/>
            <a:ext cx="1783080" cy="457200"/>
          </a:xfrm>
          <a:prstGeom prst="roundRect">
            <a:avLst>
              <a:gd name="adj" fmla="val 16000"/>
            </a:avLst>
          </a:prstGeom>
          <a:solidFill>
            <a:schemeClr val="accent1"/>
          </a:solidFill>
          <a:ln w="12700">
            <a:solidFill>
              <a:schemeClr val="accent1"/>
            </a:solidFill>
            <a:prstDash val="solid"/>
          </a:ln>
        </p:spPr>
      </p:sp>
      <p:sp>
        <p:nvSpPr>
          <p:cNvPr id="9" name="box text 1 · docker compose up -d"/>
          <p:cNvSpPr txBox="1"/>
          <p:nvPr/>
        </p:nvSpPr>
        <p:spPr>
          <a:xfrm>
            <a:off x="5029200" y="1097280"/>
            <a:ext cx="1783080" cy="457200"/>
          </a:xfrm>
          <a:prstGeom prst="rect">
            <a:avLst/>
          </a:prstGeom>
          <a:noFill/>
          <a:ln/>
        </p:spPr>
        <p:txBody>
          <a:bodyPr wrap="square" lIns="381" tIns="381" rIns="381" bIns="381" rtlCol="0" anchor="ctr"/>
          <a:lstStyle/>
          <a:p>
            <a:pPr algn="ctr" indent="0" marL="0">
              <a:buNone/>
            </a:pPr>
            <a:r>
              <a:rPr lang="en-US" sz="1000" b="1" dirty="0">
                <a:solidFill>
                  <a:schemeClr val="bg1"/>
                </a:solidFill>
              </a:rPr>
              <a:t>1 · docker compose up -d</a:t>
            </a:r>
            <a:endParaRPr lang="en-US" sz="1000" dirty="0"/>
          </a:p>
        </p:txBody>
      </p:sp>
      <p:sp>
        <p:nvSpPr>
          <p:cNvPr id="10" name="box 2 · Save a profile in the app"/>
          <p:cNvSpPr/>
          <p:nvPr/>
        </p:nvSpPr>
        <p:spPr>
          <a:xfrm>
            <a:off x="6903720" y="1097280"/>
            <a:ext cx="1783080" cy="457200"/>
          </a:xfrm>
          <a:prstGeom prst="roundRect">
            <a:avLst>
              <a:gd name="adj" fmla="val 16000"/>
            </a:avLst>
          </a:prstGeom>
          <a:solidFill>
            <a:srgbClr val="E0F2FE"/>
          </a:solidFill>
          <a:ln w="12700">
            <a:solidFill>
              <a:srgbClr val="E0F2FE"/>
            </a:solidFill>
            <a:prstDash val="solid"/>
          </a:ln>
        </p:spPr>
      </p:sp>
      <p:sp>
        <p:nvSpPr>
          <p:cNvPr id="11" name="box text 2 · Save a profile in the app"/>
          <p:cNvSpPr txBox="1"/>
          <p:nvPr/>
        </p:nvSpPr>
        <p:spPr>
          <a:xfrm>
            <a:off x="6903720" y="1097280"/>
            <a:ext cx="1783080" cy="457200"/>
          </a:xfrm>
          <a:prstGeom prst="rect">
            <a:avLst/>
          </a:prstGeom>
          <a:noFill/>
          <a:ln/>
        </p:spPr>
        <p:txBody>
          <a:bodyPr wrap="square" lIns="381" tIns="381" rIns="381" bIns="381" rtlCol="0" anchor="ctr"/>
          <a:lstStyle/>
          <a:p>
            <a:pPr algn="ctr" indent="0" marL="0">
              <a:buNone/>
            </a:pPr>
            <a:r>
              <a:rPr lang="en-US" sz="1000" b="1" dirty="0">
                <a:solidFill>
                  <a:schemeClr val="tx1"/>
                </a:solidFill>
              </a:rPr>
              <a:t>2 · Save a profile in the app</a:t>
            </a:r>
            <a:endParaRPr lang="en-US" sz="1000" dirty="0"/>
          </a:p>
        </p:txBody>
      </p:sp>
      <p:sp>
        <p:nvSpPr>
          <p:cNvPr id="12" name="box 3 · docker compose down"/>
          <p:cNvSpPr/>
          <p:nvPr/>
        </p:nvSpPr>
        <p:spPr>
          <a:xfrm>
            <a:off x="5029200" y="1645920"/>
            <a:ext cx="1783080" cy="457200"/>
          </a:xfrm>
          <a:prstGeom prst="roundRect">
            <a:avLst>
              <a:gd name="adj" fmla="val 16000"/>
            </a:avLst>
          </a:prstGeom>
          <a:solidFill>
            <a:srgbClr val="E0F2FE"/>
          </a:solidFill>
          <a:ln w="12700">
            <a:solidFill>
              <a:srgbClr val="E0F2FE"/>
            </a:solidFill>
            <a:prstDash val="solid"/>
          </a:ln>
        </p:spPr>
      </p:sp>
      <p:sp>
        <p:nvSpPr>
          <p:cNvPr id="13" name="box text 3 · docker compose down"/>
          <p:cNvSpPr txBox="1"/>
          <p:nvPr/>
        </p:nvSpPr>
        <p:spPr>
          <a:xfrm>
            <a:off x="5029200" y="1645920"/>
            <a:ext cx="1783080" cy="457200"/>
          </a:xfrm>
          <a:prstGeom prst="rect">
            <a:avLst/>
          </a:prstGeom>
          <a:noFill/>
          <a:ln/>
        </p:spPr>
        <p:txBody>
          <a:bodyPr wrap="square" lIns="381" tIns="381" rIns="381" bIns="381" rtlCol="0" anchor="ctr"/>
          <a:lstStyle/>
          <a:p>
            <a:pPr algn="ctr" indent="0" marL="0">
              <a:buNone/>
            </a:pPr>
            <a:r>
              <a:rPr lang="en-US" sz="1000" b="1" dirty="0">
                <a:solidFill>
                  <a:schemeClr val="tx1"/>
                </a:solidFill>
              </a:rPr>
              <a:t>3 · docker compose down</a:t>
            </a:r>
            <a:endParaRPr lang="en-US" sz="1000" dirty="0"/>
          </a:p>
        </p:txBody>
      </p:sp>
      <p:sp>
        <p:nvSpPr>
          <p:cNvPr id="14" name="box 4 · up -d again → data still there"/>
          <p:cNvSpPr/>
          <p:nvPr/>
        </p:nvSpPr>
        <p:spPr>
          <a:xfrm>
            <a:off x="6903720" y="1645920"/>
            <a:ext cx="1783080" cy="457200"/>
          </a:xfrm>
          <a:prstGeom prst="roundRect">
            <a:avLst>
              <a:gd name="adj" fmla="val 16000"/>
            </a:avLst>
          </a:prstGeom>
          <a:solidFill>
            <a:schemeClr val="accent1"/>
          </a:solidFill>
          <a:ln w="12700">
            <a:solidFill>
              <a:schemeClr val="accent1"/>
            </a:solidFill>
            <a:prstDash val="solid"/>
          </a:ln>
        </p:spPr>
      </p:sp>
      <p:sp>
        <p:nvSpPr>
          <p:cNvPr id="15" name="box text 4 · up -d again → data still there"/>
          <p:cNvSpPr txBox="1"/>
          <p:nvPr/>
        </p:nvSpPr>
        <p:spPr>
          <a:xfrm>
            <a:off x="6903720" y="1645920"/>
            <a:ext cx="1783080" cy="457200"/>
          </a:xfrm>
          <a:prstGeom prst="rect">
            <a:avLst/>
          </a:prstGeom>
          <a:noFill/>
          <a:ln/>
        </p:spPr>
        <p:txBody>
          <a:bodyPr wrap="square" lIns="381" tIns="381" rIns="381" bIns="381" rtlCol="0" anchor="ctr"/>
          <a:lstStyle/>
          <a:p>
            <a:pPr algn="ctr" indent="0" marL="0">
              <a:buNone/>
            </a:pPr>
            <a:r>
              <a:rPr lang="en-US" sz="1000" b="1" dirty="0">
                <a:solidFill>
                  <a:schemeClr val="bg1"/>
                </a:solidFill>
              </a:rPr>
              <a:t>4 · up -d again → data still there</a:t>
            </a:r>
            <a:endParaRPr lang="en-US" sz="1000" dirty="0"/>
          </a:p>
        </p:txBody>
      </p:sp>
      <p:sp>
        <p:nvSpPr>
          <p:cNvPr id="16" name="Text 13"/>
          <p:cNvSpPr txBox="1"/>
          <p:nvPr/>
        </p:nvSpPr>
        <p:spPr>
          <a:xfrm>
            <a:off x="5029200" y="2286000"/>
            <a:ext cx="3657600" cy="228600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chemeClr val="tx1"/>
                </a:solidFill>
              </a:rPr>
              <a:t>Container path per image: Mongo /data/db, MySQL /var/lib/mysql, Postgres /var/lib/postgresql/data</a:t>
            </a:r>
            <a:endParaRPr lang="en-US" sz="1100" dirty="0"/>
          </a:p>
          <a:p>
            <a:pPr marL="342900" indent="-342900">
              <a:spcAft>
                <a:spcPts val="600"/>
              </a:spcAft>
              <a:buSzPct val="100000"/>
              <a:buChar char="•"/>
            </a:pPr>
            <a:r>
              <a:rPr lang="en-US" sz="1100" dirty="0">
                <a:solidFill>
                  <a:schemeClr val="tx1"/>
                </a:solidFill>
              </a:rPr>
              <a:t>docker volume ls  /  docker volume inspect mongo-data  → host path</a:t>
            </a:r>
            <a:endParaRPr lang="en-US" sz="1100" dirty="0"/>
          </a:p>
          <a:p>
            <a:pPr marL="342900" indent="-342900">
              <a:spcAft>
                <a:spcPts val="600"/>
              </a:spcAft>
              <a:buSzPct val="100000"/>
              <a:buChar char="•"/>
            </a:pPr>
            <a:r>
              <a:rPr lang="en-US" sz="1100" dirty="0">
                <a:solidFill>
                  <a:schemeClr val="tx1"/>
                </a:solidFill>
              </a:rPr>
              <a:t>docker compose down -v  deletes the volume: only when you mean it</a:t>
            </a:r>
            <a:endParaRPr lang="en-US" sz="11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Wrap up: what you can do now</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tx1"/>
          </a:solidFill>
          <a:ln w="12700">
            <a:solidFill>
              <a:schemeClr val="tx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WRAP-UP</a:t>
            </a:r>
            <a:endParaRPr lang="en-US" sz="900" dirty="0"/>
          </a:p>
        </p:txBody>
      </p:sp>
      <p:sp>
        <p:nvSpPr>
          <p:cNvPr id="6" name="flow circle 0"/>
          <p:cNvSpPr/>
          <p:nvPr/>
        </p:nvSpPr>
        <p:spPr>
          <a:xfrm>
            <a:off x="731520" y="1143000"/>
            <a:ext cx="685800" cy="685800"/>
          </a:xfrm>
          <a:prstGeom prst="ellipse">
            <a:avLst/>
          </a:prstGeom>
          <a:solidFill>
            <a:schemeClr val="accent1"/>
          </a:solidFill>
          <a:ln w="12700">
            <a:solidFill>
              <a:schemeClr val="accent1"/>
            </a:solidFill>
            <a:prstDash val="solid"/>
          </a:ln>
        </p:spPr>
      </p:sp>
      <p:pic>
        <p:nvPicPr>
          <p:cNvPr id="7" name="flow icon 0" descr="preencoded.png">    </p:cNvPr>
          <p:cNvPicPr>
            <a:picLocks noChangeAspect="1"/>
          </p:cNvPicPr>
          <p:nvPr/>
        </p:nvPicPr>
        <p:blipFill>
          <a:blip r:embed="rId1"/>
          <a:stretch>
            <a:fillRect/>
          </a:stretch>
        </p:blipFill>
        <p:spPr>
          <a:xfrm>
            <a:off x="891540" y="1303020"/>
            <a:ext cx="365760" cy="365760"/>
          </a:xfrm>
          <a:prstGeom prst="rect">
            <a:avLst/>
          </a:prstGeom>
        </p:spPr>
      </p:pic>
      <p:sp>
        <p:nvSpPr>
          <p:cNvPr id="8" name="Text 4"/>
          <p:cNvSpPr txBox="1"/>
          <p:nvPr/>
        </p:nvSpPr>
        <p:spPr>
          <a:xfrm>
            <a:off x="457200" y="1920240"/>
            <a:ext cx="1234440" cy="548640"/>
          </a:xfrm>
          <a:prstGeom prst="rect">
            <a:avLst/>
          </a:prstGeom>
          <a:noFill/>
          <a:ln/>
        </p:spPr>
        <p:txBody>
          <a:bodyPr wrap="square" lIns="0" tIns="0" rIns="0" bIns="0" rtlCol="0" anchor="t"/>
          <a:lstStyle/>
          <a:p>
            <a:pPr algn="ctr" indent="0" marL="0">
              <a:buNone/>
            </a:pPr>
            <a:r>
              <a:rPr lang="en-US" sz="1100" b="1" dirty="0">
                <a:solidFill>
                  <a:schemeClr val="tx1"/>
                </a:solidFill>
              </a:rPr>
              <a:t>Run any service</a:t>
            </a:r>
            <a:endParaRPr lang="en-US" sz="1100" dirty="0"/>
          </a:p>
          <a:p>
            <a:pPr algn="ctr" indent="0" marL="0">
              <a:buNone/>
            </a:pPr>
            <a:r>
              <a:rPr lang="en-US" sz="1100" b="1" dirty="0">
                <a:solidFill>
                  <a:schemeClr val="tx1"/>
                </a:solidFill>
              </a:rPr>
              <a:t>with docker run</a:t>
            </a:r>
            <a:endParaRPr lang="en-US" sz="1100" dirty="0"/>
          </a:p>
        </p:txBody>
      </p:sp>
      <p:sp>
        <p:nvSpPr>
          <p:cNvPr id="9" name="arrow"/>
          <p:cNvSpPr/>
          <p:nvPr/>
        </p:nvSpPr>
        <p:spPr>
          <a:xfrm>
            <a:off x="1463040" y="1481328"/>
            <a:ext cx="338328" cy="0"/>
          </a:xfrm>
          <a:prstGeom prst="line">
            <a:avLst/>
          </a:prstGeom>
          <a:noFill/>
          <a:ln w="19050">
            <a:solidFill>
              <a:srgbClr val="475569"/>
            </a:solidFill>
            <a:prstDash val="solid"/>
            <a:tailEnd type="triangle"/>
          </a:ln>
        </p:spPr>
      </p:sp>
      <p:sp>
        <p:nvSpPr>
          <p:cNvPr id="10" name="flow circle 1"/>
          <p:cNvSpPr/>
          <p:nvPr/>
        </p:nvSpPr>
        <p:spPr>
          <a:xfrm>
            <a:off x="2121408" y="1143000"/>
            <a:ext cx="685800" cy="685800"/>
          </a:xfrm>
          <a:prstGeom prst="ellipse">
            <a:avLst/>
          </a:prstGeom>
          <a:solidFill>
            <a:schemeClr val="accent1"/>
          </a:solidFill>
          <a:ln w="12700">
            <a:solidFill>
              <a:schemeClr val="accent1"/>
            </a:solidFill>
            <a:prstDash val="solid"/>
          </a:ln>
        </p:spPr>
      </p:sp>
      <p:pic>
        <p:nvPicPr>
          <p:cNvPr id="11" name="flow icon 1" descr="preencoded.png">    </p:cNvPr>
          <p:cNvPicPr>
            <a:picLocks noChangeAspect="1"/>
          </p:cNvPicPr>
          <p:nvPr/>
        </p:nvPicPr>
        <p:blipFill>
          <a:blip r:embed="rId2"/>
          <a:stretch>
            <a:fillRect/>
          </a:stretch>
        </p:blipFill>
        <p:spPr>
          <a:xfrm>
            <a:off x="2281428" y="1303020"/>
            <a:ext cx="365760" cy="365760"/>
          </a:xfrm>
          <a:prstGeom prst="rect">
            <a:avLst/>
          </a:prstGeom>
        </p:spPr>
      </p:pic>
      <p:sp>
        <p:nvSpPr>
          <p:cNvPr id="12" name="Text 7"/>
          <p:cNvSpPr txBox="1"/>
          <p:nvPr/>
        </p:nvSpPr>
        <p:spPr>
          <a:xfrm>
            <a:off x="1847088" y="1920240"/>
            <a:ext cx="1234440" cy="548640"/>
          </a:xfrm>
          <a:prstGeom prst="rect">
            <a:avLst/>
          </a:prstGeom>
          <a:noFill/>
          <a:ln/>
        </p:spPr>
        <p:txBody>
          <a:bodyPr wrap="square" lIns="0" tIns="0" rIns="0" bIns="0" rtlCol="0" anchor="t"/>
          <a:lstStyle/>
          <a:p>
            <a:pPr algn="ctr" indent="0" marL="0">
              <a:buNone/>
            </a:pPr>
            <a:r>
              <a:rPr lang="en-US" sz="1100" b="1" dirty="0">
                <a:solidFill>
                  <a:schemeClr val="tx1"/>
                </a:solidFill>
              </a:rPr>
              <a:t>Debug with</a:t>
            </a:r>
            <a:endParaRPr lang="en-US" sz="1100" dirty="0"/>
          </a:p>
          <a:p>
            <a:pPr algn="ctr" indent="0" marL="0">
              <a:buNone/>
            </a:pPr>
            <a:r>
              <a:rPr lang="en-US" sz="1100" b="1" dirty="0">
                <a:solidFill>
                  <a:schemeClr val="tx1"/>
                </a:solidFill>
              </a:rPr>
              <a:t>logs / exec</a:t>
            </a:r>
            <a:endParaRPr lang="en-US" sz="1100" dirty="0"/>
          </a:p>
        </p:txBody>
      </p:sp>
      <p:sp>
        <p:nvSpPr>
          <p:cNvPr id="13" name="arrow"/>
          <p:cNvSpPr/>
          <p:nvPr/>
        </p:nvSpPr>
        <p:spPr>
          <a:xfrm>
            <a:off x="2852928" y="1481328"/>
            <a:ext cx="338328" cy="0"/>
          </a:xfrm>
          <a:prstGeom prst="line">
            <a:avLst/>
          </a:prstGeom>
          <a:noFill/>
          <a:ln w="19050">
            <a:solidFill>
              <a:srgbClr val="475569"/>
            </a:solidFill>
            <a:prstDash val="solid"/>
            <a:tailEnd type="triangle"/>
          </a:ln>
        </p:spPr>
      </p:sp>
      <p:sp>
        <p:nvSpPr>
          <p:cNvPr id="14" name="flow circle 2"/>
          <p:cNvSpPr/>
          <p:nvPr/>
        </p:nvSpPr>
        <p:spPr>
          <a:xfrm>
            <a:off x="3511296" y="1143000"/>
            <a:ext cx="685800" cy="685800"/>
          </a:xfrm>
          <a:prstGeom prst="ellipse">
            <a:avLst/>
          </a:prstGeom>
          <a:solidFill>
            <a:schemeClr val="accent1"/>
          </a:solidFill>
          <a:ln w="12700">
            <a:solidFill>
              <a:schemeClr val="accent1"/>
            </a:solidFill>
            <a:prstDash val="solid"/>
          </a:ln>
        </p:spPr>
      </p:sp>
      <p:pic>
        <p:nvPicPr>
          <p:cNvPr id="15" name="flow icon 2" descr="preencoded.png">    </p:cNvPr>
          <p:cNvPicPr>
            <a:picLocks noChangeAspect="1"/>
          </p:cNvPicPr>
          <p:nvPr/>
        </p:nvPicPr>
        <p:blipFill>
          <a:blip r:embed="rId3"/>
          <a:stretch>
            <a:fillRect/>
          </a:stretch>
        </p:blipFill>
        <p:spPr>
          <a:xfrm>
            <a:off x="3671316" y="1303020"/>
            <a:ext cx="365760" cy="365760"/>
          </a:xfrm>
          <a:prstGeom prst="rect">
            <a:avLst/>
          </a:prstGeom>
        </p:spPr>
      </p:pic>
      <p:sp>
        <p:nvSpPr>
          <p:cNvPr id="16" name="Text 10"/>
          <p:cNvSpPr txBox="1"/>
          <p:nvPr/>
        </p:nvSpPr>
        <p:spPr>
          <a:xfrm>
            <a:off x="3236976" y="1920240"/>
            <a:ext cx="1234440" cy="548640"/>
          </a:xfrm>
          <a:prstGeom prst="rect">
            <a:avLst/>
          </a:prstGeom>
          <a:noFill/>
          <a:ln/>
        </p:spPr>
        <p:txBody>
          <a:bodyPr wrap="square" lIns="0" tIns="0" rIns="0" bIns="0" rtlCol="0" anchor="t"/>
          <a:lstStyle/>
          <a:p>
            <a:pPr algn="ctr" indent="0" marL="0">
              <a:buNone/>
            </a:pPr>
            <a:r>
              <a:rPr lang="en-US" sz="1100" b="1" dirty="0">
                <a:solidFill>
                  <a:schemeClr val="tx1"/>
                </a:solidFill>
              </a:rPr>
              <a:t>Compose a</a:t>
            </a:r>
            <a:endParaRPr lang="en-US" sz="1100" dirty="0"/>
          </a:p>
          <a:p>
            <a:pPr algn="ctr" indent="0" marL="0">
              <a:buNone/>
            </a:pPr>
            <a:r>
              <a:rPr lang="en-US" sz="1100" b="1" dirty="0">
                <a:solidFill>
                  <a:schemeClr val="tx1"/>
                </a:solidFill>
              </a:rPr>
              <a:t>multi-service app</a:t>
            </a:r>
            <a:endParaRPr lang="en-US" sz="1100" dirty="0"/>
          </a:p>
        </p:txBody>
      </p:sp>
      <p:sp>
        <p:nvSpPr>
          <p:cNvPr id="17" name="arrow"/>
          <p:cNvSpPr/>
          <p:nvPr/>
        </p:nvSpPr>
        <p:spPr>
          <a:xfrm>
            <a:off x="4242816" y="1481328"/>
            <a:ext cx="338328" cy="0"/>
          </a:xfrm>
          <a:prstGeom prst="line">
            <a:avLst/>
          </a:prstGeom>
          <a:noFill/>
          <a:ln w="19050">
            <a:solidFill>
              <a:srgbClr val="475569"/>
            </a:solidFill>
            <a:prstDash val="solid"/>
            <a:tailEnd type="triangle"/>
          </a:ln>
        </p:spPr>
      </p:sp>
      <p:sp>
        <p:nvSpPr>
          <p:cNvPr id="18" name="flow circle 3"/>
          <p:cNvSpPr/>
          <p:nvPr/>
        </p:nvSpPr>
        <p:spPr>
          <a:xfrm>
            <a:off x="4901184" y="1143000"/>
            <a:ext cx="685800" cy="685800"/>
          </a:xfrm>
          <a:prstGeom prst="ellipse">
            <a:avLst/>
          </a:prstGeom>
          <a:solidFill>
            <a:schemeClr val="accent1"/>
          </a:solidFill>
          <a:ln w="12700">
            <a:solidFill>
              <a:schemeClr val="accent1"/>
            </a:solidFill>
            <a:prstDash val="solid"/>
          </a:ln>
        </p:spPr>
      </p:sp>
      <p:pic>
        <p:nvPicPr>
          <p:cNvPr id="19" name="flow icon 3" descr="preencoded.png">    </p:cNvPr>
          <p:cNvPicPr>
            <a:picLocks noChangeAspect="1"/>
          </p:cNvPicPr>
          <p:nvPr/>
        </p:nvPicPr>
        <p:blipFill>
          <a:blip r:embed="rId4"/>
          <a:stretch>
            <a:fillRect/>
          </a:stretch>
        </p:blipFill>
        <p:spPr>
          <a:xfrm>
            <a:off x="5061204" y="1303020"/>
            <a:ext cx="365760" cy="365760"/>
          </a:xfrm>
          <a:prstGeom prst="rect">
            <a:avLst/>
          </a:prstGeom>
        </p:spPr>
      </p:pic>
      <p:sp>
        <p:nvSpPr>
          <p:cNvPr id="20" name="Text 13"/>
          <p:cNvSpPr txBox="1"/>
          <p:nvPr/>
        </p:nvSpPr>
        <p:spPr>
          <a:xfrm>
            <a:off x="4626864" y="1920240"/>
            <a:ext cx="1234440" cy="548640"/>
          </a:xfrm>
          <a:prstGeom prst="rect">
            <a:avLst/>
          </a:prstGeom>
          <a:noFill/>
          <a:ln/>
        </p:spPr>
        <p:txBody>
          <a:bodyPr wrap="square" lIns="0" tIns="0" rIns="0" bIns="0" rtlCol="0" anchor="t"/>
          <a:lstStyle/>
          <a:p>
            <a:pPr algn="ctr" indent="0" marL="0">
              <a:buNone/>
            </a:pPr>
            <a:r>
              <a:rPr lang="en-US" sz="1100" b="1" dirty="0">
                <a:solidFill>
                  <a:schemeClr val="tx1"/>
                </a:solidFill>
              </a:rPr>
              <a:t>Build your own</a:t>
            </a:r>
            <a:endParaRPr lang="en-US" sz="1100" dirty="0"/>
          </a:p>
          <a:p>
            <a:pPr algn="ctr" indent="0" marL="0">
              <a:buNone/>
            </a:pPr>
            <a:r>
              <a:rPr lang="en-US" sz="1100" b="1" dirty="0">
                <a:solidFill>
                  <a:schemeClr val="tx1"/>
                </a:solidFill>
              </a:rPr>
              <a:t>image (Dockerfile)</a:t>
            </a:r>
            <a:endParaRPr lang="en-US" sz="1100" dirty="0"/>
          </a:p>
        </p:txBody>
      </p:sp>
      <p:sp>
        <p:nvSpPr>
          <p:cNvPr id="21" name="arrow"/>
          <p:cNvSpPr/>
          <p:nvPr/>
        </p:nvSpPr>
        <p:spPr>
          <a:xfrm>
            <a:off x="5632704" y="1481328"/>
            <a:ext cx="338328" cy="0"/>
          </a:xfrm>
          <a:prstGeom prst="line">
            <a:avLst/>
          </a:prstGeom>
          <a:noFill/>
          <a:ln w="19050">
            <a:solidFill>
              <a:srgbClr val="475569"/>
            </a:solidFill>
            <a:prstDash val="solid"/>
            <a:tailEnd type="triangle"/>
          </a:ln>
        </p:spPr>
      </p:sp>
      <p:sp>
        <p:nvSpPr>
          <p:cNvPr id="22" name="flow circle 4"/>
          <p:cNvSpPr/>
          <p:nvPr/>
        </p:nvSpPr>
        <p:spPr>
          <a:xfrm>
            <a:off x="6291072" y="1143000"/>
            <a:ext cx="685800" cy="685800"/>
          </a:xfrm>
          <a:prstGeom prst="ellipse">
            <a:avLst/>
          </a:prstGeom>
          <a:solidFill>
            <a:schemeClr val="accent1"/>
          </a:solidFill>
          <a:ln w="12700">
            <a:solidFill>
              <a:schemeClr val="accent1"/>
            </a:solidFill>
            <a:prstDash val="solid"/>
          </a:ln>
        </p:spPr>
      </p:sp>
      <p:pic>
        <p:nvPicPr>
          <p:cNvPr id="23" name="flow icon 4" descr="preencoded.png">    </p:cNvPr>
          <p:cNvPicPr>
            <a:picLocks noChangeAspect="1"/>
          </p:cNvPicPr>
          <p:nvPr/>
        </p:nvPicPr>
        <p:blipFill>
          <a:blip r:embed="rId5"/>
          <a:stretch>
            <a:fillRect/>
          </a:stretch>
        </p:blipFill>
        <p:spPr>
          <a:xfrm>
            <a:off x="6451092" y="1303020"/>
            <a:ext cx="365760" cy="365760"/>
          </a:xfrm>
          <a:prstGeom prst="rect">
            <a:avLst/>
          </a:prstGeom>
        </p:spPr>
      </p:pic>
      <p:sp>
        <p:nvSpPr>
          <p:cNvPr id="24" name="Text 16"/>
          <p:cNvSpPr txBox="1"/>
          <p:nvPr/>
        </p:nvSpPr>
        <p:spPr>
          <a:xfrm>
            <a:off x="6016752" y="1920240"/>
            <a:ext cx="1234440" cy="548640"/>
          </a:xfrm>
          <a:prstGeom prst="rect">
            <a:avLst/>
          </a:prstGeom>
          <a:noFill/>
          <a:ln/>
        </p:spPr>
        <p:txBody>
          <a:bodyPr wrap="square" lIns="0" tIns="0" rIns="0" bIns="0" rtlCol="0" anchor="t"/>
          <a:lstStyle/>
          <a:p>
            <a:pPr algn="ctr" indent="0" marL="0">
              <a:buNone/>
            </a:pPr>
            <a:r>
              <a:rPr lang="en-US" sz="1100" b="1" dirty="0">
                <a:solidFill>
                  <a:schemeClr val="tx1"/>
                </a:solidFill>
              </a:rPr>
              <a:t>Push to a</a:t>
            </a:r>
            <a:endParaRPr lang="en-US" sz="1100" dirty="0"/>
          </a:p>
          <a:p>
            <a:pPr algn="ctr" indent="0" marL="0">
              <a:buNone/>
            </a:pPr>
            <a:r>
              <a:rPr lang="en-US" sz="1100" b="1" dirty="0">
                <a:solidFill>
                  <a:schemeClr val="tx1"/>
                </a:solidFill>
              </a:rPr>
              <a:t>private registry</a:t>
            </a:r>
            <a:endParaRPr lang="en-US" sz="1100" dirty="0"/>
          </a:p>
        </p:txBody>
      </p:sp>
      <p:sp>
        <p:nvSpPr>
          <p:cNvPr id="25" name="arrow"/>
          <p:cNvSpPr/>
          <p:nvPr/>
        </p:nvSpPr>
        <p:spPr>
          <a:xfrm>
            <a:off x="7022592" y="1481328"/>
            <a:ext cx="338328" cy="0"/>
          </a:xfrm>
          <a:prstGeom prst="line">
            <a:avLst/>
          </a:prstGeom>
          <a:noFill/>
          <a:ln w="19050">
            <a:solidFill>
              <a:srgbClr val="475569"/>
            </a:solidFill>
            <a:prstDash val="solid"/>
            <a:tailEnd type="triangle"/>
          </a:ln>
        </p:spPr>
      </p:sp>
      <p:sp>
        <p:nvSpPr>
          <p:cNvPr id="26" name="flow circle 5"/>
          <p:cNvSpPr/>
          <p:nvPr/>
        </p:nvSpPr>
        <p:spPr>
          <a:xfrm>
            <a:off x="7680960" y="1143000"/>
            <a:ext cx="685800" cy="685800"/>
          </a:xfrm>
          <a:prstGeom prst="ellipse">
            <a:avLst/>
          </a:prstGeom>
          <a:solidFill>
            <a:schemeClr val="accent1"/>
          </a:solidFill>
          <a:ln w="12700">
            <a:solidFill>
              <a:schemeClr val="accent1"/>
            </a:solidFill>
            <a:prstDash val="solid"/>
          </a:ln>
        </p:spPr>
      </p:sp>
      <p:pic>
        <p:nvPicPr>
          <p:cNvPr id="27" name="flow icon 5" descr="preencoded.png">    </p:cNvPr>
          <p:cNvPicPr>
            <a:picLocks noChangeAspect="1"/>
          </p:cNvPicPr>
          <p:nvPr/>
        </p:nvPicPr>
        <p:blipFill>
          <a:blip r:embed="rId6"/>
          <a:stretch>
            <a:fillRect/>
          </a:stretch>
        </p:blipFill>
        <p:spPr>
          <a:xfrm>
            <a:off x="7840980" y="1303020"/>
            <a:ext cx="365760" cy="365760"/>
          </a:xfrm>
          <a:prstGeom prst="rect">
            <a:avLst/>
          </a:prstGeom>
        </p:spPr>
      </p:pic>
      <p:sp>
        <p:nvSpPr>
          <p:cNvPr id="28" name="Text 19"/>
          <p:cNvSpPr txBox="1"/>
          <p:nvPr/>
        </p:nvSpPr>
        <p:spPr>
          <a:xfrm>
            <a:off x="7406640" y="1920240"/>
            <a:ext cx="1234440" cy="548640"/>
          </a:xfrm>
          <a:prstGeom prst="rect">
            <a:avLst/>
          </a:prstGeom>
          <a:noFill/>
          <a:ln/>
        </p:spPr>
        <p:txBody>
          <a:bodyPr wrap="square" lIns="0" tIns="0" rIns="0" bIns="0" rtlCol="0" anchor="t"/>
          <a:lstStyle/>
          <a:p>
            <a:pPr algn="ctr" indent="0" marL="0">
              <a:buNone/>
            </a:pPr>
            <a:r>
              <a:rPr lang="en-US" sz="1100" b="1" dirty="0">
                <a:solidFill>
                  <a:schemeClr val="tx1"/>
                </a:solidFill>
              </a:rPr>
              <a:t>Deploy + persist</a:t>
            </a:r>
            <a:endParaRPr lang="en-US" sz="1100" dirty="0"/>
          </a:p>
          <a:p>
            <a:pPr algn="ctr" indent="0" marL="0">
              <a:buNone/>
            </a:pPr>
            <a:r>
              <a:rPr lang="en-US" sz="1100" b="1" dirty="0">
                <a:solidFill>
                  <a:schemeClr val="tx1"/>
                </a:solidFill>
              </a:rPr>
              <a:t>with volumes</a:t>
            </a:r>
            <a:endParaRPr lang="en-US" sz="1100" dirty="0"/>
          </a:p>
        </p:txBody>
      </p:sp>
      <p:sp>
        <p:nvSpPr>
          <p:cNvPr id="29" name="recap 0"/>
          <p:cNvSpPr/>
          <p:nvPr/>
        </p:nvSpPr>
        <p:spPr>
          <a:xfrm>
            <a:off x="457200" y="2743200"/>
            <a:ext cx="4023360" cy="731520"/>
          </a:xfrm>
          <a:prstGeom prst="roundRect">
            <a:avLst>
              <a:gd name="adj" fmla="val 12500"/>
            </a:avLst>
          </a:prstGeom>
          <a:solidFill>
            <a:srgbClr val="E0F2FE"/>
          </a:solidFill>
          <a:ln w="12700">
            <a:solidFill>
              <a:srgbClr val="E0F2FE"/>
            </a:solidFill>
            <a:prstDash val="solid"/>
          </a:ln>
        </p:spPr>
      </p:sp>
      <p:sp>
        <p:nvSpPr>
          <p:cNvPr id="30" name="recap circle 0"/>
          <p:cNvSpPr/>
          <p:nvPr/>
        </p:nvSpPr>
        <p:spPr>
          <a:xfrm>
            <a:off x="594360" y="2880360"/>
            <a:ext cx="457200" cy="457200"/>
          </a:xfrm>
          <a:prstGeom prst="ellipse">
            <a:avLst/>
          </a:prstGeom>
          <a:solidFill>
            <a:schemeClr val="accent1"/>
          </a:solidFill>
          <a:ln w="12700">
            <a:solidFill>
              <a:schemeClr val="accent1"/>
            </a:solidFill>
            <a:prstDash val="solid"/>
          </a:ln>
        </p:spPr>
      </p:sp>
      <p:pic>
        <p:nvPicPr>
          <p:cNvPr id="31" name="recap icon 0" descr="preencoded.png">    </p:cNvPr>
          <p:cNvPicPr>
            <a:picLocks noChangeAspect="1"/>
          </p:cNvPicPr>
          <p:nvPr/>
        </p:nvPicPr>
        <p:blipFill>
          <a:blip r:embed="rId7"/>
          <a:stretch>
            <a:fillRect/>
          </a:stretch>
        </p:blipFill>
        <p:spPr>
          <a:xfrm>
            <a:off x="685800" y="2971800"/>
            <a:ext cx="274320" cy="274320"/>
          </a:xfrm>
          <a:prstGeom prst="rect">
            <a:avLst/>
          </a:prstGeom>
        </p:spPr>
      </p:pic>
      <p:sp>
        <p:nvSpPr>
          <p:cNvPr id="32" name="Text 22"/>
          <p:cNvSpPr txBox="1"/>
          <p:nvPr/>
        </p:nvSpPr>
        <p:spPr>
          <a:xfrm>
            <a:off x="1188720" y="2743200"/>
            <a:ext cx="3200400" cy="731520"/>
          </a:xfrm>
          <a:prstGeom prst="rect">
            <a:avLst/>
          </a:prstGeom>
          <a:noFill/>
          <a:ln/>
        </p:spPr>
        <p:txBody>
          <a:bodyPr wrap="square" lIns="0" tIns="0" rIns="0" bIns="0" rtlCol="0" anchor="ctr"/>
          <a:lstStyle/>
          <a:p>
            <a:pPr indent="0" marL="0">
              <a:buNone/>
            </a:pPr>
            <a:r>
              <a:rPr lang="en-US" sz="1200" b="1" dirty="0">
                <a:solidFill>
                  <a:schemeClr val="tx1"/>
                </a:solidFill>
              </a:rPr>
              <a:t>Image = package, container = running instance</a:t>
            </a:r>
            <a:endParaRPr lang="en-US" sz="1200" dirty="0"/>
          </a:p>
        </p:txBody>
      </p:sp>
      <p:sp>
        <p:nvSpPr>
          <p:cNvPr id="33" name="recap 1"/>
          <p:cNvSpPr/>
          <p:nvPr/>
        </p:nvSpPr>
        <p:spPr>
          <a:xfrm>
            <a:off x="4663440" y="2743200"/>
            <a:ext cx="4023360" cy="731520"/>
          </a:xfrm>
          <a:prstGeom prst="roundRect">
            <a:avLst>
              <a:gd name="adj" fmla="val 12500"/>
            </a:avLst>
          </a:prstGeom>
          <a:solidFill>
            <a:srgbClr val="E0F2FE"/>
          </a:solidFill>
          <a:ln w="12700">
            <a:solidFill>
              <a:srgbClr val="E0F2FE"/>
            </a:solidFill>
            <a:prstDash val="solid"/>
          </a:ln>
        </p:spPr>
      </p:sp>
      <p:sp>
        <p:nvSpPr>
          <p:cNvPr id="34" name="recap circle 1"/>
          <p:cNvSpPr/>
          <p:nvPr/>
        </p:nvSpPr>
        <p:spPr>
          <a:xfrm>
            <a:off x="4800600" y="2880360"/>
            <a:ext cx="457200" cy="457200"/>
          </a:xfrm>
          <a:prstGeom prst="ellipse">
            <a:avLst/>
          </a:prstGeom>
          <a:solidFill>
            <a:schemeClr val="accent1"/>
          </a:solidFill>
          <a:ln w="12700">
            <a:solidFill>
              <a:schemeClr val="accent1"/>
            </a:solidFill>
            <a:prstDash val="solid"/>
          </a:ln>
        </p:spPr>
      </p:sp>
      <p:pic>
        <p:nvPicPr>
          <p:cNvPr id="35" name="recap icon 1" descr="preencoded.png">    </p:cNvPr>
          <p:cNvPicPr>
            <a:picLocks noChangeAspect="1"/>
          </p:cNvPicPr>
          <p:nvPr/>
        </p:nvPicPr>
        <p:blipFill>
          <a:blip r:embed="rId8"/>
          <a:stretch>
            <a:fillRect/>
          </a:stretch>
        </p:blipFill>
        <p:spPr>
          <a:xfrm>
            <a:off x="4892040" y="2971800"/>
            <a:ext cx="274320" cy="274320"/>
          </a:xfrm>
          <a:prstGeom prst="rect">
            <a:avLst/>
          </a:prstGeom>
        </p:spPr>
      </p:pic>
      <p:sp>
        <p:nvSpPr>
          <p:cNvPr id="36" name="Text 25"/>
          <p:cNvSpPr txBox="1"/>
          <p:nvPr/>
        </p:nvSpPr>
        <p:spPr>
          <a:xfrm>
            <a:off x="5394960" y="2743200"/>
            <a:ext cx="3200400" cy="731520"/>
          </a:xfrm>
          <a:prstGeom prst="rect">
            <a:avLst/>
          </a:prstGeom>
          <a:noFill/>
          <a:ln/>
        </p:spPr>
        <p:txBody>
          <a:bodyPr wrap="square" lIns="0" tIns="0" rIns="0" bIns="0" rtlCol="0" anchor="ctr"/>
          <a:lstStyle/>
          <a:p>
            <a:pPr indent="0" marL="0">
              <a:buNone/>
            </a:pPr>
            <a:r>
              <a:rPr lang="en-US" sz="1200" b="1" dirty="0">
                <a:solidFill>
                  <a:schemeClr val="tx1"/>
                </a:solidFill>
              </a:rPr>
              <a:t>Inside a container, localhost is the container; use service names</a:t>
            </a:r>
            <a:endParaRPr lang="en-US" sz="1200" dirty="0"/>
          </a:p>
        </p:txBody>
      </p:sp>
      <p:sp>
        <p:nvSpPr>
          <p:cNvPr id="37" name="recap 2"/>
          <p:cNvSpPr/>
          <p:nvPr/>
        </p:nvSpPr>
        <p:spPr>
          <a:xfrm>
            <a:off x="457200" y="3611880"/>
            <a:ext cx="4023360" cy="731520"/>
          </a:xfrm>
          <a:prstGeom prst="roundRect">
            <a:avLst>
              <a:gd name="adj" fmla="val 12500"/>
            </a:avLst>
          </a:prstGeom>
          <a:solidFill>
            <a:srgbClr val="E0F2FE"/>
          </a:solidFill>
          <a:ln w="12700">
            <a:solidFill>
              <a:srgbClr val="E0F2FE"/>
            </a:solidFill>
            <a:prstDash val="solid"/>
          </a:ln>
        </p:spPr>
      </p:sp>
      <p:sp>
        <p:nvSpPr>
          <p:cNvPr id="38" name="recap circle 2"/>
          <p:cNvSpPr/>
          <p:nvPr/>
        </p:nvSpPr>
        <p:spPr>
          <a:xfrm>
            <a:off x="594360" y="3749040"/>
            <a:ext cx="457200" cy="457200"/>
          </a:xfrm>
          <a:prstGeom prst="ellipse">
            <a:avLst/>
          </a:prstGeom>
          <a:solidFill>
            <a:schemeClr val="accent1"/>
          </a:solidFill>
          <a:ln w="12700">
            <a:solidFill>
              <a:schemeClr val="accent1"/>
            </a:solidFill>
            <a:prstDash val="solid"/>
          </a:ln>
        </p:spPr>
      </p:sp>
      <p:pic>
        <p:nvPicPr>
          <p:cNvPr id="39" name="recap icon 2" descr="preencoded.png">    </p:cNvPr>
          <p:cNvPicPr>
            <a:picLocks noChangeAspect="1"/>
          </p:cNvPicPr>
          <p:nvPr/>
        </p:nvPicPr>
        <p:blipFill>
          <a:blip r:embed="rId9"/>
          <a:stretch>
            <a:fillRect/>
          </a:stretch>
        </p:blipFill>
        <p:spPr>
          <a:xfrm>
            <a:off x="685800" y="3840480"/>
            <a:ext cx="274320" cy="274320"/>
          </a:xfrm>
          <a:prstGeom prst="rect">
            <a:avLst/>
          </a:prstGeom>
        </p:spPr>
      </p:pic>
      <p:sp>
        <p:nvSpPr>
          <p:cNvPr id="40" name="Text 28"/>
          <p:cNvSpPr txBox="1"/>
          <p:nvPr/>
        </p:nvSpPr>
        <p:spPr>
          <a:xfrm>
            <a:off x="1188720" y="3611880"/>
            <a:ext cx="3200400" cy="731520"/>
          </a:xfrm>
          <a:prstGeom prst="rect">
            <a:avLst/>
          </a:prstGeom>
          <a:noFill/>
          <a:ln/>
        </p:spPr>
        <p:txBody>
          <a:bodyPr wrap="square" lIns="0" tIns="0" rIns="0" bIns="0" rtlCol="0" anchor="ctr"/>
          <a:lstStyle/>
          <a:p>
            <a:pPr indent="0" marL="0">
              <a:buNone/>
            </a:pPr>
            <a:r>
              <a:rPr lang="en-US" sz="1200" b="1" dirty="0">
                <a:solidFill>
                  <a:schemeClr val="tx1"/>
                </a:solidFill>
              </a:rPr>
              <a:t>RUN is build time, CMD is run time</a:t>
            </a:r>
            <a:endParaRPr lang="en-US" sz="1200" dirty="0"/>
          </a:p>
        </p:txBody>
      </p:sp>
      <p:sp>
        <p:nvSpPr>
          <p:cNvPr id="41" name="recap 3"/>
          <p:cNvSpPr/>
          <p:nvPr/>
        </p:nvSpPr>
        <p:spPr>
          <a:xfrm>
            <a:off x="4663440" y="3611880"/>
            <a:ext cx="4023360" cy="731520"/>
          </a:xfrm>
          <a:prstGeom prst="roundRect">
            <a:avLst>
              <a:gd name="adj" fmla="val 12500"/>
            </a:avLst>
          </a:prstGeom>
          <a:solidFill>
            <a:srgbClr val="E0F2FE"/>
          </a:solidFill>
          <a:ln w="12700">
            <a:solidFill>
              <a:srgbClr val="E0F2FE"/>
            </a:solidFill>
            <a:prstDash val="solid"/>
          </a:ln>
        </p:spPr>
      </p:sp>
      <p:sp>
        <p:nvSpPr>
          <p:cNvPr id="42" name="recap circle 3"/>
          <p:cNvSpPr/>
          <p:nvPr/>
        </p:nvSpPr>
        <p:spPr>
          <a:xfrm>
            <a:off x="4800600" y="3749040"/>
            <a:ext cx="457200" cy="457200"/>
          </a:xfrm>
          <a:prstGeom prst="ellipse">
            <a:avLst/>
          </a:prstGeom>
          <a:solidFill>
            <a:schemeClr val="accent1"/>
          </a:solidFill>
          <a:ln w="12700">
            <a:solidFill>
              <a:schemeClr val="accent1"/>
            </a:solidFill>
            <a:prstDash val="solid"/>
          </a:ln>
        </p:spPr>
      </p:sp>
      <p:pic>
        <p:nvPicPr>
          <p:cNvPr id="43" name="recap icon 3" descr="preencoded.png">    </p:cNvPr>
          <p:cNvPicPr>
            <a:picLocks noChangeAspect="1"/>
          </p:cNvPicPr>
          <p:nvPr/>
        </p:nvPicPr>
        <p:blipFill>
          <a:blip r:embed="rId10"/>
          <a:stretch>
            <a:fillRect/>
          </a:stretch>
        </p:blipFill>
        <p:spPr>
          <a:xfrm>
            <a:off x="4892040" y="3840480"/>
            <a:ext cx="274320" cy="274320"/>
          </a:xfrm>
          <a:prstGeom prst="rect">
            <a:avLst/>
          </a:prstGeom>
        </p:spPr>
      </p:pic>
      <p:sp>
        <p:nvSpPr>
          <p:cNvPr id="44" name="Text 31"/>
          <p:cNvSpPr txBox="1"/>
          <p:nvPr/>
        </p:nvSpPr>
        <p:spPr>
          <a:xfrm>
            <a:off x="5394960" y="3611880"/>
            <a:ext cx="3200400" cy="731520"/>
          </a:xfrm>
          <a:prstGeom prst="rect">
            <a:avLst/>
          </a:prstGeom>
          <a:noFill/>
          <a:ln/>
        </p:spPr>
        <p:txBody>
          <a:bodyPr wrap="square" lIns="0" tIns="0" rIns="0" bIns="0" rtlCol="0" anchor="ctr"/>
          <a:lstStyle/>
          <a:p>
            <a:pPr indent="0" marL="0">
              <a:buNone/>
            </a:pPr>
            <a:r>
              <a:rPr lang="en-US" sz="1200" b="1" dirty="0">
                <a:solidFill>
                  <a:schemeClr val="tx1"/>
                </a:solidFill>
              </a:rPr>
              <a:t>Containers are disposable; data goes in volumes</a:t>
            </a:r>
            <a:endParaRPr lang="en-US" sz="12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6858000" cy="640080"/>
          </a:xfrm>
          <a:prstGeom prst="rect">
            <a:avLst/>
          </a:prstGeom>
          <a:noFill/>
          <a:ln/>
        </p:spPr>
        <p:txBody>
          <a:bodyPr wrap="square" lIns="0" tIns="0" rIns="0" bIns="0" rtlCol="0" anchor="ctr"/>
          <a:lstStyle/>
          <a:p>
            <a:pPr algn="l" indent="0" marL="0">
              <a:buNone/>
            </a:pPr>
            <a:r>
              <a:rPr lang="en-US" sz="2800" b="1" dirty="0">
                <a:solidFill>
                  <a:srgbClr val="0F172A"/>
                </a:solidFill>
              </a:rPr>
              <a:t>Where to go next</a:t>
            </a:r>
            <a:endParaRPr lang="en-US" sz="2800" dirty="0"/>
          </a:p>
        </p:txBody>
      </p:sp>
      <p:sp>
        <p:nvSpPr>
          <p:cNvPr id="4" name="topic chip"/>
          <p:cNvSpPr/>
          <p:nvPr/>
        </p:nvSpPr>
        <p:spPr>
          <a:xfrm>
            <a:off x="7498080" y="384048"/>
            <a:ext cx="1188720" cy="329184"/>
          </a:xfrm>
          <a:prstGeom prst="roundRect">
            <a:avLst>
              <a:gd name="adj" fmla="val 50000"/>
            </a:avLst>
          </a:prstGeom>
          <a:solidFill>
            <a:schemeClr val="tx1"/>
          </a:solidFill>
          <a:ln w="12700">
            <a:solidFill>
              <a:schemeClr val="tx1"/>
            </a:solidFill>
            <a:prstDash val="solid"/>
          </a:ln>
        </p:spPr>
      </p:sp>
      <p:sp>
        <p:nvSpPr>
          <p:cNvPr id="5" name="topic chip text"/>
          <p:cNvSpPr txBox="1"/>
          <p:nvPr/>
        </p:nvSpPr>
        <p:spPr>
          <a:xfrm>
            <a:off x="7498080" y="384048"/>
            <a:ext cx="1188720" cy="329184"/>
          </a:xfrm>
          <a:prstGeom prst="rect">
            <a:avLst/>
          </a:prstGeom>
          <a:noFill/>
          <a:ln/>
        </p:spPr>
        <p:txBody>
          <a:bodyPr wrap="square" lIns="0" tIns="0" rIns="0" bIns="0" rtlCol="0" anchor="ctr"/>
          <a:lstStyle/>
          <a:p>
            <a:pPr algn="ctr" indent="0" marL="0">
              <a:buNone/>
            </a:pPr>
            <a:r>
              <a:rPr lang="en-US" sz="900" b="1" spc="100" kern="0" dirty="0">
                <a:solidFill>
                  <a:schemeClr val="bg1"/>
                </a:solidFill>
              </a:rPr>
              <a:t>WRAP-UP</a:t>
            </a:r>
            <a:endParaRPr lang="en-US" sz="900" dirty="0"/>
          </a:p>
        </p:txBody>
      </p:sp>
      <p:sp>
        <p:nvSpPr>
          <p:cNvPr id="6" name="Better images card"/>
          <p:cNvSpPr/>
          <p:nvPr/>
        </p:nvSpPr>
        <p:spPr>
          <a:xfrm>
            <a:off x="457200" y="1097280"/>
            <a:ext cx="2606040" cy="3291840"/>
          </a:xfrm>
          <a:prstGeom prst="roundRect">
            <a:avLst>
              <a:gd name="adj" fmla="val 4211"/>
            </a:avLst>
          </a:prstGeom>
          <a:solidFill>
            <a:srgbClr val="E0F2FE"/>
          </a:solidFill>
          <a:ln w="12700">
            <a:solidFill>
              <a:srgbClr val="E0F2FE"/>
            </a:solidFill>
            <a:prstDash val="solid"/>
          </a:ln>
        </p:spPr>
      </p:sp>
      <p:sp>
        <p:nvSpPr>
          <p:cNvPr id="7" name="Better images circle"/>
          <p:cNvSpPr/>
          <p:nvPr/>
        </p:nvSpPr>
        <p:spPr>
          <a:xfrm>
            <a:off x="640080" y="1280160"/>
            <a:ext cx="457200" cy="457200"/>
          </a:xfrm>
          <a:prstGeom prst="ellipse">
            <a:avLst/>
          </a:prstGeom>
          <a:solidFill>
            <a:schemeClr val="accent1"/>
          </a:solidFill>
          <a:ln w="12700">
            <a:solidFill>
              <a:schemeClr val="accent1"/>
            </a:solidFill>
            <a:prstDash val="solid"/>
          </a:ln>
        </p:spPr>
      </p:sp>
      <p:pic>
        <p:nvPicPr>
          <p:cNvPr id="8" name="Better images icon" descr="preencoded.png">    </p:cNvPr>
          <p:cNvPicPr>
            <a:picLocks noChangeAspect="1"/>
          </p:cNvPicPr>
          <p:nvPr/>
        </p:nvPicPr>
        <p:blipFill>
          <a:blip r:embed="rId1"/>
          <a:stretch>
            <a:fillRect/>
          </a:stretch>
        </p:blipFill>
        <p:spPr>
          <a:xfrm>
            <a:off x="731520" y="1371600"/>
            <a:ext cx="274320" cy="274320"/>
          </a:xfrm>
          <a:prstGeom prst="rect">
            <a:avLst/>
          </a:prstGeom>
        </p:spPr>
      </p:pic>
      <p:sp>
        <p:nvSpPr>
          <p:cNvPr id="9" name="Text 5"/>
          <p:cNvSpPr txBox="1"/>
          <p:nvPr/>
        </p:nvSpPr>
        <p:spPr>
          <a:xfrm>
            <a:off x="1234440" y="1280160"/>
            <a:ext cx="1645920" cy="457200"/>
          </a:xfrm>
          <a:prstGeom prst="rect">
            <a:avLst/>
          </a:prstGeom>
          <a:noFill/>
          <a:ln/>
        </p:spPr>
        <p:txBody>
          <a:bodyPr wrap="square" lIns="0" tIns="0" rIns="0" bIns="0" rtlCol="0" anchor="ctr"/>
          <a:lstStyle/>
          <a:p>
            <a:pPr indent="0" marL="0">
              <a:buNone/>
            </a:pPr>
            <a:r>
              <a:rPr lang="en-US" sz="1600" b="1" dirty="0">
                <a:solidFill>
                  <a:schemeClr val="tx1"/>
                </a:solidFill>
              </a:rPr>
              <a:t>Better images</a:t>
            </a:r>
            <a:endParaRPr lang="en-US" sz="1600" dirty="0"/>
          </a:p>
        </p:txBody>
      </p:sp>
      <p:sp>
        <p:nvSpPr>
          <p:cNvPr id="10" name="Text 6"/>
          <p:cNvSpPr txBox="1"/>
          <p:nvPr/>
        </p:nvSpPr>
        <p:spPr>
          <a:xfrm>
            <a:off x="640080" y="1874520"/>
            <a:ext cx="224028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Multi-stage builds: tiny production images</a:t>
            </a:r>
            <a:endParaRPr lang="en-US" sz="1300" dirty="0"/>
          </a:p>
          <a:p>
            <a:pPr marL="342900" indent="-342900">
              <a:spcAft>
                <a:spcPts val="600"/>
              </a:spcAft>
              <a:buSzPct val="100000"/>
              <a:buChar char="•"/>
            </a:pPr>
            <a:r>
              <a:rPr lang="en-US" sz="1300" dirty="0">
                <a:solidFill>
                  <a:schemeClr val="tx1"/>
                </a:solidFill>
              </a:rPr>
              <a:t>.dockerignore</a:t>
            </a:r>
            <a:endParaRPr lang="en-US" sz="1300" dirty="0"/>
          </a:p>
          <a:p>
            <a:pPr marL="342900" indent="-342900">
              <a:spcAft>
                <a:spcPts val="600"/>
              </a:spcAft>
              <a:buSzPct val="100000"/>
              <a:buChar char="•"/>
            </a:pPr>
            <a:r>
              <a:rPr lang="en-US" sz="1300" dirty="0">
                <a:solidFill>
                  <a:schemeClr val="tx1"/>
                </a:solidFill>
              </a:rPr>
              <a:t>Non-root USER</a:t>
            </a:r>
            <a:endParaRPr lang="en-US" sz="1300" dirty="0"/>
          </a:p>
          <a:p>
            <a:pPr marL="342900" indent="-342900">
              <a:spcAft>
                <a:spcPts val="600"/>
              </a:spcAft>
              <a:buSzPct val="100000"/>
              <a:buChar char="•"/>
            </a:pPr>
            <a:r>
              <a:rPr lang="en-US" sz="1300" dirty="0">
                <a:solidFill>
                  <a:schemeClr val="tx1"/>
                </a:solidFill>
              </a:rPr>
              <a:t>Layer ordering for cache</a:t>
            </a:r>
            <a:endParaRPr lang="en-US" sz="1300" dirty="0"/>
          </a:p>
          <a:p>
            <a:pPr marL="342900" indent="-342900">
              <a:spcAft>
                <a:spcPts val="600"/>
              </a:spcAft>
              <a:buSzPct val="100000"/>
              <a:buChar char="•"/>
            </a:pPr>
            <a:r>
              <a:rPr lang="en-US" sz="1300" dirty="0">
                <a:solidFill>
                  <a:schemeClr val="tx1"/>
                </a:solidFill>
              </a:rPr>
              <a:t>docker scout / trivy for vulnerabilities</a:t>
            </a:r>
            <a:endParaRPr lang="en-US" sz="1300" dirty="0"/>
          </a:p>
        </p:txBody>
      </p:sp>
      <p:sp>
        <p:nvSpPr>
          <p:cNvPr id="11" name="Automate card"/>
          <p:cNvSpPr/>
          <p:nvPr/>
        </p:nvSpPr>
        <p:spPr>
          <a:xfrm>
            <a:off x="3264408" y="1097280"/>
            <a:ext cx="2606040" cy="3291840"/>
          </a:xfrm>
          <a:prstGeom prst="roundRect">
            <a:avLst>
              <a:gd name="adj" fmla="val 4211"/>
            </a:avLst>
          </a:prstGeom>
          <a:solidFill>
            <a:srgbClr val="FEF3C7"/>
          </a:solidFill>
          <a:ln w="12700">
            <a:solidFill>
              <a:srgbClr val="FEF3C7"/>
            </a:solidFill>
            <a:prstDash val="solid"/>
          </a:ln>
        </p:spPr>
      </p:sp>
      <p:sp>
        <p:nvSpPr>
          <p:cNvPr id="12" name="Automate circle"/>
          <p:cNvSpPr/>
          <p:nvPr/>
        </p:nvSpPr>
        <p:spPr>
          <a:xfrm>
            <a:off x="3447288" y="1280160"/>
            <a:ext cx="457200" cy="457200"/>
          </a:xfrm>
          <a:prstGeom prst="ellipse">
            <a:avLst/>
          </a:prstGeom>
          <a:solidFill>
            <a:schemeClr val="accent3"/>
          </a:solidFill>
          <a:ln w="12700">
            <a:solidFill>
              <a:schemeClr val="accent3"/>
            </a:solidFill>
            <a:prstDash val="solid"/>
          </a:ln>
        </p:spPr>
      </p:sp>
      <p:pic>
        <p:nvPicPr>
          <p:cNvPr id="13" name="Automate icon" descr="preencoded.png">    </p:cNvPr>
          <p:cNvPicPr>
            <a:picLocks noChangeAspect="1"/>
          </p:cNvPicPr>
          <p:nvPr/>
        </p:nvPicPr>
        <p:blipFill>
          <a:blip r:embed="rId2"/>
          <a:stretch>
            <a:fillRect/>
          </a:stretch>
        </p:blipFill>
        <p:spPr>
          <a:xfrm>
            <a:off x="3538728" y="1371600"/>
            <a:ext cx="274320" cy="274320"/>
          </a:xfrm>
          <a:prstGeom prst="rect">
            <a:avLst/>
          </a:prstGeom>
        </p:spPr>
      </p:pic>
      <p:sp>
        <p:nvSpPr>
          <p:cNvPr id="14" name="Text 9"/>
          <p:cNvSpPr txBox="1"/>
          <p:nvPr/>
        </p:nvSpPr>
        <p:spPr>
          <a:xfrm>
            <a:off x="4041648" y="1280160"/>
            <a:ext cx="1645920" cy="457200"/>
          </a:xfrm>
          <a:prstGeom prst="rect">
            <a:avLst/>
          </a:prstGeom>
          <a:noFill/>
          <a:ln/>
        </p:spPr>
        <p:txBody>
          <a:bodyPr wrap="square" lIns="0" tIns="0" rIns="0" bIns="0" rtlCol="0" anchor="ctr"/>
          <a:lstStyle/>
          <a:p>
            <a:pPr indent="0" marL="0">
              <a:buNone/>
            </a:pPr>
            <a:r>
              <a:rPr lang="en-US" sz="1600" b="1" dirty="0">
                <a:solidFill>
                  <a:schemeClr val="tx1"/>
                </a:solidFill>
              </a:rPr>
              <a:t>Automate</a:t>
            </a:r>
            <a:endParaRPr lang="en-US" sz="1600" dirty="0"/>
          </a:p>
        </p:txBody>
      </p:sp>
      <p:sp>
        <p:nvSpPr>
          <p:cNvPr id="15" name="Text 10"/>
          <p:cNvSpPr txBox="1"/>
          <p:nvPr/>
        </p:nvSpPr>
        <p:spPr>
          <a:xfrm>
            <a:off x="3447288" y="1874520"/>
            <a:ext cx="224028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CI builds + pushes the image (Jenkins, GitHub Actions)</a:t>
            </a:r>
            <a:endParaRPr lang="en-US" sz="1300" dirty="0"/>
          </a:p>
          <a:p>
            <a:pPr marL="342900" indent="-342900">
              <a:spcAft>
                <a:spcPts val="600"/>
              </a:spcAft>
              <a:buSzPct val="100000"/>
              <a:buChar char="•"/>
            </a:pPr>
            <a:r>
              <a:rPr lang="en-US" sz="1300" dirty="0">
                <a:solidFill>
                  <a:schemeClr val="tx1"/>
                </a:solidFill>
              </a:rPr>
              <a:t>Tag with git SHA</a:t>
            </a:r>
            <a:endParaRPr lang="en-US" sz="1300" dirty="0"/>
          </a:p>
          <a:p>
            <a:pPr marL="342900" indent="-342900">
              <a:spcAft>
                <a:spcPts val="600"/>
              </a:spcAft>
              <a:buSzPct val="100000"/>
              <a:buChar char="•"/>
            </a:pPr>
            <a:r>
              <a:rPr lang="en-US" sz="1300" dirty="0">
                <a:solidFill>
                  <a:schemeClr val="tx1"/>
                </a:solidFill>
              </a:rPr>
              <a:t>Compose profiles and env files</a:t>
            </a:r>
            <a:endParaRPr lang="en-US" sz="1300" dirty="0"/>
          </a:p>
          <a:p>
            <a:pPr marL="342900" indent="-342900">
              <a:spcAft>
                <a:spcPts val="600"/>
              </a:spcAft>
              <a:buSzPct val="100000"/>
              <a:buChar char="•"/>
            </a:pPr>
            <a:r>
              <a:rPr lang="en-US" sz="1300" dirty="0">
                <a:solidFill>
                  <a:schemeClr val="tx1"/>
                </a:solidFill>
              </a:rPr>
              <a:t>Health checks</a:t>
            </a:r>
            <a:endParaRPr lang="en-US" sz="1300" dirty="0"/>
          </a:p>
        </p:txBody>
      </p:sp>
      <p:sp>
        <p:nvSpPr>
          <p:cNvPr id="16" name="Orchestrate card"/>
          <p:cNvSpPr/>
          <p:nvPr/>
        </p:nvSpPr>
        <p:spPr>
          <a:xfrm>
            <a:off x="6080760" y="1097280"/>
            <a:ext cx="2606040" cy="3291840"/>
          </a:xfrm>
          <a:prstGeom prst="roundRect">
            <a:avLst>
              <a:gd name="adj" fmla="val 4211"/>
            </a:avLst>
          </a:prstGeom>
          <a:solidFill>
            <a:srgbClr val="EDE9FE"/>
          </a:solidFill>
          <a:ln w="12700">
            <a:solidFill>
              <a:srgbClr val="EDE9FE"/>
            </a:solidFill>
            <a:prstDash val="solid"/>
          </a:ln>
        </p:spPr>
      </p:sp>
      <p:sp>
        <p:nvSpPr>
          <p:cNvPr id="17" name="Orchestrate circle"/>
          <p:cNvSpPr/>
          <p:nvPr/>
        </p:nvSpPr>
        <p:spPr>
          <a:xfrm>
            <a:off x="6263640" y="1280160"/>
            <a:ext cx="457200" cy="457200"/>
          </a:xfrm>
          <a:prstGeom prst="ellipse">
            <a:avLst/>
          </a:prstGeom>
          <a:solidFill>
            <a:schemeClr val="accent4"/>
          </a:solidFill>
          <a:ln w="12700">
            <a:solidFill>
              <a:schemeClr val="accent4"/>
            </a:solidFill>
            <a:prstDash val="solid"/>
          </a:ln>
        </p:spPr>
      </p:sp>
      <p:pic>
        <p:nvPicPr>
          <p:cNvPr id="18" name="Orchestrate icon" descr="preencoded.png">    </p:cNvPr>
          <p:cNvPicPr>
            <a:picLocks noChangeAspect="1"/>
          </p:cNvPicPr>
          <p:nvPr/>
        </p:nvPicPr>
        <p:blipFill>
          <a:blip r:embed="rId3"/>
          <a:stretch>
            <a:fillRect/>
          </a:stretch>
        </p:blipFill>
        <p:spPr>
          <a:xfrm>
            <a:off x="6355080" y="1371600"/>
            <a:ext cx="274320" cy="274320"/>
          </a:xfrm>
          <a:prstGeom prst="rect">
            <a:avLst/>
          </a:prstGeom>
        </p:spPr>
      </p:pic>
      <p:sp>
        <p:nvSpPr>
          <p:cNvPr id="19" name="Text 13"/>
          <p:cNvSpPr txBox="1"/>
          <p:nvPr/>
        </p:nvSpPr>
        <p:spPr>
          <a:xfrm>
            <a:off x="6858000" y="1280160"/>
            <a:ext cx="1645920" cy="457200"/>
          </a:xfrm>
          <a:prstGeom prst="rect">
            <a:avLst/>
          </a:prstGeom>
          <a:noFill/>
          <a:ln/>
        </p:spPr>
        <p:txBody>
          <a:bodyPr wrap="square" lIns="0" tIns="0" rIns="0" bIns="0" rtlCol="0" anchor="ctr"/>
          <a:lstStyle/>
          <a:p>
            <a:pPr indent="0" marL="0">
              <a:buNone/>
            </a:pPr>
            <a:r>
              <a:rPr lang="en-US" sz="1600" b="1" dirty="0">
                <a:solidFill>
                  <a:schemeClr val="tx1"/>
                </a:solidFill>
              </a:rPr>
              <a:t>Orchestrate</a:t>
            </a:r>
            <a:endParaRPr lang="en-US" sz="1600" dirty="0"/>
          </a:p>
        </p:txBody>
      </p:sp>
      <p:sp>
        <p:nvSpPr>
          <p:cNvPr id="20" name="Text 14"/>
          <p:cNvSpPr txBox="1"/>
          <p:nvPr/>
        </p:nvSpPr>
        <p:spPr>
          <a:xfrm>
            <a:off x="6263640" y="1874520"/>
            <a:ext cx="224028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Kubernetes: run containers across many servers</a:t>
            </a:r>
            <a:endParaRPr lang="en-US" sz="1300" dirty="0"/>
          </a:p>
          <a:p>
            <a:pPr marL="342900" indent="-342900">
              <a:spcAft>
                <a:spcPts val="600"/>
              </a:spcAft>
              <a:buSzPct val="100000"/>
              <a:buChar char="•"/>
            </a:pPr>
            <a:r>
              <a:rPr lang="en-US" sz="1300" dirty="0">
                <a:solidFill>
                  <a:schemeClr val="tx1"/>
                </a:solidFill>
              </a:rPr>
              <a:t>Deployments, Services, rolling updates</a:t>
            </a:r>
            <a:endParaRPr lang="en-US" sz="1300" dirty="0"/>
          </a:p>
          <a:p>
            <a:pPr marL="342900" indent="-342900">
              <a:spcAft>
                <a:spcPts val="600"/>
              </a:spcAft>
              <a:buSzPct val="100000"/>
              <a:buChar char="•"/>
            </a:pPr>
            <a:r>
              <a:rPr lang="en-US" sz="1300" dirty="0">
                <a:solidFill>
                  <a:schemeClr val="tx1"/>
                </a:solidFill>
              </a:rPr>
              <a:t>Managed: EKS, GKE, AKS</a:t>
            </a:r>
            <a:endParaRPr lang="en-US" sz="1300" dirty="0"/>
          </a:p>
          <a:p>
            <a:pPr marL="342900" indent="-342900">
              <a:spcAft>
                <a:spcPts val="600"/>
              </a:spcAft>
              <a:buSzPct val="100000"/>
              <a:buChar char="•"/>
            </a:pPr>
            <a:r>
              <a:rPr lang="en-US" sz="1300" dirty="0">
                <a:solidFill>
                  <a:schemeClr val="tx1"/>
                </a:solidFill>
              </a:rPr>
              <a:t>Start with minikube</a:t>
            </a:r>
            <a:endParaRPr lang="en-US" sz="1300" dirty="0"/>
          </a:p>
        </p:txBody>
      </p:sp>
      <p:sp>
        <p:nvSpPr>
          <p:cNvPr id="25" name="Slide Number Placeholder 0"/>
          <p:cNvSpPr>
            <a:spLocks noGrp="1"/>
          </p:cNvSpPr>
          <p:nvPr>
            <p:ph type="sldNum" sz="quarter" idx="4294967295"/>
          </p:nvPr>
        </p:nvSpPr>
        <p:spPr>
          <a:xfrm>
            <a:off x="841248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475569"/>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8046720" cy="1188720"/>
          </a:xfrm>
          <a:prstGeom prst="rect">
            <a:avLst/>
          </a:prstGeom>
          <a:noFill/>
          <a:ln/>
        </p:spPr>
        <p:txBody>
          <a:bodyPr wrap="square" lIns="0" tIns="0" rIns="0" bIns="0" rtlCol="0" anchor="b"/>
          <a:lstStyle/>
          <a:p>
            <a:pPr algn="l" indent="0" marL="0">
              <a:buNone/>
            </a:pPr>
            <a:r>
              <a:rPr lang="en-US" sz="4400" b="1" dirty="0">
                <a:solidFill>
                  <a:srgbClr val="FFFFFF"/>
                </a:solidFill>
              </a:rPr>
              <a:t>Thanks. Questions?</a:t>
            </a:r>
            <a:endParaRPr lang="en-US" sz="4400" dirty="0"/>
          </a:p>
        </p:txBody>
      </p:sp>
      <p:sp>
        <p:nvSpPr>
          <p:cNvPr id="3" name="Text 0"/>
          <p:cNvSpPr/>
          <p:nvPr>
            <p:ph idx="101" type="body" hasCustomPrompt="1"/>
          </p:nvPr>
        </p:nvSpPr>
        <p:spPr>
          <a:xfrm>
            <a:off x="548640" y="2651760"/>
            <a:ext cx="8046720" cy="1097280"/>
          </a:xfrm>
          <a:prstGeom prst="rect">
            <a:avLst/>
          </a:prstGeom>
          <a:noFill/>
          <a:ln/>
        </p:spPr>
        <p:txBody>
          <a:bodyPr wrap="square" lIns="0" tIns="0" rIns="0" bIns="0" rtlCol="0" anchor="t"/>
          <a:lstStyle/>
          <a:p>
            <a:pPr algn="l" indent="0" marL="0">
              <a:buNone/>
            </a:pPr>
            <a:r>
              <a:rPr lang="en-US" sz="2000" dirty="0">
                <a:solidFill>
                  <a:srgbClr val="CBD5E1"/>
                </a:solidFill>
              </a:rPr>
              <a:t>Reference: 'Docker Tutorial for Beginners [FULL COURSE in 3 Hours]', TechWorld with Nana.</a:t>
            </a:r>
            <a:endParaRPr lang="en-US" sz="2000" dirty="0"/>
          </a:p>
        </p:txBody>
      </p:sp>
    </p:spTree>
  </p:cSld>
  <p:clrMapOvr>
    <a:masterClrMapping/>
  </p:clrMapOvr>
</p:sld>
</file>

<file path=ppt/theme/theme1.xml><?xml version="1.0" encoding="utf-8"?>
<a:theme xmlns:a="http://schemas.openxmlformats.org/drawingml/2006/main" name="DevOps Workshop">
  <a:themeElements>
    <a:clrScheme name="DevOps Workshop">
      <a:dk1>
        <a:srgbClr val="0F172A"/>
      </a:dk1>
      <a:lt1>
        <a:srgbClr val="FFFFFF"/>
      </a:lt1>
      <a:dk2>
        <a:srgbClr val="475569"/>
      </a:dk2>
      <a:lt2>
        <a:srgbClr val="F1F5F9"/>
      </a:lt2>
      <a:accent1>
        <a:srgbClr val="0284C7"/>
      </a:accent1>
      <a:accent2>
        <a:srgbClr val="0D9488"/>
      </a:accent2>
      <a:accent3>
        <a:srgbClr val="D97706"/>
      </a:accent3>
      <a:accent4>
        <a:srgbClr val="7C3AED"/>
      </a:accent4>
      <a:accent5>
        <a:srgbClr val="DC2626"/>
      </a:accent5>
      <a:accent6>
        <a:srgbClr val="16A34A"/>
      </a:accent6>
      <a:hlink>
        <a:srgbClr val="0284C7"/>
      </a:hlink>
      <a:folHlink>
        <a:srgbClr val="7C3AED"/>
      </a:folHlink>
    </a:clrScheme>
    <a:fontScheme name="DevOps Workshop">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Docker from Zero: a 3-hour course</dc:title>
  <dc:subject>PptxGenJS Presentation</dc:subject>
  <dc:creator>DevOps Workshop</dc:creator>
  <cp:lastModifiedBy>DevOps Workshop</cp:lastModifiedBy>
  <cp:revision>1</cp:revision>
  <dcterms:created xsi:type="dcterms:W3CDTF">2026-10-28T14:31:21Z</dcterms:created>
  <dcterms:modified xsi:type="dcterms:W3CDTF">2026-10-28T14:31:21Z</dcterms:modified>
</cp:coreProperties>
</file>