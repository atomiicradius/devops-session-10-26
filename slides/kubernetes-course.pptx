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1db635c-896e-95ec-c927-c77e0e932756}">
          <p14:sldIdLst>
            <p14:sldId id="256"/>
            <p14:sldId id="257"/>
          </p14:sldIdLst>
        </p14:section>
        <p14:section name="What is K8s" id="{494732b9-8c1f-2aa5-7732-d6e3ebbbfb3e}">
          <p14:sldIdLst>
            <p14:sldId id="258"/>
            <p14:sldId id="259"/>
          </p14:sldIdLst>
        </p14:section>
        <p14:section name="Main components" id="{a350bf65-2b5f-6913-98e1-d56e7649d590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rchitecture" id="{39310e45-3cf3-d6f2-a76b-cfc23d23738a}">
          <p14:sldIdLst>
            <p14:sldId id="267"/>
            <p14:sldId id="268"/>
            <p14:sldId id="269"/>
            <p14:sldId id="270"/>
          </p14:sldIdLst>
        </p14:section>
        <p14:section name="Local setup" id="{c89374ff-36ba-ac58-9f1b-5097d3a90a5c}">
          <p14:sldIdLst>
            <p14:sldId id="271"/>
            <p14:sldId id="272"/>
            <p14:sldId id="273"/>
          </p14:sldIdLst>
        </p14:section>
        <p14:section name="kubectl" id="{55aa83c4-5b2c-27dd-8bfa-9644d7a71dcd}">
          <p14:sldIdLst>
            <p14:sldId id="274"/>
            <p14:sldId id="275"/>
            <p14:sldId id="276"/>
            <p14:sldId id="277"/>
          </p14:sldIdLst>
        </p14:section>
        <p14:section name="YAML config" id="{5c948ee6-6979-2d2e-77c4-d76fc85bcc33}">
          <p14:sldIdLst>
            <p14:sldId id="278"/>
            <p14:sldId id="279"/>
            <p14:sldId id="280"/>
            <p14:sldId id="281"/>
          </p14:sldIdLst>
        </p14:section>
        <p14:section name="Demo project" id="{6f5e131b-ce21-e069-37e8-4c471144211d}">
          <p14:sldIdLst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Namespaces" id="{de1e7f0a-abe5-c02c-9905-10e674b9fd43}">
          <p14:sldIdLst>
            <p14:sldId id="288"/>
            <p14:sldId id="289"/>
            <p14:sldId id="290"/>
            <p14:sldId id="291"/>
          </p14:sldIdLst>
        </p14:section>
        <p14:section name="Ingress" id="{fd3ff070-bb6f-92bf-18d4-ee0c9aa14ba2}">
          <p14:sldIdLst>
            <p14:sldId id="292"/>
            <p14:sldId id="293"/>
            <p14:sldId id="294"/>
            <p14:sldId id="295"/>
          </p14:sldIdLst>
        </p14:section>
        <p14:section name="Helm" id="{06618609-ded4-0887-ce1e-681314144bed}">
          <p14:sldIdLst>
            <p14:sldId id="296"/>
            <p14:sldId id="297"/>
            <p14:sldId id="298"/>
          </p14:sldIdLst>
        </p14:section>
        <p14:section name="Volumes" id="{06b03984-af6b-a7d0-4f56-92f97e4c85ed}">
          <p14:sldIdLst>
            <p14:sldId id="299"/>
            <p14:sldId id="300"/>
            <p14:sldId id="301"/>
            <p14:sldId id="302"/>
          </p14:sldIdLst>
        </p14:section>
        <p14:section name="StatefulSet" id="{c806328f-1f76-3de2-9ede-022c4af41dc0}">
          <p14:sldIdLst>
            <p14:sldId id="303"/>
            <p14:sldId id="304"/>
            <p14:sldId id="305"/>
          </p14:sldIdLst>
        </p14:section>
        <p14:section name="Services" id="{178c1648-3d50-be81-400a-a497feb2d239}">
          <p14:sldIdLst>
            <p14:sldId id="306"/>
            <p14:sldId id="307"/>
            <p14:sldId id="308"/>
            <p14:sldId id="309"/>
          </p14:sldIdLst>
        </p14:section>
        <p14:section name="Wrap-up" id="{1453b31b-75cc-8d7f-199e-5310cb5da1f9}">
          <p14:sldIdLst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Course overview. Prerequisite: basic Docker (image, container, docker run). By the end: you can read and write K8s YAML, run a two-service app on minikube, organise it with namespaces, expose it with Ingress, persist its data, and understand Helm and StatefulSets.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sections in three arcs. Arc 1 is pure concepts (no typing). Arc 2 is hands-on: minikube, kubectl, YAML, the demo project. Arc 3 is the 'next level' features you meet in every real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2:18. Open-source container orchestration tool, originally from Google (Borg), now CNCF. Manages containerised applications across many machines, in any environment: physical, virtual, cloud, hybrid.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trend: monolith → microservices → hundreds of containers → managing them by hand (scripts, SSH) doesn't scale. An orchestrator handles the lifecycle so humans don't.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5:20. Built up with the running example: a JavaScript web app + a database. Node → Pod → Service → Ingress → ConfigMap / Secret → Volumes → Deployment / StatefulSet. Each one answers a concrete question about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 = a worker machine (VM or physical). Pod = smallest unit of K8s, an abstraction over a container: usually one app container per Pod. Each Pod gets its own internal IP from the cluster's virtual network. Pods are ephemeral: when one dies a new one is created with a NEW IP. That's the problem the next component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= a permanent IP + DNS name attached to a set of Pods; its lifecycle is independent of Pods. Also a load balancer. Internal service for the DB (ClusterIP); external service for the app (reachable from outside). But the external URL is http://node-ip:port, ugly. Ingress gives a real domain + HTTPS and forwards to the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the DB URL is in the app image. Change the DB name → rebuild, push, redeploy. ConfigMap = external configuration (plain key-values like DB_URL) mounted into Pods as env vars or files. Secret = same, but for credentials; base64-encoded by default (NOT encrypted; enable encryption at rest or use a secret manager). Pods read both as env vars.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the DB Pod restarts → data gone, because Pod storage is ephemeral. Volume = storage attached to the Pod from outside: a directory on the node, or remote storage (cloud disk, NFS) outside the cluster. Key message from the course: Kubernetes does NOT manage data persistence for you; you must configure it. Covered in depth in section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one app Pod dies → downtime. Solution: replicas. You don't create Pods; you create a Deployment that says 'N replicas of this Pod template'. Deployment = blueprint for stateless apps. But databases have state and must not be replicated naively (data inconsistency). StatefulSet = the Deployment for stateful apps: ordered Pods, stable names, each with its own storage. Course verdict: DBs are often hosted outside K8s for this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section 2: the full app on K8s. Browser → Ingress → external Service → app Pods (Deployment, 2 replicas) → internal Service → db Pod (StatefulSet) → Volume. App Pods read config from ConfigMap/Secret.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22:29. Two kinds of machines: worker nodes (do the work) and control plane / master nodes (manage the cluster). Each has specific processes.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Container runtime (containerd, CRI-O; Docker was the original) runs containers. 2 kubelet: the K8s agent; talks to the runtime AND the node; starts Pods with their containers, assigns resources. 3 kube-proxy: forwards requests from Services to Pods intelligently (prefers a Pod on the same node to avoid network hops). Worker nodes carry the application Pods and need the most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API server: the cluster gateway; the only entry point; authenticates and validates every request (kubectl, UI, API). 2 Scheduler: decides WHICH node a new Pod goes on, based on resource requests and node load; kubelet does the actual starting. 3 Controller manager: detects state changes (Pod died) and asks the scheduler to reschedule. 4 etcd: the cluster brain; key-value store of all cluster state; every other component reads/writes through the API server. Application data is NOT in etcd. Production: multiple master nodes, API servers load-balanced, etcd distributed.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production cluster: 2 master nodes + 3 worker nodes. Masters need less CPU/RAM; workers more. You add nodes as the app grows: get a bare server, install the three worker processes, join it to the cluster. Managed clouds (EKS/GKE/AKS) run the control plane for you. Locally all of this is one machine: minikube.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34:47. minikube = a one-node cluster on your machine (master and worker processes together), running in Docker or a VM. kubectl = the CLI that talks to ANY cluster's API server, including minikube's.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minikube: a tool that creates a single-node cluster on your laptop, where master and worker processes run together. Needs a driver: Docker (default now), or a hypervisor like VirtualBox / HyperKit. kubectl: the command-line client for the Kubernetes API. Works with minikube, a cloud cluster, anything. minikube installs kubectl as a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Mac: brew install minikube (pulls kubectl). Windows: choco / winget. Linux: curl the binary. Docker Desktop must be running if you use the docker driver. minikube start creates the node; first run downloads the image (~1 min). Verify: kubectl get nodes shows one node Ready; minikube status shows host/kubelet/apiserver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44:52. CRUD on components, status, debugging, and applying config files. Demo: create an nginx Deployment, see the Pod, edit it, see a rollout, debug with logs/describe/exec, delete, then do the same with a YAML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kubectl create deployment nginx-depl --image=nginx creates a Deployment; it creates a ReplicaSet; the ReplicaSet creates the Pod. Names chain: nginx-depl → nginx-depl-5c8bf76b5b → nginx-depl-5c8bf76b5b-abc12. You never create the ReplicaSet or Pod directly. kubectl edit deployment opens the live YAML; change the image → a new ReplicaSet, a new Pod, old one terminated.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families. Create/delete (imperative). Get (status). Debug (logs, describe, exec). Apply (declarative, from a file: the way you'll really work). 'kubectl apply -f' creates if missing, updates if existing; 'kubectl delete -f' removes everything in the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 in order. logs: what the container printed. describe: the Events at the bottom tell you WHY a Pod isn't running (image pull failed, no resources, probe failing). exec -it: a shell inside the container. The course demo: a mongo Pod, logs show startup, exec in and run mongosh. Statuses you'll meet: ContainerCreating, Running, Pending, ErrImagePull / ImagePullBackOff, CrashLoopBackOff.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1:02:03. Every config file has 3 parts: metadata, specification, status (generated). Plus apiVersion and kind. Demo: nginx Deployment + Service, connect them with labels/selectors, verify with describe and -o 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metadata: name, labels. 2 spec: the desired state; its attributes depend on the kind. 3 status: added by Kubernetes automatically; it compares desired (spec) to actual (status) continuously; that's self-healing. The data for status comes from etcd. Also apiVersion + kind at the top. Store these files with your code or in a separate config repo (GitOps).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Deployment spec contains a template, which is the Pod's own config (its metadata + spec). So it's a config inside a config. The Pod template has the containers: name, image, ports. The Deployment's selector.matchLabels must match the template's labels: that's how the Deployment knows which Pods belong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selector app: nginx matches the Pod labels, so the Service forwards to those Pods. Ports: port = the Service's own port (what others call); targetPort = the container's containerPort. Chain: request → Service:80 → Pod:8080. Verify: kubectl describe service shows Endpoints = Pod IPs; kubectl get pod -o wide shows the same 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1:16:16. Four config files: mongo Deployment + internal Service, Secret, ConfigMap, mongo-express Deployment + external Service. Request flow: browser → external service → mongo-express Pod → internal service → mongo Pod. Secret and ConfigMap must be created BEFORE the Deployments that reference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request flow and name every component so the YAML files map onto the picture. Order of creation matters: Secret and ConfigMap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Secret values are base64: echo -n 'username' | base64. Type Opaque = arbitrary key/values. The ConfigMap holds the DB URL, which is simply the internal Service name: K8s DNS resolves it. Create both first: kubectl apply -f mongo-secret.yaml &amp;&amp; kubectl apply -f mongo-configmap.yaml.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file, two documents separated by ---. Env vars come from the Secret via valueFrom.secretKeyRef (so credentials never appear in the Deployment file). The Service has no type → ClusterIP (internal). Port 27017 all the way. Verify: kubectl get all, kubectl describe service mongodb-service → Endpoints = the Pod 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Mongo Express needs: DB server address (from the ConfigMap via configMapKeyRef), admin user + password (from the Secret). Its Service is type NodePort with nodePort 30000 (allowed range 30000–32767) so the browser can reach it. minikube service mongo-express-service opens the URL. Flow is now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in order; watch Pods come up; describe the external service; minikube service opens the browser. Then create a database in Mongo Express and see it stored in MongoDB. Everything in the picture now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1:46:16. A namespace = a virtual cluster inside the cluster. Default namespaces: default, kube-system, kube-public, kube-node-lease. Use cases: group resources, avoid conflicts between teams, share a cluster between staging/prod or blue/green, limit access and resources per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kubectl get namespace shows four: kube-system (system processes: master, kubectl; don't touch), kube-public (public cluster info, a ConfigMap), kube-node-lease (node heartbeats), default (where everything you create goes unless you say otherwise). Create with kubectl create namespace my-ns or a Namespace 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reasons from the course. 1 Structure: one default namespace with 100 resources is chaos; group by type: database, monitoring, nginx-ingress, elastic. 2 Conflicts: two teams deploy 'my-app' with different configs → one overwrites the other; separate namespaces avoid it. 3 Sharing a cluster: staging + development, or blue + green versions, sharing the same nginx-ingress and monitoring. 4 Access and resources: a team gets rights and CPU/RAM quotas (ResourceQuota) only in its namespace.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you can't do: share most resources across namespaces (a ConfigMap in project-a can't be used by a Deployment in project-b; define it in each). What you can: a Service in another namespace is reachable by name.namespace: mysql-service.database. What's not namespaced at all: nodes, persistent volumes, namespaces themselves (kubectl api-resources --namespaced=false). Switching: kubectl --namespace everywhere is tedious; kubens (from kubectx) sets the active namespace.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2:01:52. External Service = http://&lt;ip&gt;:&lt;port&gt;, fine for testing, not for a product. Ingress: a routing rule (host → service) + an Ingress Controller Pod that evaluates it. Entry point: in cloud a load balancer; bare metal a proxy server. Demo on minikube: enable the ingress addon, route a hostname to the Kubernetes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NodePort opens ip:port on each node; users type http://124.89.101.2:35010. Right: Ingress sits in front; the Service becomes internal (ClusterIP); users type http://my-app.com. Ingress also terminates TLS and routes by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Ingress object is only a rule. Something must read the rules and do the routing: the Ingress Controller, a Pod (nginx is the most common; K8s Nginx Ingress Controller, Traefik, HAProxy, cloud ones). It's the entry point to the cluster and evaluates all rules. In cloud: a cloud load balancer in front forwards to the controller. Bare metal: you provide an external proxy / LB. minikube: minikube addons enable ingress installs the nginx 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minikube addons enable ingress → kubectl get pod -n ingress-nginx. The dashboard lives in kubernetes-dashboard namespace with a service on port 80. Write an Ingress in that namespace: host dashboard.com → kubernetes-dashboard:80. kubectl get ingress -n kubernetes-dashboard shows an ADDRESS after a moment; add '&lt;address&gt; dashboard.com' to /etc/hosts; open http://dashboard.com. Then: multiple paths, multiple subdomains, TLS via a Secret of type kubernetes.io/tls, default backend for unmatched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2:24:17. Helm = package manager (like apt/npm for K8s) + templating engine + release manager. Chart = bundle of YAML files. Helm Hub / Artifact Hub for public charts. Helm 3 removed Tiller (the server-side component with too much power).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 Elasticsearch: StatefulSet, ConfigMap, Secret, K8s user with permissions, Services… Someone has already written those. A Helm chart packages them so you can helm install. Also: your own microservices differ only in name, image, version → one template, many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Chart.yaml: metadata (name, version, dependencies). values.yaml: default values for the templates. charts/: dependency charts. templates/: the YAML files with Go-template placeholders. Override values: helm install --values my-values.yaml, or --set key=value. Values are merged: defaults + your file + --set.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2:38:07. Requirements: storage that doesn't depend on the Pod lifecycle, is available on ALL nodes (Pod may be rescheduled anywhere), survives cluster crashes. K8s doesn't give you that: you provide it. Three components: PersistentVolume, PersistentVolumeClaim, StorageClass.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Storage must not depend on the Pod lifecycle. 2 Available on all nodes, because you don't know where the Pod will be scheduled. 3 Survives if the whole cluster crashes. Kubernetes gives you the abstraction (PV) but you plug in the actual storage: local disk, NFS, cloud disk (EBS, GCE PD), Ceph, Glusterfs… Think of PVs as an external plugin to the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PV: a cluster resource (not namespaced) that represents a piece of storage: capacity, access mode, and the backend (nfs, gcePersistentDisk, hostPath). Created by the ADMIN. PVC: a request for storage by a USER/app: 'I need 10Gi, ReadWriteOnce'. K8s binds the claim to a matching PV. The Pod references the claim in volumes:, and the container mounts it with volumeMounts: at a path. Separation of concerns: users don't care where storage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Creating PVs by hand for every claim doesn't scale with hundreds of apps. StorageClass provisions PVs DYNAMICALLY: it names a provisioner (kubernetes.io/aws-ebs, gce-pd…) with parameters; a PVC references storageClassName and K8s creates the PV on demand. Also: ConfigMap and Secret can be mounted as volumes (files), not just env vars; they're local volume types managed by K8s, good for config files and certificates.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2:58:38. Stateful = keeps data between sessions (databases, queues). Deployment replicas are identical and interchangeable; DB replicas are not: only one may write (master), others read (slaves) and sync. StatefulSet gives: sticky identity, ordered creation/deletion, per-Pod storage, per-Pod DNS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Replicated DB Pods can't be identical: if all could write to the same storage you'd get inconsistency. So: one master writes, workers read; workers sync from master; new worker clones from the previous one; each Pod has its own storage with continuous synchronisation. A Deployment can't express 'this one is master' or 'start them in order'.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Sticky identity: Pods named $(statefulset)-$(ordinal): mysql-0, mysql-1; a replaced Pod keeps its name and reattaches its PV. 2 Ordered: next Pod only created when the previous is Running; deletion in reverse order. 3 Storage: each Pod gets its own PVC via volumeClaimTemplates; must be remote storage so a rescheduled Pod on another node finds its data. 4 Stable DNS: each Pod has $(name).$(service).$(namespace).svc.cluster.local via a headless Service (clusterIP: None), so the app can address the master directly. You configure the DB clustering yourself; it's complex, which is why many run DBs outside K8s.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3:13:43. Why Services: Pods are ephemeral, IPs change; a Service gives a stable IP + DNS and load balancing. Four types: ClusterIP (default), Headless, NodePort, LoadBalancer. Plus multi-port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Flow: browser → Ingress → Service (ClusterIP 10.104.x.x : 3200) → Pods on any node. Service selector matches Pod labels; targetPort matches containerPort. Service knows its Pods via Endpoints (kubectl get endpoints: updated whenever Pods change). Service port is arbitrary; targetPort must be the container's. Multi-container Pods (app + log collector sidecar): same Pod IP, different 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a client needs ONE specific Pod, not a random one: stateful apps where only the master accepts writes, or workers that must sync from the master. A headless Service has clusterIP: None: no Service IP; a DNS lookup of the service returns the Pod IPs directly. Used alongside a normal ClusterIP service for a StatefulSet. Pod DNS: mysql-0.mysql-headless.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NodePort: opens a static port (30000–32767) on EVERY node; external traffic hits node-ip:nodePort; it also creates a ClusterIP internally. Not secure: nodes exposed directly. LoadBalancer: asks the cloud provider for an external load balancer that forwards to NodePort → ClusterIP → Pods. In practice: LoadBalancer or Ingress in production; NodePort for quick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The flow from browser to disk, and the five mental models that make all of it coherent.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follow-ups.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172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Kubernetes from Zero  ·  components · kubectl · YAML · namespaces · ingress · helm · volumes · services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B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172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Kubernetes from Zero  ·  components · kubectl · YAML · namespaces · ingress · helm · volumes · services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image" Target="../media/image-55-6.png"/><Relationship Id="rId7" Type="http://schemas.openxmlformats.org/officeDocument/2006/relationships/image" Target="../media/image-55-7.png"/><Relationship Id="rId8" Type="http://schemas.openxmlformats.org/officeDocument/2006/relationships/image" Target="../media/image-55-8.png"/><Relationship Id="rId9" Type="http://schemas.openxmlformats.org/officeDocument/2006/relationships/image" Target="../media/image-55-9.png"/><Relationship Id="rId10" Type="http://schemas.openxmlformats.org/officeDocument/2006/relationships/image" Target="../media/image-55-10.png"/><Relationship Id="rId11" Type="http://schemas.openxmlformats.org/officeDocument/2006/relationships/image" Target="../media/image-55-11.png"/><Relationship Id="rId12" Type="http://schemas.openxmlformats.org/officeDocument/2006/relationships/image" Target="../media/image-55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Kubernetes from Zero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 4-hour course · what Kubernetes is, how it's built, and how to run a real app on it</a:t>
            </a:r>
            <a:endParaRPr lang="en-US" sz="2000" dirty="0"/>
          </a:p>
        </p:txBody>
      </p:sp>
      <p:pic>
        <p:nvPicPr>
          <p:cNvPr id="5" name="k8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640080"/>
            <a:ext cx="1005840" cy="1005840"/>
          </a:xfrm>
          <a:prstGeom prst="rect">
            <a:avLst/>
          </a:prstGeom>
        </p:spPr>
      </p:pic>
      <p:sp>
        <p:nvSpPr>
          <p:cNvPr id="6" name="box Structure based on 'Kubernetes Tutorial for Beginners' by TechWorld with Nana  ·  demo project: MongoDB + Mongo Express on minikube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box text Structure based on &amp;apos;Kubernetes Tutorial for Beginners&amp;apos; by TechWorld with Nana  ·  demo project: MongoDB + Mongo Express on minikube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Structure based on 'Kubernetes Tutorial for Beginners' by TechWorld with Nana  ·  demo project: MongoDB + Mongo Express on minikube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Course overview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INTRO</a:t>
            </a:r>
            <a:endParaRPr lang="en-US" sz="900" dirty="0"/>
          </a:p>
        </p:txBody>
      </p:sp>
      <p:sp>
        <p:nvSpPr>
          <p:cNvPr id="6" name="1 · Concepts card"/>
          <p:cNvSpPr/>
          <p:nvPr/>
        </p:nvSpPr>
        <p:spPr>
          <a:xfrm>
            <a:off x="457200" y="10972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" name="1 · Concepts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1 · Concept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· Concepts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 is Kubernetes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Main components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11" name="2 · Hands-on card"/>
          <p:cNvSpPr/>
          <p:nvPr/>
        </p:nvSpPr>
        <p:spPr>
          <a:xfrm>
            <a:off x="3264408" y="10972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2 · Hands-on circle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2 · Hands-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41648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 · Hands-on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447288" y="18745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minikube + kubectl setup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Main kubectl commands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YAML configuration files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Demo: MongoDB + Mongo Express</a:t>
            </a:r>
            <a:endParaRPr lang="en-US" sz="1300" dirty="0"/>
          </a:p>
        </p:txBody>
      </p:sp>
      <p:sp>
        <p:nvSpPr>
          <p:cNvPr id="16" name="3 · Real-cluster features card"/>
          <p:cNvSpPr/>
          <p:nvPr/>
        </p:nvSpPr>
        <p:spPr>
          <a:xfrm>
            <a:off x="6071616" y="10972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3 · Real-cluster features circle"/>
          <p:cNvSpPr/>
          <p:nvPr/>
        </p:nvSpPr>
        <p:spPr>
          <a:xfrm>
            <a:off x="6254496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3 · Real-cluster feature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371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48856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 · Real-cluster features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254496" y="18745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Namespaces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Ingress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Helm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Volumes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StatefulSet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Services in depth</a:t>
            </a:r>
            <a:endParaRPr lang="en-US" sz="1300" dirty="0"/>
          </a:p>
        </p:txBody>
      </p:sp>
      <p:sp>
        <p:nvSpPr>
          <p:cNvPr id="21" name="box Prerequisite: you know what a Docker image and a container are. Everything else is explained here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box text Prerequisite: you know what a Docker image and a container are. Everything else is explained here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Prerequisite: you know what a Docker image and a container are. Everything else is explained 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 · What is Kubernetes?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An open-source container orchestration platform</a:t>
            </a:r>
            <a:endParaRPr lang="en-US" sz="1800" dirty="0"/>
          </a:p>
        </p:txBody>
      </p:sp>
      <p:pic>
        <p:nvPicPr>
          <p:cNvPr id="5" name="k8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4630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Why orchestration became necessary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box Monolith one app, one server"/>
          <p:cNvSpPr/>
          <p:nvPr/>
        </p:nvSpPr>
        <p:spPr>
          <a:xfrm>
            <a:off x="457200" y="1188720"/>
            <a:ext cx="1484986" cy="100584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box text Monolith one app, one server"/>
          <p:cNvSpPr txBox="1"/>
          <p:nvPr/>
        </p:nvSpPr>
        <p:spPr>
          <a:xfrm>
            <a:off x="457200" y="1188720"/>
            <a:ext cx="148498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Monolith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one app, one server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1942186" y="1691640"/>
            <a:ext cx="20116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box Microservices 10s of small services"/>
          <p:cNvSpPr/>
          <p:nvPr/>
        </p:nvSpPr>
        <p:spPr>
          <a:xfrm>
            <a:off x="2143354" y="1188720"/>
            <a:ext cx="1484986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box text Microservices 10s of small services"/>
          <p:cNvSpPr txBox="1"/>
          <p:nvPr/>
        </p:nvSpPr>
        <p:spPr>
          <a:xfrm>
            <a:off x="2143354" y="1188720"/>
            <a:ext cx="148498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Microservices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10s of small services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3628339" y="1691640"/>
            <a:ext cx="20116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box Containers 100s of running containers"/>
          <p:cNvSpPr/>
          <p:nvPr/>
        </p:nvSpPr>
        <p:spPr>
          <a:xfrm>
            <a:off x="3829507" y="1188720"/>
            <a:ext cx="1484986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box text Containers 100s of running containers"/>
          <p:cNvSpPr txBox="1"/>
          <p:nvPr/>
        </p:nvSpPr>
        <p:spPr>
          <a:xfrm>
            <a:off x="3829507" y="1188720"/>
            <a:ext cx="148498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Containers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100s of running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containers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5314493" y="1691640"/>
            <a:ext cx="20116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box Many servers who runs what, where?"/>
          <p:cNvSpPr/>
          <p:nvPr/>
        </p:nvSpPr>
        <p:spPr>
          <a:xfrm>
            <a:off x="5515661" y="1188720"/>
            <a:ext cx="1484986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6" name="box text Many servers who runs what, where?"/>
          <p:cNvSpPr txBox="1"/>
          <p:nvPr/>
        </p:nvSpPr>
        <p:spPr>
          <a:xfrm>
            <a:off x="5515661" y="1188720"/>
            <a:ext cx="148498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Many servers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who runs what,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where?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7000646" y="1691640"/>
            <a:ext cx="20116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box Orchestrator Kubernetes"/>
          <p:cNvSpPr/>
          <p:nvPr/>
        </p:nvSpPr>
        <p:spPr>
          <a:xfrm>
            <a:off x="7201814" y="1188720"/>
            <a:ext cx="1484986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box text Orchestrator Kubernetes"/>
          <p:cNvSpPr txBox="1"/>
          <p:nvPr/>
        </p:nvSpPr>
        <p:spPr>
          <a:xfrm>
            <a:off x="7201814" y="1188720"/>
            <a:ext cx="148498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Orchestrator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Kubernetes</a:t>
            </a:r>
            <a:endParaRPr lang="en-US" sz="1100" dirty="0"/>
          </a:p>
        </p:txBody>
      </p:sp>
      <p:sp>
        <p:nvSpPr>
          <p:cNvPr id="20" name="What an orchestrator gives you card"/>
          <p:cNvSpPr/>
          <p:nvPr/>
        </p:nvSpPr>
        <p:spPr>
          <a:xfrm>
            <a:off x="457200" y="2423160"/>
            <a:ext cx="40233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What an orchestrator gives you circle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What an orchestrator gives you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9748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3444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an orchestrator gives you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" y="320040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High availability: no downtime for users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Scalability: more copies when load rises, fewer when it drops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Disaster recovery: restore state from backup and keep running</a:t>
            </a:r>
            <a:endParaRPr lang="en-US" sz="1300" dirty="0"/>
          </a:p>
        </p:txBody>
      </p:sp>
      <p:sp>
        <p:nvSpPr>
          <p:cNvPr id="25" name="Where it runs card"/>
          <p:cNvSpPr/>
          <p:nvPr/>
        </p:nvSpPr>
        <p:spPr>
          <a:xfrm>
            <a:off x="4663440" y="2423160"/>
            <a:ext cx="40233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Where it runs circle"/>
          <p:cNvSpPr/>
          <p:nvPr/>
        </p:nvSpPr>
        <p:spPr>
          <a:xfrm>
            <a:off x="4846320" y="26060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Where it ru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974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44068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Where it runs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4846320" y="320040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Physical servers in your data centre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Virtual machines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Any cloud: AWS, GCP, Azure (managed: EKS, GKE, AKS)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Hybrid: a mix of all of them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 · Main Kubernetes components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Pod · Service · Ingress · ConfigMap · Secret · Volume · Deployment · StatefulSet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Node and Pod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node box"/>
          <p:cNvSpPr/>
          <p:nvPr/>
        </p:nvSpPr>
        <p:spPr>
          <a:xfrm>
            <a:off x="457200" y="1097280"/>
            <a:ext cx="4754880" cy="283464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161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Node (worker machine)</a:t>
            </a:r>
            <a:endParaRPr lang="en-US" sz="1200" dirty="0"/>
          </a:p>
        </p:txBody>
      </p:sp>
      <p:sp>
        <p:nvSpPr>
          <p:cNvPr id="8" name="pod1"/>
          <p:cNvSpPr/>
          <p:nvPr/>
        </p:nvSpPr>
        <p:spPr>
          <a:xfrm>
            <a:off x="640080" y="155448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Pod: my-app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IP 10.244.0.5</a:t>
            </a:r>
            <a:endParaRPr lang="en-US" sz="1100" dirty="0"/>
          </a:p>
        </p:txBody>
      </p:sp>
      <p:sp>
        <p:nvSpPr>
          <p:cNvPr id="10" name="box container node app"/>
          <p:cNvSpPr/>
          <p:nvPr/>
        </p:nvSpPr>
        <p:spPr>
          <a:xfrm>
            <a:off x="868680" y="2194560"/>
            <a:ext cx="164592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box text container node app"/>
          <p:cNvSpPr txBox="1"/>
          <p:nvPr/>
        </p:nvSpPr>
        <p:spPr>
          <a:xfrm>
            <a:off x="868680" y="2194560"/>
            <a:ext cx="16459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container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node app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(one app container per Pod, usually)</a:t>
            </a:r>
            <a:endParaRPr lang="en-US" sz="900" dirty="0"/>
          </a:p>
        </p:txBody>
      </p:sp>
      <p:sp>
        <p:nvSpPr>
          <p:cNvPr id="13" name="pod2"/>
          <p:cNvSpPr/>
          <p:nvPr/>
        </p:nvSpPr>
        <p:spPr>
          <a:xfrm>
            <a:off x="2926080" y="155448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Pod: 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IP 10.244.0.9</a:t>
            </a:r>
            <a:endParaRPr lang="en-US" sz="1100" dirty="0"/>
          </a:p>
        </p:txBody>
      </p:sp>
      <p:sp>
        <p:nvSpPr>
          <p:cNvPr id="15" name="box container mongodb"/>
          <p:cNvSpPr/>
          <p:nvPr/>
        </p:nvSpPr>
        <p:spPr>
          <a:xfrm>
            <a:off x="3154680" y="2194560"/>
            <a:ext cx="164592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box text container mongodb"/>
          <p:cNvSpPr txBox="1"/>
          <p:nvPr/>
        </p:nvSpPr>
        <p:spPr>
          <a:xfrm>
            <a:off x="3154680" y="2194560"/>
            <a:ext cx="16459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container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mongodb</a:t>
            </a:r>
            <a:endParaRPr lang="en-US" sz="1100" dirty="0"/>
          </a:p>
        </p:txBody>
      </p:sp>
      <p:sp>
        <p:nvSpPr>
          <p:cNvPr id="17" name="Pod card"/>
          <p:cNvSpPr/>
          <p:nvPr/>
        </p:nvSpPr>
        <p:spPr>
          <a:xfrm>
            <a:off x="5486400" y="1097280"/>
            <a:ext cx="320040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od circle"/>
          <p:cNvSpPr/>
          <p:nvPr/>
        </p:nvSpPr>
        <p:spPr>
          <a:xfrm>
            <a:off x="56692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Po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7160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26364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Pod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5669280" y="18745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Smallest unit in K8s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Abstraction over a container: you don't touch Docker directly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Own IP from the cluster's internal network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Ephemeral: dies → replaced by a NEW Pod with a NEW IP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So: never address a Pod by IP</a:t>
            </a:r>
            <a:endParaRPr lang="en-US" sz="1200" dirty="0"/>
          </a:p>
        </p:txBody>
      </p:sp>
      <p:sp>
        <p:nvSpPr>
          <p:cNvPr id="22" name="box Node = machine. Pod = the running unit on it. Pods are mortal, which is why the next component exists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box text Node = machine. Pod = the running unit on it. Pods are mortal, which is why the next component exists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Node = machine. Pod = the running unit on it. Pods are mortal, which is why the next component exists.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Service and Ingress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box Browser my-app.com"/>
          <p:cNvSpPr/>
          <p:nvPr/>
        </p:nvSpPr>
        <p:spPr>
          <a:xfrm>
            <a:off x="457200" y="1188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box text Browser my-app.com"/>
          <p:cNvSpPr txBox="1"/>
          <p:nvPr/>
        </p:nvSpPr>
        <p:spPr>
          <a:xfrm>
            <a:off x="457200" y="1188720"/>
            <a:ext cx="1463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Browser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my-app.com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1920240" y="155448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box Ingress routes by host / path"/>
          <p:cNvSpPr/>
          <p:nvPr/>
        </p:nvSpPr>
        <p:spPr>
          <a:xfrm>
            <a:off x="2377440" y="118872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box text Ingress routes by host / path"/>
          <p:cNvSpPr txBox="1"/>
          <p:nvPr/>
        </p:nvSpPr>
        <p:spPr>
          <a:xfrm>
            <a:off x="237744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Ingress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routes by host / path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3931920" y="155448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box Service: my-app (external)"/>
          <p:cNvSpPr/>
          <p:nvPr/>
        </p:nvSpPr>
        <p:spPr>
          <a:xfrm>
            <a:off x="438912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box text Service: my-app (external)"/>
          <p:cNvSpPr txBox="1"/>
          <p:nvPr/>
        </p:nvSpPr>
        <p:spPr>
          <a:xfrm>
            <a:off x="438912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Service: my-app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(external)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6126480" y="155448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box Pod my-app"/>
          <p:cNvSpPr/>
          <p:nvPr/>
        </p:nvSpPr>
        <p:spPr>
          <a:xfrm>
            <a:off x="6583680" y="1188720"/>
            <a:ext cx="91440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box text Pod my-app"/>
          <p:cNvSpPr txBox="1"/>
          <p:nvPr/>
        </p:nvSpPr>
        <p:spPr>
          <a:xfrm>
            <a:off x="6583680" y="1188720"/>
            <a:ext cx="914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my-app</a:t>
            </a:r>
            <a:endParaRPr lang="en-US" sz="1000" dirty="0"/>
          </a:p>
        </p:txBody>
      </p:sp>
      <p:sp>
        <p:nvSpPr>
          <p:cNvPr id="17" name="box Pod my-app"/>
          <p:cNvSpPr/>
          <p:nvPr/>
        </p:nvSpPr>
        <p:spPr>
          <a:xfrm>
            <a:off x="7680960" y="1188720"/>
            <a:ext cx="91440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box text Pod my-app"/>
          <p:cNvSpPr txBox="1"/>
          <p:nvPr/>
        </p:nvSpPr>
        <p:spPr>
          <a:xfrm>
            <a:off x="7680960" y="1188720"/>
            <a:ext cx="914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my-app</a:t>
            </a:r>
            <a:endParaRPr lang="en-US" sz="1000" dirty="0"/>
          </a:p>
        </p:txBody>
      </p:sp>
      <p:sp>
        <p:nvSpPr>
          <p:cNvPr id="19" name="box Service: mongodb (internal only)"/>
          <p:cNvSpPr/>
          <p:nvPr/>
        </p:nvSpPr>
        <p:spPr>
          <a:xfrm>
            <a:off x="4389120" y="228600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box text Service: mongodb (internal only)"/>
          <p:cNvSpPr txBox="1"/>
          <p:nvPr/>
        </p:nvSpPr>
        <p:spPr>
          <a:xfrm>
            <a:off x="438912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Service: mongodb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(internal only)</a:t>
            </a:r>
            <a:endParaRPr lang="en-US" sz="1100" dirty="0"/>
          </a:p>
        </p:txBody>
      </p:sp>
      <p:sp>
        <p:nvSpPr>
          <p:cNvPr id="21" name="arrow"/>
          <p:cNvSpPr/>
          <p:nvPr/>
        </p:nvSpPr>
        <p:spPr>
          <a:xfrm>
            <a:off x="6126480" y="265176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box Pod mongodb"/>
          <p:cNvSpPr/>
          <p:nvPr/>
        </p:nvSpPr>
        <p:spPr>
          <a:xfrm>
            <a:off x="6583680" y="2286000"/>
            <a:ext cx="91440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box text Pod mongodb"/>
          <p:cNvSpPr txBox="1"/>
          <p:nvPr/>
        </p:nvSpPr>
        <p:spPr>
          <a:xfrm>
            <a:off x="658368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mongodb</a:t>
            </a:r>
            <a:endParaRPr lang="en-US" sz="1000" dirty="0"/>
          </a:p>
        </p:txBody>
      </p:sp>
      <p:sp>
        <p:nvSpPr>
          <p:cNvPr id="24" name="arrow"/>
          <p:cNvSpPr/>
          <p:nvPr/>
        </p:nvSpPr>
        <p:spPr>
          <a:xfrm flipH="1">
            <a:off x="5257800" y="1920240"/>
            <a:ext cx="1783080" cy="36576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457200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app talks to the DB by Service name</a:t>
            </a:r>
            <a:endParaRPr lang="en-US" sz="900" dirty="0"/>
          </a:p>
        </p:txBody>
      </p:sp>
      <p:sp>
        <p:nvSpPr>
          <p:cNvPr id="26" name="Service card"/>
          <p:cNvSpPr/>
          <p:nvPr/>
        </p:nvSpPr>
        <p:spPr>
          <a:xfrm>
            <a:off x="457200" y="2286000"/>
            <a:ext cx="36576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ervice circle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8" name="Servi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603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23444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640080" y="30632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Stable IP + DNS name; outlives Pods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Load-balances across the Pods it selects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Internal (ClusterIP) for databases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External (NodePort / LoadBalancer) for apps</a:t>
            </a:r>
            <a:endParaRPr lang="en-US" sz="1100" dirty="0"/>
          </a:p>
        </p:txBody>
      </p:sp>
      <p:sp>
        <p:nvSpPr>
          <p:cNvPr id="31" name="box Ingress: the entry point for external traffic. my-app.com → Service → Pods.  Handles domains, paths, TLS. Without it you'd expose http://&lt;node-ip&gt;:30XXX."/>
          <p:cNvSpPr/>
          <p:nvPr/>
        </p:nvSpPr>
        <p:spPr>
          <a:xfrm>
            <a:off x="4389120" y="3200400"/>
            <a:ext cx="4297680" cy="1280160"/>
          </a:xfrm>
          <a:prstGeom prst="roundRect">
            <a:avLst>
              <a:gd name="adj" fmla="val 571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2" name="box text Ingress: the entry point for external traffic. my-app.com → Service → Pods.  Handles domains, paths, TLS. Without it you&amp;apos;d expose http://&amp;lt;node-ip&amp;gt;:30XXX."/>
          <p:cNvSpPr txBox="1"/>
          <p:nvPr/>
        </p:nvSpPr>
        <p:spPr>
          <a:xfrm>
            <a:off x="4389120" y="3200400"/>
            <a:ext cx="42976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Ingress: the entry point for external traffic.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my-app.com → Service → Pods.  Handles domains, paths, TLS.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Without it you'd expose http://&lt;node-ip&gt;:30XXX.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ConfigMap and Secret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nfigMap card"/>
          <p:cNvSpPr/>
          <p:nvPr/>
        </p:nvSpPr>
        <p:spPr>
          <a:xfrm>
            <a:off x="457200" y="109728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onfigMap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ConfigMa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ConfigMap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External configuration for your app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Plain key / values: DB_URL=mongodb-service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Change config without rebuilding the image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Consumed as env vars or mounted files</a:t>
            </a:r>
            <a:endParaRPr lang="en-US" sz="1200" dirty="0"/>
          </a:p>
        </p:txBody>
      </p:sp>
      <p:sp>
        <p:nvSpPr>
          <p:cNvPr id="11" name="Secret card"/>
          <p:cNvSpPr/>
          <p:nvPr/>
        </p:nvSpPr>
        <p:spPr>
          <a:xfrm>
            <a:off x="4663440" y="10972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Secret circle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Secre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Secret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18745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For sensitive data: passwords, tokens, certs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base64-encoded: encoding, not encryption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Enable encryption at rest, or use Vault / KMS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Never commit real secrets to git</a:t>
            </a:r>
            <a:endParaRPr lang="en-US" sz="1200" dirty="0"/>
          </a:p>
        </p:txBody>
      </p:sp>
      <p:sp>
        <p:nvSpPr>
          <p:cNvPr id="16" name="box ConfigMap DB_URL"/>
          <p:cNvSpPr/>
          <p:nvPr/>
        </p:nvSpPr>
        <p:spPr>
          <a:xfrm>
            <a:off x="457200" y="342900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box text ConfigMap DB_URL"/>
          <p:cNvSpPr txBox="1"/>
          <p:nvPr/>
        </p:nvSpPr>
        <p:spPr>
          <a:xfrm>
            <a:off x="457200" y="3429000"/>
            <a:ext cx="14630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ConfigMap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DB_URL</a:t>
            </a:r>
            <a:endParaRPr lang="en-US" sz="1100" dirty="0"/>
          </a:p>
        </p:txBody>
      </p:sp>
      <p:sp>
        <p:nvSpPr>
          <p:cNvPr id="18" name="box Secret DB_USER, DB_PWD"/>
          <p:cNvSpPr/>
          <p:nvPr/>
        </p:nvSpPr>
        <p:spPr>
          <a:xfrm>
            <a:off x="2103120" y="342900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9" name="box text Secret DB_USER, DB_PWD"/>
          <p:cNvSpPr txBox="1"/>
          <p:nvPr/>
        </p:nvSpPr>
        <p:spPr>
          <a:xfrm>
            <a:off x="2103120" y="3429000"/>
            <a:ext cx="14630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Secret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DB_USER, DB_PWD</a:t>
            </a:r>
            <a:endParaRPr lang="en-US" sz="1100" dirty="0"/>
          </a:p>
        </p:txBody>
      </p:sp>
      <p:sp>
        <p:nvSpPr>
          <p:cNvPr id="20" name="arrow"/>
          <p:cNvSpPr/>
          <p:nvPr/>
        </p:nvSpPr>
        <p:spPr>
          <a:xfrm>
            <a:off x="3566160" y="3858768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box Pod my-app env: DB_URL, DB_USER, DB_PWD"/>
          <p:cNvSpPr/>
          <p:nvPr/>
        </p:nvSpPr>
        <p:spPr>
          <a:xfrm>
            <a:off x="4023360" y="342900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box text Pod my-app env: DB_URL, DB_USER, DB_PWD"/>
          <p:cNvSpPr txBox="1"/>
          <p:nvPr/>
        </p:nvSpPr>
        <p:spPr>
          <a:xfrm>
            <a:off x="4023360" y="3429000"/>
            <a:ext cx="27432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 my-app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env: DB_URL, DB_USER, DB_PWD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949440" y="3429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the image never changes;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only the config does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Volumes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luster box"/>
          <p:cNvSpPr/>
          <p:nvPr/>
        </p:nvSpPr>
        <p:spPr>
          <a:xfrm>
            <a:off x="457200" y="1097280"/>
            <a:ext cx="4572000" cy="246888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161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Kubernetes cluster</a:t>
            </a:r>
            <a:endParaRPr lang="en-US" sz="1200" dirty="0"/>
          </a:p>
        </p:txBody>
      </p:sp>
      <p:sp>
        <p:nvSpPr>
          <p:cNvPr id="8" name="box Pod mongodb (restarts, moves, dies)"/>
          <p:cNvSpPr/>
          <p:nvPr/>
        </p:nvSpPr>
        <p:spPr>
          <a:xfrm>
            <a:off x="731520" y="160020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box text Pod mongodb (restarts, moves, dies)"/>
          <p:cNvSpPr txBox="1"/>
          <p:nvPr/>
        </p:nvSpPr>
        <p:spPr>
          <a:xfrm>
            <a:off x="731520" y="1600200"/>
            <a:ext cx="20116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 mongodb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(restarts, moves, dies)</a:t>
            </a:r>
            <a:endParaRPr lang="en-US" sz="1000" dirty="0"/>
          </a:p>
        </p:txBody>
      </p:sp>
      <p:sp>
        <p:nvSpPr>
          <p:cNvPr id="10" name="box Volume /data/db"/>
          <p:cNvSpPr/>
          <p:nvPr/>
        </p:nvSpPr>
        <p:spPr>
          <a:xfrm>
            <a:off x="3017520" y="16002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box text Volume /data/db"/>
          <p:cNvSpPr txBox="1"/>
          <p:nvPr/>
        </p:nvSpPr>
        <p:spPr>
          <a:xfrm>
            <a:off x="3017520" y="1600200"/>
            <a:ext cx="18288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Volume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/data/db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>
            <a:off x="2743200" y="205740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arrow"/>
          <p:cNvSpPr/>
          <p:nvPr/>
        </p:nvSpPr>
        <p:spPr>
          <a:xfrm>
            <a:off x="3931920" y="2514600"/>
            <a:ext cx="0" cy="4114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box node disk / cloud disk / NFS"/>
          <p:cNvSpPr/>
          <p:nvPr/>
        </p:nvSpPr>
        <p:spPr>
          <a:xfrm>
            <a:off x="3017520" y="2926080"/>
            <a:ext cx="182880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box text node disk / cloud disk / NFS"/>
          <p:cNvSpPr txBox="1"/>
          <p:nvPr/>
        </p:nvSpPr>
        <p:spPr>
          <a:xfrm>
            <a:off x="301752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node disk / cloud disk / NFS</a:t>
            </a:r>
            <a:endParaRPr lang="en-US" sz="1000" dirty="0"/>
          </a:p>
        </p:txBody>
      </p:sp>
      <p:sp>
        <p:nvSpPr>
          <p:cNvPr id="16" name="Volumes card"/>
          <p:cNvSpPr/>
          <p:nvPr/>
        </p:nvSpPr>
        <p:spPr>
          <a:xfrm>
            <a:off x="5303520" y="1097280"/>
            <a:ext cx="338328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Volumes circle"/>
          <p:cNvSpPr/>
          <p:nvPr/>
        </p:nvSpPr>
        <p:spPr>
          <a:xfrm>
            <a:off x="548640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Volum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7160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080760" y="1280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Volumes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0" y="1874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Attach physical storage to a Pod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Local (on the node) or remote (outside the cluster)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survives Pod restarts and rescheduling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K8s doesn't manage persistence: you configure it</a:t>
            </a:r>
            <a:endParaRPr lang="en-US" sz="1200" dirty="0"/>
          </a:p>
        </p:txBody>
      </p:sp>
      <p:sp>
        <p:nvSpPr>
          <p:cNvPr id="21" name="box Think of the volume as an external hard drive plugged into the cluster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box text Think of the volume as an external hard drive plugged into the cluster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Think of the volume as an external hard drive plugged into the cluster.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Deployment and StatefulSet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Deployment card"/>
          <p:cNvSpPr/>
          <p:nvPr/>
        </p:nvSpPr>
        <p:spPr>
          <a:xfrm>
            <a:off x="457200" y="109728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eployment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Deploymen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Deployment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"Run N replicas of this Pod template"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For stateless apps (web, API)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Pods are interchangeable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Scale, roll out, roll 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Service in front spreads the load</a:t>
            </a:r>
            <a:endParaRPr lang="en-US" sz="1300" dirty="0"/>
          </a:p>
        </p:txBody>
      </p:sp>
      <p:sp>
        <p:nvSpPr>
          <p:cNvPr id="11" name="StatefulSet card"/>
          <p:cNvSpPr/>
          <p:nvPr/>
        </p:nvSpPr>
        <p:spPr>
          <a:xfrm>
            <a:off x="4663440" y="109728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efulSet circle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StatefulSe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StatefulSet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1874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For stateful apps: databases, queues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Pods get stable names: mongo-0, mongo-1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Each Pod gets its own persistent volume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Ordered start / stop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Harder: replication, leader election are your job</a:t>
            </a:r>
            <a:endParaRPr lang="en-US" sz="1300" dirty="0"/>
          </a:p>
        </p:txBody>
      </p:sp>
      <p:sp>
        <p:nvSpPr>
          <p:cNvPr id="16" name="box Rule of thumb: stateless → Deployment. Stateful → StatefulSet, or run the database outside the cluster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box text Rule of thumb: stateless → Deployment. Stateful → StatefulSet, or run the database outside the cluster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Rule of thumb: stateless → Deployment. Stateful → StatefulSet, or run the database outside the cluster.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All components, one picture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box Browser"/>
          <p:cNvSpPr/>
          <p:nvPr/>
        </p:nvSpPr>
        <p:spPr>
          <a:xfrm>
            <a:off x="457200" y="11887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box text Browser"/>
          <p:cNvSpPr txBox="1"/>
          <p:nvPr/>
        </p:nvSpPr>
        <p:spPr>
          <a:xfrm>
            <a:off x="457200" y="1188720"/>
            <a:ext cx="1188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Browser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1645920" y="1508760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box Ingress"/>
          <p:cNvSpPr/>
          <p:nvPr/>
        </p:nvSpPr>
        <p:spPr>
          <a:xfrm>
            <a:off x="2011680" y="118872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box text Ingress"/>
          <p:cNvSpPr txBox="1"/>
          <p:nvPr/>
        </p:nvSpPr>
        <p:spPr>
          <a:xfrm>
            <a:off x="2011680" y="1188720"/>
            <a:ext cx="1188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Ingress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3200400" y="1508760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box Service my-app"/>
          <p:cNvSpPr/>
          <p:nvPr/>
        </p:nvSpPr>
        <p:spPr>
          <a:xfrm>
            <a:off x="3566160" y="11887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box text Service my-app"/>
          <p:cNvSpPr txBox="1"/>
          <p:nvPr/>
        </p:nvSpPr>
        <p:spPr>
          <a:xfrm>
            <a:off x="356616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my-app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 flipV="1">
            <a:off x="4937760" y="1188720"/>
            <a:ext cx="36576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4937760" y="1645920"/>
            <a:ext cx="365760" cy="2743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box Pod my-app"/>
          <p:cNvSpPr/>
          <p:nvPr/>
        </p:nvSpPr>
        <p:spPr>
          <a:xfrm>
            <a:off x="5303520" y="96012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box text Pod my-app"/>
          <p:cNvSpPr txBox="1"/>
          <p:nvPr/>
        </p:nvSpPr>
        <p:spPr>
          <a:xfrm>
            <a:off x="5303520" y="960120"/>
            <a:ext cx="1280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 my-app</a:t>
            </a:r>
            <a:endParaRPr lang="en-US" sz="1000" dirty="0"/>
          </a:p>
        </p:txBody>
      </p:sp>
      <p:sp>
        <p:nvSpPr>
          <p:cNvPr id="18" name="box Pod my-app"/>
          <p:cNvSpPr/>
          <p:nvPr/>
        </p:nvSpPr>
        <p:spPr>
          <a:xfrm>
            <a:off x="5303520" y="169164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box text Pod my-app"/>
          <p:cNvSpPr txBox="1"/>
          <p:nvPr/>
        </p:nvSpPr>
        <p:spPr>
          <a:xfrm>
            <a:off x="530352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 my-app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212080" y="2194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Deployment · 2 replicas</a:t>
            </a:r>
            <a:endParaRPr lang="en-US" sz="900" dirty="0"/>
          </a:p>
        </p:txBody>
      </p:sp>
      <p:sp>
        <p:nvSpPr>
          <p:cNvPr id="21" name="arrow"/>
          <p:cNvSpPr/>
          <p:nvPr/>
        </p:nvSpPr>
        <p:spPr>
          <a:xfrm>
            <a:off x="6583680" y="1508760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box Service mongodb (internal)"/>
          <p:cNvSpPr/>
          <p:nvPr/>
        </p:nvSpPr>
        <p:spPr>
          <a:xfrm>
            <a:off x="6949440" y="118872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3" name="box text Service mongodb (internal)"/>
          <p:cNvSpPr txBox="1"/>
          <p:nvPr/>
        </p:nvSpPr>
        <p:spPr>
          <a:xfrm>
            <a:off x="6949440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mongodb (internal)</a:t>
            </a:r>
            <a:endParaRPr lang="en-US" sz="1000" dirty="0"/>
          </a:p>
        </p:txBody>
      </p:sp>
      <p:sp>
        <p:nvSpPr>
          <p:cNvPr id="24" name="arrow"/>
          <p:cNvSpPr/>
          <p:nvPr/>
        </p:nvSpPr>
        <p:spPr>
          <a:xfrm>
            <a:off x="7818120" y="1828800"/>
            <a:ext cx="0" cy="4572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box Pod mongodb-0"/>
          <p:cNvSpPr/>
          <p:nvPr/>
        </p:nvSpPr>
        <p:spPr>
          <a:xfrm>
            <a:off x="6949440" y="228600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box text Pod mongodb-0"/>
          <p:cNvSpPr txBox="1"/>
          <p:nvPr/>
        </p:nvSpPr>
        <p:spPr>
          <a:xfrm>
            <a:off x="694944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 mongodb-0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949440" y="2761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StatefulSet</a:t>
            </a:r>
            <a:endParaRPr lang="en-US" sz="900" dirty="0"/>
          </a:p>
        </p:txBody>
      </p:sp>
      <p:sp>
        <p:nvSpPr>
          <p:cNvPr id="28" name="arrow"/>
          <p:cNvSpPr/>
          <p:nvPr/>
        </p:nvSpPr>
        <p:spPr>
          <a:xfrm>
            <a:off x="7818120" y="3017520"/>
            <a:ext cx="0" cy="36576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9" name="box Volume"/>
          <p:cNvSpPr/>
          <p:nvPr/>
        </p:nvSpPr>
        <p:spPr>
          <a:xfrm>
            <a:off x="6949440" y="33832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0" name="box text Volume"/>
          <p:cNvSpPr txBox="1"/>
          <p:nvPr/>
        </p:nvSpPr>
        <p:spPr>
          <a:xfrm>
            <a:off x="694944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Volume</a:t>
            </a:r>
            <a:endParaRPr lang="en-US" sz="1100" dirty="0"/>
          </a:p>
        </p:txBody>
      </p:sp>
      <p:sp>
        <p:nvSpPr>
          <p:cNvPr id="31" name="box ConfigMap"/>
          <p:cNvSpPr/>
          <p:nvPr/>
        </p:nvSpPr>
        <p:spPr>
          <a:xfrm>
            <a:off x="3566160" y="27432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2" name="box text ConfigMap"/>
          <p:cNvSpPr txBox="1"/>
          <p:nvPr/>
        </p:nvSpPr>
        <p:spPr>
          <a:xfrm>
            <a:off x="356616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ConfigMap</a:t>
            </a:r>
            <a:endParaRPr lang="en-US" sz="1100" dirty="0"/>
          </a:p>
        </p:txBody>
      </p:sp>
      <p:sp>
        <p:nvSpPr>
          <p:cNvPr id="33" name="box Secret"/>
          <p:cNvSpPr/>
          <p:nvPr/>
        </p:nvSpPr>
        <p:spPr>
          <a:xfrm>
            <a:off x="3566160" y="3337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box text Secret"/>
          <p:cNvSpPr txBox="1"/>
          <p:nvPr/>
        </p:nvSpPr>
        <p:spPr>
          <a:xfrm>
            <a:off x="356616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Secret</a:t>
            </a:r>
            <a:endParaRPr lang="en-US" sz="1100" dirty="0"/>
          </a:p>
        </p:txBody>
      </p:sp>
      <p:sp>
        <p:nvSpPr>
          <p:cNvPr id="35" name="arrow"/>
          <p:cNvSpPr/>
          <p:nvPr/>
        </p:nvSpPr>
        <p:spPr>
          <a:xfrm flipV="1">
            <a:off x="4937760" y="2194560"/>
            <a:ext cx="457200" cy="79552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6" name="arrow"/>
          <p:cNvSpPr/>
          <p:nvPr/>
        </p:nvSpPr>
        <p:spPr>
          <a:xfrm flipV="1">
            <a:off x="4937760" y="2194560"/>
            <a:ext cx="548640" cy="138988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502920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env vars</a:t>
            </a:r>
            <a:endParaRPr lang="en-US" sz="900" dirty="0"/>
          </a:p>
        </p:txBody>
      </p:sp>
      <p:sp>
        <p:nvSpPr>
          <p:cNvPr id="38" name="box Pod · Service · Ingress · ConfigMap · Secret · Volume · Deployment · StatefulSet: the vocabulary for the whole course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box text Pod · Service · Ingress · ConfigMap · Secret · Volume · Deployment · StatefulSet: the vocabulary for the whole course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Pod · Service · Ingress · ConfigMap · Secret · Volume · Deployment · StatefulSet: the vocabulary for the whole course.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3 · Kubernetes architecture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Worker nodes do the work. The control plane decides.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Worker node: three processes on every node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worker box"/>
          <p:cNvSpPr/>
          <p:nvPr/>
        </p:nvSpPr>
        <p:spPr>
          <a:xfrm>
            <a:off x="457200" y="1097280"/>
            <a:ext cx="4754880" cy="3383280"/>
          </a:xfrm>
          <a:prstGeom prst="roundRect">
            <a:avLst>
              <a:gd name="adj" fmla="val 27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161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Worker node</a:t>
            </a:r>
            <a:endParaRPr lang="en-US" sz="1300" dirty="0"/>
          </a:p>
        </p:txBody>
      </p:sp>
      <p:sp>
        <p:nvSpPr>
          <p:cNvPr id="8" name="box kubelet"/>
          <p:cNvSpPr/>
          <p:nvPr/>
        </p:nvSpPr>
        <p:spPr>
          <a:xfrm>
            <a:off x="640080" y="1554480"/>
            <a:ext cx="164592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box text kubelet"/>
          <p:cNvSpPr txBox="1"/>
          <p:nvPr/>
        </p:nvSpPr>
        <p:spPr>
          <a:xfrm>
            <a:off x="640080" y="1554480"/>
            <a:ext cx="1645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kubelet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37744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agent: talks to the runtime and the node, starts Pods, assigns resources</a:t>
            </a:r>
            <a:endParaRPr lang="en-US" sz="1050" dirty="0"/>
          </a:p>
        </p:txBody>
      </p:sp>
      <p:sp>
        <p:nvSpPr>
          <p:cNvPr id="11" name="box kube-proxy"/>
          <p:cNvSpPr/>
          <p:nvPr/>
        </p:nvSpPr>
        <p:spPr>
          <a:xfrm>
            <a:off x="640080" y="2240280"/>
            <a:ext cx="164592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box text kube-proxy"/>
          <p:cNvSpPr txBox="1"/>
          <p:nvPr/>
        </p:nvSpPr>
        <p:spPr>
          <a:xfrm>
            <a:off x="64008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kube-proxy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routes Service traffic to Pods, prefers the local node</a:t>
            </a:r>
            <a:endParaRPr lang="en-US" sz="1050" dirty="0"/>
          </a:p>
        </p:txBody>
      </p:sp>
      <p:sp>
        <p:nvSpPr>
          <p:cNvPr id="14" name="box container runtime"/>
          <p:cNvSpPr/>
          <p:nvPr/>
        </p:nvSpPr>
        <p:spPr>
          <a:xfrm>
            <a:off x="640080" y="2926080"/>
            <a:ext cx="164592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box text container runtime"/>
          <p:cNvSpPr txBox="1"/>
          <p:nvPr/>
        </p:nvSpPr>
        <p:spPr>
          <a:xfrm>
            <a:off x="64008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container runtime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37744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containerd / CRI-O: actually runs the containers</a:t>
            </a:r>
            <a:endParaRPr lang="en-US" sz="1050" dirty="0"/>
          </a:p>
        </p:txBody>
      </p:sp>
      <p:sp>
        <p:nvSpPr>
          <p:cNvPr id="17" name="box Pod"/>
          <p:cNvSpPr/>
          <p:nvPr/>
        </p:nvSpPr>
        <p:spPr>
          <a:xfrm>
            <a:off x="640080" y="3703320"/>
            <a:ext cx="10058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box text Pod"/>
          <p:cNvSpPr txBox="1"/>
          <p:nvPr/>
        </p:nvSpPr>
        <p:spPr>
          <a:xfrm>
            <a:off x="640080" y="3703320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</a:t>
            </a:r>
            <a:endParaRPr lang="en-US" sz="1000" dirty="0"/>
          </a:p>
        </p:txBody>
      </p:sp>
      <p:sp>
        <p:nvSpPr>
          <p:cNvPr id="19" name="box Pod"/>
          <p:cNvSpPr/>
          <p:nvPr/>
        </p:nvSpPr>
        <p:spPr>
          <a:xfrm>
            <a:off x="1783080" y="3703320"/>
            <a:ext cx="10058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box text Pod"/>
          <p:cNvSpPr txBox="1"/>
          <p:nvPr/>
        </p:nvSpPr>
        <p:spPr>
          <a:xfrm>
            <a:off x="1783080" y="3703320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</a:t>
            </a:r>
            <a:endParaRPr lang="en-US" sz="1000" dirty="0"/>
          </a:p>
        </p:txBody>
      </p:sp>
      <p:sp>
        <p:nvSpPr>
          <p:cNvPr id="21" name="box Pod"/>
          <p:cNvSpPr/>
          <p:nvPr/>
        </p:nvSpPr>
        <p:spPr>
          <a:xfrm>
            <a:off x="2926080" y="3703320"/>
            <a:ext cx="10058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box text Pod"/>
          <p:cNvSpPr txBox="1"/>
          <p:nvPr/>
        </p:nvSpPr>
        <p:spPr>
          <a:xfrm>
            <a:off x="2926080" y="3703320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703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…</a:t>
            </a:r>
            <a:endParaRPr lang="en-US" sz="1400" dirty="0"/>
          </a:p>
        </p:txBody>
      </p:sp>
      <p:sp>
        <p:nvSpPr>
          <p:cNvPr id="24" name="Why three card"/>
          <p:cNvSpPr/>
          <p:nvPr/>
        </p:nvSpPr>
        <p:spPr>
          <a:xfrm>
            <a:off x="5486400" y="1097280"/>
            <a:ext cx="3200400" cy="338328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Why three circle"/>
          <p:cNvSpPr/>
          <p:nvPr/>
        </p:nvSpPr>
        <p:spPr>
          <a:xfrm>
            <a:off x="56692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Why thre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7160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26364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three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5669280" y="187452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Runtime: the thing that runs containers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kubelet: the bridge between the cluster and the machine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kube-proxy: the bridge between Services and Pods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Worker nodes carry the real workload and need the most CPU / RAM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Control plane: four processes that manage the cluster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p box"/>
          <p:cNvSpPr/>
          <p:nvPr/>
        </p:nvSpPr>
        <p:spPr>
          <a:xfrm>
            <a:off x="457200" y="1097280"/>
            <a:ext cx="4754880" cy="3383280"/>
          </a:xfrm>
          <a:prstGeom prst="roundRect">
            <a:avLst>
              <a:gd name="adj" fmla="val 270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161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Control plane (master node)</a:t>
            </a:r>
            <a:endParaRPr lang="en-US" sz="1300" dirty="0"/>
          </a:p>
        </p:txBody>
      </p:sp>
      <p:sp>
        <p:nvSpPr>
          <p:cNvPr id="8" name="box API server"/>
          <p:cNvSpPr/>
          <p:nvPr/>
        </p:nvSpPr>
        <p:spPr>
          <a:xfrm>
            <a:off x="640080" y="1554480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box text API server"/>
          <p:cNvSpPr txBox="1"/>
          <p:nvPr/>
        </p:nvSpPr>
        <p:spPr>
          <a:xfrm>
            <a:off x="640080" y="1554480"/>
            <a:ext cx="16459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API server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377440" y="15544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the gateway: every request (kubectl, UI, API) is authenticated and validated here</a:t>
            </a:r>
            <a:endParaRPr lang="en-US" sz="1000" dirty="0"/>
          </a:p>
        </p:txBody>
      </p:sp>
      <p:sp>
        <p:nvSpPr>
          <p:cNvPr id="11" name="box Scheduler"/>
          <p:cNvSpPr/>
          <p:nvPr/>
        </p:nvSpPr>
        <p:spPr>
          <a:xfrm>
            <a:off x="640080" y="2267712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box text Scheduler"/>
          <p:cNvSpPr txBox="1"/>
          <p:nvPr/>
        </p:nvSpPr>
        <p:spPr>
          <a:xfrm>
            <a:off x="640080" y="2267712"/>
            <a:ext cx="16459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Scheduler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22677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decides WHICH node a new Pod goes on (resources, load). kubelet then starts it</a:t>
            </a:r>
            <a:endParaRPr lang="en-US" sz="1000" dirty="0"/>
          </a:p>
        </p:txBody>
      </p:sp>
      <p:sp>
        <p:nvSpPr>
          <p:cNvPr id="14" name="box Controller manager"/>
          <p:cNvSpPr/>
          <p:nvPr/>
        </p:nvSpPr>
        <p:spPr>
          <a:xfrm>
            <a:off x="640080" y="2980944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box text Controller manager"/>
          <p:cNvSpPr txBox="1"/>
          <p:nvPr/>
        </p:nvSpPr>
        <p:spPr>
          <a:xfrm>
            <a:off x="640080" y="2980944"/>
            <a:ext cx="16459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Controller manager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377440" y="29809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detects state changes (a Pod died) and triggers rescheduling</a:t>
            </a:r>
            <a:endParaRPr lang="en-US" sz="1000" dirty="0"/>
          </a:p>
        </p:txBody>
      </p:sp>
      <p:sp>
        <p:nvSpPr>
          <p:cNvPr id="17" name="box etcd"/>
          <p:cNvSpPr/>
          <p:nvPr/>
        </p:nvSpPr>
        <p:spPr>
          <a:xfrm>
            <a:off x="640080" y="3694176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box text etcd"/>
          <p:cNvSpPr txBox="1"/>
          <p:nvPr/>
        </p:nvSpPr>
        <p:spPr>
          <a:xfrm>
            <a:off x="640080" y="3694176"/>
            <a:ext cx="16459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etcd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377440" y="36941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the cluster brain: key-value store of ALL cluster state. Not application data</a:t>
            </a:r>
            <a:endParaRPr lang="en-US" sz="1000" dirty="0"/>
          </a:p>
        </p:txBody>
      </p:sp>
      <p:sp>
        <p:nvSpPr>
          <p:cNvPr id="20" name="How a request flows card"/>
          <p:cNvSpPr/>
          <p:nvPr/>
        </p:nvSpPr>
        <p:spPr>
          <a:xfrm>
            <a:off x="5486400" y="1097280"/>
            <a:ext cx="3200400" cy="338328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How a request flows circle"/>
          <p:cNvSpPr/>
          <p:nvPr/>
        </p:nvSpPr>
        <p:spPr>
          <a:xfrm>
            <a:off x="56692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How a request flow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7160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26364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a request flows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5669280" y="187452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kubectl → API server (validate)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API server → etcd (store desired state)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Scheduler sees unscheduled Pod → picks node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kubelet on that node → starts the Pod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Pod dies → controller manager → reschedule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Cluster setup: from laptop to production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master 0"/>
          <p:cNvSpPr/>
          <p:nvPr/>
        </p:nvSpPr>
        <p:spPr>
          <a:xfrm>
            <a:off x="457200" y="118872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EDE9FE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master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API · sched 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ctrl · etcd</a:t>
            </a:r>
            <a:endParaRPr lang="en-US" sz="1000" dirty="0"/>
          </a:p>
        </p:txBody>
      </p:sp>
      <p:sp>
        <p:nvSpPr>
          <p:cNvPr id="8" name="master 1"/>
          <p:cNvSpPr/>
          <p:nvPr/>
        </p:nvSpPr>
        <p:spPr>
          <a:xfrm>
            <a:off x="1828800" y="118872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EDE9FE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28800" y="1188720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master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API · sched 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ctrl · etcd</a:t>
            </a:r>
            <a:endParaRPr lang="en-US" sz="1000" dirty="0"/>
          </a:p>
        </p:txBody>
      </p:sp>
      <p:sp>
        <p:nvSpPr>
          <p:cNvPr id="10" name="worker 0"/>
          <p:cNvSpPr/>
          <p:nvPr/>
        </p:nvSpPr>
        <p:spPr>
          <a:xfrm>
            <a:off x="3657600" y="118872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57600" y="1188720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worker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kubelet · proxy 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runtime · Pods</a:t>
            </a:r>
            <a:endParaRPr lang="en-US" sz="1000" dirty="0"/>
          </a:p>
        </p:txBody>
      </p:sp>
      <p:sp>
        <p:nvSpPr>
          <p:cNvPr id="12" name="worker 1"/>
          <p:cNvSpPr/>
          <p:nvPr/>
        </p:nvSpPr>
        <p:spPr>
          <a:xfrm>
            <a:off x="5029200" y="118872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0" y="1188720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worker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kubelet · proxy 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runtime · Pods</a:t>
            </a:r>
            <a:endParaRPr lang="en-US" sz="1000" dirty="0"/>
          </a:p>
        </p:txBody>
      </p:sp>
      <p:sp>
        <p:nvSpPr>
          <p:cNvPr id="14" name="worker 2"/>
          <p:cNvSpPr/>
          <p:nvPr/>
        </p:nvSpPr>
        <p:spPr>
          <a:xfrm>
            <a:off x="6400800" y="118872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1188720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worker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kubelet · proxy 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runtime · Pods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11887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+ worker 4 when you need more capacity</a:t>
            </a:r>
            <a:endParaRPr lang="en-US" sz="900" dirty="0"/>
          </a:p>
        </p:txBody>
      </p:sp>
      <p:sp>
        <p:nvSpPr>
          <p:cNvPr id="17" name="Production card"/>
          <p:cNvSpPr/>
          <p:nvPr/>
        </p:nvSpPr>
        <p:spPr>
          <a:xfrm>
            <a:off x="457200" y="2651760"/>
            <a:ext cx="40233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roduction circle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Produ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92608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34440" y="2834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Production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Several masters: API servers load-balanced, etcd replicated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Workers sized for the workload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Managed clouds run the control plane for you</a:t>
            </a:r>
            <a:endParaRPr lang="en-US" sz="1200" dirty="0"/>
          </a:p>
        </p:txBody>
      </p:sp>
      <p:sp>
        <p:nvSpPr>
          <p:cNvPr id="22" name="Learning (this course) card"/>
          <p:cNvSpPr/>
          <p:nvPr/>
        </p:nvSpPr>
        <p:spPr>
          <a:xfrm>
            <a:off x="4663440" y="2651760"/>
            <a:ext cx="40233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Learning (this course) circle"/>
          <p:cNvSpPr/>
          <p:nvPr/>
        </p:nvSpPr>
        <p:spPr>
          <a:xfrm>
            <a:off x="4846320" y="28346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Learning (this course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92608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440680" y="2834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Learning (this course)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484632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minikube: master + worker processes on ONE machine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Runs as a container or VM on your laptop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Same kubectl, same YAML, same concepts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4 · minikube and kubectl: local setup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 one-node cluster on your laptop, and the CLI to talk to it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 minikube and kubectl are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laptop box"/>
          <p:cNvSpPr/>
          <p:nvPr/>
        </p:nvSpPr>
        <p:spPr>
          <a:xfrm>
            <a:off x="457200" y="1097280"/>
            <a:ext cx="4937760" cy="27432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161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Your laptop</a:t>
            </a:r>
            <a:endParaRPr lang="en-US" sz="1200" dirty="0"/>
          </a:p>
        </p:txBody>
      </p:sp>
      <p:sp>
        <p:nvSpPr>
          <p:cNvPr id="8" name="box kubectl (CLI client)"/>
          <p:cNvSpPr/>
          <p:nvPr/>
        </p:nvSpPr>
        <p:spPr>
          <a:xfrm>
            <a:off x="640080" y="15544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box text kubectl (CLI client)"/>
          <p:cNvSpPr txBox="1"/>
          <p:nvPr/>
        </p:nvSpPr>
        <p:spPr>
          <a:xfrm>
            <a:off x="64008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kubectl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(CLI client)</a:t>
            </a:r>
            <a:endParaRPr lang="en-US" sz="1100" dirty="0"/>
          </a:p>
        </p:txBody>
      </p:sp>
      <p:sp>
        <p:nvSpPr>
          <p:cNvPr id="10" name="arrow"/>
          <p:cNvSpPr/>
          <p:nvPr/>
        </p:nvSpPr>
        <p:spPr>
          <a:xfrm>
            <a:off x="2103120" y="1965960"/>
            <a:ext cx="5486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mk box"/>
          <p:cNvSpPr/>
          <p:nvPr/>
        </p:nvSpPr>
        <p:spPr>
          <a:xfrm>
            <a:off x="2651760" y="150876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4320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minikube node (Docker container or VM)</a:t>
            </a:r>
            <a:endParaRPr lang="en-US" sz="1000" dirty="0"/>
          </a:p>
        </p:txBody>
      </p:sp>
      <p:sp>
        <p:nvSpPr>
          <p:cNvPr id="13" name="box control plane: API · sched · ctrl · etcd"/>
          <p:cNvSpPr/>
          <p:nvPr/>
        </p:nvSpPr>
        <p:spPr>
          <a:xfrm>
            <a:off x="2743200" y="1874520"/>
            <a:ext cx="242316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box text control plane: API · sched · ctrl · etcd"/>
          <p:cNvSpPr txBox="1"/>
          <p:nvPr/>
        </p:nvSpPr>
        <p:spPr>
          <a:xfrm>
            <a:off x="2743200" y="1874520"/>
            <a:ext cx="24231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control plane: API · sched · ctrl · etcd</a:t>
            </a:r>
            <a:endParaRPr lang="en-US" sz="900" dirty="0"/>
          </a:p>
        </p:txBody>
      </p:sp>
      <p:sp>
        <p:nvSpPr>
          <p:cNvPr id="15" name="box worker: kubelet · proxy · runtime"/>
          <p:cNvSpPr/>
          <p:nvPr/>
        </p:nvSpPr>
        <p:spPr>
          <a:xfrm>
            <a:off x="2743200" y="246888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box text worker: kubelet · proxy · runtime"/>
          <p:cNvSpPr txBox="1"/>
          <p:nvPr/>
        </p:nvSpPr>
        <p:spPr>
          <a:xfrm>
            <a:off x="2743200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worker: kubelet · proxy · runtime</a:t>
            </a:r>
            <a:endParaRPr lang="en-US" sz="900" dirty="0"/>
          </a:p>
        </p:txBody>
      </p:sp>
      <p:sp>
        <p:nvSpPr>
          <p:cNvPr id="17" name="box Pod"/>
          <p:cNvSpPr/>
          <p:nvPr/>
        </p:nvSpPr>
        <p:spPr>
          <a:xfrm>
            <a:off x="2743200" y="3063240"/>
            <a:ext cx="73152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box text Pod"/>
          <p:cNvSpPr txBox="1"/>
          <p:nvPr/>
        </p:nvSpPr>
        <p:spPr>
          <a:xfrm>
            <a:off x="274320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</a:t>
            </a:r>
            <a:endParaRPr lang="en-US" sz="1000" dirty="0"/>
          </a:p>
        </p:txBody>
      </p:sp>
      <p:sp>
        <p:nvSpPr>
          <p:cNvPr id="19" name="box Pod"/>
          <p:cNvSpPr/>
          <p:nvPr/>
        </p:nvSpPr>
        <p:spPr>
          <a:xfrm>
            <a:off x="3566160" y="3063240"/>
            <a:ext cx="73152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box text Pod"/>
          <p:cNvSpPr txBox="1"/>
          <p:nvPr/>
        </p:nvSpPr>
        <p:spPr>
          <a:xfrm>
            <a:off x="356616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</a:t>
            </a:r>
            <a:endParaRPr lang="en-US" sz="1000" dirty="0"/>
          </a:p>
        </p:txBody>
      </p:sp>
      <p:sp>
        <p:nvSpPr>
          <p:cNvPr id="21" name="box Pod"/>
          <p:cNvSpPr/>
          <p:nvPr/>
        </p:nvSpPr>
        <p:spPr>
          <a:xfrm>
            <a:off x="4389120" y="3063240"/>
            <a:ext cx="77724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box text Pod"/>
          <p:cNvSpPr txBox="1"/>
          <p:nvPr/>
        </p:nvSpPr>
        <p:spPr>
          <a:xfrm>
            <a:off x="4389120" y="3063240"/>
            <a:ext cx="7772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</a:t>
            </a:r>
            <a:endParaRPr lang="en-US" sz="1000" dirty="0"/>
          </a:p>
        </p:txBody>
      </p:sp>
      <p:sp>
        <p:nvSpPr>
          <p:cNvPr id="23" name="Two tools card"/>
          <p:cNvSpPr/>
          <p:nvPr/>
        </p:nvSpPr>
        <p:spPr>
          <a:xfrm>
            <a:off x="5669280" y="1097280"/>
            <a:ext cx="30175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wo tools circle"/>
          <p:cNvSpPr/>
          <p:nvPr/>
        </p:nvSpPr>
        <p:spPr>
          <a:xfrm>
            <a:off x="585216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Two tool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446520" y="1280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 tools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5852160" y="18745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minikube: creates and manages the local cluster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kubectl: talks to the API server of ANY cluster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Later: kubectl config use-context switches between minikube and a cloud cluster</a:t>
            </a:r>
            <a:endParaRPr lang="en-US" sz="1200" dirty="0"/>
          </a:p>
        </p:txBody>
      </p:sp>
      <p:sp>
        <p:nvSpPr>
          <p:cNvPr id="28" name="box minikube is only for learning and testing. kubectl is what you'll use for the rest of your career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box text minikube is only for learning and testing. kubectl is what you&amp;apos;ll use for the rest of your career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minikube is only for learning and testing. kubectl is what you'll use for the rest of your career.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Install and start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594360" y="11430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minikube          # installs kubectl too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a cluster (docker driver, the default)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minikube start --driver=docker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nodes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       STATUS   ROLES           AGE   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minikube   Ready    control-plane   40s   v1.31.0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minikube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host: Running  kubelet: Running  apiserver: Running  kubeconfig: Configured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version      # client + server versions</a:t>
            </a:r>
            <a:endParaRPr lang="en-US" sz="950" dirty="0"/>
          </a:p>
        </p:txBody>
      </p:sp>
      <p:sp>
        <p:nvSpPr>
          <p:cNvPr id="8" name="Useful minikube commands card"/>
          <p:cNvSpPr/>
          <p:nvPr/>
        </p:nvSpPr>
        <p:spPr>
          <a:xfrm>
            <a:off x="5760720" y="1051560"/>
            <a:ext cx="2926080" cy="356616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Useful minikube commands circle"/>
          <p:cNvSpPr/>
          <p:nvPr/>
        </p:nvSpPr>
        <p:spPr>
          <a:xfrm>
            <a:off x="5943600" y="12344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Useful minikube command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325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7960" y="1234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Useful minikube commands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182880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minikube stop / start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minikube delete (fresh cluster)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minikube dashboard (web UI)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minikube service &lt;name&gt; (open a NodePort)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minikube ip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minikube addons enable ingress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5 · Main kubectl commands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Create, read, update, delete, debug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You work with Deployments, not Pods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box Deployment nginx-depl"/>
          <p:cNvSpPr/>
          <p:nvPr/>
        </p:nvSpPr>
        <p:spPr>
          <a:xfrm>
            <a:off x="457200" y="128016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box text Deployment nginx-depl"/>
          <p:cNvSpPr txBox="1"/>
          <p:nvPr/>
        </p:nvSpPr>
        <p:spPr>
          <a:xfrm>
            <a:off x="45720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nginx-depl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2834640" y="169164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box ReplicaSet nginx-depl-5c8bf76b5b"/>
          <p:cNvSpPr/>
          <p:nvPr/>
        </p:nvSpPr>
        <p:spPr>
          <a:xfrm>
            <a:off x="3291840" y="128016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box text ReplicaSet nginx-depl-5c8bf76b5b"/>
          <p:cNvSpPr txBox="1"/>
          <p:nvPr/>
        </p:nvSpPr>
        <p:spPr>
          <a:xfrm>
            <a:off x="329184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ReplicaSet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nginx-depl-5c8bf76b5b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5669280" y="169164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box Pod nginx-depl-5c8bf76b5b-abc12"/>
          <p:cNvSpPr/>
          <p:nvPr/>
        </p:nvSpPr>
        <p:spPr>
          <a:xfrm>
            <a:off x="6126480" y="1280160"/>
            <a:ext cx="256032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box text Pod nginx-depl-5c8bf76b5b-abc12"/>
          <p:cNvSpPr txBox="1"/>
          <p:nvPr/>
        </p:nvSpPr>
        <p:spPr>
          <a:xfrm>
            <a:off x="612648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nginx-depl-5c8bf76b5b-abc12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you create this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created for you: manages replicas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created for you: the running unit</a:t>
            </a:r>
            <a:endParaRPr lang="en-US" sz="1000" dirty="0"/>
          </a:p>
        </p:txBody>
      </p:sp>
      <p:sp>
        <p:nvSpPr>
          <p:cNvPr id="17" name="code bg"/>
          <p:cNvSpPr/>
          <p:nvPr/>
        </p:nvSpPr>
        <p:spPr>
          <a:xfrm>
            <a:off x="457200" y="2560320"/>
            <a:ext cx="8229600" cy="2011680"/>
          </a:xfrm>
          <a:prstGeom prst="roundRect">
            <a:avLst>
              <a:gd name="adj" fmla="val 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code"/>
          <p:cNvSpPr txBox="1"/>
          <p:nvPr/>
        </p:nvSpPr>
        <p:spPr>
          <a:xfrm>
            <a:off x="594360" y="2651760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deployment nginx-depl --image=nginx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deployment            # nginx-depl   1/1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replicaset            # nginx-depl-5c8bf76b5b   1   1  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                   # nginx-depl-5c8bf76b5b-abc12   Running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edit deployment nginx-depl     # change image: nginx:1.27 → save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                        # new pod created, old one Terminating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The command families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reate &amp; delete card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reate &amp; delete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Create &amp; dele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Create &amp; delete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create deployment &lt;name&gt; --image=&lt;img&gt;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delete deployment &lt;name&gt;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edit deployment &lt;name&gt;</a:t>
            </a:r>
            <a:endParaRPr lang="en-US" sz="1100" dirty="0"/>
          </a:p>
        </p:txBody>
      </p:sp>
      <p:sp>
        <p:nvSpPr>
          <p:cNvPr id="11" name="Status card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us circle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Statu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Status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1874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get nodes | pod | service | deployment | replicaset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get all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get pod -o wide  (IP, node)</a:t>
            </a:r>
            <a:endParaRPr lang="en-US" sz="1100" dirty="0"/>
          </a:p>
        </p:txBody>
      </p:sp>
      <p:sp>
        <p:nvSpPr>
          <p:cNvPr id="16" name="Debug card"/>
          <p:cNvSpPr/>
          <p:nvPr/>
        </p:nvSpPr>
        <p:spPr>
          <a:xfrm>
            <a:off x="457200" y="283464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Debug circle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Debug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Debug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logs &lt;pod&gt;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describe pod &lt;pod&gt;  (events!)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exec -it &lt;pod&gt; -- /bin/bash</a:t>
            </a:r>
            <a:endParaRPr lang="en-US" sz="1100" dirty="0"/>
          </a:p>
        </p:txBody>
      </p:sp>
      <p:sp>
        <p:nvSpPr>
          <p:cNvPr id="21" name="Config files card"/>
          <p:cNvSpPr/>
          <p:nvPr/>
        </p:nvSpPr>
        <p:spPr>
          <a:xfrm>
            <a:off x="4663440" y="283464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onfig files circle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Config file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4068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Config files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4846320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apply -f config.yaml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delete -f config.yaml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get deployment &lt;name&gt; -o yaml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Debugging a Pod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box kubectl get pod what state is it in?"/>
          <p:cNvSpPr/>
          <p:nvPr/>
        </p:nvSpPr>
        <p:spPr>
          <a:xfrm>
            <a:off x="457200" y="1188720"/>
            <a:ext cx="1906524" cy="100584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box text kubectl get pod what state is it in?"/>
          <p:cNvSpPr txBox="1"/>
          <p:nvPr/>
        </p:nvSpPr>
        <p:spPr>
          <a:xfrm>
            <a:off x="457200" y="1188720"/>
            <a:ext cx="1906524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kubectl get pod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what state is it in?</a:t>
            </a:r>
            <a:endParaRPr lang="en-US" sz="1050" dirty="0"/>
          </a:p>
        </p:txBody>
      </p:sp>
      <p:sp>
        <p:nvSpPr>
          <p:cNvPr id="8" name="arrow"/>
          <p:cNvSpPr/>
          <p:nvPr/>
        </p:nvSpPr>
        <p:spPr>
          <a:xfrm>
            <a:off x="2363724" y="1691640"/>
            <a:ext cx="20116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box kubectl logs &lt;pod&gt; what did the app say?"/>
          <p:cNvSpPr/>
          <p:nvPr/>
        </p:nvSpPr>
        <p:spPr>
          <a:xfrm>
            <a:off x="2564892" y="1188720"/>
            <a:ext cx="1906524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box text kubectl logs &amp;lt;pod&amp;gt; what did the app say?"/>
          <p:cNvSpPr txBox="1"/>
          <p:nvPr/>
        </p:nvSpPr>
        <p:spPr>
          <a:xfrm>
            <a:off x="2564892" y="1188720"/>
            <a:ext cx="1906524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kubectl logs &lt;pod&gt;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what did the app say?</a:t>
            </a:r>
            <a:endParaRPr lang="en-US" sz="1050" dirty="0"/>
          </a:p>
        </p:txBody>
      </p:sp>
      <p:sp>
        <p:nvSpPr>
          <p:cNvPr id="11" name="arrow"/>
          <p:cNvSpPr/>
          <p:nvPr/>
        </p:nvSpPr>
        <p:spPr>
          <a:xfrm>
            <a:off x="4471416" y="1691640"/>
            <a:ext cx="20116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box kubectl describe pod &lt;pod&gt; what did K8s say? (Events)"/>
          <p:cNvSpPr/>
          <p:nvPr/>
        </p:nvSpPr>
        <p:spPr>
          <a:xfrm>
            <a:off x="4672584" y="1188720"/>
            <a:ext cx="1906524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box text kubectl describe pod &amp;lt;pod&amp;gt; what did K8s say? (Events)"/>
          <p:cNvSpPr txBox="1"/>
          <p:nvPr/>
        </p:nvSpPr>
        <p:spPr>
          <a:xfrm>
            <a:off x="4672584" y="1188720"/>
            <a:ext cx="1906524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kubectl describe pod &lt;pod&gt;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what did K8s say? (Events)</a:t>
            </a:r>
            <a:endParaRPr lang="en-US" sz="1050" dirty="0"/>
          </a:p>
        </p:txBody>
      </p:sp>
      <p:sp>
        <p:nvSpPr>
          <p:cNvPr id="14" name="arrow"/>
          <p:cNvSpPr/>
          <p:nvPr/>
        </p:nvSpPr>
        <p:spPr>
          <a:xfrm>
            <a:off x="6579108" y="1691640"/>
            <a:ext cx="20116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box kubectl exec -it &lt;pod&gt; -- sh look around inside"/>
          <p:cNvSpPr/>
          <p:nvPr/>
        </p:nvSpPr>
        <p:spPr>
          <a:xfrm>
            <a:off x="6780276" y="1188720"/>
            <a:ext cx="1906524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6" name="box text kubectl exec -it &amp;lt;pod&amp;gt; -- sh look around inside"/>
          <p:cNvSpPr txBox="1"/>
          <p:nvPr/>
        </p:nvSpPr>
        <p:spPr>
          <a:xfrm>
            <a:off x="6780276" y="1188720"/>
            <a:ext cx="1906524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kubectl exec -it &lt;pod&gt; -- sh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look around inside</a:t>
            </a:r>
            <a:endParaRPr lang="en-US" sz="1050" dirty="0"/>
          </a:p>
        </p:txBody>
      </p:sp>
      <p:graphicFrame>
        <p:nvGraphicFramePr>
          <p:cNvPr id="23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Running 1/1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healthy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ContainerCreating / Pending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pulling image or waiting for a node: wait, then describe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ErrImagePull / ImagePullBackOff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image name or tag wrong, or registry needs credentials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CrashLoopBackOff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the app starts and dies repeatedly: read the logs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6 · The Kubernetes YAML configuration file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metadata · spec · status, connected by labels and selectors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Every config file has the same three parts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          # API group/version for this kind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Deployment             # what you're describing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                   # 1 · identity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nginx-deployment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nginx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                        # 2 · desired state (depends on kind)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                     # 3 · actual state, written by K8s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availableReplicas: 2       #     compared to spec forever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readyReplicas: 2           #     (seen with kubectl get -o yaml)</a:t>
            </a:r>
            <a:endParaRPr lang="en-US" sz="950" dirty="0"/>
          </a:p>
        </p:txBody>
      </p:sp>
      <p:sp>
        <p:nvSpPr>
          <p:cNvPr id="8" name="box metadata"/>
          <p:cNvSpPr/>
          <p:nvPr/>
        </p:nvSpPr>
        <p:spPr>
          <a:xfrm>
            <a:off x="5623560" y="105156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box text metadata"/>
          <p:cNvSpPr txBox="1"/>
          <p:nvPr/>
        </p:nvSpPr>
        <p:spPr>
          <a:xfrm>
            <a:off x="5623560" y="1051560"/>
            <a:ext cx="13716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10515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name + labels: how things find each other</a:t>
            </a:r>
            <a:endParaRPr lang="en-US" sz="1050" dirty="0"/>
          </a:p>
        </p:txBody>
      </p:sp>
      <p:sp>
        <p:nvSpPr>
          <p:cNvPr id="11" name="box spec"/>
          <p:cNvSpPr/>
          <p:nvPr/>
        </p:nvSpPr>
        <p:spPr>
          <a:xfrm>
            <a:off x="5623560" y="192024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box text spec"/>
          <p:cNvSpPr txBox="1"/>
          <p:nvPr/>
        </p:nvSpPr>
        <p:spPr>
          <a:xfrm>
            <a:off x="56235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1920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what you want: replicas, image, ports</a:t>
            </a:r>
            <a:endParaRPr lang="en-US" sz="1050" dirty="0"/>
          </a:p>
        </p:txBody>
      </p:sp>
      <p:sp>
        <p:nvSpPr>
          <p:cNvPr id="14" name="box status"/>
          <p:cNvSpPr/>
          <p:nvPr/>
        </p:nvSpPr>
        <p:spPr>
          <a:xfrm>
            <a:off x="5623560" y="278892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box text status"/>
          <p:cNvSpPr txBox="1"/>
          <p:nvPr/>
        </p:nvSpPr>
        <p:spPr>
          <a:xfrm>
            <a:off x="5623560" y="2788920"/>
            <a:ext cx="13716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086600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what K8s observes. Desired ≠ actual → K8s acts</a:t>
            </a:r>
            <a:endParaRPr lang="en-US" sz="1050" dirty="0"/>
          </a:p>
        </p:txBody>
      </p:sp>
      <p:sp>
        <p:nvSpPr>
          <p:cNvPr id="17" name="box apiVersion / kind"/>
          <p:cNvSpPr/>
          <p:nvPr/>
        </p:nvSpPr>
        <p:spPr>
          <a:xfrm>
            <a:off x="5623560" y="365760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box text apiVersion / kind"/>
          <p:cNvSpPr txBox="1"/>
          <p:nvPr/>
        </p:nvSpPr>
        <p:spPr>
          <a:xfrm>
            <a:off x="5623560" y="3657600"/>
            <a:ext cx="13716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 / kind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086600" y="3657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apps/v1 Deployment, v1 Service / Pod / ConfigMap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Deployment: a template inside a spec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4206240" cy="35661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594360" y="114300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Deployment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nginx-deployment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nginx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app: nginx          # ← must match 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               # the Pod blueprint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labels: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app: nginx        # ← Pod label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name: nginx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image: nginx:1.27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ports: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containerPort: 8080</a:t>
            </a:r>
            <a:endParaRPr lang="en-US" sz="900" dirty="0"/>
          </a:p>
        </p:txBody>
      </p:sp>
      <p:sp>
        <p:nvSpPr>
          <p:cNvPr id="8" name="box replicas"/>
          <p:cNvSpPr/>
          <p:nvPr/>
        </p:nvSpPr>
        <p:spPr>
          <a:xfrm>
            <a:off x="4892040" y="105156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box text replicas"/>
          <p:cNvSpPr txBox="1"/>
          <p:nvPr/>
        </p:nvSpPr>
        <p:spPr>
          <a:xfrm>
            <a:off x="4892040" y="105156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0515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how many Pods from this template</a:t>
            </a:r>
            <a:endParaRPr lang="en-US" sz="1050" dirty="0"/>
          </a:p>
        </p:txBody>
      </p:sp>
      <p:sp>
        <p:nvSpPr>
          <p:cNvPr id="11" name="box selector"/>
          <p:cNvSpPr/>
          <p:nvPr/>
        </p:nvSpPr>
        <p:spPr>
          <a:xfrm>
            <a:off x="4892040" y="164592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box text selector"/>
          <p:cNvSpPr txBox="1"/>
          <p:nvPr/>
        </p:nvSpPr>
        <p:spPr>
          <a:xfrm>
            <a:off x="4892040" y="164592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16459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which Pods this Deployment owns, by label</a:t>
            </a:r>
            <a:endParaRPr lang="en-US" sz="1050" dirty="0"/>
          </a:p>
        </p:txBody>
      </p:sp>
      <p:sp>
        <p:nvSpPr>
          <p:cNvPr id="14" name="box template"/>
          <p:cNvSpPr/>
          <p:nvPr/>
        </p:nvSpPr>
        <p:spPr>
          <a:xfrm>
            <a:off x="4892040" y="224028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box text template"/>
          <p:cNvSpPr txBox="1"/>
          <p:nvPr/>
        </p:nvSpPr>
        <p:spPr>
          <a:xfrm>
            <a:off x="4892040" y="224028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2402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 Pod config nested inside: its own metadata + spec</a:t>
            </a:r>
            <a:endParaRPr lang="en-US" sz="1050" dirty="0"/>
          </a:p>
        </p:txBody>
      </p:sp>
      <p:sp>
        <p:nvSpPr>
          <p:cNvPr id="17" name="box labels"/>
          <p:cNvSpPr/>
          <p:nvPr/>
        </p:nvSpPr>
        <p:spPr>
          <a:xfrm>
            <a:off x="4892040" y="283464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box text labels"/>
          <p:cNvSpPr txBox="1"/>
          <p:nvPr/>
        </p:nvSpPr>
        <p:spPr>
          <a:xfrm>
            <a:off x="4892040" y="283464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8346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key/value tags; the glue between everything</a:t>
            </a:r>
            <a:endParaRPr lang="en-US" sz="1050" dirty="0"/>
          </a:p>
        </p:txBody>
      </p:sp>
      <p:sp>
        <p:nvSpPr>
          <p:cNvPr id="20" name="box containers"/>
          <p:cNvSpPr/>
          <p:nvPr/>
        </p:nvSpPr>
        <p:spPr>
          <a:xfrm>
            <a:off x="4892040" y="342900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box text containers"/>
          <p:cNvSpPr txBox="1"/>
          <p:nvPr/>
        </p:nvSpPr>
        <p:spPr>
          <a:xfrm>
            <a:off x="4892040" y="342900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3429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image, ports, env, resources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Service: connected by labels, ports chained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4206240" cy="35661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594360" y="114300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nginx-service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nginx            # ← the Pod label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protocol: TCP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port: 80            # Service 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targetPort: 8080    # = containerPort</a:t>
            </a:r>
            <a:endParaRPr lang="en-US" sz="1000" dirty="0"/>
          </a:p>
        </p:txBody>
      </p:sp>
      <p:sp>
        <p:nvSpPr>
          <p:cNvPr id="8" name="box selector"/>
          <p:cNvSpPr/>
          <p:nvPr/>
        </p:nvSpPr>
        <p:spPr>
          <a:xfrm>
            <a:off x="4892040" y="105156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box text selector"/>
          <p:cNvSpPr txBox="1"/>
          <p:nvPr/>
        </p:nvSpPr>
        <p:spPr>
          <a:xfrm>
            <a:off x="4892040" y="105156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0515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forward to Pods carrying this label</a:t>
            </a:r>
            <a:endParaRPr lang="en-US" sz="1050" dirty="0"/>
          </a:p>
        </p:txBody>
      </p:sp>
      <p:sp>
        <p:nvSpPr>
          <p:cNvPr id="11" name="box port"/>
          <p:cNvSpPr/>
          <p:nvPr/>
        </p:nvSpPr>
        <p:spPr>
          <a:xfrm>
            <a:off x="4892040" y="164592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box text port"/>
          <p:cNvSpPr txBox="1"/>
          <p:nvPr/>
        </p:nvSpPr>
        <p:spPr>
          <a:xfrm>
            <a:off x="4892040" y="164592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16459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the Service's port: what other Pods call</a:t>
            </a:r>
            <a:endParaRPr lang="en-US" sz="1050" dirty="0"/>
          </a:p>
        </p:txBody>
      </p:sp>
      <p:sp>
        <p:nvSpPr>
          <p:cNvPr id="14" name="box targetPort"/>
          <p:cNvSpPr/>
          <p:nvPr/>
        </p:nvSpPr>
        <p:spPr>
          <a:xfrm>
            <a:off x="4892040" y="224028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box text targetPort"/>
          <p:cNvSpPr txBox="1"/>
          <p:nvPr/>
        </p:nvSpPr>
        <p:spPr>
          <a:xfrm>
            <a:off x="4892040" y="224028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targetPort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2402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the container's port: must equal containerPort</a:t>
            </a:r>
            <a:endParaRPr lang="en-US" sz="1050" dirty="0"/>
          </a:p>
        </p:txBody>
      </p:sp>
      <p:sp>
        <p:nvSpPr>
          <p:cNvPr id="17" name="box Endpoints"/>
          <p:cNvSpPr/>
          <p:nvPr/>
        </p:nvSpPr>
        <p:spPr>
          <a:xfrm>
            <a:off x="4892040" y="283464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box text Endpoints"/>
          <p:cNvSpPr txBox="1"/>
          <p:nvPr/>
        </p:nvSpPr>
        <p:spPr>
          <a:xfrm>
            <a:off x="4892040" y="283464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8346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kubectl describe svc shows the Pod IPs it found</a:t>
            </a:r>
            <a:endParaRPr lang="en-US" sz="1050" dirty="0"/>
          </a:p>
        </p:txBody>
      </p:sp>
      <p:sp>
        <p:nvSpPr>
          <p:cNvPr id="20" name="box caller → nginx-service:80 → Pod 10.244.0.7:8080  kubectl describe service nginx-service   # Endpoints: 10.244.0.7:8080, 10.244.0.8:8080"/>
          <p:cNvSpPr/>
          <p:nvPr/>
        </p:nvSpPr>
        <p:spPr>
          <a:xfrm>
            <a:off x="4892040" y="356616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box text caller → nginx-service:80 → Pod 10.244.0.7:8080  kubectl describe service nginx-service   # Endpoints: 10.244.0.7:8080, 10.244.0.8:8080"/>
          <p:cNvSpPr txBox="1"/>
          <p:nvPr/>
        </p:nvSpPr>
        <p:spPr>
          <a:xfrm>
            <a:off x="4892040" y="3566160"/>
            <a:ext cx="3794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caller → nginx-service:80 → Pod 10.244.0.7:8080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describe service nginx-service   # Endpoints: 10.244.0.7:8080, 10.244.0.8:8080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7 · Demo project: MongoDB and Mongo Express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Two Deployments, two Services, a Secret and a ConfigMap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 we're building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box Browser"/>
          <p:cNvSpPr/>
          <p:nvPr/>
        </p:nvSpPr>
        <p:spPr>
          <a:xfrm>
            <a:off x="457200" y="12801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box text Browser"/>
          <p:cNvSpPr txBox="1"/>
          <p:nvPr/>
        </p:nvSpPr>
        <p:spPr>
          <a:xfrm>
            <a:off x="45720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Browser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1737360" y="169164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box mongo-express-service external (NodePort 30000)"/>
          <p:cNvSpPr/>
          <p:nvPr/>
        </p:nvSpPr>
        <p:spPr>
          <a:xfrm>
            <a:off x="2194560" y="128016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box text mongo-express-service external (NodePort 30000)"/>
          <p:cNvSpPr txBox="1"/>
          <p:nvPr/>
        </p:nvSpPr>
        <p:spPr>
          <a:xfrm>
            <a:off x="219456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mongo-express-service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external (NodePort 30000)</a:t>
            </a:r>
            <a:endParaRPr lang="en-US" sz="1000" dirty="0"/>
          </a:p>
        </p:txBody>
      </p:sp>
      <p:sp>
        <p:nvSpPr>
          <p:cNvPr id="11" name="arrow"/>
          <p:cNvSpPr/>
          <p:nvPr/>
        </p:nvSpPr>
        <p:spPr>
          <a:xfrm>
            <a:off x="3931920" y="169164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box Pod mongo-express"/>
          <p:cNvSpPr/>
          <p:nvPr/>
        </p:nvSpPr>
        <p:spPr>
          <a:xfrm>
            <a:off x="4389120" y="1280160"/>
            <a:ext cx="137160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box text Pod mongo-express"/>
          <p:cNvSpPr txBox="1"/>
          <p:nvPr/>
        </p:nvSpPr>
        <p:spPr>
          <a:xfrm>
            <a:off x="4389120" y="1280160"/>
            <a:ext cx="13716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mongo-express</a:t>
            </a:r>
            <a:endParaRPr lang="en-US" sz="1000" dirty="0"/>
          </a:p>
        </p:txBody>
      </p:sp>
      <p:sp>
        <p:nvSpPr>
          <p:cNvPr id="14" name="arrow"/>
          <p:cNvSpPr/>
          <p:nvPr/>
        </p:nvSpPr>
        <p:spPr>
          <a:xfrm>
            <a:off x="5760720" y="169164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box mongodb-service internal"/>
          <p:cNvSpPr/>
          <p:nvPr/>
        </p:nvSpPr>
        <p:spPr>
          <a:xfrm>
            <a:off x="6217920" y="12801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box text mongodb-service internal"/>
          <p:cNvSpPr txBox="1"/>
          <p:nvPr/>
        </p:nvSpPr>
        <p:spPr>
          <a:xfrm>
            <a:off x="6217920" y="1280160"/>
            <a:ext cx="11887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mongodb-service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internal</a:t>
            </a:r>
            <a:endParaRPr lang="en-US" sz="1000" dirty="0"/>
          </a:p>
        </p:txBody>
      </p:sp>
      <p:sp>
        <p:nvSpPr>
          <p:cNvPr id="17" name="arrow"/>
          <p:cNvSpPr/>
          <p:nvPr/>
        </p:nvSpPr>
        <p:spPr>
          <a:xfrm>
            <a:off x="7406640" y="1691640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box Pod mongodb"/>
          <p:cNvSpPr/>
          <p:nvPr/>
        </p:nvSpPr>
        <p:spPr>
          <a:xfrm>
            <a:off x="7772400" y="1280160"/>
            <a:ext cx="91440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box text Pod mongodb"/>
          <p:cNvSpPr txBox="1"/>
          <p:nvPr/>
        </p:nvSpPr>
        <p:spPr>
          <a:xfrm>
            <a:off x="7772400" y="1280160"/>
            <a:ext cx="9144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mongodb</a:t>
            </a:r>
            <a:endParaRPr lang="en-US" sz="1000" dirty="0"/>
          </a:p>
        </p:txBody>
      </p:sp>
      <p:sp>
        <p:nvSpPr>
          <p:cNvPr id="20" name="box ConfigMap database_url"/>
          <p:cNvSpPr/>
          <p:nvPr/>
        </p:nvSpPr>
        <p:spPr>
          <a:xfrm>
            <a:off x="2194560" y="24688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box text ConfigMap database_url"/>
          <p:cNvSpPr txBox="1"/>
          <p:nvPr/>
        </p:nvSpPr>
        <p:spPr>
          <a:xfrm>
            <a:off x="219456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ConfigMap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database_url</a:t>
            </a:r>
            <a:endParaRPr lang="en-US" sz="1000" dirty="0"/>
          </a:p>
        </p:txBody>
      </p:sp>
      <p:sp>
        <p:nvSpPr>
          <p:cNvPr id="22" name="box Secret username · password"/>
          <p:cNvSpPr/>
          <p:nvPr/>
        </p:nvSpPr>
        <p:spPr>
          <a:xfrm>
            <a:off x="4206240" y="24688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box text Secret username · password"/>
          <p:cNvSpPr txBox="1"/>
          <p:nvPr/>
        </p:nvSpPr>
        <p:spPr>
          <a:xfrm>
            <a:off x="420624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Secret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username · password</a:t>
            </a:r>
            <a:endParaRPr lang="en-US" sz="1000" dirty="0"/>
          </a:p>
        </p:txBody>
      </p:sp>
      <p:sp>
        <p:nvSpPr>
          <p:cNvPr id="24" name="arrow"/>
          <p:cNvSpPr/>
          <p:nvPr/>
        </p:nvSpPr>
        <p:spPr>
          <a:xfrm flipV="1">
            <a:off x="3108960" y="2103120"/>
            <a:ext cx="1737360" cy="36576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arrow"/>
          <p:cNvSpPr/>
          <p:nvPr/>
        </p:nvSpPr>
        <p:spPr>
          <a:xfrm flipV="1">
            <a:off x="5120640" y="2103120"/>
            <a:ext cx="0" cy="36576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arrow"/>
          <p:cNvSpPr/>
          <p:nvPr/>
        </p:nvSpPr>
        <p:spPr>
          <a:xfrm flipV="1">
            <a:off x="6035040" y="2103120"/>
            <a:ext cx="2194560" cy="5486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box 1"/>
          <p:cNvSpPr/>
          <p:nvPr/>
        </p:nvSpPr>
        <p:spPr>
          <a:xfrm>
            <a:off x="457200" y="3291840"/>
            <a:ext cx="320040" cy="27432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box text 1"/>
          <p:cNvSpPr txBox="1"/>
          <p:nvPr/>
        </p:nvSpPr>
        <p:spPr>
          <a:xfrm>
            <a:off x="457200" y="3291840"/>
            <a:ext cx="320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mongo-secret.yaml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2926080" y="3291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Secret: root username + password (base64)</a:t>
            </a:r>
            <a:endParaRPr lang="en-US" sz="1100" dirty="0"/>
          </a:p>
        </p:txBody>
      </p:sp>
      <p:sp>
        <p:nvSpPr>
          <p:cNvPr id="31" name="box 2"/>
          <p:cNvSpPr/>
          <p:nvPr/>
        </p:nvSpPr>
        <p:spPr>
          <a:xfrm>
            <a:off x="457200" y="3621024"/>
            <a:ext cx="320040" cy="27432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box text 2"/>
          <p:cNvSpPr txBox="1"/>
          <p:nvPr/>
        </p:nvSpPr>
        <p:spPr>
          <a:xfrm>
            <a:off x="457200" y="3621024"/>
            <a:ext cx="320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68680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mongo-configmap.yaml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2926080" y="36210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ConfigMap: database_url = mongodb-service</a:t>
            </a:r>
            <a:endParaRPr lang="en-US" sz="1100" dirty="0"/>
          </a:p>
        </p:txBody>
      </p:sp>
      <p:sp>
        <p:nvSpPr>
          <p:cNvPr id="35" name="box 3"/>
          <p:cNvSpPr/>
          <p:nvPr/>
        </p:nvSpPr>
        <p:spPr>
          <a:xfrm>
            <a:off x="457200" y="3950208"/>
            <a:ext cx="320040" cy="27432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box text 3"/>
          <p:cNvSpPr txBox="1"/>
          <p:nvPr/>
        </p:nvSpPr>
        <p:spPr>
          <a:xfrm>
            <a:off x="457200" y="3950208"/>
            <a:ext cx="320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868680" y="3950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mongo.yaml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926080" y="39502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Deployment mongodb + internal Service (ClusterIP :27017)</a:t>
            </a:r>
            <a:endParaRPr lang="en-US" sz="1100" dirty="0"/>
          </a:p>
        </p:txBody>
      </p:sp>
      <p:sp>
        <p:nvSpPr>
          <p:cNvPr id="39" name="box 4"/>
          <p:cNvSpPr/>
          <p:nvPr/>
        </p:nvSpPr>
        <p:spPr>
          <a:xfrm>
            <a:off x="457200" y="4279392"/>
            <a:ext cx="320040" cy="27432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box text 4"/>
          <p:cNvSpPr txBox="1"/>
          <p:nvPr/>
        </p:nvSpPr>
        <p:spPr>
          <a:xfrm>
            <a:off x="457200" y="4279392"/>
            <a:ext cx="320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868680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mongo-express.yaml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2926080" y="42793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Deployment mongo-express + external Service (NodePort :30000)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Step 1 · Secret, Step 2 · ConfigMap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4023360" cy="2194560"/>
          </a:xfrm>
          <a:prstGeom prst="roundRect">
            <a:avLst>
              <a:gd name="adj" fmla="val 41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594360" y="11430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mongo-secret.yaml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Secret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mongodb-secret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Opaque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echo -n 'username' | base64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mongo-root-username: dXNlcm5hbWU=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echo -n 'password' | base64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mongo-root-password: cGFzc3dvcmQ=</a:t>
            </a:r>
            <a:endParaRPr lang="en-US" sz="900" dirty="0"/>
          </a:p>
        </p:txBody>
      </p:sp>
      <p:sp>
        <p:nvSpPr>
          <p:cNvPr id="8" name="code bg"/>
          <p:cNvSpPr/>
          <p:nvPr/>
        </p:nvSpPr>
        <p:spPr>
          <a:xfrm>
            <a:off x="4663440" y="1051560"/>
            <a:ext cx="4023360" cy="2194560"/>
          </a:xfrm>
          <a:prstGeom prst="roundRect">
            <a:avLst>
              <a:gd name="adj" fmla="val 41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4800600" y="11430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mongo-configmap.yaml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ConfigMap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mongodb-configmap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= the internal Service 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database_url: mongodb-service</a:t>
            </a:r>
            <a:endParaRPr lang="en-US" sz="900" dirty="0"/>
          </a:p>
        </p:txBody>
      </p:sp>
      <p:sp>
        <p:nvSpPr>
          <p:cNvPr id="10" name="Secret card"/>
          <p:cNvSpPr/>
          <p:nvPr/>
        </p:nvSpPr>
        <p:spPr>
          <a:xfrm>
            <a:off x="457200" y="338328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" name="Secret circle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Secre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34440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Secret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base64 is reversible: anyone with cluster access can decode it. Don't commit real values; create them from a secrets manager in CI.</a:t>
            </a:r>
            <a:endParaRPr lang="en-US" sz="1100" dirty="0"/>
          </a:p>
        </p:txBody>
      </p:sp>
      <p:sp>
        <p:nvSpPr>
          <p:cNvPr id="15" name="ConfigMap card"/>
          <p:cNvSpPr/>
          <p:nvPr/>
        </p:nvSpPr>
        <p:spPr>
          <a:xfrm>
            <a:off x="4663440" y="338328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onfigMap circle"/>
          <p:cNvSpPr/>
          <p:nvPr/>
        </p:nvSpPr>
        <p:spPr>
          <a:xfrm>
            <a:off x="4846320" y="3566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ConfigMa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6576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40680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ConfigMap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Plain config. The URL is just the Service name because K8s has internal DNS. Create both before the Deployments that reference them.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Step 3 · MongoDB Deployment + internal Service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4206240" cy="35661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594360" y="114300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Deployment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{ name: mongodb-deployment, labels: { app: mongodb }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 { matchLabels: { app: mongodb }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metadata: { labels: { app: mongodb }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name: mongodb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image: mongo:7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ports: [{ containerPort: 27017 }]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env: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name: MONGO_INITDB_ROOT_USERNAME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valueFrom: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secretKeyRef: { name: mongodb-secret,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key: mongo-root-username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name: MONGO_INITDB_ROOT_PASSWORD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valueFrom: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secretKeyRef: { name: mongodb-secret,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key: mongo-root-password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Service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{ name: mongodb-service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 { app: mongodb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 [{ port: 27017, targetPort: 27017 }]</a:t>
            </a:r>
            <a:endParaRPr lang="en-US" sz="700" dirty="0"/>
          </a:p>
        </p:txBody>
      </p:sp>
      <p:sp>
        <p:nvSpPr>
          <p:cNvPr id="8" name="box valueFrom"/>
          <p:cNvSpPr/>
          <p:nvPr/>
        </p:nvSpPr>
        <p:spPr>
          <a:xfrm>
            <a:off x="4892040" y="105156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box text valueFrom"/>
          <p:cNvSpPr txBox="1"/>
          <p:nvPr/>
        </p:nvSpPr>
        <p:spPr>
          <a:xfrm>
            <a:off x="4892040" y="105156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valueFrom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0515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read the env value from a Secret key instead of writing it inline</a:t>
            </a:r>
            <a:endParaRPr lang="en-US" sz="1050" dirty="0"/>
          </a:p>
        </p:txBody>
      </p:sp>
      <p:sp>
        <p:nvSpPr>
          <p:cNvPr id="11" name="box secretKeyRef"/>
          <p:cNvSpPr/>
          <p:nvPr/>
        </p:nvSpPr>
        <p:spPr>
          <a:xfrm>
            <a:off x="4892040" y="164592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box text secretKeyRef"/>
          <p:cNvSpPr txBox="1"/>
          <p:nvPr/>
        </p:nvSpPr>
        <p:spPr>
          <a:xfrm>
            <a:off x="4892040" y="164592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secretKeyRef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16459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name of the Secret + which key inside it</a:t>
            </a:r>
            <a:endParaRPr lang="en-US" sz="1050" dirty="0"/>
          </a:p>
        </p:txBody>
      </p:sp>
      <p:sp>
        <p:nvSpPr>
          <p:cNvPr id="14" name="box ---"/>
          <p:cNvSpPr/>
          <p:nvPr/>
        </p:nvSpPr>
        <p:spPr>
          <a:xfrm>
            <a:off x="4892040" y="224028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box text ---"/>
          <p:cNvSpPr txBox="1"/>
          <p:nvPr/>
        </p:nvSpPr>
        <p:spPr>
          <a:xfrm>
            <a:off x="4892040" y="224028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2402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two objects in one file; applied together</a:t>
            </a:r>
            <a:endParaRPr lang="en-US" sz="1050" dirty="0"/>
          </a:p>
        </p:txBody>
      </p:sp>
      <p:sp>
        <p:nvSpPr>
          <p:cNvPr id="17" name="box no type"/>
          <p:cNvSpPr/>
          <p:nvPr/>
        </p:nvSpPr>
        <p:spPr>
          <a:xfrm>
            <a:off x="4892040" y="283464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box text no type"/>
          <p:cNvSpPr txBox="1"/>
          <p:nvPr/>
        </p:nvSpPr>
        <p:spPr>
          <a:xfrm>
            <a:off x="4892040" y="283464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type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8346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Service defaults to ClusterIP = internal only</a:t>
            </a:r>
            <a:endParaRPr lang="en-US" sz="1050" dirty="0"/>
          </a:p>
        </p:txBody>
      </p:sp>
      <p:sp>
        <p:nvSpPr>
          <p:cNvPr id="20" name="box port chain"/>
          <p:cNvSpPr/>
          <p:nvPr/>
        </p:nvSpPr>
        <p:spPr>
          <a:xfrm>
            <a:off x="4892040" y="342900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box text port chain"/>
          <p:cNvSpPr txBox="1"/>
          <p:nvPr/>
        </p:nvSpPr>
        <p:spPr>
          <a:xfrm>
            <a:off x="4892040" y="342900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chain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3429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Service :27017 → container :27017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Step 4 · Mongo Express Deployment + external Service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4754880" cy="35661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594360" y="114300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Deployment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{ name: mongo-express, labels: { app: mongo-express }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 { matchLabels: { app: mongo-express }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metadata: { labels: { app: mongo-express }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name: mongo-express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image: mongo-express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ports: [{ containerPort: 8081 }]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env: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name: ME_CONFIG_MONGODB_ADMINUSERNAME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valueFrom: { secretKeyRef: { name: mongodb-secret,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key: mongo-root-username }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name: ME_CONFIG_MONGODB_ADMINPASSWORD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valueFrom: { secretKeyRef: { name: mongodb-secret,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key: mongo-root-password }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name: ME_CONFIG_MONGODB_SERVER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valueFrom: { configMapKeyRef: { name: mongodb-configmap,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key: database_url }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Service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{ name: mongo-express-service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 { app: mongo-express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NodePort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 [{ port: 8081, targetPort: 8081, nodePort: 30000 }]</a:t>
            </a:r>
            <a:endParaRPr lang="en-US" sz="700" dirty="0"/>
          </a:p>
        </p:txBody>
      </p:sp>
      <p:sp>
        <p:nvSpPr>
          <p:cNvPr id="8" name="box configMapKeyRef"/>
          <p:cNvSpPr/>
          <p:nvPr/>
        </p:nvSpPr>
        <p:spPr>
          <a:xfrm>
            <a:off x="5440680" y="105156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box text configMapKeyRef"/>
          <p:cNvSpPr txBox="1"/>
          <p:nvPr/>
        </p:nvSpPr>
        <p:spPr>
          <a:xfrm>
            <a:off x="5440680" y="105156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configMapKeyRef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10515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same pattern as secretKeyRef, for the ConfigMap</a:t>
            </a:r>
            <a:endParaRPr lang="en-US" sz="1050" dirty="0"/>
          </a:p>
        </p:txBody>
      </p:sp>
      <p:sp>
        <p:nvSpPr>
          <p:cNvPr id="11" name="box type: NodePort"/>
          <p:cNvSpPr/>
          <p:nvPr/>
        </p:nvSpPr>
        <p:spPr>
          <a:xfrm>
            <a:off x="5440680" y="164592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box text type: NodePort"/>
          <p:cNvSpPr txBox="1"/>
          <p:nvPr/>
        </p:nvSpPr>
        <p:spPr>
          <a:xfrm>
            <a:off x="5440680" y="164592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NodePort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16459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external: opens a port on every node</a:t>
            </a:r>
            <a:endParaRPr lang="en-US" sz="1050" dirty="0"/>
          </a:p>
        </p:txBody>
      </p:sp>
      <p:sp>
        <p:nvSpPr>
          <p:cNvPr id="14" name="box nodePort"/>
          <p:cNvSpPr/>
          <p:nvPr/>
        </p:nvSpPr>
        <p:spPr>
          <a:xfrm>
            <a:off x="5440680" y="224028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box text nodePort"/>
          <p:cNvSpPr txBox="1"/>
          <p:nvPr/>
        </p:nvSpPr>
        <p:spPr>
          <a:xfrm>
            <a:off x="5440680" y="224028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nodePort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2402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30000–32767; what the browser hits</a:t>
            </a:r>
            <a:endParaRPr lang="en-US" sz="1050" dirty="0"/>
          </a:p>
        </p:txBody>
      </p:sp>
      <p:sp>
        <p:nvSpPr>
          <p:cNvPr id="17" name="box minikube service"/>
          <p:cNvSpPr/>
          <p:nvPr/>
        </p:nvSpPr>
        <p:spPr>
          <a:xfrm>
            <a:off x="5440680" y="2834640"/>
            <a:ext cx="132588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box text minikube service"/>
          <p:cNvSpPr txBox="1"/>
          <p:nvPr/>
        </p:nvSpPr>
        <p:spPr>
          <a:xfrm>
            <a:off x="5440680" y="2834640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minikube service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8346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minikube service mongo-express-service → opens the URL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Apply, verify, open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8229600" cy="2651760"/>
          </a:xfrm>
          <a:prstGeom prst="roundRect">
            <a:avLst>
              <a:gd name="adj" fmla="val 34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594360" y="1143000"/>
            <a:ext cx="7955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mongo-secret.yaml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mongo-configmap.yaml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mongo.yaml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mongo-express.yaml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all                               # 2 deployments, 2 replicasets, 2 pods, 2 services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 --watch                       # until both are Running 1/1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logs &lt;mongo-express-pod&gt;              # 'Mongo Express server listening at http://0.0.0.0:8081'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service                           # mongo-express-service   NodePort   8081:30000/TCP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minikube service mongo-express-service        # opens http://&lt;minikube-ip&gt;:30000 in your browser</a:t>
            </a:r>
            <a:endParaRPr lang="en-US" sz="1000" dirty="0"/>
          </a:p>
        </p:txBody>
      </p:sp>
      <p:sp>
        <p:nvSpPr>
          <p:cNvPr id="8" name="box Browser → NodePort 30000 → mongo-express Pod → mongodb-service:27017 → mongodb Pod. Config from ConfigMap, credentials from Secret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box text Browser → NodePort 30000 → mongo-express Pod → mongodb-service:27017 → mongodb Pod. Config from ConfigMap, credentials from Secret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Browser → NodePort 30000 → mongo-express Pod → mongodb-service:27017 → mongodb Pod. Config from ConfigMap, credentials from Secret.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8 · Organising components with namespaces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Virtual clusters inside your cluster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 namespaces are and the ones you already have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default card"/>
          <p:cNvSpPr/>
          <p:nvPr/>
        </p:nvSpPr>
        <p:spPr>
          <a:xfrm>
            <a:off x="457200" y="1097280"/>
            <a:ext cx="192024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efault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defaul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default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Where your resources land if you don't specify. What we've used so far</a:t>
            </a:r>
            <a:endParaRPr lang="en-US" sz="1100" dirty="0"/>
          </a:p>
        </p:txBody>
      </p:sp>
      <p:sp>
        <p:nvSpPr>
          <p:cNvPr id="11" name="kube-system card"/>
          <p:cNvSpPr/>
          <p:nvPr/>
        </p:nvSpPr>
        <p:spPr>
          <a:xfrm>
            <a:off x="2715768" y="1097280"/>
            <a:ext cx="192024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kube-system circle"/>
          <p:cNvSpPr/>
          <p:nvPr/>
        </p:nvSpPr>
        <p:spPr>
          <a:xfrm>
            <a:off x="2898648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kube-system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93008" y="1280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kube-system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898648" y="1874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System Pods: API server, scheduler, DNS. Don't create things here</a:t>
            </a:r>
            <a:endParaRPr lang="en-US" sz="1100" dirty="0"/>
          </a:p>
        </p:txBody>
      </p:sp>
      <p:sp>
        <p:nvSpPr>
          <p:cNvPr id="16" name="kube-public card"/>
          <p:cNvSpPr/>
          <p:nvPr/>
        </p:nvSpPr>
        <p:spPr>
          <a:xfrm>
            <a:off x="4965192" y="1097280"/>
            <a:ext cx="192024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kube-public circle"/>
          <p:cNvSpPr/>
          <p:nvPr/>
        </p:nvSpPr>
        <p:spPr>
          <a:xfrm>
            <a:off x="5148072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kube-publ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371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742432" y="1280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kube-public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148072" y="1874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Publicly readable cluster info (a ConfigMap). kubectl cluster-info</a:t>
            </a:r>
            <a:endParaRPr lang="en-US" sz="1100" dirty="0"/>
          </a:p>
        </p:txBody>
      </p:sp>
      <p:sp>
        <p:nvSpPr>
          <p:cNvPr id="21" name="kube-node-lease card"/>
          <p:cNvSpPr/>
          <p:nvPr/>
        </p:nvSpPr>
        <p:spPr>
          <a:xfrm>
            <a:off x="7223760" y="1097280"/>
            <a:ext cx="1463040" cy="21031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kube-node-lease circle"/>
          <p:cNvSpPr/>
          <p:nvPr/>
        </p:nvSpPr>
        <p:spPr>
          <a:xfrm>
            <a:off x="740664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kube-node-leas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3716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001000" y="1280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kube-node-lease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7406640" y="187452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Node heartbeats: availability info</a:t>
            </a:r>
            <a:endParaRPr lang="en-US" sz="1000" dirty="0"/>
          </a:p>
        </p:txBody>
      </p:sp>
      <p:sp>
        <p:nvSpPr>
          <p:cNvPr id="26" name="code bg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code"/>
          <p:cNvSpPr txBox="1"/>
          <p:nvPr/>
        </p:nvSpPr>
        <p:spPr>
          <a:xfrm>
            <a:off x="594360" y="347472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namespace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namespace my-namespace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mongo-configmap.yaml --namespace=my-namespace     # or metadata.namespace in the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configmap -n my-namespace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Why use namespaces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Structure card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ructure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Structu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Structure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Group related resources: database, monitoring, ingress, elastic. Easier overview</a:t>
            </a:r>
            <a:endParaRPr lang="en-US" sz="1200" dirty="0"/>
          </a:p>
        </p:txBody>
      </p:sp>
      <p:sp>
        <p:nvSpPr>
          <p:cNvPr id="11" name="No conflicts card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 conflicts circle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No conflict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conflicts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Team A and Team B both deploy 'my-app'. In one namespace the second overwrites the first</a:t>
            </a:r>
            <a:endParaRPr lang="en-US" sz="1200" dirty="0"/>
          </a:p>
        </p:txBody>
      </p:sp>
      <p:sp>
        <p:nvSpPr>
          <p:cNvPr id="16" name="Share a cluster card"/>
          <p:cNvSpPr/>
          <p:nvPr/>
        </p:nvSpPr>
        <p:spPr>
          <a:xfrm>
            <a:off x="457200" y="27889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re a cluster circle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Share a clust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Share a cluster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staging + dev, or blue + green, reuse the same ingress and monitoring</a:t>
            </a:r>
            <a:endParaRPr lang="en-US" sz="1200" dirty="0"/>
          </a:p>
        </p:txBody>
      </p:sp>
      <p:sp>
        <p:nvSpPr>
          <p:cNvPr id="21" name="Access &amp; limits card"/>
          <p:cNvSpPr/>
          <p:nvPr/>
        </p:nvSpPr>
        <p:spPr>
          <a:xfrm>
            <a:off x="4663440" y="27889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Access &amp; limits circle"/>
          <p:cNvSpPr/>
          <p:nvPr/>
        </p:nvSpPr>
        <p:spPr>
          <a:xfrm>
            <a:off x="4846320" y="29718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Access &amp; limit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6324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Access &amp; limits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484632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Per-namespace permissions (RBAC) and quotas: CPU, RAM, storage per team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Namespace rules and a tool: kubens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Inside a namespace card"/>
          <p:cNvSpPr/>
          <p:nvPr/>
        </p:nvSpPr>
        <p:spPr>
          <a:xfrm>
            <a:off x="457200" y="1097280"/>
            <a:ext cx="40233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nside a namespace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nside a namespa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Inside a namespace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ConfigMaps and Secrets are per namespace: define them in each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Services ARE reachable across: mysql-service.database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Deployments, Pods, Services, ConfigMaps, Secrets, PVCs are namespaced</a:t>
            </a:r>
            <a:endParaRPr lang="en-US" sz="1100" dirty="0"/>
          </a:p>
        </p:txBody>
      </p:sp>
      <p:sp>
        <p:nvSpPr>
          <p:cNvPr id="11" name="Not namespaced (global) card"/>
          <p:cNvSpPr/>
          <p:nvPr/>
        </p:nvSpPr>
        <p:spPr>
          <a:xfrm>
            <a:off x="4663440" y="1097280"/>
            <a:ext cx="40233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t namespaced (global) circle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Not namespaced (global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 namespaced (global)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18745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Nodes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Persistent Volumes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Namespaces themselves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kubectl api-resources --namespaced=false</a:t>
            </a:r>
            <a:endParaRPr lang="en-US" sz="1100" dirty="0"/>
          </a:p>
        </p:txBody>
      </p:sp>
      <p:sp>
        <p:nvSpPr>
          <p:cNvPr id="16" name="code bg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code"/>
          <p:cNvSpPr txBox="1"/>
          <p:nvPr/>
        </p:nvSpPr>
        <p:spPr>
          <a:xfrm>
            <a:off x="594360" y="32918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two ways to target a namespace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config.yaml -n my-namespace       # flag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my-namespace                          # in the file (preferred: explicit)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switch the active namespace instead of typing -n every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kubectx  →  kubens my-namespace       # 'kubens' alone lists them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9 · Ingress explained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Real domains and HTTPS in front of your Services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External Service vs Ingress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External Service (what we did)</a:t>
            </a:r>
            <a:endParaRPr lang="en-US" sz="1300" dirty="0"/>
          </a:p>
        </p:txBody>
      </p:sp>
      <p:sp>
        <p:nvSpPr>
          <p:cNvPr id="7" name="box Browser"/>
          <p:cNvSpPr/>
          <p:nvPr/>
        </p:nvSpPr>
        <p:spPr>
          <a:xfrm>
            <a:off x="457200" y="14173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box text Browser"/>
          <p:cNvSpPr txBox="1"/>
          <p:nvPr/>
        </p:nvSpPr>
        <p:spPr>
          <a:xfrm>
            <a:off x="45720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Browser</a:t>
            </a:r>
            <a:endParaRPr lang="en-US" sz="1100" dirty="0"/>
          </a:p>
        </p:txBody>
      </p:sp>
      <p:sp>
        <p:nvSpPr>
          <p:cNvPr id="9" name="arrow"/>
          <p:cNvSpPr/>
          <p:nvPr/>
        </p:nvSpPr>
        <p:spPr>
          <a:xfrm>
            <a:off x="1828800" y="173736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box Service NodePort http://124.89.101.2:35010"/>
          <p:cNvSpPr/>
          <p:nvPr/>
        </p:nvSpPr>
        <p:spPr>
          <a:xfrm>
            <a:off x="2286000" y="141732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box text Service NodePort http://124.89.101.2:35010"/>
          <p:cNvSpPr txBox="1"/>
          <p:nvPr/>
        </p:nvSpPr>
        <p:spPr>
          <a:xfrm>
            <a:off x="2286000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Service NodePort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http://124.89.101.2:35010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1945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IP and random port in the URL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domain, no HTTPS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OK for testing only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Ingress</a:t>
            </a:r>
            <a:endParaRPr lang="en-US" sz="1300" dirty="0"/>
          </a:p>
        </p:txBody>
      </p:sp>
      <p:sp>
        <p:nvSpPr>
          <p:cNvPr id="14" name="box Browser"/>
          <p:cNvSpPr/>
          <p:nvPr/>
        </p:nvSpPr>
        <p:spPr>
          <a:xfrm>
            <a:off x="4754880" y="14173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box text Browser"/>
          <p:cNvSpPr txBox="1"/>
          <p:nvPr/>
        </p:nvSpPr>
        <p:spPr>
          <a:xfrm>
            <a:off x="4754880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Browser</a:t>
            </a:r>
            <a:endParaRPr lang="en-US" sz="1100" dirty="0"/>
          </a:p>
        </p:txBody>
      </p:sp>
      <p:sp>
        <p:nvSpPr>
          <p:cNvPr id="16" name="arrow"/>
          <p:cNvSpPr/>
          <p:nvPr/>
        </p:nvSpPr>
        <p:spPr>
          <a:xfrm>
            <a:off x="5852160" y="173736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box Ingress my-app.com"/>
          <p:cNvSpPr/>
          <p:nvPr/>
        </p:nvSpPr>
        <p:spPr>
          <a:xfrm>
            <a:off x="6126480" y="141732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box text Ingress my-app.com"/>
          <p:cNvSpPr txBox="1"/>
          <p:nvPr/>
        </p:nvSpPr>
        <p:spPr>
          <a:xfrm>
            <a:off x="6126480" y="1417320"/>
            <a:ext cx="1188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Ingress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my-app.com</a:t>
            </a:r>
            <a:endParaRPr lang="en-US" sz="1000" dirty="0"/>
          </a:p>
        </p:txBody>
      </p:sp>
      <p:sp>
        <p:nvSpPr>
          <p:cNvPr id="19" name="arrow"/>
          <p:cNvSpPr/>
          <p:nvPr/>
        </p:nvSpPr>
        <p:spPr>
          <a:xfrm>
            <a:off x="7315200" y="173736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box Service ClusterIP"/>
          <p:cNvSpPr/>
          <p:nvPr/>
        </p:nvSpPr>
        <p:spPr>
          <a:xfrm>
            <a:off x="7589520" y="14173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box text Service ClusterIP"/>
          <p:cNvSpPr txBox="1"/>
          <p:nvPr/>
        </p:nvSpPr>
        <p:spPr>
          <a:xfrm>
            <a:off x="7589520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ClusterIP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754880" y="21945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Real domain: http://my-app.com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TLS termination (https)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Routing by host and by path</a:t>
            </a:r>
            <a:endParaRPr lang="en-US" sz="1200" dirty="0"/>
          </a:p>
        </p:txBody>
      </p:sp>
      <p:sp>
        <p:nvSpPr>
          <p:cNvPr id="23" name="code bg"/>
          <p:cNvSpPr/>
          <p:nvPr/>
        </p:nvSpPr>
        <p:spPr>
          <a:xfrm>
            <a:off x="457200" y="3246120"/>
            <a:ext cx="822960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code"/>
          <p:cNvSpPr txBox="1"/>
          <p:nvPr/>
        </p:nvSpPr>
        <p:spPr>
          <a:xfrm>
            <a:off x="594360" y="333756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networking.k8s.io/v1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Ingress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{ name: myapp-ingress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host: myapp.com                    # must resolve to the ingress controller's IP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http: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path: 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pathType: Prefix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backend: { service: { name: myapp-internal-service, port: { number: 8080 } } }   # a ClusterIP service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The Ingress Controller: who actually routes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box Browser"/>
          <p:cNvSpPr/>
          <p:nvPr/>
        </p:nvSpPr>
        <p:spPr>
          <a:xfrm>
            <a:off x="457200" y="12801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box text Browser"/>
          <p:cNvSpPr txBox="1"/>
          <p:nvPr/>
        </p:nvSpPr>
        <p:spPr>
          <a:xfrm>
            <a:off x="45720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Browser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1737360" y="1691640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box Cloud LB / external proxy"/>
          <p:cNvSpPr/>
          <p:nvPr/>
        </p:nvSpPr>
        <p:spPr>
          <a:xfrm>
            <a:off x="2103120" y="1280160"/>
            <a:ext cx="164592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box text Cloud LB / external proxy"/>
          <p:cNvSpPr txBox="1"/>
          <p:nvPr/>
        </p:nvSpPr>
        <p:spPr>
          <a:xfrm>
            <a:off x="210312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Cloud LB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external proxy</a:t>
            </a:r>
            <a:endParaRPr lang="en-US" sz="1000" dirty="0"/>
          </a:p>
        </p:txBody>
      </p:sp>
      <p:sp>
        <p:nvSpPr>
          <p:cNvPr id="11" name="arrow"/>
          <p:cNvSpPr/>
          <p:nvPr/>
        </p:nvSpPr>
        <p:spPr>
          <a:xfrm>
            <a:off x="3749040" y="1691640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cluster"/>
          <p:cNvSpPr/>
          <p:nvPr/>
        </p:nvSpPr>
        <p:spPr>
          <a:xfrm>
            <a:off x="4114800" y="1005840"/>
            <a:ext cx="457200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06240" y="1024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cluster</a:t>
            </a:r>
            <a:endParaRPr lang="en-US" sz="900" dirty="0"/>
          </a:p>
        </p:txBody>
      </p:sp>
      <p:sp>
        <p:nvSpPr>
          <p:cNvPr id="14" name="box Ingress Controller Pod (nginx)"/>
          <p:cNvSpPr/>
          <p:nvPr/>
        </p:nvSpPr>
        <p:spPr>
          <a:xfrm>
            <a:off x="4251960" y="128016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box text Ingress Controller Pod (nginx)"/>
          <p:cNvSpPr txBox="1"/>
          <p:nvPr/>
        </p:nvSpPr>
        <p:spPr>
          <a:xfrm>
            <a:off x="425196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Ingress Controller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 (nginx)</a:t>
            </a:r>
            <a:endParaRPr lang="en-US" sz="1000" dirty="0"/>
          </a:p>
        </p:txBody>
      </p:sp>
      <p:sp>
        <p:nvSpPr>
          <p:cNvPr id="16" name="arrow"/>
          <p:cNvSpPr/>
          <p:nvPr/>
        </p:nvSpPr>
        <p:spPr>
          <a:xfrm>
            <a:off x="5989320" y="1691640"/>
            <a:ext cx="3200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box Ingress rules"/>
          <p:cNvSpPr/>
          <p:nvPr/>
        </p:nvSpPr>
        <p:spPr>
          <a:xfrm>
            <a:off x="6309360" y="1280160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box text Ingress rules"/>
          <p:cNvSpPr txBox="1"/>
          <p:nvPr/>
        </p:nvSpPr>
        <p:spPr>
          <a:xfrm>
            <a:off x="6309360" y="1280160"/>
            <a:ext cx="10058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Ingress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rules</a:t>
            </a:r>
            <a:endParaRPr lang="en-US" sz="1000" dirty="0"/>
          </a:p>
        </p:txBody>
      </p:sp>
      <p:sp>
        <p:nvSpPr>
          <p:cNvPr id="19" name="arrow"/>
          <p:cNvSpPr/>
          <p:nvPr/>
        </p:nvSpPr>
        <p:spPr>
          <a:xfrm>
            <a:off x="7315200" y="169164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box Services → Pods"/>
          <p:cNvSpPr/>
          <p:nvPr/>
        </p:nvSpPr>
        <p:spPr>
          <a:xfrm>
            <a:off x="7589520" y="1280160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box text Services → Pods"/>
          <p:cNvSpPr txBox="1"/>
          <p:nvPr/>
        </p:nvSpPr>
        <p:spPr>
          <a:xfrm>
            <a:off x="7589520" y="1280160"/>
            <a:ext cx="10058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Services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→ Pods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206240" y="2194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controller reads every Ingress rule and configures nginx accordingly</a:t>
            </a:r>
            <a:endParaRPr lang="en-US" sz="900" dirty="0"/>
          </a:p>
        </p:txBody>
      </p:sp>
      <p:sp>
        <p:nvSpPr>
          <p:cNvPr id="23" name="Popular controllers card"/>
          <p:cNvSpPr/>
          <p:nvPr/>
        </p:nvSpPr>
        <p:spPr>
          <a:xfrm>
            <a:off x="457200" y="329184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opular controllers circle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Popular controller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56616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234440" y="3474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Popular controllers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64008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Kubernetes Nginx Ingress Controller (most common), Traefik, HAProxy, Istio gateway, cloud-native (AWS ALB, GKE).</a:t>
            </a:r>
            <a:endParaRPr lang="en-US" sz="1100" dirty="0"/>
          </a:p>
        </p:txBody>
      </p:sp>
      <p:sp>
        <p:nvSpPr>
          <p:cNvPr id="28" name="On minikube card"/>
          <p:cNvSpPr/>
          <p:nvPr/>
        </p:nvSpPr>
        <p:spPr>
          <a:xfrm>
            <a:off x="4663440" y="329184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On minikube circle"/>
          <p:cNvSpPr/>
          <p:nvPr/>
        </p:nvSpPr>
        <p:spPr>
          <a:xfrm>
            <a:off x="4846320" y="34747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On minikub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566160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440680" y="3474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 minikube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484632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minikube addons enable ingress  installs nginx in kube-system. Point a hostname at  minikube ip  in /etc/hosts.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Demo: Ingress for the dashboard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4572000" cy="35661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594360" y="1143000"/>
            <a:ext cx="4297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ingress addon + dashboard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minikube addons enable ingress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minikube dashboard   # (installs the dashboard on newer versions)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svc -n kubernetes-dashboard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dashboard-ingress.yaml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networking.k8s.io/v1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Ingress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dashboard-ingress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kubernetes-dashboard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host: dashboard.com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http: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path: 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pathType: Prefix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backend: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service: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name: kubernetes-dashboard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port: { number: 80 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dashboard-ingress.yaml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ingress -n kubernetes-dashboard     # ADDRESS 192.168.49.2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sh -c 'echo "192.168.49.2 dashboard.com" &gt;&gt; /etc/hosts'</a:t>
            </a:r>
            <a:endParaRPr lang="en-US" sz="750" dirty="0"/>
          </a:p>
        </p:txBody>
      </p:sp>
      <p:sp>
        <p:nvSpPr>
          <p:cNvPr id="8" name="More routing card"/>
          <p:cNvSpPr/>
          <p:nvPr/>
        </p:nvSpPr>
        <p:spPr>
          <a:xfrm>
            <a:off x="5212080" y="1051560"/>
            <a:ext cx="34747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ore routing circle"/>
          <p:cNvSpPr/>
          <p:nvPr/>
        </p:nvSpPr>
        <p:spPr>
          <a:xfrm>
            <a:off x="5394960" y="12344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More rout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25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89320" y="1234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More routing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1828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Several paths: /analytics, /shopping → different services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Several hosts: analytics.myapp.com, shopping.myapp.com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defaultBackend: where unmatched requests go (custom 404)</a:t>
            </a:r>
            <a:endParaRPr lang="en-US" sz="1100" dirty="0"/>
          </a:p>
        </p:txBody>
      </p:sp>
      <p:sp>
        <p:nvSpPr>
          <p:cNvPr id="13" name="TLS card"/>
          <p:cNvSpPr/>
          <p:nvPr/>
        </p:nvSpPr>
        <p:spPr>
          <a:xfrm>
            <a:off x="5212080" y="2926080"/>
            <a:ext cx="34747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LS circle"/>
          <p:cNvSpPr/>
          <p:nvPr/>
        </p:nvSpPr>
        <p:spPr>
          <a:xfrm>
            <a:off x="5394960" y="31089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TL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2004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8932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TLS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394960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spec.tls: hosts + secretName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Secret type kubernetes.io/tls with tls.crt and tls.key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Same namespace as the Ingress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cert-manager automates Let's Encrypt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10 · Helm: the package manager for Kubernetes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Charts, templates, releases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Problem: the same 7 YAML files, over and over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Package manager card"/>
          <p:cNvSpPr/>
          <p:nvPr/>
        </p:nvSpPr>
        <p:spPr>
          <a:xfrm>
            <a:off x="457200" y="10972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ackage manager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Package manag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Package manager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chart = bundle of YAML files for one app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Artifact Hub: thousands of public charts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helm search hub elasticsearch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helm install my-es elastic/elasticsearch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Also private company chart repos</a:t>
            </a:r>
            <a:endParaRPr lang="en-US" sz="1300" dirty="0"/>
          </a:p>
        </p:txBody>
      </p:sp>
      <p:sp>
        <p:nvSpPr>
          <p:cNvPr id="11" name="Templating engine card"/>
          <p:cNvSpPr/>
          <p:nvPr/>
        </p:nvSpPr>
        <p:spPr>
          <a:xfrm>
            <a:off x="3264408" y="10972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mplating engine circle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Templating engin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41648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Templating engine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447288" y="1874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Your microservices: same YAML, different values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Template with placeholders: {{ .Values.name }}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values.yaml fills them 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chart → dev, staging, prod with different values files</a:t>
            </a:r>
            <a:endParaRPr lang="en-US" sz="1300" dirty="0"/>
          </a:p>
        </p:txBody>
      </p:sp>
      <p:sp>
        <p:nvSpPr>
          <p:cNvPr id="16" name="Release manager card"/>
          <p:cNvSpPr/>
          <p:nvPr/>
        </p:nvSpPr>
        <p:spPr>
          <a:xfrm>
            <a:off x="6080760" y="10972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Release manager circle"/>
          <p:cNvSpPr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Release manag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5800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Release manager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263640" y="1874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helm install = a release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helm upgrade: change values or chart version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helm rollback: back to a previous release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Helm 3: no Tiller; history stored in the cluster as Secrets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Anatomy of a chart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4754880" cy="35661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594360" y="114300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mychart/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Chart.yaml        # name, version, description, dependencies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values.yaml       # default values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charts/           # dependency charts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templates/        # the YAML, with placeholders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deployment.yaml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service.yaml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templates/deployment.yaml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Deployment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{{ .Values.name }}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{{ .Values.replicas }}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name: {{ .Values.name }}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image: {{ .Values.image }}:{{ .Values.tag }}</a:t>
            </a:r>
            <a:endParaRPr lang="en-US" sz="850" dirty="0"/>
          </a:p>
        </p:txBody>
      </p:sp>
      <p:sp>
        <p:nvSpPr>
          <p:cNvPr id="8" name="code bg"/>
          <p:cNvSpPr/>
          <p:nvPr/>
        </p:nvSpPr>
        <p:spPr>
          <a:xfrm>
            <a:off x="5394960" y="1051560"/>
            <a:ext cx="3291840" cy="1737360"/>
          </a:xfrm>
          <a:prstGeom prst="roundRect">
            <a:avLst>
              <a:gd name="adj" fmla="val 526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5532120" y="11430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values.yaml (defaults)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my-app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replicas: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image: my-app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 1.0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my-values.yaml (override for prod)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replicas: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 1.4</a:t>
            </a:r>
            <a:endParaRPr lang="en-US" sz="900" dirty="0"/>
          </a:p>
        </p:txBody>
      </p:sp>
      <p:sp>
        <p:nvSpPr>
          <p:cNvPr id="10" name="code bg"/>
          <p:cNvSpPr/>
          <p:nvPr/>
        </p:nvSpPr>
        <p:spPr>
          <a:xfrm>
            <a:off x="5394960" y="2926080"/>
            <a:ext cx="3291840" cy="1691640"/>
          </a:xfrm>
          <a:prstGeom prst="roundRect">
            <a:avLst>
              <a:gd name="adj" fmla="val 540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code"/>
          <p:cNvSpPr txBox="1"/>
          <p:nvPr/>
        </p:nvSpPr>
        <p:spPr>
          <a:xfrm>
            <a:off x="5532120" y="301752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 my-release ./mychart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--values my-values.yaml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 my-release ./mychart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--set replicas=3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upgrade my-release ./mychart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rollback my-release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list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11 · Persisting data with volumes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PersistentVolume · PersistentVolumeClaim · StorageClass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Three requirements, and why K8s makes you do it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Independent of Pods card"/>
          <p:cNvSpPr/>
          <p:nvPr/>
        </p:nvSpPr>
        <p:spPr>
          <a:xfrm>
            <a:off x="457200" y="109728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ndependent of Pods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ndependent of Pod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Independent of Pods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Pod restarts, moves, dies. Data stays</a:t>
            </a:r>
            <a:endParaRPr lang="en-US" sz="1100" dirty="0"/>
          </a:p>
        </p:txBody>
      </p:sp>
      <p:sp>
        <p:nvSpPr>
          <p:cNvPr id="11" name="Available on all nodes card"/>
          <p:cNvSpPr/>
          <p:nvPr/>
        </p:nvSpPr>
        <p:spPr>
          <a:xfrm>
            <a:off x="3264408" y="109728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vailable on all nodes circle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Available on all nod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41648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Available on all nodes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447288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Pod may be scheduled anywhere; the data must follow</a:t>
            </a:r>
            <a:endParaRPr lang="en-US" sz="1100" dirty="0"/>
          </a:p>
        </p:txBody>
      </p:sp>
      <p:sp>
        <p:nvSpPr>
          <p:cNvPr id="16" name="Survives cluster crash card"/>
          <p:cNvSpPr/>
          <p:nvPr/>
        </p:nvSpPr>
        <p:spPr>
          <a:xfrm>
            <a:off x="6071616" y="109728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urvives cluster crash circle"/>
          <p:cNvSpPr/>
          <p:nvPr/>
        </p:nvSpPr>
        <p:spPr>
          <a:xfrm>
            <a:off x="6254496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Survives cluster crash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371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48856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Survives cluster crash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254496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Backups, remote storage, not just a node's disk</a:t>
            </a:r>
            <a:endParaRPr lang="en-US" sz="1100" dirty="0"/>
          </a:p>
        </p:txBody>
      </p:sp>
      <p:sp>
        <p:nvSpPr>
          <p:cNvPr id="21" name="box Kubernetes does not manage data persistence. You (the admin) provide and configure the storage."/>
          <p:cNvSpPr/>
          <p:nvPr/>
        </p:nvSpPr>
        <p:spPr>
          <a:xfrm>
            <a:off x="457200" y="2926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box text Kubernetes does not manage data persistence. You (the admin) provide and configure the storage.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Kubernetes does not manage data persistence. You (the admin) provide and configure the storage.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Local: hostPath, local — tied to one node, no crash survival (OK for minikube / tests)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Remote: NFS, cloud disks (AWS EBS, GCE PD, Azure Disk), Ceph, Glusterfs — the real thing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Every type is a plugin: K8s calls the storage, the storage keeps the bytes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PersistentVolume and PersistentVolumeClaim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2743200" cy="2651760"/>
          </a:xfrm>
          <a:prstGeom prst="roundRect">
            <a:avLst>
              <a:gd name="adj" fmla="val 34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594360" y="114300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PersistentVolume (admin)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PersistentVolume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pv-name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capacity: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storage: 5Gi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accessModes: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ReadWriteOnce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nfs:                      # or a cloud disk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/dir/path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server: nfs-server-ip</a:t>
            </a:r>
            <a:endParaRPr lang="en-US" sz="750" dirty="0"/>
          </a:p>
        </p:txBody>
      </p:sp>
      <p:sp>
        <p:nvSpPr>
          <p:cNvPr id="8" name="code bg"/>
          <p:cNvSpPr/>
          <p:nvPr/>
        </p:nvSpPr>
        <p:spPr>
          <a:xfrm>
            <a:off x="3337560" y="1051560"/>
            <a:ext cx="2606040" cy="2651760"/>
          </a:xfrm>
          <a:prstGeom prst="roundRect">
            <a:avLst>
              <a:gd name="adj" fmla="val 35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3474720" y="11430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PersistentVolumeClaim (user)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PersistentVolumeClaim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pvc-name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accessModes: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ReadWriteOnce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storage: 10Gi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storageClassName: manual</a:t>
            </a:r>
            <a:endParaRPr lang="en-US" sz="750" dirty="0"/>
          </a:p>
        </p:txBody>
      </p:sp>
      <p:sp>
        <p:nvSpPr>
          <p:cNvPr id="10" name="code bg"/>
          <p:cNvSpPr/>
          <p:nvPr/>
        </p:nvSpPr>
        <p:spPr>
          <a:xfrm>
            <a:off x="6080760" y="1051560"/>
            <a:ext cx="2606040" cy="2651760"/>
          </a:xfrm>
          <a:prstGeom prst="roundRect">
            <a:avLst>
              <a:gd name="adj" fmla="val 35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code"/>
          <p:cNvSpPr txBox="1"/>
          <p:nvPr/>
        </p:nvSpPr>
        <p:spPr>
          <a:xfrm>
            <a:off x="6217920" y="11430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Pod uses the claim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myapp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image: myapp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volumeMounts: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name: data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mountPath: /var/www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volumes: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data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persistentVolumeClaim: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claimName: pvc-name</a:t>
            </a:r>
            <a:endParaRPr lang="en-US" sz="750" dirty="0"/>
          </a:p>
        </p:txBody>
      </p:sp>
      <p:sp>
        <p:nvSpPr>
          <p:cNvPr id="12" name="arrow"/>
          <p:cNvSpPr/>
          <p:nvPr/>
        </p:nvSpPr>
        <p:spPr>
          <a:xfrm>
            <a:off x="3200400" y="2377440"/>
            <a:ext cx="1371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arrow"/>
          <p:cNvSpPr/>
          <p:nvPr/>
        </p:nvSpPr>
        <p:spPr>
          <a:xfrm>
            <a:off x="5943600" y="2377440"/>
            <a:ext cx="1371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4572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admin provisions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337560" y="3749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user claims; K8s binds to a matching PV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080760" y="3749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Pod mounts the claim at a path</a:t>
            </a:r>
            <a:endParaRPr lang="en-US" sz="1000" dirty="0"/>
          </a:p>
        </p:txBody>
      </p:sp>
      <p:sp>
        <p:nvSpPr>
          <p:cNvPr id="17" name="box PV = the storage (global, admin). PVC = the request (namespaced, user). Pod → PVC → PV → real disk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box text PV = the storage (global, admin). PVC = the request (namespaced, user). Pod → PVC → PV → real disk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PV = the storage (global, admin). PVC = the request (namespaced, user). Pod → PVC → PV → real disk.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StorageClass, ConfigMap and Secret as volumes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4023360" cy="274320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594360" y="11430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StorageClass (admin, once)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storage.k8s.io/v1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StorageClass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storage-class-name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provisioner: kubernetes.io/aws-ebs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io1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iopsPerGB: "10"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PVC just names the 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storageClassName: storage-class-name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resources: { requests: { storage: 10Gi }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K8s creates the PV on demand</a:t>
            </a:r>
            <a:endParaRPr lang="en-US" sz="850" dirty="0"/>
          </a:p>
        </p:txBody>
      </p:sp>
      <p:sp>
        <p:nvSpPr>
          <p:cNvPr id="8" name="code bg"/>
          <p:cNvSpPr/>
          <p:nvPr/>
        </p:nvSpPr>
        <p:spPr>
          <a:xfrm>
            <a:off x="4663440" y="1051560"/>
            <a:ext cx="4023360" cy="274320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4800600" y="11430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ConfigMap / Secret mounted as files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app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volumeMounts: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name: config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mountPath: /etc/app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name: certs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mountPath: /etc/certs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volumes: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config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configMap: { name: app-config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certs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secret: { secretName: app-tls }</a:t>
            </a:r>
            <a:endParaRPr lang="en-US" sz="850" dirty="0"/>
          </a:p>
        </p:txBody>
      </p:sp>
      <p:sp>
        <p:nvSpPr>
          <p:cNvPr id="10" name="StorageClass = dynamic PV provisioning card"/>
          <p:cNvSpPr/>
          <p:nvPr/>
        </p:nvSpPr>
        <p:spPr>
          <a:xfrm>
            <a:off x="457200" y="3931920"/>
            <a:ext cx="40233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orageClass = dynamic PV provisioning circle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torageClass = dynamic PV provision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062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34440" y="4114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StorageClass = dynamic PV provisioning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4709160"/>
            <a:ext cx="365760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5" name="ConfigMap / Secret = files inside the container card"/>
          <p:cNvSpPr/>
          <p:nvPr/>
        </p:nvSpPr>
        <p:spPr>
          <a:xfrm>
            <a:off x="4663440" y="3931920"/>
            <a:ext cx="40233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onfigMap / Secret = files inside the container circle"/>
          <p:cNvSpPr/>
          <p:nvPr/>
        </p:nvSpPr>
        <p:spPr>
          <a:xfrm>
            <a:off x="4846320" y="41148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ConfigMap / Secret = files inside the containe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2062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40680" y="4114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ConfigMap / Secret = files inside the container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4709160"/>
            <a:ext cx="365760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12 · Deploying stateful apps with StatefulSet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Databases and other apps that must remember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Why a Deployment isn't enough for a database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Deployment (stateless)</a:t>
            </a:r>
            <a:endParaRPr lang="en-US" sz="1300" dirty="0"/>
          </a:p>
        </p:txBody>
      </p:sp>
      <p:sp>
        <p:nvSpPr>
          <p:cNvPr id="7" name="box app-7f9cx"/>
          <p:cNvSpPr/>
          <p:nvPr/>
        </p:nvSpPr>
        <p:spPr>
          <a:xfrm>
            <a:off x="457200" y="14173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box text app-7f9cx"/>
          <p:cNvSpPr txBox="1"/>
          <p:nvPr/>
        </p:nvSpPr>
        <p:spPr>
          <a:xfrm>
            <a:off x="457200" y="1417320"/>
            <a:ext cx="1188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app-7f9cx</a:t>
            </a:r>
            <a:endParaRPr lang="en-US" sz="1000" dirty="0"/>
          </a:p>
        </p:txBody>
      </p:sp>
      <p:sp>
        <p:nvSpPr>
          <p:cNvPr id="9" name="box app-7f9cy"/>
          <p:cNvSpPr/>
          <p:nvPr/>
        </p:nvSpPr>
        <p:spPr>
          <a:xfrm>
            <a:off x="1783080" y="14173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box text app-7f9cy"/>
          <p:cNvSpPr txBox="1"/>
          <p:nvPr/>
        </p:nvSpPr>
        <p:spPr>
          <a:xfrm>
            <a:off x="1783080" y="1417320"/>
            <a:ext cx="1188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app-7f9cy</a:t>
            </a:r>
            <a:endParaRPr lang="en-US" sz="1000" dirty="0"/>
          </a:p>
        </p:txBody>
      </p:sp>
      <p:sp>
        <p:nvSpPr>
          <p:cNvPr id="11" name="box app-7f9cz"/>
          <p:cNvSpPr/>
          <p:nvPr/>
        </p:nvSpPr>
        <p:spPr>
          <a:xfrm>
            <a:off x="3108960" y="14173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2" name="box text app-7f9cz"/>
          <p:cNvSpPr txBox="1"/>
          <p:nvPr/>
        </p:nvSpPr>
        <p:spPr>
          <a:xfrm>
            <a:off x="3108960" y="1417320"/>
            <a:ext cx="1188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app-7f9cz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1945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Identical, interchangeable, random names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Any replica serves any request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Created and deleted in any order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Share nothing (or share one volume)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StatefulSet (stateful)</a:t>
            </a:r>
            <a:endParaRPr lang="en-US" sz="1300" dirty="0"/>
          </a:p>
        </p:txBody>
      </p:sp>
      <p:sp>
        <p:nvSpPr>
          <p:cNvPr id="15" name="box mysql-0 MASTER"/>
          <p:cNvSpPr/>
          <p:nvPr/>
        </p:nvSpPr>
        <p:spPr>
          <a:xfrm>
            <a:off x="4754880" y="141732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box text mysql-0 MASTER"/>
          <p:cNvSpPr txBox="1"/>
          <p:nvPr/>
        </p:nvSpPr>
        <p:spPr>
          <a:xfrm>
            <a:off x="4754880" y="1417320"/>
            <a:ext cx="1188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mysql-0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MASTER</a:t>
            </a:r>
            <a:endParaRPr lang="en-US" sz="1000" dirty="0"/>
          </a:p>
        </p:txBody>
      </p:sp>
      <p:sp>
        <p:nvSpPr>
          <p:cNvPr id="17" name="box PV 0"/>
          <p:cNvSpPr/>
          <p:nvPr/>
        </p:nvSpPr>
        <p:spPr>
          <a:xfrm>
            <a:off x="4754880" y="210312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box text PV 0"/>
          <p:cNvSpPr txBox="1"/>
          <p:nvPr/>
        </p:nvSpPr>
        <p:spPr>
          <a:xfrm>
            <a:off x="475488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PV 0</a:t>
            </a:r>
            <a:endParaRPr lang="en-US" sz="900" dirty="0"/>
          </a:p>
        </p:txBody>
      </p:sp>
      <p:sp>
        <p:nvSpPr>
          <p:cNvPr id="19" name="box mysql-1 worker"/>
          <p:cNvSpPr/>
          <p:nvPr/>
        </p:nvSpPr>
        <p:spPr>
          <a:xfrm>
            <a:off x="6080760" y="14173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box text mysql-1 worker"/>
          <p:cNvSpPr txBox="1"/>
          <p:nvPr/>
        </p:nvSpPr>
        <p:spPr>
          <a:xfrm>
            <a:off x="6080760" y="1417320"/>
            <a:ext cx="1188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mysql-1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worker</a:t>
            </a:r>
            <a:endParaRPr lang="en-US" sz="1000" dirty="0"/>
          </a:p>
        </p:txBody>
      </p:sp>
      <p:sp>
        <p:nvSpPr>
          <p:cNvPr id="21" name="box PV 1"/>
          <p:cNvSpPr/>
          <p:nvPr/>
        </p:nvSpPr>
        <p:spPr>
          <a:xfrm>
            <a:off x="6080760" y="210312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2" name="box text PV 1"/>
          <p:cNvSpPr txBox="1"/>
          <p:nvPr/>
        </p:nvSpPr>
        <p:spPr>
          <a:xfrm>
            <a:off x="608076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PV 1</a:t>
            </a:r>
            <a:endParaRPr lang="en-US" sz="900" dirty="0"/>
          </a:p>
        </p:txBody>
      </p:sp>
      <p:sp>
        <p:nvSpPr>
          <p:cNvPr id="23" name="box mysql-2 worker"/>
          <p:cNvSpPr/>
          <p:nvPr/>
        </p:nvSpPr>
        <p:spPr>
          <a:xfrm>
            <a:off x="7406640" y="14173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4" name="box text mysql-2 worker"/>
          <p:cNvSpPr txBox="1"/>
          <p:nvPr/>
        </p:nvSpPr>
        <p:spPr>
          <a:xfrm>
            <a:off x="7406640" y="1417320"/>
            <a:ext cx="1188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mysql-2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worker</a:t>
            </a:r>
            <a:endParaRPr lang="en-US" sz="1000" dirty="0"/>
          </a:p>
        </p:txBody>
      </p:sp>
      <p:sp>
        <p:nvSpPr>
          <p:cNvPr id="25" name="box PV 2"/>
          <p:cNvSpPr/>
          <p:nvPr/>
        </p:nvSpPr>
        <p:spPr>
          <a:xfrm>
            <a:off x="7406640" y="210312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6" name="box text PV 2"/>
          <p:cNvSpPr txBox="1"/>
          <p:nvPr/>
        </p:nvSpPr>
        <p:spPr>
          <a:xfrm>
            <a:off x="740664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PV 2</a:t>
            </a:r>
            <a:endParaRPr lang="en-US" sz="900" dirty="0"/>
          </a:p>
        </p:txBody>
      </p:sp>
      <p:sp>
        <p:nvSpPr>
          <p:cNvPr id="27" name="arrow"/>
          <p:cNvSpPr/>
          <p:nvPr/>
        </p:nvSpPr>
        <p:spPr>
          <a:xfrm>
            <a:off x="5943600" y="1600200"/>
            <a:ext cx="1371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arrow"/>
          <p:cNvSpPr/>
          <p:nvPr/>
        </p:nvSpPr>
        <p:spPr>
          <a:xfrm>
            <a:off x="7269480" y="1600200"/>
            <a:ext cx="1371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4754880" y="26060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Sticky identity: name = &lt;set&gt;-&lt;ordinal&gt;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Only master writes; workers read and sync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Created 0 → 1 → 2, deleted in reverse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Each Pod has its own persistent volume</a:t>
            </a:r>
            <a:endParaRPr lang="en-US" sz="1200" dirty="0"/>
          </a:p>
        </p:txBody>
      </p:sp>
      <p:sp>
        <p:nvSpPr>
          <p:cNvPr id="30" name="box A StatefulSet keeps the roles and the order. The replication itself is still the database's job, not Kubernetes'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box text A StatefulSet keeps the roles and the order. The replication itself is still the database&amp;apos;s job, not Kubernetes&amp;apos;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 StatefulSet keeps the roles and the order. The replication itself is still the database's job, not Kubernetes'.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 StatefulSet guarantees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Sticky identity card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icky identity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Sticky identit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Sticky identity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mysql-0, mysql-1, mysql-2. A replacement keeps the name and its own volume</a:t>
            </a:r>
            <a:endParaRPr lang="en-US" sz="1100" dirty="0"/>
          </a:p>
        </p:txBody>
      </p:sp>
      <p:sp>
        <p:nvSpPr>
          <p:cNvPr id="11" name="Ordered start / stop card"/>
          <p:cNvSpPr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Ordered start / stop circle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Ordered start / sto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Ordered start / stop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 then 1 then 2. Scale down removes the highest first. Master is never left behind</a:t>
            </a:r>
            <a:endParaRPr lang="en-US" sz="1100" dirty="0"/>
          </a:p>
        </p:txBody>
      </p:sp>
      <p:sp>
        <p:nvSpPr>
          <p:cNvPr id="16" name="Own storage per Pod card"/>
          <p:cNvSpPr/>
          <p:nvPr/>
        </p:nvSpPr>
        <p:spPr>
          <a:xfrm>
            <a:off x="457200" y="256032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Own storage per Pod circle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Own storage per Po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346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Own storage per Pod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volumeClaimTemplates creates a PVC per Pod. Needs remote storage to survive rescheduling</a:t>
            </a:r>
            <a:endParaRPr lang="en-US" sz="1100" dirty="0"/>
          </a:p>
        </p:txBody>
      </p:sp>
      <p:sp>
        <p:nvSpPr>
          <p:cNvPr id="21" name="Stable DNS per Pod card"/>
          <p:cNvSpPr/>
          <p:nvPr/>
        </p:nvSpPr>
        <p:spPr>
          <a:xfrm>
            <a:off x="4663440" y="256032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able DNS per Pod circle"/>
          <p:cNvSpPr/>
          <p:nvPr/>
        </p:nvSpPr>
        <p:spPr>
          <a:xfrm>
            <a:off x="4846320" y="27432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Stable DNS per Po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3464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40680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Stable DNS per Pod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484632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mysql-0.mysql-svc.default.svc.cluster.local via a headless Service (clusterIP: None)</a:t>
            </a:r>
            <a:endParaRPr lang="en-US" sz="1100" dirty="0"/>
          </a:p>
        </p:txBody>
      </p:sp>
      <p:sp>
        <p:nvSpPr>
          <p:cNvPr id="26" name="box Verdict from the course: stateful apps are harder on K8s. Many teams host databases outside the cluster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box text Verdict from the course: stateful apps are harder on K8s. Many teams host databases outside the cluster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Verdict from the course: stateful apps are harder on K8s. Many teams host databases outside the cluster.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13 · Kubernetes Services explained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ClusterIP · Headless · NodePort · LoadBalancer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ClusterIP: the default, internal service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box Ingress"/>
          <p:cNvSpPr/>
          <p:nvPr/>
        </p:nvSpPr>
        <p:spPr>
          <a:xfrm>
            <a:off x="457200" y="123444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box text Ingress"/>
          <p:cNvSpPr txBox="1"/>
          <p:nvPr/>
        </p:nvSpPr>
        <p:spPr>
          <a:xfrm>
            <a:off x="457200" y="1234440"/>
            <a:ext cx="1188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Ingress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1645920" y="155448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box Service microservice-one ClusterIP 10.104.5.9 : 3200"/>
          <p:cNvSpPr/>
          <p:nvPr/>
        </p:nvSpPr>
        <p:spPr>
          <a:xfrm>
            <a:off x="2103120" y="123444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box text Service microservice-one ClusterIP 10.104.5.9 : 3200"/>
          <p:cNvSpPr txBox="1"/>
          <p:nvPr/>
        </p:nvSpPr>
        <p:spPr>
          <a:xfrm>
            <a:off x="2103120" y="1234440"/>
            <a:ext cx="21031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Service microservice-one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ClusterIP 10.104.5.9 : 3200</a:t>
            </a:r>
            <a:endParaRPr lang="en-US" sz="1000" dirty="0"/>
          </a:p>
        </p:txBody>
      </p:sp>
      <p:sp>
        <p:nvSpPr>
          <p:cNvPr id="11" name="arrow"/>
          <p:cNvSpPr/>
          <p:nvPr/>
        </p:nvSpPr>
        <p:spPr>
          <a:xfrm flipV="1">
            <a:off x="4206240" y="1188720"/>
            <a:ext cx="54864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arrow"/>
          <p:cNvSpPr/>
          <p:nvPr/>
        </p:nvSpPr>
        <p:spPr>
          <a:xfrm>
            <a:off x="4206240" y="1737360"/>
            <a:ext cx="548640" cy="2743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node1"/>
          <p:cNvSpPr/>
          <p:nvPr/>
        </p:nvSpPr>
        <p:spPr>
          <a:xfrm>
            <a:off x="4754880" y="96012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0600" y="978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node 1</a:t>
            </a:r>
            <a:endParaRPr lang="en-US" sz="800" dirty="0"/>
          </a:p>
        </p:txBody>
      </p:sp>
      <p:sp>
        <p:nvSpPr>
          <p:cNvPr id="15" name="box Pod 10.2.1.5 :3000"/>
          <p:cNvSpPr/>
          <p:nvPr/>
        </p:nvSpPr>
        <p:spPr>
          <a:xfrm>
            <a:off x="4846320" y="118872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box text Pod 10.2.1.5 :3000"/>
          <p:cNvSpPr txBox="1"/>
          <p:nvPr/>
        </p:nvSpPr>
        <p:spPr>
          <a:xfrm>
            <a:off x="4846320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 10.2.1.5 :3000</a:t>
            </a:r>
            <a:endParaRPr lang="en-US" sz="1000" dirty="0"/>
          </a:p>
        </p:txBody>
      </p:sp>
      <p:sp>
        <p:nvSpPr>
          <p:cNvPr id="17" name="node2"/>
          <p:cNvSpPr/>
          <p:nvPr/>
        </p:nvSpPr>
        <p:spPr>
          <a:xfrm>
            <a:off x="4754880" y="19202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00600" y="1938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node 2</a:t>
            </a:r>
            <a:endParaRPr lang="en-US" sz="800" dirty="0"/>
          </a:p>
        </p:txBody>
      </p:sp>
      <p:sp>
        <p:nvSpPr>
          <p:cNvPr id="19" name="box Pod 10.2.2.3 :3000"/>
          <p:cNvSpPr/>
          <p:nvPr/>
        </p:nvSpPr>
        <p:spPr>
          <a:xfrm>
            <a:off x="4846320" y="214884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box text Pod 10.2.2.3 :3000"/>
          <p:cNvSpPr txBox="1"/>
          <p:nvPr/>
        </p:nvSpPr>
        <p:spPr>
          <a:xfrm>
            <a:off x="484632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Pod 10.2.2.3 :3000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210312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port 3200 → targetPort 3000</a:t>
            </a:r>
            <a:endParaRPr lang="en-US" sz="900" dirty="0"/>
          </a:p>
        </p:txBody>
      </p:sp>
      <p:sp>
        <p:nvSpPr>
          <p:cNvPr id="22" name="Endpoints card"/>
          <p:cNvSpPr/>
          <p:nvPr/>
        </p:nvSpPr>
        <p:spPr>
          <a:xfrm>
            <a:off x="6766560" y="960120"/>
            <a:ext cx="19202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Endpoints circle"/>
          <p:cNvSpPr/>
          <p:nvPr/>
        </p:nvSpPr>
        <p:spPr>
          <a:xfrm>
            <a:off x="6949440" y="11430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Endpoint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23444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543800" y="1143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Endpoints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949440" y="1737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kubectl get endpoints: the live list of Pod IP:port behind a Service. Updated as Pods come and go</a:t>
            </a:r>
            <a:endParaRPr lang="en-US" sz="1000" dirty="0"/>
          </a:p>
        </p:txBody>
      </p:sp>
      <p:sp>
        <p:nvSpPr>
          <p:cNvPr id="27" name="code bg"/>
          <p:cNvSpPr/>
          <p:nvPr/>
        </p:nvSpPr>
        <p:spPr>
          <a:xfrm>
            <a:off x="457200" y="3017520"/>
            <a:ext cx="4937760" cy="160020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code"/>
          <p:cNvSpPr txBox="1"/>
          <p:nvPr/>
        </p:nvSpPr>
        <p:spPr>
          <a:xfrm>
            <a:off x="594360" y="310896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Service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microservice-one-service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microservice-one        # Pod labels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protocol: TCP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port: 3200                 # Service port (your choice)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targetPort: 3000           # containerPort (not your choice)</a:t>
            </a:r>
            <a:endParaRPr lang="en-US" sz="850" dirty="0"/>
          </a:p>
        </p:txBody>
      </p:sp>
      <p:sp>
        <p:nvSpPr>
          <p:cNvPr id="29" name="Multi-port card"/>
          <p:cNvSpPr/>
          <p:nvPr/>
        </p:nvSpPr>
        <p:spPr>
          <a:xfrm>
            <a:off x="5577840" y="3017520"/>
            <a:ext cx="3108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Multi-port circle"/>
          <p:cNvSpPr/>
          <p:nvPr/>
        </p:nvSpPr>
        <p:spPr>
          <a:xfrm>
            <a:off x="5760720" y="32004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1" name="Multi-por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29184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35508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Multi-port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5760720" y="3794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One Service, several ports (e.g. 27017 for mongo, 9216 for its metrics exporter sidecar). Each port must then have a name.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Headless service: talk to a specific Pod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box client Pod"/>
          <p:cNvSpPr/>
          <p:nvPr/>
        </p:nvSpPr>
        <p:spPr>
          <a:xfrm>
            <a:off x="457200" y="12801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box text client Pod"/>
          <p:cNvSpPr txBox="1"/>
          <p:nvPr/>
        </p:nvSpPr>
        <p:spPr>
          <a:xfrm>
            <a:off x="45720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client Pod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1920240" y="164592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box DNS lookup mysql-headless"/>
          <p:cNvSpPr/>
          <p:nvPr/>
        </p:nvSpPr>
        <p:spPr>
          <a:xfrm>
            <a:off x="2377440" y="128016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box text DNS lookup mysql-headless"/>
          <p:cNvSpPr txBox="1"/>
          <p:nvPr/>
        </p:nvSpPr>
        <p:spPr>
          <a:xfrm>
            <a:off x="237744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DNS lookup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mysql-headless</a:t>
            </a:r>
            <a:endParaRPr lang="en-US" sz="1000" dirty="0"/>
          </a:p>
        </p:txBody>
      </p:sp>
      <p:sp>
        <p:nvSpPr>
          <p:cNvPr id="11" name="arrow"/>
          <p:cNvSpPr/>
          <p:nvPr/>
        </p:nvSpPr>
        <p:spPr>
          <a:xfrm>
            <a:off x="4389120" y="164592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box returns Pod IPs (no Service IP)"/>
          <p:cNvSpPr/>
          <p:nvPr/>
        </p:nvSpPr>
        <p:spPr>
          <a:xfrm>
            <a:off x="4846320" y="128016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box text returns Pod IPs (no Service IP)"/>
          <p:cNvSpPr txBox="1"/>
          <p:nvPr/>
        </p:nvSpPr>
        <p:spPr>
          <a:xfrm>
            <a:off x="484632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returns Pod IPs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(no Service IP)</a:t>
            </a:r>
            <a:endParaRPr lang="en-US" sz="1000" dirty="0"/>
          </a:p>
        </p:txBody>
      </p:sp>
      <p:sp>
        <p:nvSpPr>
          <p:cNvPr id="14" name="arrow"/>
          <p:cNvSpPr/>
          <p:nvPr/>
        </p:nvSpPr>
        <p:spPr>
          <a:xfrm flipV="1">
            <a:off x="6309360" y="1280160"/>
            <a:ext cx="54864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6309360" y="1828800"/>
            <a:ext cx="54864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box mysql-0 (master)"/>
          <p:cNvSpPr/>
          <p:nvPr/>
        </p:nvSpPr>
        <p:spPr>
          <a:xfrm>
            <a:off x="6858000" y="105156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box text mysql-0 (master)"/>
          <p:cNvSpPr txBox="1"/>
          <p:nvPr/>
        </p:nvSpPr>
        <p:spPr>
          <a:xfrm>
            <a:off x="685800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mysql-0 (master)</a:t>
            </a:r>
            <a:endParaRPr lang="en-US" sz="1000" dirty="0"/>
          </a:p>
        </p:txBody>
      </p:sp>
      <p:sp>
        <p:nvSpPr>
          <p:cNvPr id="18" name="box mysql-1 (worker)"/>
          <p:cNvSpPr/>
          <p:nvPr/>
        </p:nvSpPr>
        <p:spPr>
          <a:xfrm>
            <a:off x="6858000" y="178308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box text mysql-1 (worker)"/>
          <p:cNvSpPr txBox="1"/>
          <p:nvPr/>
        </p:nvSpPr>
        <p:spPr>
          <a:xfrm>
            <a:off x="685800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mysql-1 (worker)</a:t>
            </a:r>
            <a:endParaRPr lang="en-US" sz="1000" dirty="0"/>
          </a:p>
        </p:txBody>
      </p:sp>
      <p:sp>
        <p:nvSpPr>
          <p:cNvPr id="20" name="code bg"/>
          <p:cNvSpPr/>
          <p:nvPr/>
        </p:nvSpPr>
        <p:spPr>
          <a:xfrm>
            <a:off x="457200" y="2286000"/>
            <a:ext cx="4023360" cy="22860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code"/>
          <p:cNvSpPr txBox="1"/>
          <p:nvPr/>
        </p:nvSpPr>
        <p:spPr>
          <a:xfrm>
            <a:off x="594360" y="23774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mysql-headless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clusterIP: None          # ← headless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mysql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port: 3306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targetPort: 3306</a:t>
            </a:r>
            <a:endParaRPr lang="en-US" sz="950" dirty="0"/>
          </a:p>
        </p:txBody>
      </p:sp>
      <p:sp>
        <p:nvSpPr>
          <p:cNvPr id="22" name="When you need it card"/>
          <p:cNvSpPr/>
          <p:nvPr/>
        </p:nvSpPr>
        <p:spPr>
          <a:xfrm>
            <a:off x="4663440" y="2286000"/>
            <a:ext cx="40233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When you need it circle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When you need i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56032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440680" y="2468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When you need it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484632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StatefulSets: write to mysql-0 only, read from any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Workers that must find the master to sync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Any time a client must choose the Pod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Usually deployed next to a normal ClusterIP service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NodePort and LoadBalancer: external access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lusterIP card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lusterIP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ClusterI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ClusterIP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786384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box internal only"/>
          <p:cNvSpPr/>
          <p:nvPr/>
        </p:nvSpPr>
        <p:spPr>
          <a:xfrm>
            <a:off x="2651760" y="123444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box text internal only"/>
          <p:cNvSpPr txBox="1"/>
          <p:nvPr/>
        </p:nvSpPr>
        <p:spPr>
          <a:xfrm>
            <a:off x="2651760" y="1234440"/>
            <a:ext cx="17373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Default. Reachable inside the cluster by name / IP</a:t>
            </a:r>
            <a:endParaRPr lang="en-US" sz="1100" dirty="0"/>
          </a:p>
        </p:txBody>
      </p:sp>
      <p:sp>
        <p:nvSpPr>
          <p:cNvPr id="14" name="NodePort card"/>
          <p:cNvSpPr/>
          <p:nvPr/>
        </p:nvSpPr>
        <p:spPr>
          <a:xfrm>
            <a:off x="457200" y="1810512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odePort circle"/>
          <p:cNvSpPr/>
          <p:nvPr/>
        </p:nvSpPr>
        <p:spPr>
          <a:xfrm>
            <a:off x="640080" y="199339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NodePor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848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34440" y="1993392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NodePort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2587752"/>
            <a:ext cx="786384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9" name="box node-ip:30000–32767"/>
          <p:cNvSpPr/>
          <p:nvPr/>
        </p:nvSpPr>
        <p:spPr>
          <a:xfrm>
            <a:off x="2651760" y="1947672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box text node-ip:30000–32767"/>
          <p:cNvSpPr txBox="1"/>
          <p:nvPr/>
        </p:nvSpPr>
        <p:spPr>
          <a:xfrm>
            <a:off x="2651760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node-ip:30000–32767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0" y="18105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Opens the port on every node. Testing only; exposes nodes</a:t>
            </a:r>
            <a:endParaRPr lang="en-US" sz="1100" dirty="0"/>
          </a:p>
        </p:txBody>
      </p:sp>
      <p:sp>
        <p:nvSpPr>
          <p:cNvPr id="22" name="LoadBalancer card"/>
          <p:cNvSpPr/>
          <p:nvPr/>
        </p:nvSpPr>
        <p:spPr>
          <a:xfrm>
            <a:off x="457200" y="2523744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LoadBalancer circle"/>
          <p:cNvSpPr/>
          <p:nvPr/>
        </p:nvSpPr>
        <p:spPr>
          <a:xfrm>
            <a:off x="640080" y="270662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LoadBalanc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9806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34440" y="2706624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LoadBalancer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3300984"/>
            <a:ext cx="786384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7" name="box cloud LB IP"/>
          <p:cNvSpPr/>
          <p:nvPr/>
        </p:nvSpPr>
        <p:spPr>
          <a:xfrm>
            <a:off x="2651760" y="2660904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box text cloud LB IP"/>
          <p:cNvSpPr txBox="1"/>
          <p:nvPr/>
        </p:nvSpPr>
        <p:spPr>
          <a:xfrm>
            <a:off x="2651760" y="2660904"/>
            <a:ext cx="17373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LB IP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0" y="25237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Cloud provisions a load balancer → NodePort → ClusterIP → Pods</a:t>
            </a:r>
            <a:endParaRPr lang="en-US" sz="1100" dirty="0"/>
          </a:p>
        </p:txBody>
      </p:sp>
      <p:sp>
        <p:nvSpPr>
          <p:cNvPr id="30" name="Headless card"/>
          <p:cNvSpPr/>
          <p:nvPr/>
        </p:nvSpPr>
        <p:spPr>
          <a:xfrm>
            <a:off x="457200" y="3236976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Headless circle"/>
          <p:cNvSpPr/>
          <p:nvPr/>
        </p:nvSpPr>
        <p:spPr>
          <a:xfrm>
            <a:off x="640080" y="3419856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Headles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11296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234440" y="3419856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Headless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640080" y="4014216"/>
            <a:ext cx="786384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5" name="box no IP"/>
          <p:cNvSpPr/>
          <p:nvPr/>
        </p:nvSpPr>
        <p:spPr>
          <a:xfrm>
            <a:off x="2651760" y="3374136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6" name="box text no IP"/>
          <p:cNvSpPr txBox="1"/>
          <p:nvPr/>
        </p:nvSpPr>
        <p:spPr>
          <a:xfrm>
            <a:off x="2651760" y="3374136"/>
            <a:ext cx="17373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IP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4572000" y="323697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DNS returns Pod IPs. For StatefulSets</a:t>
            </a:r>
            <a:endParaRPr lang="en-US" sz="1100" dirty="0"/>
          </a:p>
        </p:txBody>
      </p:sp>
      <p:sp>
        <p:nvSpPr>
          <p:cNvPr id="38" name="code bg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code"/>
          <p:cNvSpPr txBox="1"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LoadBalancer                                              # or NodePort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 [{ port: 3200, targetPort: 3000, nodePort: 30010 }]    # nodePort: only for NodePort / LoadBalancer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Wrap up: the whole picture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flow circle 0"/>
          <p:cNvSpPr/>
          <p:nvPr/>
        </p:nvSpPr>
        <p:spPr>
          <a:xfrm>
            <a:off x="731520" y="11430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flow icon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3030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19202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Ingress</a:t>
            </a:r>
            <a:endParaRPr lang="en-US" sz="1100" dirty="0"/>
          </a:p>
        </p:txBody>
      </p:sp>
      <p:sp>
        <p:nvSpPr>
          <p:cNvPr id="9" name="arrow"/>
          <p:cNvSpPr/>
          <p:nvPr/>
        </p:nvSpPr>
        <p:spPr>
          <a:xfrm>
            <a:off x="1463040" y="1481328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" name="flow circle 1"/>
          <p:cNvSpPr/>
          <p:nvPr/>
        </p:nvSpPr>
        <p:spPr>
          <a:xfrm>
            <a:off x="2121408" y="11430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flow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28" y="13030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47088" y="19202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Service</a:t>
            </a:r>
            <a:endParaRPr lang="en-US" sz="1100" dirty="0"/>
          </a:p>
        </p:txBody>
      </p:sp>
      <p:sp>
        <p:nvSpPr>
          <p:cNvPr id="13" name="arrow"/>
          <p:cNvSpPr/>
          <p:nvPr/>
        </p:nvSpPr>
        <p:spPr>
          <a:xfrm>
            <a:off x="2852928" y="1481328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flow circle 2"/>
          <p:cNvSpPr/>
          <p:nvPr/>
        </p:nvSpPr>
        <p:spPr>
          <a:xfrm>
            <a:off x="3511296" y="11430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flow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316" y="13030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236976" y="19202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Deployment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StatefulSet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4242816" y="1481328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" name="flow circle 3"/>
          <p:cNvSpPr/>
          <p:nvPr/>
        </p:nvSpPr>
        <p:spPr>
          <a:xfrm>
            <a:off x="4901184" y="11430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flow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204" y="13030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626864" y="19202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Pods</a:t>
            </a:r>
            <a:endParaRPr lang="en-US" sz="1100" dirty="0"/>
          </a:p>
        </p:txBody>
      </p:sp>
      <p:sp>
        <p:nvSpPr>
          <p:cNvPr id="21" name="arrow"/>
          <p:cNvSpPr/>
          <p:nvPr/>
        </p:nvSpPr>
        <p:spPr>
          <a:xfrm>
            <a:off x="5632704" y="1481328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2" name="flow circle 4"/>
          <p:cNvSpPr/>
          <p:nvPr/>
        </p:nvSpPr>
        <p:spPr>
          <a:xfrm>
            <a:off x="6291072" y="11430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flow 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092" y="130302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016752" y="19202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ConfigMap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+ Secret</a:t>
            </a:r>
            <a:endParaRPr lang="en-US" sz="1100" dirty="0"/>
          </a:p>
        </p:txBody>
      </p:sp>
      <p:sp>
        <p:nvSpPr>
          <p:cNvPr id="25" name="arrow"/>
          <p:cNvSpPr/>
          <p:nvPr/>
        </p:nvSpPr>
        <p:spPr>
          <a:xfrm>
            <a:off x="7022592" y="1481328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6" name="flow circle 5"/>
          <p:cNvSpPr/>
          <p:nvPr/>
        </p:nvSpPr>
        <p:spPr>
          <a:xfrm>
            <a:off x="7680960" y="11430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flow icon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30302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406640" y="19202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PVC → PV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→ storage</a:t>
            </a:r>
            <a:endParaRPr lang="en-US" sz="1100" dirty="0"/>
          </a:p>
        </p:txBody>
      </p:sp>
      <p:sp>
        <p:nvSpPr>
          <p:cNvPr id="29" name="recap 0"/>
          <p:cNvSpPr/>
          <p:nvPr/>
        </p:nvSpPr>
        <p:spPr>
          <a:xfrm>
            <a:off x="457200" y="260604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0" name="recap circle 0"/>
          <p:cNvSpPr/>
          <p:nvPr/>
        </p:nvSpPr>
        <p:spPr>
          <a:xfrm>
            <a:off x="566928" y="2706624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1" name="recap icon 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779776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51560" y="2606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You declare desired state in YAML; K8s reconciles forever</a:t>
            </a:r>
            <a:endParaRPr lang="en-US" sz="1100" dirty="0"/>
          </a:p>
        </p:txBody>
      </p:sp>
      <p:sp>
        <p:nvSpPr>
          <p:cNvPr id="33" name="recap 1"/>
          <p:cNvSpPr/>
          <p:nvPr/>
        </p:nvSpPr>
        <p:spPr>
          <a:xfrm>
            <a:off x="4663440" y="260604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4" name="recap circle 1"/>
          <p:cNvSpPr/>
          <p:nvPr/>
        </p:nvSpPr>
        <p:spPr>
          <a:xfrm>
            <a:off x="4773168" y="2706624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recap icon 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779776"/>
            <a:ext cx="219456" cy="219456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5257800" y="2606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Pods are mortal; Services give them a stable address</a:t>
            </a:r>
            <a:endParaRPr lang="en-US" sz="1100" dirty="0"/>
          </a:p>
        </p:txBody>
      </p:sp>
      <p:sp>
        <p:nvSpPr>
          <p:cNvPr id="37" name="recap 2"/>
          <p:cNvSpPr/>
          <p:nvPr/>
        </p:nvSpPr>
        <p:spPr>
          <a:xfrm>
            <a:off x="457200" y="3264408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8" name="recap circle 2"/>
          <p:cNvSpPr/>
          <p:nvPr/>
        </p:nvSpPr>
        <p:spPr>
          <a:xfrm>
            <a:off x="566928" y="3364992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9" name="recap icon 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438144"/>
            <a:ext cx="219456" cy="219456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051560" y="326440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Labels and selectors connect everything</a:t>
            </a:r>
            <a:endParaRPr lang="en-US" sz="1100" dirty="0"/>
          </a:p>
        </p:txBody>
      </p:sp>
      <p:sp>
        <p:nvSpPr>
          <p:cNvPr id="41" name="recap 3"/>
          <p:cNvSpPr/>
          <p:nvPr/>
        </p:nvSpPr>
        <p:spPr>
          <a:xfrm>
            <a:off x="4663440" y="3264408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2" name="recap circle 3"/>
          <p:cNvSpPr/>
          <p:nvPr/>
        </p:nvSpPr>
        <p:spPr>
          <a:xfrm>
            <a:off x="4773168" y="3364992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3" name="recap icon 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438144"/>
            <a:ext cx="219456" cy="219456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5257800" y="326440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Config and secrets live outside the image</a:t>
            </a:r>
            <a:endParaRPr lang="en-US" sz="1100" dirty="0"/>
          </a:p>
        </p:txBody>
      </p:sp>
      <p:sp>
        <p:nvSpPr>
          <p:cNvPr id="45" name="recap 4"/>
          <p:cNvSpPr/>
          <p:nvPr/>
        </p:nvSpPr>
        <p:spPr>
          <a:xfrm>
            <a:off x="457200" y="3922776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6" name="recap circle 4"/>
          <p:cNvSpPr/>
          <p:nvPr/>
        </p:nvSpPr>
        <p:spPr>
          <a:xfrm>
            <a:off x="566928" y="402336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7" name="recap icon 4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4096512"/>
            <a:ext cx="219456" cy="219456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1051560" y="392277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Storage is yours to provide: PV, PVC, StorageClass</a:t>
            </a:r>
            <a:endParaRPr lang="en-US" sz="1100" dirty="0"/>
          </a:p>
        </p:txBody>
      </p:sp>
      <p:sp>
        <p:nvSpPr>
          <p:cNvPr id="49" name="recap 5"/>
          <p:cNvSpPr/>
          <p:nvPr/>
        </p:nvSpPr>
        <p:spPr>
          <a:xfrm>
            <a:off x="4663440" y="3922776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0" name="recap circle 5"/>
          <p:cNvSpPr/>
          <p:nvPr/>
        </p:nvSpPr>
        <p:spPr>
          <a:xfrm>
            <a:off x="4773168" y="402336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1" name="recap icon 5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4096512"/>
            <a:ext cx="219456" cy="219456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5257800" y="392277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Namespaces organise; Ingress exposes; Helm packages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Where to go next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Run it for real card"/>
          <p:cNvSpPr/>
          <p:nvPr/>
        </p:nvSpPr>
        <p:spPr>
          <a:xfrm>
            <a:off x="457200" y="10972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" name="Run it for real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Run it for re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 it for real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managed cluster: EKS, GKE, AKS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kubectl config contexts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Resource requests / limits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Liveness and readiness probes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Horizontal Pod Autoscaler</a:t>
            </a:r>
            <a:endParaRPr lang="en-US" sz="1300" dirty="0"/>
          </a:p>
        </p:txBody>
      </p:sp>
      <p:sp>
        <p:nvSpPr>
          <p:cNvPr id="11" name="Operate it card"/>
          <p:cNvSpPr/>
          <p:nvPr/>
        </p:nvSpPr>
        <p:spPr>
          <a:xfrm>
            <a:off x="3264408" y="10972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Operate it circle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Operate i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41648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Operate it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447288" y="1874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Prometheus + Grafana monitoring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Centralised logging (Loki, ELK)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RBAC: users, roles, service accounts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Network policies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cert-manager for TLS</a:t>
            </a:r>
            <a:endParaRPr lang="en-US" sz="1300" dirty="0"/>
          </a:p>
        </p:txBody>
      </p:sp>
      <p:sp>
        <p:nvSpPr>
          <p:cNvPr id="16" name="Automate it card"/>
          <p:cNvSpPr/>
          <p:nvPr/>
        </p:nvSpPr>
        <p:spPr>
          <a:xfrm>
            <a:off x="6080760" y="10972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Automate it circle"/>
          <p:cNvSpPr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Automate i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5800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Automate it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263640" y="1874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 builds images, pushes to a registry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GitOps: ArgoCD / Flux apply your YAML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Helm charts per environment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Terraform for the cluster itself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Thanks. Questions?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Reference: 'Kubernetes Tutorial for Beginners [FULL COURSE in 4 Hours]', TechWorld with Nana.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Ops Workshop">
  <a:themeElements>
    <a:clrScheme name="DevOps Workshop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0284C7"/>
      </a:accent1>
      <a:accent2>
        <a:srgbClr val="0D9488"/>
      </a:accent2>
      <a:accent3>
        <a:srgbClr val="D97706"/>
      </a:accent3>
      <a:accent4>
        <a:srgbClr val="7C3AED"/>
      </a:accent4>
      <a:accent5>
        <a:srgbClr val="DC2626"/>
      </a:accent5>
      <a:accent6>
        <a:srgbClr val="16A34A"/>
      </a:accent6>
      <a:hlink>
        <a:srgbClr val="0284C7"/>
      </a:hlink>
      <a:folHlink>
        <a:srgbClr val="7C3AED"/>
      </a:folHlink>
    </a:clrScheme>
    <a:fontScheme name="DevOps Worksho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from Zero: a 4-hour course</dc:title>
  <dc:subject>PptxGenJS Presentation</dc:subject>
  <dc:creator>DevOps Workshop</dc:creator>
  <cp:lastModifiedBy>DevOps Workshop</cp:lastModifiedBy>
  <cp:revision>1</cp:revision>
  <dcterms:created xsi:type="dcterms:W3CDTF">2026-10-28T14:48:05Z</dcterms:created>
  <dcterms:modified xsi:type="dcterms:W3CDTF">2026-10-28T14:48:05Z</dcterms:modified>
</cp:coreProperties>
</file>